
<file path=[Content_Types].xml><?xml version="1.0" encoding="utf-8"?>
<Types xmlns="http://schemas.openxmlformats.org/package/2006/content-types">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9" r:id="rId4"/>
  </p:sldMasterIdLst>
  <p:notesMasterIdLst>
    <p:notesMasterId r:id="rId39"/>
  </p:notesMasterIdLst>
  <p:sldIdLst>
    <p:sldId id="272" r:id="rId5"/>
    <p:sldId id="268" r:id="rId6"/>
    <p:sldId id="292" r:id="rId7"/>
    <p:sldId id="291" r:id="rId8"/>
    <p:sldId id="273" r:id="rId9"/>
    <p:sldId id="293" r:id="rId10"/>
    <p:sldId id="274" r:id="rId11"/>
    <p:sldId id="275" r:id="rId12"/>
    <p:sldId id="276" r:id="rId13"/>
    <p:sldId id="294" r:id="rId14"/>
    <p:sldId id="277" r:id="rId15"/>
    <p:sldId id="295" r:id="rId16"/>
    <p:sldId id="296" r:id="rId17"/>
    <p:sldId id="280" r:id="rId18"/>
    <p:sldId id="297" r:id="rId19"/>
    <p:sldId id="298" r:id="rId20"/>
    <p:sldId id="299" r:id="rId21"/>
    <p:sldId id="300" r:id="rId22"/>
    <p:sldId id="301" r:id="rId23"/>
    <p:sldId id="303" r:id="rId24"/>
    <p:sldId id="304" r:id="rId25"/>
    <p:sldId id="306" r:id="rId26"/>
    <p:sldId id="278" r:id="rId27"/>
    <p:sldId id="279" r:id="rId28"/>
    <p:sldId id="307" r:id="rId29"/>
    <p:sldId id="284" r:id="rId30"/>
    <p:sldId id="282" r:id="rId31"/>
    <p:sldId id="285" r:id="rId32"/>
    <p:sldId id="308" r:id="rId33"/>
    <p:sldId id="310" r:id="rId34"/>
    <p:sldId id="288" r:id="rId35"/>
    <p:sldId id="290" r:id="rId36"/>
    <p:sldId id="271" r:id="rId37"/>
    <p:sldId id="289" r:id="rId38"/>
  </p:sldIdLst>
  <p:sldSz cx="12192000" cy="6858000"/>
  <p:notesSz cx="6858000" cy="9144000"/>
  <p:embeddedFontLst>
    <p:embeddedFont>
      <p:font typeface="Cambria Math" panose="02040503050406030204" pitchFamily="18" charset="0"/>
      <p:regular r:id="rId40"/>
    </p:embeddedFont>
    <p:embeddedFont>
      <p:font typeface="Nunito" pitchFamily="2" charset="0"/>
      <p:regular r:id="rId41"/>
      <p:bold r:id="rId42"/>
      <p:italic r:id="rId43"/>
      <p:boldItalic r:id="rId44"/>
    </p:embeddedFont>
    <p:embeddedFont>
      <p:font typeface="Nunito Sans SemiBold" pitchFamily="2" charset="0"/>
      <p:regular r:id="rId45"/>
      <p:bold r:id="rId46"/>
      <p:italic r:id="rId47"/>
      <p:boldItalic r:id="rId48"/>
    </p:embeddedFont>
    <p:embeddedFont>
      <p:font typeface="Open Sans" panose="020B0606030504020204" pitchFamily="34" charset="0"/>
      <p:regular r:id="rId49"/>
      <p:bold r:id="rId50"/>
      <p:italic r:id="rId51"/>
      <p:boldItalic r:id="rId52"/>
    </p:embeddedFont>
    <p:embeddedFont>
      <p:font typeface="Poppins" panose="00000500000000000000" pitchFamily="2" charset="0"/>
      <p:regular r:id="rId53"/>
      <p:bold r:id="rId54"/>
      <p:italic r:id="rId55"/>
      <p:boldItalic r:id="rId5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ECC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24" y="149"/>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font" Target="fonts/font11.fntdata"/><Relationship Id="rId55" Type="http://schemas.openxmlformats.org/officeDocument/2006/relationships/font" Target="fonts/font16.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7.fntdata"/><Relationship Id="rId59"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font" Target="fonts/font2.fntdata"/><Relationship Id="rId54" Type="http://schemas.openxmlformats.org/officeDocument/2006/relationships/font" Target="fonts/font15.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font" Target="fonts/font1.fntdata"/><Relationship Id="rId45" Type="http://schemas.openxmlformats.org/officeDocument/2006/relationships/font" Target="fonts/font6.fntdata"/><Relationship Id="rId53" Type="http://schemas.openxmlformats.org/officeDocument/2006/relationships/font" Target="fonts/font14.fntdata"/><Relationship Id="rId58"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10.fntdata"/><Relationship Id="rId57"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5.fntdata"/><Relationship Id="rId52" Type="http://schemas.openxmlformats.org/officeDocument/2006/relationships/font" Target="fonts/font13.fntdata"/><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4.fntdata"/><Relationship Id="rId48" Type="http://schemas.openxmlformats.org/officeDocument/2006/relationships/font" Target="fonts/font9.fntdata"/><Relationship Id="rId56" Type="http://schemas.openxmlformats.org/officeDocument/2006/relationships/font" Target="fonts/font17.fntdata"/><Relationship Id="rId8" Type="http://schemas.openxmlformats.org/officeDocument/2006/relationships/slide" Target="slides/slide4.xml"/><Relationship Id="rId51" Type="http://schemas.openxmlformats.org/officeDocument/2006/relationships/font" Target="fonts/font12.fntdata"/><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a:extLst>
            <a:ext uri="{FF2B5EF4-FFF2-40B4-BE49-F238E27FC236}">
              <a16:creationId xmlns:a16="http://schemas.microsoft.com/office/drawing/2014/main" id="{6D3F5BF0-7AEE-9ED5-0B42-F7C81DE321EB}"/>
            </a:ext>
          </a:extLst>
        </p:cNvPr>
        <p:cNvGrpSpPr/>
        <p:nvPr/>
      </p:nvGrpSpPr>
      <p:grpSpPr>
        <a:xfrm>
          <a:off x="0" y="0"/>
          <a:ext cx="0" cy="0"/>
          <a:chOff x="0" y="0"/>
          <a:chExt cx="0" cy="0"/>
        </a:xfrm>
      </p:grpSpPr>
      <p:sp>
        <p:nvSpPr>
          <p:cNvPr id="261" name="Google Shape;261;p1:notes">
            <a:extLst>
              <a:ext uri="{FF2B5EF4-FFF2-40B4-BE49-F238E27FC236}">
                <a16:creationId xmlns:a16="http://schemas.microsoft.com/office/drawing/2014/main" id="{8631DAF4-E043-493E-29BB-AA14F5C1153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2" name="Google Shape;262;p1:notes">
            <a:extLst>
              <a:ext uri="{FF2B5EF4-FFF2-40B4-BE49-F238E27FC236}">
                <a16:creationId xmlns:a16="http://schemas.microsoft.com/office/drawing/2014/main" id="{0DB2AFF2-5561-FA86-E794-4889C133B1B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1985070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3" name="Google Shape;49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a:extLst>
            <a:ext uri="{FF2B5EF4-FFF2-40B4-BE49-F238E27FC236}">
              <a16:creationId xmlns:a16="http://schemas.microsoft.com/office/drawing/2014/main" id="{85D4A065-0621-1E7A-D7C5-06B57E4BD8C7}"/>
            </a:ext>
          </a:extLst>
        </p:cNvPr>
        <p:cNvGrpSpPr/>
        <p:nvPr/>
      </p:nvGrpSpPr>
      <p:grpSpPr>
        <a:xfrm>
          <a:off x="0" y="0"/>
          <a:ext cx="0" cy="0"/>
          <a:chOff x="0" y="0"/>
          <a:chExt cx="0" cy="0"/>
        </a:xfrm>
      </p:grpSpPr>
      <p:sp>
        <p:nvSpPr>
          <p:cNvPr id="492" name="Google Shape;492;p13:notes">
            <a:extLst>
              <a:ext uri="{FF2B5EF4-FFF2-40B4-BE49-F238E27FC236}">
                <a16:creationId xmlns:a16="http://schemas.microsoft.com/office/drawing/2014/main" id="{A71303A0-6C39-3C0B-E5C3-C88A59DD996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3" name="Google Shape;493;p13:notes">
            <a:extLst>
              <a:ext uri="{FF2B5EF4-FFF2-40B4-BE49-F238E27FC236}">
                <a16:creationId xmlns:a16="http://schemas.microsoft.com/office/drawing/2014/main" id="{4D29F1B2-4D0A-D7B5-43B6-7FFC1A0C0E6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8288756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a:extLst>
            <a:ext uri="{FF2B5EF4-FFF2-40B4-BE49-F238E27FC236}">
              <a16:creationId xmlns:a16="http://schemas.microsoft.com/office/drawing/2014/main" id="{7D6295D7-4A4F-249E-C92E-171C72E4A148}"/>
            </a:ext>
          </a:extLst>
        </p:cNvPr>
        <p:cNvGrpSpPr/>
        <p:nvPr/>
      </p:nvGrpSpPr>
      <p:grpSpPr>
        <a:xfrm>
          <a:off x="0" y="0"/>
          <a:ext cx="0" cy="0"/>
          <a:chOff x="0" y="0"/>
          <a:chExt cx="0" cy="0"/>
        </a:xfrm>
      </p:grpSpPr>
      <p:sp>
        <p:nvSpPr>
          <p:cNvPr id="492" name="Google Shape;492;p13:notes">
            <a:extLst>
              <a:ext uri="{FF2B5EF4-FFF2-40B4-BE49-F238E27FC236}">
                <a16:creationId xmlns:a16="http://schemas.microsoft.com/office/drawing/2014/main" id="{F1B937F3-1970-E6B0-6529-7C7A7C45A38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conservative</a:t>
            </a:r>
            <a:endParaRPr dirty="0"/>
          </a:p>
        </p:txBody>
      </p:sp>
      <p:sp>
        <p:nvSpPr>
          <p:cNvPr id="493" name="Google Shape;493;p13:notes">
            <a:extLst>
              <a:ext uri="{FF2B5EF4-FFF2-40B4-BE49-F238E27FC236}">
                <a16:creationId xmlns:a16="http://schemas.microsoft.com/office/drawing/2014/main" id="{C33A44C0-8F6B-0F57-0844-B0C42FA9169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41297154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a:extLst>
            <a:ext uri="{FF2B5EF4-FFF2-40B4-BE49-F238E27FC236}">
              <a16:creationId xmlns:a16="http://schemas.microsoft.com/office/drawing/2014/main" id="{61067B8E-0DCA-3203-D009-FB90170C8686}"/>
            </a:ext>
          </a:extLst>
        </p:cNvPr>
        <p:cNvGrpSpPr/>
        <p:nvPr/>
      </p:nvGrpSpPr>
      <p:grpSpPr>
        <a:xfrm>
          <a:off x="0" y="0"/>
          <a:ext cx="0" cy="0"/>
          <a:chOff x="0" y="0"/>
          <a:chExt cx="0" cy="0"/>
        </a:xfrm>
      </p:grpSpPr>
      <p:sp>
        <p:nvSpPr>
          <p:cNvPr id="492" name="Google Shape;492;p13:notes">
            <a:extLst>
              <a:ext uri="{FF2B5EF4-FFF2-40B4-BE49-F238E27FC236}">
                <a16:creationId xmlns:a16="http://schemas.microsoft.com/office/drawing/2014/main" id="{5F9861E9-D034-7518-A0E2-752BA6BA099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3" name="Google Shape;493;p13:notes">
            <a:extLst>
              <a:ext uri="{FF2B5EF4-FFF2-40B4-BE49-F238E27FC236}">
                <a16:creationId xmlns:a16="http://schemas.microsoft.com/office/drawing/2014/main" id="{29BA2BA1-BEAB-927F-3CE4-ED715E5B03E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0416646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a:extLst>
            <a:ext uri="{FF2B5EF4-FFF2-40B4-BE49-F238E27FC236}">
              <a16:creationId xmlns:a16="http://schemas.microsoft.com/office/drawing/2014/main" id="{B73AD1A5-3778-8222-8C74-F74DD2C187D9}"/>
            </a:ext>
          </a:extLst>
        </p:cNvPr>
        <p:cNvGrpSpPr/>
        <p:nvPr/>
      </p:nvGrpSpPr>
      <p:grpSpPr>
        <a:xfrm>
          <a:off x="0" y="0"/>
          <a:ext cx="0" cy="0"/>
          <a:chOff x="0" y="0"/>
          <a:chExt cx="0" cy="0"/>
        </a:xfrm>
      </p:grpSpPr>
      <p:sp>
        <p:nvSpPr>
          <p:cNvPr id="492" name="Google Shape;492;p13:notes">
            <a:extLst>
              <a:ext uri="{FF2B5EF4-FFF2-40B4-BE49-F238E27FC236}">
                <a16:creationId xmlns:a16="http://schemas.microsoft.com/office/drawing/2014/main" id="{9C761794-4723-FC53-3C8E-0315D56E0CB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3" name="Google Shape;493;p13:notes">
            <a:extLst>
              <a:ext uri="{FF2B5EF4-FFF2-40B4-BE49-F238E27FC236}">
                <a16:creationId xmlns:a16="http://schemas.microsoft.com/office/drawing/2014/main" id="{BA93708B-AB3D-3A4D-7DD6-12FE0838DE5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5414376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a:extLst>
            <a:ext uri="{FF2B5EF4-FFF2-40B4-BE49-F238E27FC236}">
              <a16:creationId xmlns:a16="http://schemas.microsoft.com/office/drawing/2014/main" id="{4B8F5B36-CCC3-5F89-0BF8-2E51B6501B2B}"/>
            </a:ext>
          </a:extLst>
        </p:cNvPr>
        <p:cNvGrpSpPr/>
        <p:nvPr/>
      </p:nvGrpSpPr>
      <p:grpSpPr>
        <a:xfrm>
          <a:off x="0" y="0"/>
          <a:ext cx="0" cy="0"/>
          <a:chOff x="0" y="0"/>
          <a:chExt cx="0" cy="0"/>
        </a:xfrm>
      </p:grpSpPr>
      <p:sp>
        <p:nvSpPr>
          <p:cNvPr id="492" name="Google Shape;492;p13:notes">
            <a:extLst>
              <a:ext uri="{FF2B5EF4-FFF2-40B4-BE49-F238E27FC236}">
                <a16:creationId xmlns:a16="http://schemas.microsoft.com/office/drawing/2014/main" id="{E2AFCDA7-73F0-2EB1-0D26-F41A4C25171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93" name="Google Shape;493;p13:notes">
            <a:extLst>
              <a:ext uri="{FF2B5EF4-FFF2-40B4-BE49-F238E27FC236}">
                <a16:creationId xmlns:a16="http://schemas.microsoft.com/office/drawing/2014/main" id="{D8B18B76-0CCC-1E3E-05D4-A3ACC54FF0E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8353098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a:extLst>
            <a:ext uri="{FF2B5EF4-FFF2-40B4-BE49-F238E27FC236}">
              <a16:creationId xmlns:a16="http://schemas.microsoft.com/office/drawing/2014/main" id="{4FAAEEDA-ADC3-3EBC-39CB-CC7B4EBCB7AC}"/>
            </a:ext>
          </a:extLst>
        </p:cNvPr>
        <p:cNvGrpSpPr/>
        <p:nvPr/>
      </p:nvGrpSpPr>
      <p:grpSpPr>
        <a:xfrm>
          <a:off x="0" y="0"/>
          <a:ext cx="0" cy="0"/>
          <a:chOff x="0" y="0"/>
          <a:chExt cx="0" cy="0"/>
        </a:xfrm>
      </p:grpSpPr>
      <p:sp>
        <p:nvSpPr>
          <p:cNvPr id="492" name="Google Shape;492;p13:notes">
            <a:extLst>
              <a:ext uri="{FF2B5EF4-FFF2-40B4-BE49-F238E27FC236}">
                <a16:creationId xmlns:a16="http://schemas.microsoft.com/office/drawing/2014/main" id="{38E5FFE4-A051-B16D-5AA1-155F90D5699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3" name="Google Shape;493;p13:notes">
            <a:extLst>
              <a:ext uri="{FF2B5EF4-FFF2-40B4-BE49-F238E27FC236}">
                <a16:creationId xmlns:a16="http://schemas.microsoft.com/office/drawing/2014/main" id="{5E0A18A8-9BBD-8598-255B-A60196E0575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2970884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a:extLst>
            <a:ext uri="{FF2B5EF4-FFF2-40B4-BE49-F238E27FC236}">
              <a16:creationId xmlns:a16="http://schemas.microsoft.com/office/drawing/2014/main" id="{F4B0B41C-172D-4746-03A3-C95C3B4B0E77}"/>
            </a:ext>
          </a:extLst>
        </p:cNvPr>
        <p:cNvGrpSpPr/>
        <p:nvPr/>
      </p:nvGrpSpPr>
      <p:grpSpPr>
        <a:xfrm>
          <a:off x="0" y="0"/>
          <a:ext cx="0" cy="0"/>
          <a:chOff x="0" y="0"/>
          <a:chExt cx="0" cy="0"/>
        </a:xfrm>
      </p:grpSpPr>
      <p:sp>
        <p:nvSpPr>
          <p:cNvPr id="492" name="Google Shape;492;p13:notes">
            <a:extLst>
              <a:ext uri="{FF2B5EF4-FFF2-40B4-BE49-F238E27FC236}">
                <a16:creationId xmlns:a16="http://schemas.microsoft.com/office/drawing/2014/main" id="{ADD7B391-0402-436E-9950-39A53724001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3" name="Google Shape;493;p13:notes">
            <a:extLst>
              <a:ext uri="{FF2B5EF4-FFF2-40B4-BE49-F238E27FC236}">
                <a16:creationId xmlns:a16="http://schemas.microsoft.com/office/drawing/2014/main" id="{5CEC583C-D4CF-2597-B293-5429503C01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8546719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a:extLst>
            <a:ext uri="{FF2B5EF4-FFF2-40B4-BE49-F238E27FC236}">
              <a16:creationId xmlns:a16="http://schemas.microsoft.com/office/drawing/2014/main" id="{C12E63A6-E0DF-A899-7A38-99957D7C2898}"/>
            </a:ext>
          </a:extLst>
        </p:cNvPr>
        <p:cNvGrpSpPr/>
        <p:nvPr/>
      </p:nvGrpSpPr>
      <p:grpSpPr>
        <a:xfrm>
          <a:off x="0" y="0"/>
          <a:ext cx="0" cy="0"/>
          <a:chOff x="0" y="0"/>
          <a:chExt cx="0" cy="0"/>
        </a:xfrm>
      </p:grpSpPr>
      <p:sp>
        <p:nvSpPr>
          <p:cNvPr id="492" name="Google Shape;492;p13:notes">
            <a:extLst>
              <a:ext uri="{FF2B5EF4-FFF2-40B4-BE49-F238E27FC236}">
                <a16:creationId xmlns:a16="http://schemas.microsoft.com/office/drawing/2014/main" id="{09B1805E-C819-6402-A13C-FAA493637BB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3" name="Google Shape;493;p13:notes">
            <a:extLst>
              <a:ext uri="{FF2B5EF4-FFF2-40B4-BE49-F238E27FC236}">
                <a16:creationId xmlns:a16="http://schemas.microsoft.com/office/drawing/2014/main" id="{53F68330-3460-D9E8-C22C-B0388375FD8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3952740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a:extLst>
            <a:ext uri="{FF2B5EF4-FFF2-40B4-BE49-F238E27FC236}">
              <a16:creationId xmlns:a16="http://schemas.microsoft.com/office/drawing/2014/main" id="{3295FA89-F5EA-4DFF-3CFD-73EA7FB1AB26}"/>
            </a:ext>
          </a:extLst>
        </p:cNvPr>
        <p:cNvGrpSpPr/>
        <p:nvPr/>
      </p:nvGrpSpPr>
      <p:grpSpPr>
        <a:xfrm>
          <a:off x="0" y="0"/>
          <a:ext cx="0" cy="0"/>
          <a:chOff x="0" y="0"/>
          <a:chExt cx="0" cy="0"/>
        </a:xfrm>
      </p:grpSpPr>
      <p:sp>
        <p:nvSpPr>
          <p:cNvPr id="492" name="Google Shape;492;p13:notes">
            <a:extLst>
              <a:ext uri="{FF2B5EF4-FFF2-40B4-BE49-F238E27FC236}">
                <a16:creationId xmlns:a16="http://schemas.microsoft.com/office/drawing/2014/main" id="{6E08B1D1-4668-0581-E32C-A81460F0D09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3" name="Google Shape;493;p13:notes">
            <a:extLst>
              <a:ext uri="{FF2B5EF4-FFF2-40B4-BE49-F238E27FC236}">
                <a16:creationId xmlns:a16="http://schemas.microsoft.com/office/drawing/2014/main" id="{8EC4CE04-CDF4-95BA-EBBA-E3AF8B43B75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5799589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a:extLst>
            <a:ext uri="{FF2B5EF4-FFF2-40B4-BE49-F238E27FC236}">
              <a16:creationId xmlns:a16="http://schemas.microsoft.com/office/drawing/2014/main" id="{9EE38E73-ABFC-F849-029F-929B8D20A6F1}"/>
            </a:ext>
          </a:extLst>
        </p:cNvPr>
        <p:cNvGrpSpPr/>
        <p:nvPr/>
      </p:nvGrpSpPr>
      <p:grpSpPr>
        <a:xfrm>
          <a:off x="0" y="0"/>
          <a:ext cx="0" cy="0"/>
          <a:chOff x="0" y="0"/>
          <a:chExt cx="0" cy="0"/>
        </a:xfrm>
      </p:grpSpPr>
      <p:sp>
        <p:nvSpPr>
          <p:cNvPr id="492" name="Google Shape;492;p13:notes">
            <a:extLst>
              <a:ext uri="{FF2B5EF4-FFF2-40B4-BE49-F238E27FC236}">
                <a16:creationId xmlns:a16="http://schemas.microsoft.com/office/drawing/2014/main" id="{2583BD65-7FD7-21E9-FB7C-CD14E4A2531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3" name="Google Shape;493;p13:notes">
            <a:extLst>
              <a:ext uri="{FF2B5EF4-FFF2-40B4-BE49-F238E27FC236}">
                <a16:creationId xmlns:a16="http://schemas.microsoft.com/office/drawing/2014/main" id="{4C731938-986A-3CA5-FB0A-93CB9A3EC6F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7836926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a:extLst>
            <a:ext uri="{FF2B5EF4-FFF2-40B4-BE49-F238E27FC236}">
              <a16:creationId xmlns:a16="http://schemas.microsoft.com/office/drawing/2014/main" id="{4862B7EE-93FD-9022-A6CC-F918B0AF7317}"/>
            </a:ext>
          </a:extLst>
        </p:cNvPr>
        <p:cNvGrpSpPr/>
        <p:nvPr/>
      </p:nvGrpSpPr>
      <p:grpSpPr>
        <a:xfrm>
          <a:off x="0" y="0"/>
          <a:ext cx="0" cy="0"/>
          <a:chOff x="0" y="0"/>
          <a:chExt cx="0" cy="0"/>
        </a:xfrm>
      </p:grpSpPr>
      <p:sp>
        <p:nvSpPr>
          <p:cNvPr id="492" name="Google Shape;492;p13:notes">
            <a:extLst>
              <a:ext uri="{FF2B5EF4-FFF2-40B4-BE49-F238E27FC236}">
                <a16:creationId xmlns:a16="http://schemas.microsoft.com/office/drawing/2014/main" id="{929EFF1D-B598-C1B7-C521-5E29A0A50BF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3" name="Google Shape;493;p13:notes">
            <a:extLst>
              <a:ext uri="{FF2B5EF4-FFF2-40B4-BE49-F238E27FC236}">
                <a16:creationId xmlns:a16="http://schemas.microsoft.com/office/drawing/2014/main" id="{BBAA7910-57CA-E753-1578-8877D55A0D1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6957729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a:extLst>
            <a:ext uri="{FF2B5EF4-FFF2-40B4-BE49-F238E27FC236}">
              <a16:creationId xmlns:a16="http://schemas.microsoft.com/office/drawing/2014/main" id="{6BBB498A-992E-15B9-42D0-D6514411F35E}"/>
            </a:ext>
          </a:extLst>
        </p:cNvPr>
        <p:cNvGrpSpPr/>
        <p:nvPr/>
      </p:nvGrpSpPr>
      <p:grpSpPr>
        <a:xfrm>
          <a:off x="0" y="0"/>
          <a:ext cx="0" cy="0"/>
          <a:chOff x="0" y="0"/>
          <a:chExt cx="0" cy="0"/>
        </a:xfrm>
      </p:grpSpPr>
      <p:sp>
        <p:nvSpPr>
          <p:cNvPr id="492" name="Google Shape;492;p13:notes">
            <a:extLst>
              <a:ext uri="{FF2B5EF4-FFF2-40B4-BE49-F238E27FC236}">
                <a16:creationId xmlns:a16="http://schemas.microsoft.com/office/drawing/2014/main" id="{D082BF53-1E34-0806-E8B2-7B9DFDB1BC1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3" name="Google Shape;493;p13:notes">
            <a:extLst>
              <a:ext uri="{FF2B5EF4-FFF2-40B4-BE49-F238E27FC236}">
                <a16:creationId xmlns:a16="http://schemas.microsoft.com/office/drawing/2014/main" id="{63836F37-4A11-4CDB-876E-77F623286EA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5949145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a:extLst>
            <a:ext uri="{FF2B5EF4-FFF2-40B4-BE49-F238E27FC236}">
              <a16:creationId xmlns:a16="http://schemas.microsoft.com/office/drawing/2014/main" id="{3376571F-64F4-8489-2E3F-A2C55848F258}"/>
            </a:ext>
          </a:extLst>
        </p:cNvPr>
        <p:cNvGrpSpPr/>
        <p:nvPr/>
      </p:nvGrpSpPr>
      <p:grpSpPr>
        <a:xfrm>
          <a:off x="0" y="0"/>
          <a:ext cx="0" cy="0"/>
          <a:chOff x="0" y="0"/>
          <a:chExt cx="0" cy="0"/>
        </a:xfrm>
      </p:grpSpPr>
      <p:sp>
        <p:nvSpPr>
          <p:cNvPr id="492" name="Google Shape;492;p13:notes">
            <a:extLst>
              <a:ext uri="{FF2B5EF4-FFF2-40B4-BE49-F238E27FC236}">
                <a16:creationId xmlns:a16="http://schemas.microsoft.com/office/drawing/2014/main" id="{0EFE3B79-FA6E-71DA-CA7D-14631499859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3" name="Google Shape;493;p13:notes">
            <a:extLst>
              <a:ext uri="{FF2B5EF4-FFF2-40B4-BE49-F238E27FC236}">
                <a16:creationId xmlns:a16="http://schemas.microsoft.com/office/drawing/2014/main" id="{9C510655-569D-994B-50F0-2F5DE1130A1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229906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a:extLst>
            <a:ext uri="{FF2B5EF4-FFF2-40B4-BE49-F238E27FC236}">
              <a16:creationId xmlns:a16="http://schemas.microsoft.com/office/drawing/2014/main" id="{B1597A8A-BCE1-A1E4-90C6-F819244298BC}"/>
            </a:ext>
          </a:extLst>
        </p:cNvPr>
        <p:cNvGrpSpPr/>
        <p:nvPr/>
      </p:nvGrpSpPr>
      <p:grpSpPr>
        <a:xfrm>
          <a:off x="0" y="0"/>
          <a:ext cx="0" cy="0"/>
          <a:chOff x="0" y="0"/>
          <a:chExt cx="0" cy="0"/>
        </a:xfrm>
      </p:grpSpPr>
      <p:sp>
        <p:nvSpPr>
          <p:cNvPr id="492" name="Google Shape;492;p13:notes">
            <a:extLst>
              <a:ext uri="{FF2B5EF4-FFF2-40B4-BE49-F238E27FC236}">
                <a16:creationId xmlns:a16="http://schemas.microsoft.com/office/drawing/2014/main" id="{4DFD6366-44FA-D6E2-A69F-EAD263A5417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3" name="Google Shape;493;p13:notes">
            <a:extLst>
              <a:ext uri="{FF2B5EF4-FFF2-40B4-BE49-F238E27FC236}">
                <a16:creationId xmlns:a16="http://schemas.microsoft.com/office/drawing/2014/main" id="{8B62BFE6-40CA-594C-FF9C-9BB954997AF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3277625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a:extLst>
            <a:ext uri="{FF2B5EF4-FFF2-40B4-BE49-F238E27FC236}">
              <a16:creationId xmlns:a16="http://schemas.microsoft.com/office/drawing/2014/main" id="{00484618-3230-9BA8-0B03-0364A44CE4C4}"/>
            </a:ext>
          </a:extLst>
        </p:cNvPr>
        <p:cNvGrpSpPr/>
        <p:nvPr/>
      </p:nvGrpSpPr>
      <p:grpSpPr>
        <a:xfrm>
          <a:off x="0" y="0"/>
          <a:ext cx="0" cy="0"/>
          <a:chOff x="0" y="0"/>
          <a:chExt cx="0" cy="0"/>
        </a:xfrm>
      </p:grpSpPr>
      <p:sp>
        <p:nvSpPr>
          <p:cNvPr id="492" name="Google Shape;492;p13:notes">
            <a:extLst>
              <a:ext uri="{FF2B5EF4-FFF2-40B4-BE49-F238E27FC236}">
                <a16:creationId xmlns:a16="http://schemas.microsoft.com/office/drawing/2014/main" id="{6B963119-9EEF-355F-AAE8-DD2D4183ACD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3" name="Google Shape;493;p13:notes">
            <a:extLst>
              <a:ext uri="{FF2B5EF4-FFF2-40B4-BE49-F238E27FC236}">
                <a16:creationId xmlns:a16="http://schemas.microsoft.com/office/drawing/2014/main" id="{8287F47F-0BD9-BFD7-7B64-0817C7CC32D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284502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a:extLst>
            <a:ext uri="{FF2B5EF4-FFF2-40B4-BE49-F238E27FC236}">
              <a16:creationId xmlns:a16="http://schemas.microsoft.com/office/drawing/2014/main" id="{749A8B07-C463-1D3F-FC78-3FA7DB2A3942}"/>
            </a:ext>
          </a:extLst>
        </p:cNvPr>
        <p:cNvGrpSpPr/>
        <p:nvPr/>
      </p:nvGrpSpPr>
      <p:grpSpPr>
        <a:xfrm>
          <a:off x="0" y="0"/>
          <a:ext cx="0" cy="0"/>
          <a:chOff x="0" y="0"/>
          <a:chExt cx="0" cy="0"/>
        </a:xfrm>
      </p:grpSpPr>
      <p:sp>
        <p:nvSpPr>
          <p:cNvPr id="492" name="Google Shape;492;p13:notes">
            <a:extLst>
              <a:ext uri="{FF2B5EF4-FFF2-40B4-BE49-F238E27FC236}">
                <a16:creationId xmlns:a16="http://schemas.microsoft.com/office/drawing/2014/main" id="{871EDE51-756A-E3FF-548B-5D902715732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3" name="Google Shape;493;p13:notes">
            <a:extLst>
              <a:ext uri="{FF2B5EF4-FFF2-40B4-BE49-F238E27FC236}">
                <a16:creationId xmlns:a16="http://schemas.microsoft.com/office/drawing/2014/main" id="{AB09D07C-9AA1-6C9B-4688-A6AC12B6E42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4028451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a:extLst>
            <a:ext uri="{FF2B5EF4-FFF2-40B4-BE49-F238E27FC236}">
              <a16:creationId xmlns:a16="http://schemas.microsoft.com/office/drawing/2014/main" id="{ED3ED1C6-45CA-1D9B-977F-5C292BE07063}"/>
            </a:ext>
          </a:extLst>
        </p:cNvPr>
        <p:cNvGrpSpPr/>
        <p:nvPr/>
      </p:nvGrpSpPr>
      <p:grpSpPr>
        <a:xfrm>
          <a:off x="0" y="0"/>
          <a:ext cx="0" cy="0"/>
          <a:chOff x="0" y="0"/>
          <a:chExt cx="0" cy="0"/>
        </a:xfrm>
      </p:grpSpPr>
      <p:sp>
        <p:nvSpPr>
          <p:cNvPr id="492" name="Google Shape;492;p13:notes">
            <a:extLst>
              <a:ext uri="{FF2B5EF4-FFF2-40B4-BE49-F238E27FC236}">
                <a16:creationId xmlns:a16="http://schemas.microsoft.com/office/drawing/2014/main" id="{CDD154F6-60C4-284A-5C1B-B03426192CE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3" name="Google Shape;493;p13:notes">
            <a:extLst>
              <a:ext uri="{FF2B5EF4-FFF2-40B4-BE49-F238E27FC236}">
                <a16:creationId xmlns:a16="http://schemas.microsoft.com/office/drawing/2014/main" id="{BA0CF9AC-2197-09A6-04D4-33FD39DA5EB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7793689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a:extLst>
            <a:ext uri="{FF2B5EF4-FFF2-40B4-BE49-F238E27FC236}">
              <a16:creationId xmlns:a16="http://schemas.microsoft.com/office/drawing/2014/main" id="{5532A10E-FD33-0F6B-9AE8-550092C916C3}"/>
            </a:ext>
          </a:extLst>
        </p:cNvPr>
        <p:cNvGrpSpPr/>
        <p:nvPr/>
      </p:nvGrpSpPr>
      <p:grpSpPr>
        <a:xfrm>
          <a:off x="0" y="0"/>
          <a:ext cx="0" cy="0"/>
          <a:chOff x="0" y="0"/>
          <a:chExt cx="0" cy="0"/>
        </a:xfrm>
      </p:grpSpPr>
      <p:sp>
        <p:nvSpPr>
          <p:cNvPr id="492" name="Google Shape;492;p13:notes">
            <a:extLst>
              <a:ext uri="{FF2B5EF4-FFF2-40B4-BE49-F238E27FC236}">
                <a16:creationId xmlns:a16="http://schemas.microsoft.com/office/drawing/2014/main" id="{67C8E4C2-20E8-840D-44FB-2FCCC1517E6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3" name="Google Shape;493;p13:notes">
            <a:extLst>
              <a:ext uri="{FF2B5EF4-FFF2-40B4-BE49-F238E27FC236}">
                <a16:creationId xmlns:a16="http://schemas.microsoft.com/office/drawing/2014/main" id="{F0EA1D64-A978-A0D1-E5ED-ADC404F79B5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2226716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a:extLst>
            <a:ext uri="{FF2B5EF4-FFF2-40B4-BE49-F238E27FC236}">
              <a16:creationId xmlns:a16="http://schemas.microsoft.com/office/drawing/2014/main" id="{F5DFF4DD-586B-3E2E-1005-D321172674C4}"/>
            </a:ext>
          </a:extLst>
        </p:cNvPr>
        <p:cNvGrpSpPr/>
        <p:nvPr/>
      </p:nvGrpSpPr>
      <p:grpSpPr>
        <a:xfrm>
          <a:off x="0" y="0"/>
          <a:ext cx="0" cy="0"/>
          <a:chOff x="0" y="0"/>
          <a:chExt cx="0" cy="0"/>
        </a:xfrm>
      </p:grpSpPr>
      <p:sp>
        <p:nvSpPr>
          <p:cNvPr id="492" name="Google Shape;492;p13:notes">
            <a:extLst>
              <a:ext uri="{FF2B5EF4-FFF2-40B4-BE49-F238E27FC236}">
                <a16:creationId xmlns:a16="http://schemas.microsoft.com/office/drawing/2014/main" id="{8C66664C-AECD-6CB0-0B5A-F2FD4F8CEA2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3" name="Google Shape;493;p13:notes">
            <a:extLst>
              <a:ext uri="{FF2B5EF4-FFF2-40B4-BE49-F238E27FC236}">
                <a16:creationId xmlns:a16="http://schemas.microsoft.com/office/drawing/2014/main" id="{7172093B-0A0C-333D-8EEC-561F5D37700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4597876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a:extLst>
            <a:ext uri="{FF2B5EF4-FFF2-40B4-BE49-F238E27FC236}">
              <a16:creationId xmlns:a16="http://schemas.microsoft.com/office/drawing/2014/main" id="{F9E4587F-38AA-CB7D-8EF5-E82AFD6A1918}"/>
            </a:ext>
          </a:extLst>
        </p:cNvPr>
        <p:cNvGrpSpPr/>
        <p:nvPr/>
      </p:nvGrpSpPr>
      <p:grpSpPr>
        <a:xfrm>
          <a:off x="0" y="0"/>
          <a:ext cx="0" cy="0"/>
          <a:chOff x="0" y="0"/>
          <a:chExt cx="0" cy="0"/>
        </a:xfrm>
      </p:grpSpPr>
      <p:sp>
        <p:nvSpPr>
          <p:cNvPr id="492" name="Google Shape;492;p13:notes">
            <a:extLst>
              <a:ext uri="{FF2B5EF4-FFF2-40B4-BE49-F238E27FC236}">
                <a16:creationId xmlns:a16="http://schemas.microsoft.com/office/drawing/2014/main" id="{7EBF474C-A919-5D7F-46CD-C2CAF25820C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3" name="Google Shape;493;p13:notes">
            <a:extLst>
              <a:ext uri="{FF2B5EF4-FFF2-40B4-BE49-F238E27FC236}">
                <a16:creationId xmlns:a16="http://schemas.microsoft.com/office/drawing/2014/main" id="{0BFF04B4-EB12-171B-1E32-133E80E3208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41794543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a:extLst>
            <a:ext uri="{FF2B5EF4-FFF2-40B4-BE49-F238E27FC236}">
              <a16:creationId xmlns:a16="http://schemas.microsoft.com/office/drawing/2014/main" id="{96EEAAB6-98A2-B11C-B5D5-69B8882BEB29}"/>
            </a:ext>
          </a:extLst>
        </p:cNvPr>
        <p:cNvGrpSpPr/>
        <p:nvPr/>
      </p:nvGrpSpPr>
      <p:grpSpPr>
        <a:xfrm>
          <a:off x="0" y="0"/>
          <a:ext cx="0" cy="0"/>
          <a:chOff x="0" y="0"/>
          <a:chExt cx="0" cy="0"/>
        </a:xfrm>
      </p:grpSpPr>
      <p:sp>
        <p:nvSpPr>
          <p:cNvPr id="492" name="Google Shape;492;p13:notes">
            <a:extLst>
              <a:ext uri="{FF2B5EF4-FFF2-40B4-BE49-F238E27FC236}">
                <a16:creationId xmlns:a16="http://schemas.microsoft.com/office/drawing/2014/main" id="{007D68AE-3C3F-8D70-DA3B-60DAD779265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3" name="Google Shape;493;p13:notes">
            <a:extLst>
              <a:ext uri="{FF2B5EF4-FFF2-40B4-BE49-F238E27FC236}">
                <a16:creationId xmlns:a16="http://schemas.microsoft.com/office/drawing/2014/main" id="{1947290C-49C4-DB91-E668-37D4F5CE39C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9087522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a:extLst>
            <a:ext uri="{FF2B5EF4-FFF2-40B4-BE49-F238E27FC236}">
              <a16:creationId xmlns:a16="http://schemas.microsoft.com/office/drawing/2014/main" id="{4AB57E32-6C76-DA27-12BB-4C5D7462A537}"/>
            </a:ext>
          </a:extLst>
        </p:cNvPr>
        <p:cNvGrpSpPr/>
        <p:nvPr/>
      </p:nvGrpSpPr>
      <p:grpSpPr>
        <a:xfrm>
          <a:off x="0" y="0"/>
          <a:ext cx="0" cy="0"/>
          <a:chOff x="0" y="0"/>
          <a:chExt cx="0" cy="0"/>
        </a:xfrm>
      </p:grpSpPr>
      <p:sp>
        <p:nvSpPr>
          <p:cNvPr id="492" name="Google Shape;492;p13:notes">
            <a:extLst>
              <a:ext uri="{FF2B5EF4-FFF2-40B4-BE49-F238E27FC236}">
                <a16:creationId xmlns:a16="http://schemas.microsoft.com/office/drawing/2014/main" id="{05A1B9BA-83A4-9BCB-07A3-59B37ABB6D1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93" name="Google Shape;493;p13:notes">
            <a:extLst>
              <a:ext uri="{FF2B5EF4-FFF2-40B4-BE49-F238E27FC236}">
                <a16:creationId xmlns:a16="http://schemas.microsoft.com/office/drawing/2014/main" id="{0B041444-33C2-0482-7008-BC47E7FC0E9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8634753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a:extLst>
            <a:ext uri="{FF2B5EF4-FFF2-40B4-BE49-F238E27FC236}">
              <a16:creationId xmlns:a16="http://schemas.microsoft.com/office/drawing/2014/main" id="{4D32FE83-4555-75A8-FD9F-D20704E7B03E}"/>
            </a:ext>
          </a:extLst>
        </p:cNvPr>
        <p:cNvGrpSpPr/>
        <p:nvPr/>
      </p:nvGrpSpPr>
      <p:grpSpPr>
        <a:xfrm>
          <a:off x="0" y="0"/>
          <a:ext cx="0" cy="0"/>
          <a:chOff x="0" y="0"/>
          <a:chExt cx="0" cy="0"/>
        </a:xfrm>
      </p:grpSpPr>
      <p:sp>
        <p:nvSpPr>
          <p:cNvPr id="492" name="Google Shape;492;p13:notes">
            <a:extLst>
              <a:ext uri="{FF2B5EF4-FFF2-40B4-BE49-F238E27FC236}">
                <a16:creationId xmlns:a16="http://schemas.microsoft.com/office/drawing/2014/main" id="{FB77AF2E-870D-59A0-5AC4-99233E01DE7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3" name="Google Shape;493;p13:notes">
            <a:extLst>
              <a:ext uri="{FF2B5EF4-FFF2-40B4-BE49-F238E27FC236}">
                <a16:creationId xmlns:a16="http://schemas.microsoft.com/office/drawing/2014/main" id="{78C1E1DC-E61A-B003-33F0-6E3200A500D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3665662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a:extLst>
            <a:ext uri="{FF2B5EF4-FFF2-40B4-BE49-F238E27FC236}">
              <a16:creationId xmlns:a16="http://schemas.microsoft.com/office/drawing/2014/main" id="{F546DBBF-CA8B-E6F0-224D-C1DE9551535B}"/>
            </a:ext>
          </a:extLst>
        </p:cNvPr>
        <p:cNvGrpSpPr/>
        <p:nvPr/>
      </p:nvGrpSpPr>
      <p:grpSpPr>
        <a:xfrm>
          <a:off x="0" y="0"/>
          <a:ext cx="0" cy="0"/>
          <a:chOff x="0" y="0"/>
          <a:chExt cx="0" cy="0"/>
        </a:xfrm>
      </p:grpSpPr>
      <p:sp>
        <p:nvSpPr>
          <p:cNvPr id="492" name="Google Shape;492;p13:notes">
            <a:extLst>
              <a:ext uri="{FF2B5EF4-FFF2-40B4-BE49-F238E27FC236}">
                <a16:creationId xmlns:a16="http://schemas.microsoft.com/office/drawing/2014/main" id="{7EB9F6C1-7414-F071-490F-B12FE405CA8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3" name="Google Shape;493;p13:notes">
            <a:extLst>
              <a:ext uri="{FF2B5EF4-FFF2-40B4-BE49-F238E27FC236}">
                <a16:creationId xmlns:a16="http://schemas.microsoft.com/office/drawing/2014/main" id="{8374DD59-887F-945F-A256-DEDC1EF99A8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8489399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a:extLst>
            <a:ext uri="{FF2B5EF4-FFF2-40B4-BE49-F238E27FC236}">
              <a16:creationId xmlns:a16="http://schemas.microsoft.com/office/drawing/2014/main" id="{3039F6D1-A925-0322-9195-7099AD81A940}"/>
            </a:ext>
          </a:extLst>
        </p:cNvPr>
        <p:cNvGrpSpPr/>
        <p:nvPr/>
      </p:nvGrpSpPr>
      <p:grpSpPr>
        <a:xfrm>
          <a:off x="0" y="0"/>
          <a:ext cx="0" cy="0"/>
          <a:chOff x="0" y="0"/>
          <a:chExt cx="0" cy="0"/>
        </a:xfrm>
      </p:grpSpPr>
      <p:sp>
        <p:nvSpPr>
          <p:cNvPr id="492" name="Google Shape;492;p13:notes">
            <a:extLst>
              <a:ext uri="{FF2B5EF4-FFF2-40B4-BE49-F238E27FC236}">
                <a16:creationId xmlns:a16="http://schemas.microsoft.com/office/drawing/2014/main" id="{DD9CB1BC-C6D8-DA7E-E0AE-959ABF77D4C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3" name="Google Shape;493;p13:notes">
            <a:extLst>
              <a:ext uri="{FF2B5EF4-FFF2-40B4-BE49-F238E27FC236}">
                <a16:creationId xmlns:a16="http://schemas.microsoft.com/office/drawing/2014/main" id="{081CBB87-CD25-618D-FE36-1B4C0784819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22360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a:extLst>
            <a:ext uri="{FF2B5EF4-FFF2-40B4-BE49-F238E27FC236}">
              <a16:creationId xmlns:a16="http://schemas.microsoft.com/office/drawing/2014/main" id="{F17C0BB1-2098-F939-3659-E32B44657E85}"/>
            </a:ext>
          </a:extLst>
        </p:cNvPr>
        <p:cNvGrpSpPr/>
        <p:nvPr/>
      </p:nvGrpSpPr>
      <p:grpSpPr>
        <a:xfrm>
          <a:off x="0" y="0"/>
          <a:ext cx="0" cy="0"/>
          <a:chOff x="0" y="0"/>
          <a:chExt cx="0" cy="0"/>
        </a:xfrm>
      </p:grpSpPr>
      <p:sp>
        <p:nvSpPr>
          <p:cNvPr id="492" name="Google Shape;492;p13:notes">
            <a:extLst>
              <a:ext uri="{FF2B5EF4-FFF2-40B4-BE49-F238E27FC236}">
                <a16:creationId xmlns:a16="http://schemas.microsoft.com/office/drawing/2014/main" id="{B256141E-B7E4-E0A0-7879-79901ADDCAF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3" name="Google Shape;493;p13:notes">
            <a:extLst>
              <a:ext uri="{FF2B5EF4-FFF2-40B4-BE49-F238E27FC236}">
                <a16:creationId xmlns:a16="http://schemas.microsoft.com/office/drawing/2014/main" id="{91A0803D-4CDC-27C8-5BDD-CEDBFA6ED79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867611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a:extLst>
            <a:ext uri="{FF2B5EF4-FFF2-40B4-BE49-F238E27FC236}">
              <a16:creationId xmlns:a16="http://schemas.microsoft.com/office/drawing/2014/main" id="{ABC4691A-3DEC-48DB-C4B0-53A2277C04BE}"/>
            </a:ext>
          </a:extLst>
        </p:cNvPr>
        <p:cNvGrpSpPr/>
        <p:nvPr/>
      </p:nvGrpSpPr>
      <p:grpSpPr>
        <a:xfrm>
          <a:off x="0" y="0"/>
          <a:ext cx="0" cy="0"/>
          <a:chOff x="0" y="0"/>
          <a:chExt cx="0" cy="0"/>
        </a:xfrm>
      </p:grpSpPr>
      <p:sp>
        <p:nvSpPr>
          <p:cNvPr id="492" name="Google Shape;492;p13:notes">
            <a:extLst>
              <a:ext uri="{FF2B5EF4-FFF2-40B4-BE49-F238E27FC236}">
                <a16:creationId xmlns:a16="http://schemas.microsoft.com/office/drawing/2014/main" id="{7C18F47B-942C-20D6-5990-4EF935F2D31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93" name="Google Shape;493;p13:notes">
            <a:extLst>
              <a:ext uri="{FF2B5EF4-FFF2-40B4-BE49-F238E27FC236}">
                <a16:creationId xmlns:a16="http://schemas.microsoft.com/office/drawing/2014/main" id="{540136A2-52D4-98CE-6CFC-63190654325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2344098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a:extLst>
            <a:ext uri="{FF2B5EF4-FFF2-40B4-BE49-F238E27FC236}">
              <a16:creationId xmlns:a16="http://schemas.microsoft.com/office/drawing/2014/main" id="{6F36E7E4-A5CB-FA8D-7D45-98AEE1507512}"/>
            </a:ext>
          </a:extLst>
        </p:cNvPr>
        <p:cNvGrpSpPr/>
        <p:nvPr/>
      </p:nvGrpSpPr>
      <p:grpSpPr>
        <a:xfrm>
          <a:off x="0" y="0"/>
          <a:ext cx="0" cy="0"/>
          <a:chOff x="0" y="0"/>
          <a:chExt cx="0" cy="0"/>
        </a:xfrm>
      </p:grpSpPr>
      <p:sp>
        <p:nvSpPr>
          <p:cNvPr id="492" name="Google Shape;492;p13:notes">
            <a:extLst>
              <a:ext uri="{FF2B5EF4-FFF2-40B4-BE49-F238E27FC236}">
                <a16:creationId xmlns:a16="http://schemas.microsoft.com/office/drawing/2014/main" id="{1BE2FDCC-8375-49BF-BD67-51BAA485984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93" name="Google Shape;493;p13:notes">
            <a:extLst>
              <a:ext uri="{FF2B5EF4-FFF2-40B4-BE49-F238E27FC236}">
                <a16:creationId xmlns:a16="http://schemas.microsoft.com/office/drawing/2014/main" id="{37F8AB0D-41C8-D1F3-32ED-6B2E6EBA1E2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2267956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a:extLst>
            <a:ext uri="{FF2B5EF4-FFF2-40B4-BE49-F238E27FC236}">
              <a16:creationId xmlns:a16="http://schemas.microsoft.com/office/drawing/2014/main" id="{231C649D-9E47-90C5-3726-691A45097292}"/>
            </a:ext>
          </a:extLst>
        </p:cNvPr>
        <p:cNvGrpSpPr/>
        <p:nvPr/>
      </p:nvGrpSpPr>
      <p:grpSpPr>
        <a:xfrm>
          <a:off x="0" y="0"/>
          <a:ext cx="0" cy="0"/>
          <a:chOff x="0" y="0"/>
          <a:chExt cx="0" cy="0"/>
        </a:xfrm>
      </p:grpSpPr>
      <p:sp>
        <p:nvSpPr>
          <p:cNvPr id="492" name="Google Shape;492;p13:notes">
            <a:extLst>
              <a:ext uri="{FF2B5EF4-FFF2-40B4-BE49-F238E27FC236}">
                <a16:creationId xmlns:a16="http://schemas.microsoft.com/office/drawing/2014/main" id="{B1BDD984-4CA0-100A-3EA6-E44D1F519C0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3" name="Google Shape;493;p13:notes">
            <a:extLst>
              <a:ext uri="{FF2B5EF4-FFF2-40B4-BE49-F238E27FC236}">
                <a16:creationId xmlns:a16="http://schemas.microsoft.com/office/drawing/2014/main" id="{2B06469D-9D93-6259-F936-39EF69CFD52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4052369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a:extLst>
            <a:ext uri="{FF2B5EF4-FFF2-40B4-BE49-F238E27FC236}">
              <a16:creationId xmlns:a16="http://schemas.microsoft.com/office/drawing/2014/main" id="{35FB2591-4097-3EB3-CEB0-2307B534E6B4}"/>
            </a:ext>
          </a:extLst>
        </p:cNvPr>
        <p:cNvGrpSpPr/>
        <p:nvPr/>
      </p:nvGrpSpPr>
      <p:grpSpPr>
        <a:xfrm>
          <a:off x="0" y="0"/>
          <a:ext cx="0" cy="0"/>
          <a:chOff x="0" y="0"/>
          <a:chExt cx="0" cy="0"/>
        </a:xfrm>
      </p:grpSpPr>
      <p:sp>
        <p:nvSpPr>
          <p:cNvPr id="492" name="Google Shape;492;p13:notes">
            <a:extLst>
              <a:ext uri="{FF2B5EF4-FFF2-40B4-BE49-F238E27FC236}">
                <a16:creationId xmlns:a16="http://schemas.microsoft.com/office/drawing/2014/main" id="{37EA94D4-BAAC-9DF5-77BD-9DB994A79BE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3" name="Google Shape;493;p13:notes">
            <a:extLst>
              <a:ext uri="{FF2B5EF4-FFF2-40B4-BE49-F238E27FC236}">
                <a16:creationId xmlns:a16="http://schemas.microsoft.com/office/drawing/2014/main" id="{A8328744-43F8-338C-3C8E-4EF0F20B0C2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9285570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9" name="Google Shape;539;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a:extLst>
            <a:ext uri="{FF2B5EF4-FFF2-40B4-BE49-F238E27FC236}">
              <a16:creationId xmlns:a16="http://schemas.microsoft.com/office/drawing/2014/main" id="{5CC04EA6-CF0F-315C-BFDF-22860D61B5B9}"/>
            </a:ext>
          </a:extLst>
        </p:cNvPr>
        <p:cNvGrpSpPr/>
        <p:nvPr/>
      </p:nvGrpSpPr>
      <p:grpSpPr>
        <a:xfrm>
          <a:off x="0" y="0"/>
          <a:ext cx="0" cy="0"/>
          <a:chOff x="0" y="0"/>
          <a:chExt cx="0" cy="0"/>
        </a:xfrm>
      </p:grpSpPr>
      <p:sp>
        <p:nvSpPr>
          <p:cNvPr id="492" name="Google Shape;492;p13:notes">
            <a:extLst>
              <a:ext uri="{FF2B5EF4-FFF2-40B4-BE49-F238E27FC236}">
                <a16:creationId xmlns:a16="http://schemas.microsoft.com/office/drawing/2014/main" id="{918ADED5-C121-7B7E-549A-AAD21DFEC0E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3" name="Google Shape;493;p13:notes">
            <a:extLst>
              <a:ext uri="{FF2B5EF4-FFF2-40B4-BE49-F238E27FC236}">
                <a16:creationId xmlns:a16="http://schemas.microsoft.com/office/drawing/2014/main" id="{8E261B2E-72E7-F050-F73A-4FBBC90F1CA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1045645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15"/>
        <p:cNvGrpSpPr/>
        <p:nvPr/>
      </p:nvGrpSpPr>
      <p:grpSpPr>
        <a:xfrm>
          <a:off x="0" y="0"/>
          <a:ext cx="0" cy="0"/>
          <a:chOff x="0" y="0"/>
          <a:chExt cx="0" cy="0"/>
        </a:xfrm>
      </p:grpSpPr>
      <p:sp>
        <p:nvSpPr>
          <p:cNvPr id="16" name="Google Shape;16;p2"/>
          <p:cNvSpPr>
            <a:spLocks noGrp="1"/>
          </p:cNvSpPr>
          <p:nvPr>
            <p:ph type="pic" idx="2"/>
          </p:nvPr>
        </p:nvSpPr>
        <p:spPr>
          <a:xfrm>
            <a:off x="718458" y="0"/>
            <a:ext cx="11473543" cy="6858000"/>
          </a:xfrm>
          <a:prstGeom prst="rect">
            <a:avLst/>
          </a:prstGeom>
          <a:solidFill>
            <a:schemeClr val="lt1"/>
          </a:solidFill>
          <a:ln>
            <a:noFill/>
          </a:ln>
        </p:spPr>
        <p:txBody>
          <a:bodyPr/>
          <a:lstStyle/>
          <a:p>
            <a:endParaRPr lang="en-US"/>
          </a:p>
        </p:txBody>
      </p:sp>
      <p:sp>
        <p:nvSpPr>
          <p:cNvPr id="17" name="Google Shape;17;p2"/>
          <p:cNvSpPr/>
          <p:nvPr/>
        </p:nvSpPr>
        <p:spPr>
          <a:xfrm>
            <a:off x="1" y="0"/>
            <a:ext cx="718457" cy="6858000"/>
          </a:xfrm>
          <a:prstGeom prst="rect">
            <a:avLst/>
          </a:prstGeom>
          <a:gradFill>
            <a:gsLst>
              <a:gs pos="0">
                <a:srgbClr val="30A4CF"/>
              </a:gs>
              <a:gs pos="100000">
                <a:srgbClr val="67D7F4"/>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8" name="Google Shape;18;p2"/>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GB"/>
              <a:t>‹#›</a:t>
            </a:fld>
            <a:endParaRPr/>
          </a:p>
        </p:txBody>
      </p:sp>
      <p:sp>
        <p:nvSpPr>
          <p:cNvPr id="19" name="Google Shape;19;p2"/>
          <p:cNvSpPr txBox="1">
            <a:spLocks noGrp="1"/>
          </p:cNvSpPr>
          <p:nvPr>
            <p:ph type="dt" idx="10"/>
          </p:nvPr>
        </p:nvSpPr>
        <p:spPr>
          <a:xfrm>
            <a:off x="8958469" y="635635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38_Title Slide">
  <p:cSld name="38_Title Slide">
    <p:spTree>
      <p:nvGrpSpPr>
        <p:cNvPr id="1" name="Shape 34"/>
        <p:cNvGrpSpPr/>
        <p:nvPr/>
      </p:nvGrpSpPr>
      <p:grpSpPr>
        <a:xfrm>
          <a:off x="0" y="0"/>
          <a:ext cx="0" cy="0"/>
          <a:chOff x="0" y="0"/>
          <a:chExt cx="0" cy="0"/>
        </a:xfrm>
      </p:grpSpPr>
      <p:sp>
        <p:nvSpPr>
          <p:cNvPr id="35" name="Google Shape;35;p5"/>
          <p:cNvSpPr/>
          <p:nvPr/>
        </p:nvSpPr>
        <p:spPr>
          <a:xfrm rot="-5400000" flipH="1">
            <a:off x="8725571" y="1809909"/>
            <a:ext cx="6858002" cy="3238188"/>
          </a:xfrm>
          <a:prstGeom prst="flowChartManualInput">
            <a:avLst/>
          </a:prstGeom>
          <a:gradFill>
            <a:gsLst>
              <a:gs pos="0">
                <a:srgbClr val="30A4CF"/>
              </a:gs>
              <a:gs pos="100000">
                <a:srgbClr val="67D7F4"/>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 name="Google Shape;36;p5"/>
          <p:cNvSpPr>
            <a:spLocks noGrp="1"/>
          </p:cNvSpPr>
          <p:nvPr>
            <p:ph type="pic" idx="2"/>
          </p:nvPr>
        </p:nvSpPr>
        <p:spPr>
          <a:xfrm>
            <a:off x="568598" y="535578"/>
            <a:ext cx="11054807" cy="5786844"/>
          </a:xfrm>
          <a:prstGeom prst="rect">
            <a:avLst/>
          </a:prstGeom>
          <a:solidFill>
            <a:schemeClr val="lt1"/>
          </a:solidFill>
          <a:ln>
            <a:noFill/>
          </a:ln>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7"/>
        <p:cNvGrpSpPr/>
        <p:nvPr/>
      </p:nvGrpSpPr>
      <p:grpSpPr>
        <a:xfrm>
          <a:off x="0" y="0"/>
          <a:ext cx="0" cy="0"/>
          <a:chOff x="0" y="0"/>
          <a:chExt cx="0" cy="0"/>
        </a:xfrm>
      </p:grpSpPr>
      <p:sp>
        <p:nvSpPr>
          <p:cNvPr id="38" name="Google Shape;38;p6"/>
          <p:cNvSpPr txBox="1">
            <a:spLocks noGrp="1"/>
          </p:cNvSpPr>
          <p:nvPr>
            <p:ph type="sldNum" idx="12"/>
          </p:nvPr>
        </p:nvSpPr>
        <p:spPr>
          <a:xfrm>
            <a:off x="490331" y="6356352"/>
            <a:ext cx="2743200"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GB"/>
              <a:t>‹#›</a:t>
            </a:fld>
            <a:endParaRPr/>
          </a:p>
        </p:txBody>
      </p:sp>
      <p:sp>
        <p:nvSpPr>
          <p:cNvPr id="39" name="Google Shape;39;p6"/>
          <p:cNvSpPr txBox="1">
            <a:spLocks noGrp="1"/>
          </p:cNvSpPr>
          <p:nvPr>
            <p:ph type="dt" idx="10"/>
          </p:nvPr>
        </p:nvSpPr>
        <p:spPr>
          <a:xfrm>
            <a:off x="8958469" y="635635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6"/>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3_Title Slide">
  <p:cSld name="3_Title Slide">
    <p:spTree>
      <p:nvGrpSpPr>
        <p:cNvPr id="1" name="Shape 41"/>
        <p:cNvGrpSpPr/>
        <p:nvPr/>
      </p:nvGrpSpPr>
      <p:grpSpPr>
        <a:xfrm>
          <a:off x="0" y="0"/>
          <a:ext cx="0" cy="0"/>
          <a:chOff x="0" y="0"/>
          <a:chExt cx="0" cy="0"/>
        </a:xfrm>
      </p:grpSpPr>
      <p:sp>
        <p:nvSpPr>
          <p:cNvPr id="42" name="Google Shape;42;p7"/>
          <p:cNvSpPr>
            <a:spLocks noGrp="1"/>
          </p:cNvSpPr>
          <p:nvPr>
            <p:ph type="pic" idx="2"/>
          </p:nvPr>
        </p:nvSpPr>
        <p:spPr>
          <a:xfrm>
            <a:off x="6884125" y="0"/>
            <a:ext cx="5307875" cy="6858000"/>
          </a:xfrm>
          <a:prstGeom prst="rect">
            <a:avLst/>
          </a:prstGeom>
          <a:solidFill>
            <a:schemeClr val="lt1"/>
          </a:solidFill>
          <a:ln>
            <a:noFill/>
          </a:ln>
        </p:spPr>
        <p:txBody>
          <a:bodyPr/>
          <a:lstStyle/>
          <a:p>
            <a:endParaRPr lang="en-US"/>
          </a:p>
        </p:txBody>
      </p:sp>
      <p:sp>
        <p:nvSpPr>
          <p:cNvPr id="43" name="Google Shape;43;p7"/>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GB"/>
              <a:t>‹#›</a:t>
            </a:fld>
            <a:endParaRPr/>
          </a:p>
        </p:txBody>
      </p:sp>
      <p:sp>
        <p:nvSpPr>
          <p:cNvPr id="44" name="Google Shape;44;p7"/>
          <p:cNvSpPr txBox="1">
            <a:spLocks noGrp="1"/>
          </p:cNvSpPr>
          <p:nvPr>
            <p:ph type="dt" idx="10"/>
          </p:nvPr>
        </p:nvSpPr>
        <p:spPr>
          <a:xfrm>
            <a:off x="9448800" y="648656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7"/>
          <p:cNvSpPr txBox="1">
            <a:spLocks noGrp="1"/>
          </p:cNvSpPr>
          <p:nvPr>
            <p:ph type="ftr" idx="11"/>
          </p:nvPr>
        </p:nvSpPr>
        <p:spPr>
          <a:xfrm>
            <a:off x="4528931" y="6486569"/>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4_Title Slide">
  <p:cSld name="4_Title Slide">
    <p:spTree>
      <p:nvGrpSpPr>
        <p:cNvPr id="1" name="Shape 46"/>
        <p:cNvGrpSpPr/>
        <p:nvPr/>
      </p:nvGrpSpPr>
      <p:grpSpPr>
        <a:xfrm>
          <a:off x="0" y="0"/>
          <a:ext cx="0" cy="0"/>
          <a:chOff x="0" y="0"/>
          <a:chExt cx="0" cy="0"/>
        </a:xfrm>
      </p:grpSpPr>
      <p:sp>
        <p:nvSpPr>
          <p:cNvPr id="47" name="Google Shape;47;p8"/>
          <p:cNvSpPr/>
          <p:nvPr/>
        </p:nvSpPr>
        <p:spPr>
          <a:xfrm>
            <a:off x="-1" y="0"/>
            <a:ext cx="3087189" cy="6858000"/>
          </a:xfrm>
          <a:prstGeom prst="rect">
            <a:avLst/>
          </a:prstGeom>
          <a:gradFill>
            <a:gsLst>
              <a:gs pos="0">
                <a:srgbClr val="30A4CF"/>
              </a:gs>
              <a:gs pos="100000">
                <a:srgbClr val="67D7F4"/>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 name="Google Shape;48;p8"/>
          <p:cNvSpPr>
            <a:spLocks noGrp="1"/>
          </p:cNvSpPr>
          <p:nvPr>
            <p:ph type="pic" idx="2"/>
          </p:nvPr>
        </p:nvSpPr>
        <p:spPr>
          <a:xfrm>
            <a:off x="3087190" y="0"/>
            <a:ext cx="3937725" cy="6858000"/>
          </a:xfrm>
          <a:prstGeom prst="rect">
            <a:avLst/>
          </a:prstGeom>
          <a:solidFill>
            <a:schemeClr val="lt1"/>
          </a:solidFill>
          <a:ln>
            <a:noFill/>
          </a:ln>
        </p:spPr>
        <p:txBody>
          <a:bodyPr/>
          <a:lstStyle/>
          <a:p>
            <a:endParaRPr lang="en-US"/>
          </a:p>
        </p:txBody>
      </p:sp>
      <p:sp>
        <p:nvSpPr>
          <p:cNvPr id="49" name="Google Shape;49;p8"/>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5_Title Slide">
  <p:cSld name="5_Title Slide">
    <p:spTree>
      <p:nvGrpSpPr>
        <p:cNvPr id="1" name="Shape 50"/>
        <p:cNvGrpSpPr/>
        <p:nvPr/>
      </p:nvGrpSpPr>
      <p:grpSpPr>
        <a:xfrm>
          <a:off x="0" y="0"/>
          <a:ext cx="0" cy="0"/>
          <a:chOff x="0" y="0"/>
          <a:chExt cx="0" cy="0"/>
        </a:xfrm>
      </p:grpSpPr>
      <p:sp>
        <p:nvSpPr>
          <p:cNvPr id="51" name="Google Shape;51;p9"/>
          <p:cNvSpPr/>
          <p:nvPr/>
        </p:nvSpPr>
        <p:spPr>
          <a:xfrm>
            <a:off x="7064102" y="1416593"/>
            <a:ext cx="4024815" cy="4024814"/>
          </a:xfrm>
          <a:prstGeom prst="ellipse">
            <a:avLst/>
          </a:prstGeom>
          <a:solidFill>
            <a:srgbClr val="D8D8D8">
              <a:alpha val="2980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 name="Google Shape;52;p9"/>
          <p:cNvSpPr/>
          <p:nvPr/>
        </p:nvSpPr>
        <p:spPr>
          <a:xfrm>
            <a:off x="1" y="0"/>
            <a:ext cx="718457" cy="6858000"/>
          </a:xfrm>
          <a:prstGeom prst="rect">
            <a:avLst/>
          </a:prstGeom>
          <a:gradFill>
            <a:gsLst>
              <a:gs pos="0">
                <a:srgbClr val="30A4CF"/>
              </a:gs>
              <a:gs pos="100000">
                <a:srgbClr val="67D7F4"/>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 name="Google Shape;53;p9"/>
          <p:cNvSpPr>
            <a:spLocks noGrp="1"/>
          </p:cNvSpPr>
          <p:nvPr>
            <p:ph type="pic" idx="2"/>
          </p:nvPr>
        </p:nvSpPr>
        <p:spPr>
          <a:xfrm>
            <a:off x="7267302" y="1619793"/>
            <a:ext cx="3618415" cy="3618414"/>
          </a:xfrm>
          <a:prstGeom prst="rect">
            <a:avLst/>
          </a:prstGeom>
          <a:solidFill>
            <a:schemeClr val="lt1"/>
          </a:solidFill>
          <a:ln>
            <a:noFill/>
          </a:ln>
        </p:spPr>
        <p:txBody>
          <a:bodyPr/>
          <a:lstStyle/>
          <a:p>
            <a:endParaRPr lang="en-US"/>
          </a:p>
        </p:txBody>
      </p:sp>
      <p:sp>
        <p:nvSpPr>
          <p:cNvPr id="54" name="Google Shape;54;p9"/>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GB"/>
              <a:t>‹#›</a:t>
            </a:fld>
            <a:endParaRPr/>
          </a:p>
        </p:txBody>
      </p:sp>
      <p:sp>
        <p:nvSpPr>
          <p:cNvPr id="55" name="Google Shape;55;p9"/>
          <p:cNvSpPr txBox="1">
            <a:spLocks noGrp="1"/>
          </p:cNvSpPr>
          <p:nvPr>
            <p:ph type="dt" idx="10"/>
          </p:nvPr>
        </p:nvSpPr>
        <p:spPr>
          <a:xfrm>
            <a:off x="9448800" y="648656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9"/>
          <p:cNvSpPr txBox="1">
            <a:spLocks noGrp="1"/>
          </p:cNvSpPr>
          <p:nvPr>
            <p:ph type="ftr" idx="11"/>
          </p:nvPr>
        </p:nvSpPr>
        <p:spPr>
          <a:xfrm>
            <a:off x="4528931" y="6486569"/>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7_Title Slide">
  <p:cSld name="7_Title Slide">
    <p:spTree>
      <p:nvGrpSpPr>
        <p:cNvPr id="1" name="Shape 57"/>
        <p:cNvGrpSpPr/>
        <p:nvPr/>
      </p:nvGrpSpPr>
      <p:grpSpPr>
        <a:xfrm>
          <a:off x="0" y="0"/>
          <a:ext cx="0" cy="0"/>
          <a:chOff x="0" y="0"/>
          <a:chExt cx="0" cy="0"/>
        </a:xfrm>
      </p:grpSpPr>
      <p:sp>
        <p:nvSpPr>
          <p:cNvPr id="58" name="Google Shape;58;p10"/>
          <p:cNvSpPr>
            <a:spLocks noGrp="1"/>
          </p:cNvSpPr>
          <p:nvPr>
            <p:ph type="pic" idx="2"/>
          </p:nvPr>
        </p:nvSpPr>
        <p:spPr>
          <a:xfrm>
            <a:off x="718457" y="0"/>
            <a:ext cx="4419600" cy="6858000"/>
          </a:xfrm>
          <a:prstGeom prst="rect">
            <a:avLst/>
          </a:prstGeom>
          <a:solidFill>
            <a:schemeClr val="lt1"/>
          </a:solidFill>
          <a:ln>
            <a:noFill/>
          </a:ln>
        </p:spPr>
        <p:txBody>
          <a:bodyPr/>
          <a:lstStyle/>
          <a:p>
            <a:endParaRPr lang="en-US"/>
          </a:p>
        </p:txBody>
      </p:sp>
      <p:sp>
        <p:nvSpPr>
          <p:cNvPr id="59" name="Google Shape;59;p10"/>
          <p:cNvSpPr/>
          <p:nvPr/>
        </p:nvSpPr>
        <p:spPr>
          <a:xfrm>
            <a:off x="1" y="0"/>
            <a:ext cx="718457" cy="6858000"/>
          </a:xfrm>
          <a:prstGeom prst="rect">
            <a:avLst/>
          </a:prstGeom>
          <a:gradFill>
            <a:gsLst>
              <a:gs pos="0">
                <a:srgbClr val="30A4CF"/>
              </a:gs>
              <a:gs pos="100000">
                <a:srgbClr val="67D7F4"/>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cxnSp>
        <p:nvCxnSpPr>
          <p:cNvPr id="60" name="Google Shape;60;p10"/>
          <p:cNvCxnSpPr/>
          <p:nvPr/>
        </p:nvCxnSpPr>
        <p:spPr>
          <a:xfrm rot="10800000">
            <a:off x="7387772" y="2221035"/>
            <a:ext cx="4804229" cy="0"/>
          </a:xfrm>
          <a:prstGeom prst="straightConnector1">
            <a:avLst/>
          </a:prstGeom>
          <a:noFill/>
          <a:ln w="28575" cap="flat" cmpd="sng">
            <a:solidFill>
              <a:srgbClr val="30A4CF"/>
            </a:solidFill>
            <a:prstDash val="solid"/>
            <a:miter lim="8000"/>
            <a:headEnd type="none" w="sm" len="sm"/>
            <a:tailEnd type="none" w="sm" len="sm"/>
          </a:ln>
        </p:spPr>
      </p:cxnSp>
      <p:sp>
        <p:nvSpPr>
          <p:cNvPr id="61" name="Google Shape;61;p10"/>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GB"/>
              <a:t>‹#›</a:t>
            </a:fld>
            <a:endParaRPr/>
          </a:p>
        </p:txBody>
      </p:sp>
      <p:sp>
        <p:nvSpPr>
          <p:cNvPr id="62" name="Google Shape;62;p10"/>
          <p:cNvSpPr txBox="1">
            <a:spLocks noGrp="1"/>
          </p:cNvSpPr>
          <p:nvPr>
            <p:ph type="dt" idx="10"/>
          </p:nvPr>
        </p:nvSpPr>
        <p:spPr>
          <a:xfrm>
            <a:off x="9448800" y="648656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0"/>
          <p:cNvSpPr txBox="1">
            <a:spLocks noGrp="1"/>
          </p:cNvSpPr>
          <p:nvPr>
            <p:ph type="ftr" idx="11"/>
          </p:nvPr>
        </p:nvSpPr>
        <p:spPr>
          <a:xfrm>
            <a:off x="4528931" y="6486569"/>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8_Title Slide">
  <p:cSld name="8_Title Slide">
    <p:spTree>
      <p:nvGrpSpPr>
        <p:cNvPr id="1" name="Shape 64"/>
        <p:cNvGrpSpPr/>
        <p:nvPr/>
      </p:nvGrpSpPr>
      <p:grpSpPr>
        <a:xfrm>
          <a:off x="0" y="0"/>
          <a:ext cx="0" cy="0"/>
          <a:chOff x="0" y="0"/>
          <a:chExt cx="0" cy="0"/>
        </a:xfrm>
      </p:grpSpPr>
      <p:sp>
        <p:nvSpPr>
          <p:cNvPr id="65" name="Google Shape;65;p11"/>
          <p:cNvSpPr/>
          <p:nvPr/>
        </p:nvSpPr>
        <p:spPr>
          <a:xfrm rot="5400000">
            <a:off x="-177801" y="177801"/>
            <a:ext cx="6858002" cy="6502400"/>
          </a:xfrm>
          <a:prstGeom prst="flowChartManualInput">
            <a:avLst/>
          </a:prstGeom>
          <a:gradFill>
            <a:gsLst>
              <a:gs pos="0">
                <a:srgbClr val="30A4CF"/>
              </a:gs>
              <a:gs pos="100000">
                <a:srgbClr val="67D7F4"/>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 name="Google Shape;66;p11"/>
          <p:cNvSpPr/>
          <p:nvPr/>
        </p:nvSpPr>
        <p:spPr>
          <a:xfrm>
            <a:off x="624114" y="638630"/>
            <a:ext cx="10943775" cy="5580740"/>
          </a:xfrm>
          <a:prstGeom prst="rect">
            <a:avLst/>
          </a:prstGeom>
          <a:solidFill>
            <a:schemeClr val="lt1"/>
          </a:solidFill>
          <a:ln>
            <a:noFill/>
          </a:ln>
          <a:effectLst>
            <a:outerShdw blurRad="876300" dist="393700" dir="5400000" algn="t" rotWithShape="0">
              <a:srgbClr val="000000">
                <a:alpha val="784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Calibri"/>
              <a:ea typeface="Calibri"/>
              <a:cs typeface="Calibri"/>
              <a:sym typeface="Calibri"/>
            </a:endParaRPr>
          </a:p>
        </p:txBody>
      </p:sp>
      <p:sp>
        <p:nvSpPr>
          <p:cNvPr id="67" name="Google Shape;67;p11"/>
          <p:cNvSpPr>
            <a:spLocks noGrp="1"/>
          </p:cNvSpPr>
          <p:nvPr>
            <p:ph type="pic" idx="2"/>
          </p:nvPr>
        </p:nvSpPr>
        <p:spPr>
          <a:xfrm>
            <a:off x="7547430" y="1360714"/>
            <a:ext cx="3396343" cy="4136570"/>
          </a:xfrm>
          <a:prstGeom prst="rect">
            <a:avLst/>
          </a:prstGeom>
          <a:solidFill>
            <a:schemeClr val="lt1"/>
          </a:solidFill>
          <a:ln>
            <a:noFill/>
          </a:ln>
        </p:spPr>
        <p:txBody>
          <a:bodyPr/>
          <a:lstStyle/>
          <a:p>
            <a:endParaRPr lang="en-US"/>
          </a:p>
        </p:txBody>
      </p:sp>
      <p:sp>
        <p:nvSpPr>
          <p:cNvPr id="68" name="Google Shape;68;p11"/>
          <p:cNvSpPr>
            <a:spLocks noGrp="1"/>
          </p:cNvSpPr>
          <p:nvPr>
            <p:ph type="pic" idx="3"/>
          </p:nvPr>
        </p:nvSpPr>
        <p:spPr>
          <a:xfrm>
            <a:off x="1708695" y="3737064"/>
            <a:ext cx="1760220" cy="1760220"/>
          </a:xfrm>
          <a:prstGeom prst="rect">
            <a:avLst/>
          </a:prstGeom>
          <a:solidFill>
            <a:schemeClr val="lt1"/>
          </a:solidFill>
          <a:ln>
            <a:noFill/>
          </a:ln>
        </p:spPr>
        <p:txBody>
          <a:bodyPr/>
          <a:lstStyle/>
          <a:p>
            <a:endParaRPr lang="en-US"/>
          </a:p>
        </p:txBody>
      </p:sp>
      <p:sp>
        <p:nvSpPr>
          <p:cNvPr id="69" name="Google Shape;69;p11"/>
          <p:cNvSpPr>
            <a:spLocks noGrp="1"/>
          </p:cNvSpPr>
          <p:nvPr>
            <p:ph type="pic" idx="4"/>
          </p:nvPr>
        </p:nvSpPr>
        <p:spPr>
          <a:xfrm>
            <a:off x="4335781" y="3737064"/>
            <a:ext cx="1760220" cy="1760220"/>
          </a:xfrm>
          <a:prstGeom prst="rect">
            <a:avLst/>
          </a:prstGeom>
          <a:solidFill>
            <a:schemeClr val="lt1"/>
          </a:solidFill>
          <a:ln>
            <a:noFill/>
          </a:ln>
        </p:spPr>
        <p:txBody>
          <a:bodyPr/>
          <a:lstStyle/>
          <a:p>
            <a:endParaRPr lang="en-US"/>
          </a:p>
        </p:txBody>
      </p:sp>
      <p:sp>
        <p:nvSpPr>
          <p:cNvPr id="70" name="Google Shape;70;p11"/>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GB"/>
              <a:t>‹#›</a:t>
            </a:fld>
            <a:endParaRPr/>
          </a:p>
        </p:txBody>
      </p:sp>
      <p:sp>
        <p:nvSpPr>
          <p:cNvPr id="71" name="Google Shape;71;p11"/>
          <p:cNvSpPr txBox="1">
            <a:spLocks noGrp="1"/>
          </p:cNvSpPr>
          <p:nvPr>
            <p:ph type="dt" idx="10"/>
          </p:nvPr>
        </p:nvSpPr>
        <p:spPr>
          <a:xfrm>
            <a:off x="9448800" y="648656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4528931" y="6486569"/>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9_Title Slide">
  <p:cSld name="9_Title Slide">
    <p:spTree>
      <p:nvGrpSpPr>
        <p:cNvPr id="1" name="Shape 73"/>
        <p:cNvGrpSpPr/>
        <p:nvPr/>
      </p:nvGrpSpPr>
      <p:grpSpPr>
        <a:xfrm>
          <a:off x="0" y="0"/>
          <a:ext cx="0" cy="0"/>
          <a:chOff x="0" y="0"/>
          <a:chExt cx="0" cy="0"/>
        </a:xfrm>
      </p:grpSpPr>
      <p:sp>
        <p:nvSpPr>
          <p:cNvPr id="74" name="Google Shape;74;p12"/>
          <p:cNvSpPr>
            <a:spLocks noGrp="1"/>
          </p:cNvSpPr>
          <p:nvPr>
            <p:ph type="pic" idx="2"/>
          </p:nvPr>
        </p:nvSpPr>
        <p:spPr>
          <a:xfrm>
            <a:off x="10508345" y="0"/>
            <a:ext cx="1683657" cy="6858000"/>
          </a:xfrm>
          <a:prstGeom prst="rect">
            <a:avLst/>
          </a:prstGeom>
          <a:solidFill>
            <a:schemeClr val="lt1"/>
          </a:solidFill>
          <a:ln>
            <a:noFill/>
          </a:ln>
        </p:spPr>
        <p:txBody>
          <a:bodyPr/>
          <a:lstStyle/>
          <a:p>
            <a:endParaRPr lang="en-US"/>
          </a:p>
        </p:txBody>
      </p:sp>
      <p:sp>
        <p:nvSpPr>
          <p:cNvPr id="75" name="Google Shape;75;p12"/>
          <p:cNvSpPr>
            <a:spLocks noGrp="1"/>
          </p:cNvSpPr>
          <p:nvPr>
            <p:ph type="pic" idx="3"/>
          </p:nvPr>
        </p:nvSpPr>
        <p:spPr>
          <a:xfrm>
            <a:off x="7053943" y="0"/>
            <a:ext cx="3454400" cy="6858000"/>
          </a:xfrm>
          <a:prstGeom prst="rect">
            <a:avLst/>
          </a:prstGeom>
          <a:solidFill>
            <a:schemeClr val="lt1"/>
          </a:solidFill>
          <a:ln>
            <a:noFill/>
          </a:ln>
        </p:spPr>
        <p:txBody>
          <a:bodyPr/>
          <a:lstStyle/>
          <a:p>
            <a:endParaRPr lang="en-US"/>
          </a:p>
        </p:txBody>
      </p:sp>
      <p:sp>
        <p:nvSpPr>
          <p:cNvPr id="76" name="Google Shape;76;p12"/>
          <p:cNvSpPr/>
          <p:nvPr/>
        </p:nvSpPr>
        <p:spPr>
          <a:xfrm>
            <a:off x="1" y="0"/>
            <a:ext cx="718457" cy="6858000"/>
          </a:xfrm>
          <a:prstGeom prst="rect">
            <a:avLst/>
          </a:prstGeom>
          <a:gradFill>
            <a:gsLst>
              <a:gs pos="0">
                <a:srgbClr val="30A4CF"/>
              </a:gs>
              <a:gs pos="100000">
                <a:srgbClr val="67D7F4"/>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7" name="Google Shape;77;p12"/>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GB"/>
              <a:t>‹#›</a:t>
            </a:fld>
            <a:endParaRPr/>
          </a:p>
        </p:txBody>
      </p:sp>
      <p:sp>
        <p:nvSpPr>
          <p:cNvPr id="78" name="Google Shape;78;p12"/>
          <p:cNvSpPr txBox="1">
            <a:spLocks noGrp="1"/>
          </p:cNvSpPr>
          <p:nvPr>
            <p:ph type="dt" idx="10"/>
          </p:nvPr>
        </p:nvSpPr>
        <p:spPr>
          <a:xfrm>
            <a:off x="9448800" y="648656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2"/>
          <p:cNvSpPr txBox="1">
            <a:spLocks noGrp="1"/>
          </p:cNvSpPr>
          <p:nvPr>
            <p:ph type="ftr" idx="11"/>
          </p:nvPr>
        </p:nvSpPr>
        <p:spPr>
          <a:xfrm>
            <a:off x="4528931" y="6486569"/>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0_Title Slide">
  <p:cSld name="10_Title Slide">
    <p:spTree>
      <p:nvGrpSpPr>
        <p:cNvPr id="1" name="Shape 80"/>
        <p:cNvGrpSpPr/>
        <p:nvPr/>
      </p:nvGrpSpPr>
      <p:grpSpPr>
        <a:xfrm>
          <a:off x="0" y="0"/>
          <a:ext cx="0" cy="0"/>
          <a:chOff x="0" y="0"/>
          <a:chExt cx="0" cy="0"/>
        </a:xfrm>
      </p:grpSpPr>
      <p:sp>
        <p:nvSpPr>
          <p:cNvPr id="81" name="Google Shape;81;p13"/>
          <p:cNvSpPr/>
          <p:nvPr/>
        </p:nvSpPr>
        <p:spPr>
          <a:xfrm>
            <a:off x="1" y="0"/>
            <a:ext cx="4024815" cy="1711234"/>
          </a:xfrm>
          <a:prstGeom prst="rect">
            <a:avLst/>
          </a:prstGeom>
          <a:solidFill>
            <a:srgbClr val="D8D8D8">
              <a:alpha val="2980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2" name="Google Shape;82;p13"/>
          <p:cNvSpPr/>
          <p:nvPr/>
        </p:nvSpPr>
        <p:spPr>
          <a:xfrm>
            <a:off x="7460345" y="0"/>
            <a:ext cx="4731657" cy="6858000"/>
          </a:xfrm>
          <a:prstGeom prst="rect">
            <a:avLst/>
          </a:prstGeom>
          <a:gradFill>
            <a:gsLst>
              <a:gs pos="0">
                <a:srgbClr val="30A4CF"/>
              </a:gs>
              <a:gs pos="100000">
                <a:srgbClr val="67D7F4"/>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3" name="Google Shape;83;p13"/>
          <p:cNvSpPr>
            <a:spLocks noGrp="1"/>
          </p:cNvSpPr>
          <p:nvPr>
            <p:ph type="pic" idx="2"/>
          </p:nvPr>
        </p:nvSpPr>
        <p:spPr>
          <a:xfrm>
            <a:off x="8890363" y="740228"/>
            <a:ext cx="1871616" cy="1654628"/>
          </a:xfrm>
          <a:prstGeom prst="roundRect">
            <a:avLst>
              <a:gd name="adj" fmla="val 9295"/>
            </a:avLst>
          </a:prstGeom>
          <a:solidFill>
            <a:schemeClr val="lt1"/>
          </a:solidFill>
          <a:ln w="76200" cap="flat" cmpd="sng">
            <a:solidFill>
              <a:schemeClr val="lt1"/>
            </a:solidFill>
            <a:prstDash val="solid"/>
            <a:round/>
            <a:headEnd type="none" w="sm" len="sm"/>
            <a:tailEnd type="none" w="sm" len="sm"/>
          </a:ln>
        </p:spPr>
        <p:txBody>
          <a:bodyPr/>
          <a:lstStyle/>
          <a:p>
            <a:endParaRPr lang="en-US"/>
          </a:p>
        </p:txBody>
      </p:sp>
      <p:sp>
        <p:nvSpPr>
          <p:cNvPr id="84" name="Google Shape;84;p13"/>
          <p:cNvSpPr>
            <a:spLocks noGrp="1"/>
          </p:cNvSpPr>
          <p:nvPr>
            <p:ph type="pic" idx="3"/>
          </p:nvPr>
        </p:nvSpPr>
        <p:spPr>
          <a:xfrm>
            <a:off x="8890363" y="3799114"/>
            <a:ext cx="1871616" cy="1654628"/>
          </a:xfrm>
          <a:prstGeom prst="roundRect">
            <a:avLst>
              <a:gd name="adj" fmla="val 9295"/>
            </a:avLst>
          </a:prstGeom>
          <a:solidFill>
            <a:schemeClr val="lt1"/>
          </a:solidFill>
          <a:ln w="76200" cap="flat" cmpd="sng">
            <a:solidFill>
              <a:schemeClr val="lt1"/>
            </a:solidFill>
            <a:prstDash val="solid"/>
            <a:round/>
            <a:headEnd type="none" w="sm" len="sm"/>
            <a:tailEnd type="none" w="sm" len="sm"/>
          </a:ln>
        </p:spPr>
        <p:txBody>
          <a:bodyPr/>
          <a:lstStyle/>
          <a:p>
            <a:endParaRPr lang="en-US"/>
          </a:p>
        </p:txBody>
      </p:sp>
      <p:sp>
        <p:nvSpPr>
          <p:cNvPr id="85" name="Google Shape;85;p13"/>
          <p:cNvSpPr>
            <a:spLocks noGrp="1"/>
          </p:cNvSpPr>
          <p:nvPr>
            <p:ph type="pic" idx="4"/>
          </p:nvPr>
        </p:nvSpPr>
        <p:spPr>
          <a:xfrm>
            <a:off x="1" y="1711234"/>
            <a:ext cx="7460343" cy="3435532"/>
          </a:xfrm>
          <a:prstGeom prst="rect">
            <a:avLst/>
          </a:prstGeom>
          <a:solidFill>
            <a:schemeClr val="lt1"/>
          </a:solidFill>
          <a:ln>
            <a:noFill/>
          </a:ln>
        </p:spPr>
        <p:txBody>
          <a:bodyPr/>
          <a:lstStyle/>
          <a:p>
            <a:endParaRPr lang="en-US"/>
          </a:p>
        </p:txBody>
      </p:sp>
      <p:sp>
        <p:nvSpPr>
          <p:cNvPr id="86" name="Google Shape;86;p13"/>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GB"/>
              <a:t>‹#›</a:t>
            </a:fld>
            <a:endParaRPr/>
          </a:p>
        </p:txBody>
      </p:sp>
      <p:sp>
        <p:nvSpPr>
          <p:cNvPr id="87" name="Google Shape;87;p13"/>
          <p:cNvSpPr txBox="1">
            <a:spLocks noGrp="1"/>
          </p:cNvSpPr>
          <p:nvPr>
            <p:ph type="dt" idx="10"/>
          </p:nvPr>
        </p:nvSpPr>
        <p:spPr>
          <a:xfrm>
            <a:off x="9448800" y="648656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13"/>
          <p:cNvSpPr txBox="1">
            <a:spLocks noGrp="1"/>
          </p:cNvSpPr>
          <p:nvPr>
            <p:ph type="ftr" idx="11"/>
          </p:nvPr>
        </p:nvSpPr>
        <p:spPr>
          <a:xfrm>
            <a:off x="4528931" y="6486569"/>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1_Title Slide">
  <p:cSld name="11_Title Slide">
    <p:spTree>
      <p:nvGrpSpPr>
        <p:cNvPr id="1" name="Shape 89"/>
        <p:cNvGrpSpPr/>
        <p:nvPr/>
      </p:nvGrpSpPr>
      <p:grpSpPr>
        <a:xfrm>
          <a:off x="0" y="0"/>
          <a:ext cx="0" cy="0"/>
          <a:chOff x="0" y="0"/>
          <a:chExt cx="0" cy="0"/>
        </a:xfrm>
      </p:grpSpPr>
      <p:sp>
        <p:nvSpPr>
          <p:cNvPr id="90" name="Google Shape;90;p14"/>
          <p:cNvSpPr>
            <a:spLocks noGrp="1"/>
          </p:cNvSpPr>
          <p:nvPr>
            <p:ph type="pic" idx="2"/>
          </p:nvPr>
        </p:nvSpPr>
        <p:spPr>
          <a:xfrm>
            <a:off x="718458" y="0"/>
            <a:ext cx="11473543" cy="6858000"/>
          </a:xfrm>
          <a:prstGeom prst="rect">
            <a:avLst/>
          </a:prstGeom>
          <a:solidFill>
            <a:schemeClr val="lt1"/>
          </a:solidFill>
          <a:ln>
            <a:noFill/>
          </a:ln>
        </p:spPr>
        <p:txBody>
          <a:bodyPr/>
          <a:lstStyle/>
          <a:p>
            <a:endParaRPr lang="en-US"/>
          </a:p>
        </p:txBody>
      </p:sp>
      <p:sp>
        <p:nvSpPr>
          <p:cNvPr id="91" name="Google Shape;91;p14"/>
          <p:cNvSpPr/>
          <p:nvPr/>
        </p:nvSpPr>
        <p:spPr>
          <a:xfrm>
            <a:off x="0" y="0"/>
            <a:ext cx="718459" cy="6858000"/>
          </a:xfrm>
          <a:prstGeom prst="rect">
            <a:avLst/>
          </a:prstGeom>
          <a:gradFill>
            <a:gsLst>
              <a:gs pos="0">
                <a:srgbClr val="30A4CF"/>
              </a:gs>
              <a:gs pos="100000">
                <a:srgbClr val="67D7F4"/>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2" name="Google Shape;92;p14"/>
          <p:cNvSpPr>
            <a:spLocks noGrp="1"/>
          </p:cNvSpPr>
          <p:nvPr>
            <p:ph type="pic" idx="3"/>
          </p:nvPr>
        </p:nvSpPr>
        <p:spPr>
          <a:xfrm>
            <a:off x="8428810" y="979351"/>
            <a:ext cx="1760220" cy="1760220"/>
          </a:xfrm>
          <a:prstGeom prst="rect">
            <a:avLst/>
          </a:prstGeom>
          <a:solidFill>
            <a:schemeClr val="lt1"/>
          </a:solidFill>
          <a:ln>
            <a:noFill/>
          </a:ln>
        </p:spPr>
        <p:txBody>
          <a:bodyPr/>
          <a:lstStyle/>
          <a:p>
            <a:endParaRPr lang="en-US"/>
          </a:p>
        </p:txBody>
      </p:sp>
      <p:sp>
        <p:nvSpPr>
          <p:cNvPr id="93" name="Google Shape;93;p14"/>
          <p:cNvSpPr>
            <a:spLocks noGrp="1"/>
          </p:cNvSpPr>
          <p:nvPr>
            <p:ph type="pic" idx="4"/>
          </p:nvPr>
        </p:nvSpPr>
        <p:spPr>
          <a:xfrm>
            <a:off x="8428810" y="3518623"/>
            <a:ext cx="1760220" cy="1760220"/>
          </a:xfrm>
          <a:prstGeom prst="rect">
            <a:avLst/>
          </a:prstGeom>
          <a:solidFill>
            <a:schemeClr val="lt1"/>
          </a:solidFill>
          <a:ln>
            <a:noFill/>
          </a:ln>
        </p:spPr>
        <p:txBody>
          <a:bodyPr/>
          <a:lstStyle/>
          <a:p>
            <a:endParaRPr lang="en-US"/>
          </a:p>
        </p:txBody>
      </p:sp>
      <p:sp>
        <p:nvSpPr>
          <p:cNvPr id="94" name="Google Shape;94;p14"/>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GB"/>
              <a:t>‹#›</a:t>
            </a:fld>
            <a:endParaRPr/>
          </a:p>
        </p:txBody>
      </p:sp>
      <p:sp>
        <p:nvSpPr>
          <p:cNvPr id="95" name="Google Shape;95;p14"/>
          <p:cNvSpPr txBox="1">
            <a:spLocks noGrp="1"/>
          </p:cNvSpPr>
          <p:nvPr>
            <p:ph type="dt" idx="10"/>
          </p:nvPr>
        </p:nvSpPr>
        <p:spPr>
          <a:xfrm>
            <a:off x="9448800" y="648656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14"/>
          <p:cNvSpPr txBox="1">
            <a:spLocks noGrp="1"/>
          </p:cNvSpPr>
          <p:nvPr>
            <p:ph type="ftr" idx="11"/>
          </p:nvPr>
        </p:nvSpPr>
        <p:spPr>
          <a:xfrm>
            <a:off x="4528931" y="6486569"/>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2_Title Slide">
  <p:cSld name="12_Title Slide">
    <p:spTree>
      <p:nvGrpSpPr>
        <p:cNvPr id="1" name="Shape 97"/>
        <p:cNvGrpSpPr/>
        <p:nvPr/>
      </p:nvGrpSpPr>
      <p:grpSpPr>
        <a:xfrm>
          <a:off x="0" y="0"/>
          <a:ext cx="0" cy="0"/>
          <a:chOff x="0" y="0"/>
          <a:chExt cx="0" cy="0"/>
        </a:xfrm>
      </p:grpSpPr>
      <p:sp>
        <p:nvSpPr>
          <p:cNvPr id="98" name="Google Shape;98;p15"/>
          <p:cNvSpPr>
            <a:spLocks noGrp="1"/>
          </p:cNvSpPr>
          <p:nvPr>
            <p:ph type="pic" idx="2"/>
          </p:nvPr>
        </p:nvSpPr>
        <p:spPr>
          <a:xfrm>
            <a:off x="718458" y="0"/>
            <a:ext cx="7460343" cy="3435532"/>
          </a:xfrm>
          <a:prstGeom prst="rect">
            <a:avLst/>
          </a:prstGeom>
          <a:solidFill>
            <a:schemeClr val="lt1"/>
          </a:solidFill>
          <a:ln>
            <a:noFill/>
          </a:ln>
        </p:spPr>
        <p:txBody>
          <a:bodyPr/>
          <a:lstStyle/>
          <a:p>
            <a:endParaRPr lang="en-US"/>
          </a:p>
        </p:txBody>
      </p:sp>
      <p:sp>
        <p:nvSpPr>
          <p:cNvPr id="99" name="Google Shape;99;p15"/>
          <p:cNvSpPr/>
          <p:nvPr/>
        </p:nvSpPr>
        <p:spPr>
          <a:xfrm>
            <a:off x="0" y="0"/>
            <a:ext cx="718459" cy="6858000"/>
          </a:xfrm>
          <a:prstGeom prst="rect">
            <a:avLst/>
          </a:prstGeom>
          <a:gradFill>
            <a:gsLst>
              <a:gs pos="0">
                <a:srgbClr val="30A4CF"/>
              </a:gs>
              <a:gs pos="100000">
                <a:srgbClr val="67D7F4"/>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0" name="Google Shape;100;p15"/>
          <p:cNvSpPr>
            <a:spLocks noGrp="1"/>
          </p:cNvSpPr>
          <p:nvPr>
            <p:ph type="pic" idx="3"/>
          </p:nvPr>
        </p:nvSpPr>
        <p:spPr>
          <a:xfrm>
            <a:off x="8178800" y="3429001"/>
            <a:ext cx="4013200" cy="1767115"/>
          </a:xfrm>
          <a:prstGeom prst="rect">
            <a:avLst/>
          </a:prstGeom>
          <a:solidFill>
            <a:schemeClr val="lt1"/>
          </a:solidFill>
          <a:ln>
            <a:noFill/>
          </a:ln>
        </p:spPr>
        <p:txBody>
          <a:bodyPr/>
          <a:lstStyle/>
          <a:p>
            <a:endParaRPr lang="en-US"/>
          </a:p>
        </p:txBody>
      </p:sp>
      <p:sp>
        <p:nvSpPr>
          <p:cNvPr id="101" name="Google Shape;101;p15"/>
          <p:cNvSpPr>
            <a:spLocks noGrp="1"/>
          </p:cNvSpPr>
          <p:nvPr>
            <p:ph type="pic" idx="4"/>
          </p:nvPr>
        </p:nvSpPr>
        <p:spPr>
          <a:xfrm>
            <a:off x="8178800" y="5196114"/>
            <a:ext cx="4013200" cy="1661886"/>
          </a:xfrm>
          <a:prstGeom prst="rect">
            <a:avLst/>
          </a:prstGeom>
          <a:solidFill>
            <a:schemeClr val="lt1"/>
          </a:solidFill>
          <a:ln>
            <a:noFill/>
          </a:ln>
        </p:spPr>
        <p:txBody>
          <a:bodyPr/>
          <a:lstStyle/>
          <a:p>
            <a:endParaRPr lang="en-US"/>
          </a:p>
        </p:txBody>
      </p:sp>
      <p:sp>
        <p:nvSpPr>
          <p:cNvPr id="102" name="Google Shape;102;p15"/>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GB"/>
              <a:t>‹#›</a:t>
            </a:fld>
            <a:endParaRPr/>
          </a:p>
        </p:txBody>
      </p:sp>
      <p:sp>
        <p:nvSpPr>
          <p:cNvPr id="103" name="Google Shape;103;p15"/>
          <p:cNvSpPr txBox="1">
            <a:spLocks noGrp="1"/>
          </p:cNvSpPr>
          <p:nvPr>
            <p:ph type="dt" idx="10"/>
          </p:nvPr>
        </p:nvSpPr>
        <p:spPr>
          <a:xfrm>
            <a:off x="9448800" y="648656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15"/>
          <p:cNvSpPr txBox="1">
            <a:spLocks noGrp="1"/>
          </p:cNvSpPr>
          <p:nvPr>
            <p:ph type="ftr" idx="11"/>
          </p:nvPr>
        </p:nvSpPr>
        <p:spPr>
          <a:xfrm>
            <a:off x="4528931" y="6486569"/>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3_Title Slide">
  <p:cSld name="13_Title Slide">
    <p:spTree>
      <p:nvGrpSpPr>
        <p:cNvPr id="1" name="Shape 105"/>
        <p:cNvGrpSpPr/>
        <p:nvPr/>
      </p:nvGrpSpPr>
      <p:grpSpPr>
        <a:xfrm>
          <a:off x="0" y="0"/>
          <a:ext cx="0" cy="0"/>
          <a:chOff x="0" y="0"/>
          <a:chExt cx="0" cy="0"/>
        </a:xfrm>
      </p:grpSpPr>
      <p:sp>
        <p:nvSpPr>
          <p:cNvPr id="106" name="Google Shape;106;p16"/>
          <p:cNvSpPr>
            <a:spLocks noGrp="1"/>
          </p:cNvSpPr>
          <p:nvPr>
            <p:ph type="pic" idx="2"/>
          </p:nvPr>
        </p:nvSpPr>
        <p:spPr>
          <a:xfrm>
            <a:off x="1015457" y="4895124"/>
            <a:ext cx="1760220" cy="1760220"/>
          </a:xfrm>
          <a:prstGeom prst="rect">
            <a:avLst/>
          </a:prstGeom>
          <a:solidFill>
            <a:schemeClr val="lt1"/>
          </a:solidFill>
          <a:ln>
            <a:noFill/>
          </a:ln>
        </p:spPr>
        <p:txBody>
          <a:bodyPr/>
          <a:lstStyle/>
          <a:p>
            <a:endParaRPr lang="en-US"/>
          </a:p>
        </p:txBody>
      </p:sp>
      <p:sp>
        <p:nvSpPr>
          <p:cNvPr id="107" name="Google Shape;107;p16"/>
          <p:cNvSpPr>
            <a:spLocks noGrp="1"/>
          </p:cNvSpPr>
          <p:nvPr>
            <p:ph type="pic" idx="3"/>
          </p:nvPr>
        </p:nvSpPr>
        <p:spPr>
          <a:xfrm>
            <a:off x="6075680" y="2293075"/>
            <a:ext cx="2602049" cy="2602049"/>
          </a:xfrm>
          <a:prstGeom prst="rect">
            <a:avLst/>
          </a:prstGeom>
          <a:solidFill>
            <a:schemeClr val="lt1"/>
          </a:solidFill>
          <a:ln>
            <a:noFill/>
          </a:ln>
        </p:spPr>
        <p:txBody>
          <a:bodyPr/>
          <a:lstStyle/>
          <a:p>
            <a:endParaRPr lang="en-US"/>
          </a:p>
        </p:txBody>
      </p:sp>
      <p:sp>
        <p:nvSpPr>
          <p:cNvPr id="108" name="Google Shape;108;p16"/>
          <p:cNvSpPr>
            <a:spLocks noGrp="1"/>
          </p:cNvSpPr>
          <p:nvPr>
            <p:ph type="pic" idx="4"/>
          </p:nvPr>
        </p:nvSpPr>
        <p:spPr>
          <a:xfrm>
            <a:off x="10154193" y="3381646"/>
            <a:ext cx="1266736" cy="1266736"/>
          </a:xfrm>
          <a:prstGeom prst="rect">
            <a:avLst/>
          </a:prstGeom>
          <a:solidFill>
            <a:schemeClr val="lt1"/>
          </a:solidFill>
          <a:ln>
            <a:noFill/>
          </a:ln>
        </p:spPr>
        <p:txBody>
          <a:bodyPr/>
          <a:lstStyle/>
          <a:p>
            <a:endParaRPr lang="en-US"/>
          </a:p>
        </p:txBody>
      </p:sp>
      <p:sp>
        <p:nvSpPr>
          <p:cNvPr id="109" name="Google Shape;109;p16"/>
          <p:cNvSpPr>
            <a:spLocks noGrp="1"/>
          </p:cNvSpPr>
          <p:nvPr>
            <p:ph type="pic" idx="5"/>
          </p:nvPr>
        </p:nvSpPr>
        <p:spPr>
          <a:xfrm>
            <a:off x="8882199" y="4929414"/>
            <a:ext cx="1760220" cy="1760220"/>
          </a:xfrm>
          <a:prstGeom prst="rect">
            <a:avLst/>
          </a:prstGeom>
          <a:solidFill>
            <a:schemeClr val="lt1"/>
          </a:solidFill>
          <a:ln>
            <a:noFill/>
          </a:ln>
        </p:spPr>
        <p:txBody>
          <a:bodyPr/>
          <a:lstStyle/>
          <a:p>
            <a:endParaRPr lang="en-US"/>
          </a:p>
        </p:txBody>
      </p:sp>
      <p:sp>
        <p:nvSpPr>
          <p:cNvPr id="110" name="Google Shape;110;p16"/>
          <p:cNvSpPr>
            <a:spLocks noGrp="1"/>
          </p:cNvSpPr>
          <p:nvPr>
            <p:ph type="pic" idx="6"/>
          </p:nvPr>
        </p:nvSpPr>
        <p:spPr>
          <a:xfrm>
            <a:off x="5625736" y="5176156"/>
            <a:ext cx="1266736" cy="1266736"/>
          </a:xfrm>
          <a:prstGeom prst="rect">
            <a:avLst/>
          </a:prstGeom>
          <a:solidFill>
            <a:schemeClr val="lt1"/>
          </a:solidFill>
          <a:ln>
            <a:noFill/>
          </a:ln>
        </p:spPr>
        <p:txBody>
          <a:bodyPr/>
          <a:lstStyle/>
          <a:p>
            <a:endParaRPr lang="en-US"/>
          </a:p>
        </p:txBody>
      </p:sp>
      <p:sp>
        <p:nvSpPr>
          <p:cNvPr id="111" name="Google Shape;111;p16"/>
          <p:cNvSpPr>
            <a:spLocks noGrp="1"/>
          </p:cNvSpPr>
          <p:nvPr>
            <p:ph type="pic" idx="7"/>
          </p:nvPr>
        </p:nvSpPr>
        <p:spPr>
          <a:xfrm>
            <a:off x="1386929" y="2917188"/>
            <a:ext cx="1266736" cy="1266736"/>
          </a:xfrm>
          <a:prstGeom prst="rect">
            <a:avLst/>
          </a:prstGeom>
          <a:solidFill>
            <a:schemeClr val="lt1"/>
          </a:solidFill>
          <a:ln>
            <a:noFill/>
          </a:ln>
        </p:spPr>
        <p:txBody>
          <a:bodyPr/>
          <a:lstStyle/>
          <a:p>
            <a:endParaRPr lang="en-US"/>
          </a:p>
        </p:txBody>
      </p:sp>
      <p:sp>
        <p:nvSpPr>
          <p:cNvPr id="112" name="Google Shape;112;p16"/>
          <p:cNvSpPr>
            <a:spLocks noGrp="1"/>
          </p:cNvSpPr>
          <p:nvPr>
            <p:ph type="pic" idx="8"/>
          </p:nvPr>
        </p:nvSpPr>
        <p:spPr>
          <a:xfrm>
            <a:off x="3484562" y="3134904"/>
            <a:ext cx="1760220" cy="1760220"/>
          </a:xfrm>
          <a:prstGeom prst="rect">
            <a:avLst/>
          </a:prstGeom>
          <a:solidFill>
            <a:schemeClr val="lt1"/>
          </a:solidFill>
          <a:ln>
            <a:noFill/>
          </a:ln>
        </p:spPr>
        <p:txBody>
          <a:bodyPr/>
          <a:lstStyle/>
          <a:p>
            <a:endParaRPr lang="en-US"/>
          </a:p>
        </p:txBody>
      </p:sp>
      <p:sp>
        <p:nvSpPr>
          <p:cNvPr id="113" name="Google Shape;113;p16"/>
          <p:cNvSpPr/>
          <p:nvPr/>
        </p:nvSpPr>
        <p:spPr>
          <a:xfrm>
            <a:off x="0" y="0"/>
            <a:ext cx="718459" cy="6858000"/>
          </a:xfrm>
          <a:prstGeom prst="rect">
            <a:avLst/>
          </a:prstGeom>
          <a:gradFill>
            <a:gsLst>
              <a:gs pos="0">
                <a:srgbClr val="30A4CF"/>
              </a:gs>
              <a:gs pos="100000">
                <a:srgbClr val="67D7F4"/>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4" name="Google Shape;114;p16"/>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GB"/>
              <a:t>‹#›</a:t>
            </a:fld>
            <a:endParaRPr/>
          </a:p>
        </p:txBody>
      </p:sp>
      <p:sp>
        <p:nvSpPr>
          <p:cNvPr id="115" name="Google Shape;115;p16"/>
          <p:cNvSpPr txBox="1">
            <a:spLocks noGrp="1"/>
          </p:cNvSpPr>
          <p:nvPr>
            <p:ph type="dt" idx="10"/>
          </p:nvPr>
        </p:nvSpPr>
        <p:spPr>
          <a:xfrm>
            <a:off x="9448800" y="648656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6" name="Google Shape;116;p16"/>
          <p:cNvSpPr txBox="1">
            <a:spLocks noGrp="1"/>
          </p:cNvSpPr>
          <p:nvPr>
            <p:ph type="ftr" idx="11"/>
          </p:nvPr>
        </p:nvSpPr>
        <p:spPr>
          <a:xfrm>
            <a:off x="4528931" y="6486569"/>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4_Title Slide">
  <p:cSld name="14_Title Slide">
    <p:spTree>
      <p:nvGrpSpPr>
        <p:cNvPr id="1" name="Shape 117"/>
        <p:cNvGrpSpPr/>
        <p:nvPr/>
      </p:nvGrpSpPr>
      <p:grpSpPr>
        <a:xfrm>
          <a:off x="0" y="0"/>
          <a:ext cx="0" cy="0"/>
          <a:chOff x="0" y="0"/>
          <a:chExt cx="0" cy="0"/>
        </a:xfrm>
      </p:grpSpPr>
      <p:sp>
        <p:nvSpPr>
          <p:cNvPr id="118" name="Google Shape;118;p17"/>
          <p:cNvSpPr/>
          <p:nvPr/>
        </p:nvSpPr>
        <p:spPr>
          <a:xfrm rot="5400000">
            <a:off x="1129396" y="2525627"/>
            <a:ext cx="3688441" cy="2586891"/>
          </a:xfrm>
          <a:prstGeom prst="roundRect">
            <a:avLst>
              <a:gd name="adj" fmla="val 4323"/>
            </a:avLst>
          </a:prstGeom>
          <a:solidFill>
            <a:schemeClr val="lt1"/>
          </a:solidFill>
          <a:ln>
            <a:noFill/>
          </a:ln>
          <a:effectLst>
            <a:outerShdw blurRad="228600" dist="88900" dir="5400000" algn="t" rotWithShape="0">
              <a:srgbClr val="000000">
                <a:alpha val="2392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6D7381"/>
              </a:solidFill>
              <a:latin typeface="Poppins"/>
              <a:ea typeface="Poppins"/>
              <a:cs typeface="Poppins"/>
              <a:sym typeface="Poppins"/>
            </a:endParaRPr>
          </a:p>
        </p:txBody>
      </p:sp>
      <p:grpSp>
        <p:nvGrpSpPr>
          <p:cNvPr id="119" name="Google Shape;119;p17"/>
          <p:cNvGrpSpPr/>
          <p:nvPr/>
        </p:nvGrpSpPr>
        <p:grpSpPr>
          <a:xfrm>
            <a:off x="1680170" y="2211617"/>
            <a:ext cx="2585217" cy="0"/>
            <a:chOff x="1812612" y="2325007"/>
            <a:chExt cx="2585217" cy="0"/>
          </a:xfrm>
        </p:grpSpPr>
        <p:cxnSp>
          <p:nvCxnSpPr>
            <p:cNvPr id="120" name="Google Shape;120;p17"/>
            <p:cNvCxnSpPr/>
            <p:nvPr/>
          </p:nvCxnSpPr>
          <p:spPr>
            <a:xfrm>
              <a:off x="1814286" y="2325007"/>
              <a:ext cx="2583543" cy="0"/>
            </a:xfrm>
            <a:prstGeom prst="straightConnector1">
              <a:avLst/>
            </a:prstGeom>
            <a:noFill/>
            <a:ln w="28575" cap="flat" cmpd="sng">
              <a:solidFill>
                <a:srgbClr val="F2F2F2"/>
              </a:solidFill>
              <a:prstDash val="solid"/>
              <a:miter lim="8000"/>
              <a:headEnd type="none" w="sm" len="sm"/>
              <a:tailEnd type="none" w="sm" len="sm"/>
            </a:ln>
          </p:spPr>
        </p:cxnSp>
        <p:cxnSp>
          <p:nvCxnSpPr>
            <p:cNvPr id="121" name="Google Shape;121;p17"/>
            <p:cNvCxnSpPr/>
            <p:nvPr/>
          </p:nvCxnSpPr>
          <p:spPr>
            <a:xfrm>
              <a:off x="3614058" y="2325007"/>
              <a:ext cx="783771" cy="0"/>
            </a:xfrm>
            <a:prstGeom prst="straightConnector1">
              <a:avLst/>
            </a:prstGeom>
            <a:noFill/>
            <a:ln w="28575" cap="flat" cmpd="sng">
              <a:solidFill>
                <a:schemeClr val="accent2"/>
              </a:solidFill>
              <a:prstDash val="solid"/>
              <a:miter lim="8000"/>
              <a:headEnd type="none" w="sm" len="sm"/>
              <a:tailEnd type="none" w="sm" len="sm"/>
            </a:ln>
          </p:spPr>
        </p:cxnSp>
        <p:cxnSp>
          <p:nvCxnSpPr>
            <p:cNvPr id="122" name="Google Shape;122;p17"/>
            <p:cNvCxnSpPr/>
            <p:nvPr/>
          </p:nvCxnSpPr>
          <p:spPr>
            <a:xfrm>
              <a:off x="1812612" y="2325007"/>
              <a:ext cx="783771" cy="0"/>
            </a:xfrm>
            <a:prstGeom prst="straightConnector1">
              <a:avLst/>
            </a:prstGeom>
            <a:noFill/>
            <a:ln w="28575" cap="flat" cmpd="sng">
              <a:solidFill>
                <a:schemeClr val="accent2"/>
              </a:solidFill>
              <a:prstDash val="solid"/>
              <a:miter lim="8000"/>
              <a:headEnd type="none" w="sm" len="sm"/>
              <a:tailEnd type="none" w="sm" len="sm"/>
            </a:ln>
          </p:spPr>
        </p:cxnSp>
      </p:grpSp>
      <p:sp>
        <p:nvSpPr>
          <p:cNvPr id="123" name="Google Shape;123;p17"/>
          <p:cNvSpPr/>
          <p:nvPr/>
        </p:nvSpPr>
        <p:spPr>
          <a:xfrm>
            <a:off x="0" y="6268360"/>
            <a:ext cx="12192000" cy="589641"/>
          </a:xfrm>
          <a:prstGeom prst="rect">
            <a:avLst/>
          </a:prstGeom>
          <a:gradFill>
            <a:gsLst>
              <a:gs pos="0">
                <a:srgbClr val="30A4CF"/>
              </a:gs>
              <a:gs pos="100000">
                <a:srgbClr val="67D7F4"/>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4" name="Google Shape;124;p17"/>
          <p:cNvSpPr>
            <a:spLocks noGrp="1"/>
          </p:cNvSpPr>
          <p:nvPr>
            <p:ph type="pic" idx="2"/>
          </p:nvPr>
        </p:nvSpPr>
        <p:spPr>
          <a:xfrm>
            <a:off x="2037807" y="2665511"/>
            <a:ext cx="1871616" cy="1654628"/>
          </a:xfrm>
          <a:prstGeom prst="roundRect">
            <a:avLst>
              <a:gd name="adj" fmla="val 9295"/>
            </a:avLst>
          </a:prstGeom>
          <a:solidFill>
            <a:schemeClr val="lt1"/>
          </a:solidFill>
          <a:ln>
            <a:noFill/>
          </a:ln>
        </p:spPr>
        <p:txBody>
          <a:bodyPr/>
          <a:lstStyle/>
          <a:p>
            <a:endParaRPr lang="en-US"/>
          </a:p>
        </p:txBody>
      </p:sp>
      <p:sp>
        <p:nvSpPr>
          <p:cNvPr id="125" name="Google Shape;125;p17"/>
          <p:cNvSpPr/>
          <p:nvPr/>
        </p:nvSpPr>
        <p:spPr>
          <a:xfrm rot="5400000">
            <a:off x="4253596" y="2525627"/>
            <a:ext cx="3688441" cy="2586891"/>
          </a:xfrm>
          <a:prstGeom prst="roundRect">
            <a:avLst>
              <a:gd name="adj" fmla="val 4323"/>
            </a:avLst>
          </a:prstGeom>
          <a:solidFill>
            <a:schemeClr val="lt1"/>
          </a:solidFill>
          <a:ln>
            <a:noFill/>
          </a:ln>
          <a:effectLst>
            <a:outerShdw blurRad="228600" dist="88900" dir="5400000" algn="t" rotWithShape="0">
              <a:srgbClr val="000000">
                <a:alpha val="2392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6D7381"/>
              </a:solidFill>
              <a:latin typeface="Poppins"/>
              <a:ea typeface="Poppins"/>
              <a:cs typeface="Poppins"/>
              <a:sym typeface="Poppins"/>
            </a:endParaRPr>
          </a:p>
        </p:txBody>
      </p:sp>
      <p:grpSp>
        <p:nvGrpSpPr>
          <p:cNvPr id="126" name="Google Shape;126;p17"/>
          <p:cNvGrpSpPr/>
          <p:nvPr/>
        </p:nvGrpSpPr>
        <p:grpSpPr>
          <a:xfrm>
            <a:off x="4804370" y="2211617"/>
            <a:ext cx="2585217" cy="0"/>
            <a:chOff x="1812612" y="2325007"/>
            <a:chExt cx="2585217" cy="0"/>
          </a:xfrm>
        </p:grpSpPr>
        <p:cxnSp>
          <p:nvCxnSpPr>
            <p:cNvPr id="127" name="Google Shape;127;p17"/>
            <p:cNvCxnSpPr/>
            <p:nvPr/>
          </p:nvCxnSpPr>
          <p:spPr>
            <a:xfrm>
              <a:off x="1814286" y="2325007"/>
              <a:ext cx="2583543" cy="0"/>
            </a:xfrm>
            <a:prstGeom prst="straightConnector1">
              <a:avLst/>
            </a:prstGeom>
            <a:noFill/>
            <a:ln w="28575" cap="flat" cmpd="sng">
              <a:solidFill>
                <a:srgbClr val="F2F2F2"/>
              </a:solidFill>
              <a:prstDash val="solid"/>
              <a:miter lim="8000"/>
              <a:headEnd type="none" w="sm" len="sm"/>
              <a:tailEnd type="none" w="sm" len="sm"/>
            </a:ln>
          </p:spPr>
        </p:cxnSp>
        <p:cxnSp>
          <p:nvCxnSpPr>
            <p:cNvPr id="128" name="Google Shape;128;p17"/>
            <p:cNvCxnSpPr/>
            <p:nvPr/>
          </p:nvCxnSpPr>
          <p:spPr>
            <a:xfrm>
              <a:off x="3614058" y="2325007"/>
              <a:ext cx="783771" cy="0"/>
            </a:xfrm>
            <a:prstGeom prst="straightConnector1">
              <a:avLst/>
            </a:prstGeom>
            <a:noFill/>
            <a:ln w="28575" cap="flat" cmpd="sng">
              <a:solidFill>
                <a:schemeClr val="accent2"/>
              </a:solidFill>
              <a:prstDash val="solid"/>
              <a:miter lim="8000"/>
              <a:headEnd type="none" w="sm" len="sm"/>
              <a:tailEnd type="none" w="sm" len="sm"/>
            </a:ln>
          </p:spPr>
        </p:cxnSp>
        <p:cxnSp>
          <p:nvCxnSpPr>
            <p:cNvPr id="129" name="Google Shape;129;p17"/>
            <p:cNvCxnSpPr/>
            <p:nvPr/>
          </p:nvCxnSpPr>
          <p:spPr>
            <a:xfrm>
              <a:off x="1812612" y="2325007"/>
              <a:ext cx="783771" cy="0"/>
            </a:xfrm>
            <a:prstGeom prst="straightConnector1">
              <a:avLst/>
            </a:prstGeom>
            <a:noFill/>
            <a:ln w="28575" cap="flat" cmpd="sng">
              <a:solidFill>
                <a:schemeClr val="accent2"/>
              </a:solidFill>
              <a:prstDash val="solid"/>
              <a:miter lim="8000"/>
              <a:headEnd type="none" w="sm" len="sm"/>
              <a:tailEnd type="none" w="sm" len="sm"/>
            </a:ln>
          </p:spPr>
        </p:cxnSp>
      </p:grpSp>
      <p:sp>
        <p:nvSpPr>
          <p:cNvPr id="130" name="Google Shape;130;p17"/>
          <p:cNvSpPr>
            <a:spLocks noGrp="1"/>
          </p:cNvSpPr>
          <p:nvPr>
            <p:ph type="pic" idx="3"/>
          </p:nvPr>
        </p:nvSpPr>
        <p:spPr>
          <a:xfrm>
            <a:off x="5162007" y="2665511"/>
            <a:ext cx="1871616" cy="1654628"/>
          </a:xfrm>
          <a:prstGeom prst="roundRect">
            <a:avLst>
              <a:gd name="adj" fmla="val 9295"/>
            </a:avLst>
          </a:prstGeom>
          <a:solidFill>
            <a:schemeClr val="lt1"/>
          </a:solidFill>
          <a:ln>
            <a:noFill/>
          </a:ln>
        </p:spPr>
        <p:txBody>
          <a:bodyPr/>
          <a:lstStyle/>
          <a:p>
            <a:endParaRPr lang="en-US"/>
          </a:p>
        </p:txBody>
      </p:sp>
      <p:sp>
        <p:nvSpPr>
          <p:cNvPr id="131" name="Google Shape;131;p17"/>
          <p:cNvSpPr/>
          <p:nvPr/>
        </p:nvSpPr>
        <p:spPr>
          <a:xfrm rot="5400000">
            <a:off x="7377796" y="2525627"/>
            <a:ext cx="3688441" cy="2586891"/>
          </a:xfrm>
          <a:prstGeom prst="roundRect">
            <a:avLst>
              <a:gd name="adj" fmla="val 4323"/>
            </a:avLst>
          </a:prstGeom>
          <a:solidFill>
            <a:schemeClr val="lt1"/>
          </a:solidFill>
          <a:ln>
            <a:noFill/>
          </a:ln>
          <a:effectLst>
            <a:outerShdw blurRad="228600" dist="88900" dir="5400000" algn="t" rotWithShape="0">
              <a:srgbClr val="000000">
                <a:alpha val="2392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6D7381"/>
              </a:solidFill>
              <a:latin typeface="Poppins"/>
              <a:ea typeface="Poppins"/>
              <a:cs typeface="Poppins"/>
              <a:sym typeface="Poppins"/>
            </a:endParaRPr>
          </a:p>
        </p:txBody>
      </p:sp>
      <p:grpSp>
        <p:nvGrpSpPr>
          <p:cNvPr id="132" name="Google Shape;132;p17"/>
          <p:cNvGrpSpPr/>
          <p:nvPr/>
        </p:nvGrpSpPr>
        <p:grpSpPr>
          <a:xfrm>
            <a:off x="7928570" y="2211617"/>
            <a:ext cx="2585217" cy="0"/>
            <a:chOff x="1812612" y="2325007"/>
            <a:chExt cx="2585217" cy="0"/>
          </a:xfrm>
        </p:grpSpPr>
        <p:cxnSp>
          <p:nvCxnSpPr>
            <p:cNvPr id="133" name="Google Shape;133;p17"/>
            <p:cNvCxnSpPr/>
            <p:nvPr/>
          </p:nvCxnSpPr>
          <p:spPr>
            <a:xfrm>
              <a:off x="1814286" y="2325007"/>
              <a:ext cx="2583543" cy="0"/>
            </a:xfrm>
            <a:prstGeom prst="straightConnector1">
              <a:avLst/>
            </a:prstGeom>
            <a:noFill/>
            <a:ln w="28575" cap="flat" cmpd="sng">
              <a:solidFill>
                <a:srgbClr val="F2F2F2"/>
              </a:solidFill>
              <a:prstDash val="solid"/>
              <a:miter lim="8000"/>
              <a:headEnd type="none" w="sm" len="sm"/>
              <a:tailEnd type="none" w="sm" len="sm"/>
            </a:ln>
          </p:spPr>
        </p:cxnSp>
        <p:cxnSp>
          <p:nvCxnSpPr>
            <p:cNvPr id="134" name="Google Shape;134;p17"/>
            <p:cNvCxnSpPr/>
            <p:nvPr/>
          </p:nvCxnSpPr>
          <p:spPr>
            <a:xfrm>
              <a:off x="3614058" y="2325007"/>
              <a:ext cx="783771" cy="0"/>
            </a:xfrm>
            <a:prstGeom prst="straightConnector1">
              <a:avLst/>
            </a:prstGeom>
            <a:noFill/>
            <a:ln w="28575" cap="flat" cmpd="sng">
              <a:solidFill>
                <a:schemeClr val="accent2"/>
              </a:solidFill>
              <a:prstDash val="solid"/>
              <a:miter lim="8000"/>
              <a:headEnd type="none" w="sm" len="sm"/>
              <a:tailEnd type="none" w="sm" len="sm"/>
            </a:ln>
          </p:spPr>
        </p:cxnSp>
        <p:cxnSp>
          <p:nvCxnSpPr>
            <p:cNvPr id="135" name="Google Shape;135;p17"/>
            <p:cNvCxnSpPr/>
            <p:nvPr/>
          </p:nvCxnSpPr>
          <p:spPr>
            <a:xfrm>
              <a:off x="1812612" y="2325007"/>
              <a:ext cx="783771" cy="0"/>
            </a:xfrm>
            <a:prstGeom prst="straightConnector1">
              <a:avLst/>
            </a:prstGeom>
            <a:noFill/>
            <a:ln w="28575" cap="flat" cmpd="sng">
              <a:solidFill>
                <a:schemeClr val="accent2"/>
              </a:solidFill>
              <a:prstDash val="solid"/>
              <a:miter lim="8000"/>
              <a:headEnd type="none" w="sm" len="sm"/>
              <a:tailEnd type="none" w="sm" len="sm"/>
            </a:ln>
          </p:spPr>
        </p:cxnSp>
      </p:grpSp>
      <p:sp>
        <p:nvSpPr>
          <p:cNvPr id="136" name="Google Shape;136;p17"/>
          <p:cNvSpPr>
            <a:spLocks noGrp="1"/>
          </p:cNvSpPr>
          <p:nvPr>
            <p:ph type="pic" idx="4"/>
          </p:nvPr>
        </p:nvSpPr>
        <p:spPr>
          <a:xfrm>
            <a:off x="8286207" y="2665511"/>
            <a:ext cx="1871616" cy="1654628"/>
          </a:xfrm>
          <a:prstGeom prst="roundRect">
            <a:avLst>
              <a:gd name="adj" fmla="val 9295"/>
            </a:avLst>
          </a:prstGeom>
          <a:solidFill>
            <a:schemeClr val="lt1"/>
          </a:solidFill>
          <a:ln>
            <a:noFill/>
          </a:ln>
        </p:spPr>
        <p:txBody>
          <a:bodyPr/>
          <a:lstStyle/>
          <a:p>
            <a:endParaRPr lang="en-US"/>
          </a:p>
        </p:txBody>
      </p:sp>
      <p:sp>
        <p:nvSpPr>
          <p:cNvPr id="137" name="Google Shape;137;p17"/>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GB"/>
              <a:t>‹#›</a:t>
            </a:fld>
            <a:endParaRPr/>
          </a:p>
        </p:txBody>
      </p:sp>
      <p:sp>
        <p:nvSpPr>
          <p:cNvPr id="138" name="Google Shape;138;p17"/>
          <p:cNvSpPr txBox="1">
            <a:spLocks noGrp="1"/>
          </p:cNvSpPr>
          <p:nvPr>
            <p:ph type="dt" idx="10"/>
          </p:nvPr>
        </p:nvSpPr>
        <p:spPr>
          <a:xfrm>
            <a:off x="9448800" y="648656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17"/>
          <p:cNvSpPr txBox="1">
            <a:spLocks noGrp="1"/>
          </p:cNvSpPr>
          <p:nvPr>
            <p:ph type="ftr" idx="11"/>
          </p:nvPr>
        </p:nvSpPr>
        <p:spPr>
          <a:xfrm>
            <a:off x="4528931" y="6486569"/>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5_Title Slide">
  <p:cSld name="15_Title Slide">
    <p:spTree>
      <p:nvGrpSpPr>
        <p:cNvPr id="1" name="Shape 140"/>
        <p:cNvGrpSpPr/>
        <p:nvPr/>
      </p:nvGrpSpPr>
      <p:grpSpPr>
        <a:xfrm>
          <a:off x="0" y="0"/>
          <a:ext cx="0" cy="0"/>
          <a:chOff x="0" y="0"/>
          <a:chExt cx="0" cy="0"/>
        </a:xfrm>
      </p:grpSpPr>
      <p:sp>
        <p:nvSpPr>
          <p:cNvPr id="141" name="Google Shape;141;p18"/>
          <p:cNvSpPr>
            <a:spLocks noGrp="1"/>
          </p:cNvSpPr>
          <p:nvPr>
            <p:ph type="pic" idx="2"/>
          </p:nvPr>
        </p:nvSpPr>
        <p:spPr>
          <a:xfrm>
            <a:off x="718458" y="0"/>
            <a:ext cx="11473543" cy="3435532"/>
          </a:xfrm>
          <a:prstGeom prst="rect">
            <a:avLst/>
          </a:prstGeom>
          <a:solidFill>
            <a:schemeClr val="lt1"/>
          </a:solidFill>
          <a:ln>
            <a:noFill/>
          </a:ln>
        </p:spPr>
        <p:txBody>
          <a:bodyPr/>
          <a:lstStyle/>
          <a:p>
            <a:endParaRPr lang="en-US"/>
          </a:p>
        </p:txBody>
      </p:sp>
      <p:sp>
        <p:nvSpPr>
          <p:cNvPr id="142" name="Google Shape;142;p18"/>
          <p:cNvSpPr/>
          <p:nvPr/>
        </p:nvSpPr>
        <p:spPr>
          <a:xfrm>
            <a:off x="0" y="0"/>
            <a:ext cx="718459" cy="6858000"/>
          </a:xfrm>
          <a:prstGeom prst="rect">
            <a:avLst/>
          </a:prstGeom>
          <a:gradFill>
            <a:gsLst>
              <a:gs pos="0">
                <a:srgbClr val="30A4CF"/>
              </a:gs>
              <a:gs pos="100000">
                <a:srgbClr val="67D7F4"/>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3" name="Google Shape;143;p18"/>
          <p:cNvSpPr>
            <a:spLocks noGrp="1"/>
          </p:cNvSpPr>
          <p:nvPr>
            <p:ph type="pic" idx="3"/>
          </p:nvPr>
        </p:nvSpPr>
        <p:spPr>
          <a:xfrm>
            <a:off x="1253305" y="1817371"/>
            <a:ext cx="3509195" cy="3509190"/>
          </a:xfrm>
          <a:prstGeom prst="rect">
            <a:avLst/>
          </a:prstGeom>
          <a:solidFill>
            <a:schemeClr val="lt1"/>
          </a:solidFill>
          <a:ln w="76200" cap="flat" cmpd="sng">
            <a:solidFill>
              <a:schemeClr val="lt1"/>
            </a:solidFill>
            <a:prstDash val="solid"/>
            <a:round/>
            <a:headEnd type="none" w="sm" len="sm"/>
            <a:tailEnd type="none" w="sm" len="sm"/>
          </a:ln>
        </p:spPr>
        <p:txBody>
          <a:bodyPr/>
          <a:lstStyle/>
          <a:p>
            <a:endParaRPr lang="en-US"/>
          </a:p>
        </p:txBody>
      </p:sp>
      <p:sp>
        <p:nvSpPr>
          <p:cNvPr id="144" name="Google Shape;144;p18"/>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GB"/>
              <a:t>‹#›</a:t>
            </a:fld>
            <a:endParaRPr/>
          </a:p>
        </p:txBody>
      </p:sp>
      <p:sp>
        <p:nvSpPr>
          <p:cNvPr id="145" name="Google Shape;145;p18"/>
          <p:cNvSpPr txBox="1">
            <a:spLocks noGrp="1"/>
          </p:cNvSpPr>
          <p:nvPr>
            <p:ph type="dt" idx="10"/>
          </p:nvPr>
        </p:nvSpPr>
        <p:spPr>
          <a:xfrm>
            <a:off x="9448800" y="648656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6" name="Google Shape;146;p18"/>
          <p:cNvSpPr txBox="1">
            <a:spLocks noGrp="1"/>
          </p:cNvSpPr>
          <p:nvPr>
            <p:ph type="ftr" idx="11"/>
          </p:nvPr>
        </p:nvSpPr>
        <p:spPr>
          <a:xfrm>
            <a:off x="4528931" y="6486569"/>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6_Title Slide">
  <p:cSld name="16_Title Slide">
    <p:spTree>
      <p:nvGrpSpPr>
        <p:cNvPr id="1" name="Shape 147"/>
        <p:cNvGrpSpPr/>
        <p:nvPr/>
      </p:nvGrpSpPr>
      <p:grpSpPr>
        <a:xfrm>
          <a:off x="0" y="0"/>
          <a:ext cx="0" cy="0"/>
          <a:chOff x="0" y="0"/>
          <a:chExt cx="0" cy="0"/>
        </a:xfrm>
      </p:grpSpPr>
      <p:sp>
        <p:nvSpPr>
          <p:cNvPr id="148" name="Google Shape;148;p19"/>
          <p:cNvSpPr>
            <a:spLocks noGrp="1"/>
          </p:cNvSpPr>
          <p:nvPr>
            <p:ph type="pic" idx="2"/>
          </p:nvPr>
        </p:nvSpPr>
        <p:spPr>
          <a:xfrm>
            <a:off x="0" y="-1"/>
            <a:ext cx="3931920" cy="6858001"/>
          </a:xfrm>
          <a:prstGeom prst="rect">
            <a:avLst/>
          </a:prstGeom>
          <a:solidFill>
            <a:schemeClr val="lt1"/>
          </a:solidFill>
          <a:ln>
            <a:noFill/>
          </a:ln>
        </p:spPr>
        <p:txBody>
          <a:bodyPr/>
          <a:lstStyle/>
          <a:p>
            <a:endParaRPr lang="en-US"/>
          </a:p>
        </p:txBody>
      </p:sp>
      <p:sp>
        <p:nvSpPr>
          <p:cNvPr id="149" name="Google Shape;149;p19"/>
          <p:cNvSpPr/>
          <p:nvPr/>
        </p:nvSpPr>
        <p:spPr>
          <a:xfrm>
            <a:off x="3931920" y="4467498"/>
            <a:ext cx="8260080" cy="2390503"/>
          </a:xfrm>
          <a:prstGeom prst="rect">
            <a:avLst/>
          </a:prstGeom>
          <a:gradFill>
            <a:gsLst>
              <a:gs pos="0">
                <a:srgbClr val="30A4CF"/>
              </a:gs>
              <a:gs pos="100000">
                <a:srgbClr val="67D7F4"/>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0" name="Google Shape;150;p19"/>
          <p:cNvSpPr>
            <a:spLocks noGrp="1"/>
          </p:cNvSpPr>
          <p:nvPr>
            <p:ph type="pic" idx="3"/>
          </p:nvPr>
        </p:nvSpPr>
        <p:spPr>
          <a:xfrm>
            <a:off x="4579620" y="3640181"/>
            <a:ext cx="1871616" cy="1654628"/>
          </a:xfrm>
          <a:prstGeom prst="roundRect">
            <a:avLst>
              <a:gd name="adj" fmla="val 9295"/>
            </a:avLst>
          </a:prstGeom>
          <a:solidFill>
            <a:schemeClr val="lt1"/>
          </a:solidFill>
          <a:ln w="76200" cap="flat" cmpd="sng">
            <a:solidFill>
              <a:schemeClr val="lt1"/>
            </a:solidFill>
            <a:prstDash val="solid"/>
            <a:round/>
            <a:headEnd type="none" w="sm" len="sm"/>
            <a:tailEnd type="none" w="sm" len="sm"/>
          </a:ln>
        </p:spPr>
        <p:txBody>
          <a:bodyPr/>
          <a:lstStyle/>
          <a:p>
            <a:endParaRPr lang="en-US"/>
          </a:p>
        </p:txBody>
      </p:sp>
      <p:sp>
        <p:nvSpPr>
          <p:cNvPr id="151" name="Google Shape;151;p19"/>
          <p:cNvSpPr>
            <a:spLocks noGrp="1"/>
          </p:cNvSpPr>
          <p:nvPr>
            <p:ph type="pic" idx="4"/>
          </p:nvPr>
        </p:nvSpPr>
        <p:spPr>
          <a:xfrm>
            <a:off x="6928032" y="3640181"/>
            <a:ext cx="1871616" cy="1654628"/>
          </a:xfrm>
          <a:prstGeom prst="roundRect">
            <a:avLst>
              <a:gd name="adj" fmla="val 9295"/>
            </a:avLst>
          </a:prstGeom>
          <a:solidFill>
            <a:schemeClr val="lt1"/>
          </a:solidFill>
          <a:ln w="76200" cap="flat" cmpd="sng">
            <a:solidFill>
              <a:schemeClr val="lt1"/>
            </a:solidFill>
            <a:prstDash val="solid"/>
            <a:round/>
            <a:headEnd type="none" w="sm" len="sm"/>
            <a:tailEnd type="none" w="sm" len="sm"/>
          </a:ln>
        </p:spPr>
        <p:txBody>
          <a:bodyPr/>
          <a:lstStyle/>
          <a:p>
            <a:endParaRPr lang="en-US"/>
          </a:p>
        </p:txBody>
      </p:sp>
      <p:sp>
        <p:nvSpPr>
          <p:cNvPr id="152" name="Google Shape;152;p19"/>
          <p:cNvSpPr>
            <a:spLocks noGrp="1"/>
          </p:cNvSpPr>
          <p:nvPr>
            <p:ph type="pic" idx="5"/>
          </p:nvPr>
        </p:nvSpPr>
        <p:spPr>
          <a:xfrm>
            <a:off x="9276444" y="3640181"/>
            <a:ext cx="1871616" cy="1654628"/>
          </a:xfrm>
          <a:prstGeom prst="roundRect">
            <a:avLst>
              <a:gd name="adj" fmla="val 9295"/>
            </a:avLst>
          </a:prstGeom>
          <a:solidFill>
            <a:schemeClr val="lt1"/>
          </a:solidFill>
          <a:ln w="76200" cap="flat" cmpd="sng">
            <a:solidFill>
              <a:schemeClr val="lt1"/>
            </a:solidFill>
            <a:prstDash val="solid"/>
            <a:round/>
            <a:headEnd type="none" w="sm" len="sm"/>
            <a:tailEnd type="none" w="sm" len="sm"/>
          </a:ln>
        </p:spPr>
        <p:txBody>
          <a:bodyPr/>
          <a:lstStyle/>
          <a:p>
            <a:endParaRPr lang="en-US"/>
          </a:p>
        </p:txBody>
      </p:sp>
      <p:sp>
        <p:nvSpPr>
          <p:cNvPr id="153" name="Google Shape;153;p19"/>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GB"/>
              <a:t>‹#›</a:t>
            </a:fld>
            <a:endParaRPr/>
          </a:p>
        </p:txBody>
      </p:sp>
      <p:sp>
        <p:nvSpPr>
          <p:cNvPr id="154" name="Google Shape;154;p19"/>
          <p:cNvSpPr txBox="1">
            <a:spLocks noGrp="1"/>
          </p:cNvSpPr>
          <p:nvPr>
            <p:ph type="dt" idx="10"/>
          </p:nvPr>
        </p:nvSpPr>
        <p:spPr>
          <a:xfrm>
            <a:off x="9448800" y="648656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5" name="Google Shape;155;p19"/>
          <p:cNvSpPr txBox="1">
            <a:spLocks noGrp="1"/>
          </p:cNvSpPr>
          <p:nvPr>
            <p:ph type="ftr" idx="11"/>
          </p:nvPr>
        </p:nvSpPr>
        <p:spPr>
          <a:xfrm>
            <a:off x="4528931" y="6486569"/>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7_Title Slide">
  <p:cSld name="17_Title Slide">
    <p:spTree>
      <p:nvGrpSpPr>
        <p:cNvPr id="1" name="Shape 156"/>
        <p:cNvGrpSpPr/>
        <p:nvPr/>
      </p:nvGrpSpPr>
      <p:grpSpPr>
        <a:xfrm>
          <a:off x="0" y="0"/>
          <a:ext cx="0" cy="0"/>
          <a:chOff x="0" y="0"/>
          <a:chExt cx="0" cy="0"/>
        </a:xfrm>
      </p:grpSpPr>
      <p:sp>
        <p:nvSpPr>
          <p:cNvPr id="157" name="Google Shape;157;p20"/>
          <p:cNvSpPr>
            <a:spLocks noGrp="1"/>
          </p:cNvSpPr>
          <p:nvPr>
            <p:ph type="pic" idx="2"/>
          </p:nvPr>
        </p:nvSpPr>
        <p:spPr>
          <a:xfrm>
            <a:off x="718458" y="4049486"/>
            <a:ext cx="11473543" cy="2808514"/>
          </a:xfrm>
          <a:prstGeom prst="rect">
            <a:avLst/>
          </a:prstGeom>
          <a:solidFill>
            <a:schemeClr val="lt1"/>
          </a:solidFill>
          <a:ln>
            <a:noFill/>
          </a:ln>
        </p:spPr>
        <p:txBody>
          <a:bodyPr/>
          <a:lstStyle/>
          <a:p>
            <a:endParaRPr lang="en-US"/>
          </a:p>
        </p:txBody>
      </p:sp>
      <p:sp>
        <p:nvSpPr>
          <p:cNvPr id="158" name="Google Shape;158;p20"/>
          <p:cNvSpPr/>
          <p:nvPr/>
        </p:nvSpPr>
        <p:spPr>
          <a:xfrm>
            <a:off x="0" y="0"/>
            <a:ext cx="718459" cy="6858000"/>
          </a:xfrm>
          <a:prstGeom prst="rect">
            <a:avLst/>
          </a:prstGeom>
          <a:gradFill>
            <a:gsLst>
              <a:gs pos="0">
                <a:srgbClr val="30A4CF"/>
              </a:gs>
              <a:gs pos="100000">
                <a:srgbClr val="67D7F4"/>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9" name="Google Shape;159;p20"/>
          <p:cNvSpPr>
            <a:spLocks noGrp="1"/>
          </p:cNvSpPr>
          <p:nvPr>
            <p:ph type="pic" idx="3"/>
          </p:nvPr>
        </p:nvSpPr>
        <p:spPr>
          <a:xfrm>
            <a:off x="1095106" y="3128555"/>
            <a:ext cx="3442788" cy="1654628"/>
          </a:xfrm>
          <a:prstGeom prst="roundRect">
            <a:avLst>
              <a:gd name="adj" fmla="val 50000"/>
            </a:avLst>
          </a:prstGeom>
          <a:solidFill>
            <a:schemeClr val="lt1"/>
          </a:solidFill>
          <a:ln w="76200" cap="flat" cmpd="sng">
            <a:solidFill>
              <a:schemeClr val="lt1"/>
            </a:solidFill>
            <a:prstDash val="solid"/>
            <a:round/>
            <a:headEnd type="none" w="sm" len="sm"/>
            <a:tailEnd type="none" w="sm" len="sm"/>
          </a:ln>
        </p:spPr>
        <p:txBody>
          <a:bodyPr/>
          <a:lstStyle/>
          <a:p>
            <a:endParaRPr lang="en-US"/>
          </a:p>
        </p:txBody>
      </p:sp>
      <p:sp>
        <p:nvSpPr>
          <p:cNvPr id="160" name="Google Shape;160;p20"/>
          <p:cNvSpPr>
            <a:spLocks noGrp="1"/>
          </p:cNvSpPr>
          <p:nvPr>
            <p:ph type="pic" idx="4"/>
          </p:nvPr>
        </p:nvSpPr>
        <p:spPr>
          <a:xfrm>
            <a:off x="4922159" y="3128555"/>
            <a:ext cx="3442788" cy="1654628"/>
          </a:xfrm>
          <a:prstGeom prst="roundRect">
            <a:avLst>
              <a:gd name="adj" fmla="val 50000"/>
            </a:avLst>
          </a:prstGeom>
          <a:solidFill>
            <a:schemeClr val="lt1"/>
          </a:solidFill>
          <a:ln w="76200" cap="flat" cmpd="sng">
            <a:solidFill>
              <a:schemeClr val="lt1"/>
            </a:solidFill>
            <a:prstDash val="solid"/>
            <a:round/>
            <a:headEnd type="none" w="sm" len="sm"/>
            <a:tailEnd type="none" w="sm" len="sm"/>
          </a:ln>
        </p:spPr>
        <p:txBody>
          <a:bodyPr/>
          <a:lstStyle/>
          <a:p>
            <a:endParaRPr lang="en-US"/>
          </a:p>
        </p:txBody>
      </p:sp>
      <p:sp>
        <p:nvSpPr>
          <p:cNvPr id="161" name="Google Shape;161;p20"/>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GB"/>
              <a:t>‹#›</a:t>
            </a:fld>
            <a:endParaRPr/>
          </a:p>
        </p:txBody>
      </p:sp>
      <p:sp>
        <p:nvSpPr>
          <p:cNvPr id="162" name="Google Shape;162;p20"/>
          <p:cNvSpPr txBox="1">
            <a:spLocks noGrp="1"/>
          </p:cNvSpPr>
          <p:nvPr>
            <p:ph type="dt" idx="10"/>
          </p:nvPr>
        </p:nvSpPr>
        <p:spPr>
          <a:xfrm>
            <a:off x="9448800" y="648656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3" name="Google Shape;163;p20"/>
          <p:cNvSpPr txBox="1">
            <a:spLocks noGrp="1"/>
          </p:cNvSpPr>
          <p:nvPr>
            <p:ph type="ftr" idx="11"/>
          </p:nvPr>
        </p:nvSpPr>
        <p:spPr>
          <a:xfrm>
            <a:off x="4528931" y="6486569"/>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8_Title Slide">
  <p:cSld name="18_Title Slide">
    <p:spTree>
      <p:nvGrpSpPr>
        <p:cNvPr id="1" name="Shape 164"/>
        <p:cNvGrpSpPr/>
        <p:nvPr/>
      </p:nvGrpSpPr>
      <p:grpSpPr>
        <a:xfrm>
          <a:off x="0" y="0"/>
          <a:ext cx="0" cy="0"/>
          <a:chOff x="0" y="0"/>
          <a:chExt cx="0" cy="0"/>
        </a:xfrm>
      </p:grpSpPr>
      <p:sp>
        <p:nvSpPr>
          <p:cNvPr id="165" name="Google Shape;165;p21"/>
          <p:cNvSpPr/>
          <p:nvPr/>
        </p:nvSpPr>
        <p:spPr>
          <a:xfrm>
            <a:off x="8961121" y="579260"/>
            <a:ext cx="2244452" cy="1954934"/>
          </a:xfrm>
          <a:prstGeom prst="roundRect">
            <a:avLst>
              <a:gd name="adj" fmla="val 4323"/>
            </a:avLst>
          </a:prstGeom>
          <a:solidFill>
            <a:schemeClr val="lt1"/>
          </a:solidFill>
          <a:ln>
            <a:noFill/>
          </a:ln>
          <a:effectLst>
            <a:outerShdw blurRad="228600" dist="88900" dir="5400000" algn="t" rotWithShape="0">
              <a:srgbClr val="000000">
                <a:alpha val="2392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6D7381"/>
              </a:solidFill>
              <a:latin typeface="Poppins"/>
              <a:ea typeface="Poppins"/>
              <a:cs typeface="Poppins"/>
              <a:sym typeface="Poppins"/>
            </a:endParaRPr>
          </a:p>
        </p:txBody>
      </p:sp>
      <p:sp>
        <p:nvSpPr>
          <p:cNvPr id="166" name="Google Shape;166;p21"/>
          <p:cNvSpPr/>
          <p:nvPr/>
        </p:nvSpPr>
        <p:spPr>
          <a:xfrm>
            <a:off x="6413863" y="1578569"/>
            <a:ext cx="2244452" cy="1954934"/>
          </a:xfrm>
          <a:prstGeom prst="roundRect">
            <a:avLst>
              <a:gd name="adj" fmla="val 4323"/>
            </a:avLst>
          </a:prstGeom>
          <a:gradFill>
            <a:gsLst>
              <a:gs pos="0">
                <a:srgbClr val="30A4CF"/>
              </a:gs>
              <a:gs pos="100000">
                <a:srgbClr val="67D7F4"/>
              </a:gs>
            </a:gsLst>
            <a:lin ang="5400000" scaled="0"/>
          </a:gradFill>
          <a:ln>
            <a:noFill/>
          </a:ln>
          <a:effectLst>
            <a:outerShdw blurRad="228600" dist="88900" dir="5400000" algn="t" rotWithShape="0">
              <a:srgbClr val="000000">
                <a:alpha val="2392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6D7381"/>
              </a:solidFill>
              <a:latin typeface="Poppins"/>
              <a:ea typeface="Poppins"/>
              <a:cs typeface="Poppins"/>
              <a:sym typeface="Poppins"/>
            </a:endParaRPr>
          </a:p>
        </p:txBody>
      </p:sp>
      <p:sp>
        <p:nvSpPr>
          <p:cNvPr id="167" name="Google Shape;167;p21"/>
          <p:cNvSpPr/>
          <p:nvPr/>
        </p:nvSpPr>
        <p:spPr>
          <a:xfrm>
            <a:off x="8961121" y="2917512"/>
            <a:ext cx="2244452" cy="1954934"/>
          </a:xfrm>
          <a:prstGeom prst="roundRect">
            <a:avLst>
              <a:gd name="adj" fmla="val 4323"/>
            </a:avLst>
          </a:prstGeom>
          <a:gradFill>
            <a:gsLst>
              <a:gs pos="0">
                <a:srgbClr val="30A4CF"/>
              </a:gs>
              <a:gs pos="100000">
                <a:srgbClr val="67D7F4"/>
              </a:gs>
            </a:gsLst>
            <a:lin ang="5400000" scaled="0"/>
          </a:gradFill>
          <a:ln>
            <a:noFill/>
          </a:ln>
          <a:effectLst>
            <a:outerShdw blurRad="228600" dist="88900" dir="5400000" algn="t" rotWithShape="0">
              <a:srgbClr val="000000">
                <a:alpha val="2392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6D7381"/>
              </a:solidFill>
              <a:latin typeface="Poppins"/>
              <a:ea typeface="Poppins"/>
              <a:cs typeface="Poppins"/>
              <a:sym typeface="Poppins"/>
            </a:endParaRPr>
          </a:p>
        </p:txBody>
      </p:sp>
      <p:sp>
        <p:nvSpPr>
          <p:cNvPr id="168" name="Google Shape;168;p21"/>
          <p:cNvSpPr/>
          <p:nvPr/>
        </p:nvSpPr>
        <p:spPr>
          <a:xfrm>
            <a:off x="6413863" y="3916821"/>
            <a:ext cx="2244452" cy="1954934"/>
          </a:xfrm>
          <a:prstGeom prst="roundRect">
            <a:avLst>
              <a:gd name="adj" fmla="val 4323"/>
            </a:avLst>
          </a:prstGeom>
          <a:solidFill>
            <a:schemeClr val="lt1"/>
          </a:solidFill>
          <a:ln>
            <a:noFill/>
          </a:ln>
          <a:effectLst>
            <a:outerShdw blurRad="228600" dist="88900" dir="5400000" algn="t" rotWithShape="0">
              <a:srgbClr val="000000">
                <a:alpha val="2392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6D7381"/>
              </a:solidFill>
              <a:latin typeface="Poppins"/>
              <a:ea typeface="Poppins"/>
              <a:cs typeface="Poppins"/>
              <a:sym typeface="Poppins"/>
            </a:endParaRPr>
          </a:p>
        </p:txBody>
      </p:sp>
      <p:sp>
        <p:nvSpPr>
          <p:cNvPr id="169" name="Google Shape;169;p21"/>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GB"/>
              <a:t>‹#›</a:t>
            </a:fld>
            <a:endParaRPr/>
          </a:p>
        </p:txBody>
      </p:sp>
      <p:sp>
        <p:nvSpPr>
          <p:cNvPr id="170" name="Google Shape;170;p21"/>
          <p:cNvSpPr txBox="1">
            <a:spLocks noGrp="1"/>
          </p:cNvSpPr>
          <p:nvPr>
            <p:ph type="dt" idx="10"/>
          </p:nvPr>
        </p:nvSpPr>
        <p:spPr>
          <a:xfrm>
            <a:off x="9448800" y="648656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1" name="Google Shape;171;p21"/>
          <p:cNvSpPr txBox="1">
            <a:spLocks noGrp="1"/>
          </p:cNvSpPr>
          <p:nvPr>
            <p:ph type="ftr" idx="11"/>
          </p:nvPr>
        </p:nvSpPr>
        <p:spPr>
          <a:xfrm>
            <a:off x="4528931" y="6486569"/>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19_Title Slide">
  <p:cSld name="19_Title Slide">
    <p:spTree>
      <p:nvGrpSpPr>
        <p:cNvPr id="1" name="Shape 172"/>
        <p:cNvGrpSpPr/>
        <p:nvPr/>
      </p:nvGrpSpPr>
      <p:grpSpPr>
        <a:xfrm>
          <a:off x="0" y="0"/>
          <a:ext cx="0" cy="0"/>
          <a:chOff x="0" y="0"/>
          <a:chExt cx="0" cy="0"/>
        </a:xfrm>
      </p:grpSpPr>
      <p:sp>
        <p:nvSpPr>
          <p:cNvPr id="173" name="Google Shape;173;p22"/>
          <p:cNvSpPr/>
          <p:nvPr/>
        </p:nvSpPr>
        <p:spPr>
          <a:xfrm>
            <a:off x="248194" y="1769115"/>
            <a:ext cx="2782391" cy="4169088"/>
          </a:xfrm>
          <a:prstGeom prst="roundRect">
            <a:avLst>
              <a:gd name="adj" fmla="val 4323"/>
            </a:avLst>
          </a:prstGeom>
          <a:solidFill>
            <a:schemeClr val="lt1"/>
          </a:solidFill>
          <a:ln>
            <a:noFill/>
          </a:ln>
          <a:effectLst>
            <a:outerShdw blurRad="228600" dist="88900" dir="5400000" algn="t" rotWithShape="0">
              <a:srgbClr val="000000">
                <a:alpha val="2392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6D7381"/>
              </a:solidFill>
              <a:latin typeface="Poppins"/>
              <a:ea typeface="Poppins"/>
              <a:cs typeface="Poppins"/>
              <a:sym typeface="Poppins"/>
            </a:endParaRPr>
          </a:p>
        </p:txBody>
      </p:sp>
      <p:sp>
        <p:nvSpPr>
          <p:cNvPr id="174" name="Google Shape;174;p22"/>
          <p:cNvSpPr/>
          <p:nvPr/>
        </p:nvSpPr>
        <p:spPr>
          <a:xfrm>
            <a:off x="6204858" y="1769115"/>
            <a:ext cx="2782391" cy="4169088"/>
          </a:xfrm>
          <a:prstGeom prst="roundRect">
            <a:avLst>
              <a:gd name="adj" fmla="val 4323"/>
            </a:avLst>
          </a:prstGeom>
          <a:solidFill>
            <a:schemeClr val="lt1"/>
          </a:solidFill>
          <a:ln>
            <a:noFill/>
          </a:ln>
          <a:effectLst>
            <a:outerShdw blurRad="228600" dist="88900" dir="5400000" algn="t" rotWithShape="0">
              <a:srgbClr val="000000">
                <a:alpha val="2392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6D7381"/>
              </a:solidFill>
              <a:latin typeface="Poppins"/>
              <a:ea typeface="Poppins"/>
              <a:cs typeface="Poppins"/>
              <a:sym typeface="Poppins"/>
            </a:endParaRPr>
          </a:p>
        </p:txBody>
      </p:sp>
      <p:sp>
        <p:nvSpPr>
          <p:cNvPr id="175" name="Google Shape;175;p22"/>
          <p:cNvSpPr/>
          <p:nvPr/>
        </p:nvSpPr>
        <p:spPr>
          <a:xfrm>
            <a:off x="9183190" y="1769115"/>
            <a:ext cx="2782391" cy="4169088"/>
          </a:xfrm>
          <a:prstGeom prst="roundRect">
            <a:avLst>
              <a:gd name="adj" fmla="val 4323"/>
            </a:avLst>
          </a:prstGeom>
          <a:solidFill>
            <a:schemeClr val="lt1"/>
          </a:solidFill>
          <a:ln>
            <a:noFill/>
          </a:ln>
          <a:effectLst>
            <a:outerShdw blurRad="228600" dist="88900" dir="5400000" algn="t" rotWithShape="0">
              <a:srgbClr val="000000">
                <a:alpha val="2392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6D7381"/>
              </a:solidFill>
              <a:latin typeface="Poppins"/>
              <a:ea typeface="Poppins"/>
              <a:cs typeface="Poppins"/>
              <a:sym typeface="Poppins"/>
            </a:endParaRPr>
          </a:p>
        </p:txBody>
      </p:sp>
      <p:sp>
        <p:nvSpPr>
          <p:cNvPr id="176" name="Google Shape;176;p22"/>
          <p:cNvSpPr/>
          <p:nvPr/>
        </p:nvSpPr>
        <p:spPr>
          <a:xfrm>
            <a:off x="3226526" y="1769115"/>
            <a:ext cx="2782391" cy="4169088"/>
          </a:xfrm>
          <a:prstGeom prst="roundRect">
            <a:avLst>
              <a:gd name="adj" fmla="val 4323"/>
            </a:avLst>
          </a:prstGeom>
          <a:solidFill>
            <a:schemeClr val="lt1"/>
          </a:solidFill>
          <a:ln>
            <a:noFill/>
          </a:ln>
          <a:effectLst>
            <a:outerShdw blurRad="228600" dist="88900" dir="5400000" algn="t" rotWithShape="0">
              <a:srgbClr val="000000">
                <a:alpha val="2392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6D7381"/>
              </a:solidFill>
              <a:latin typeface="Poppins"/>
              <a:ea typeface="Poppins"/>
              <a:cs typeface="Poppins"/>
              <a:sym typeface="Poppins"/>
            </a:endParaRPr>
          </a:p>
        </p:txBody>
      </p:sp>
      <p:sp>
        <p:nvSpPr>
          <p:cNvPr id="177" name="Google Shape;177;p22"/>
          <p:cNvSpPr txBox="1">
            <a:spLocks noGrp="1"/>
          </p:cNvSpPr>
          <p:nvPr>
            <p:ph type="sldNum" idx="12"/>
          </p:nvPr>
        </p:nvSpPr>
        <p:spPr>
          <a:xfrm>
            <a:off x="0" y="6492877"/>
            <a:ext cx="2743200"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GB"/>
              <a:t>‹#›</a:t>
            </a:fld>
            <a:endParaRPr/>
          </a:p>
        </p:txBody>
      </p:sp>
      <p:sp>
        <p:nvSpPr>
          <p:cNvPr id="178" name="Google Shape;178;p22"/>
          <p:cNvSpPr txBox="1">
            <a:spLocks noGrp="1"/>
          </p:cNvSpPr>
          <p:nvPr>
            <p:ph type="dt" idx="10"/>
          </p:nvPr>
        </p:nvSpPr>
        <p:spPr>
          <a:xfrm>
            <a:off x="9448800" y="648656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9" name="Google Shape;179;p22"/>
          <p:cNvSpPr txBox="1">
            <a:spLocks noGrp="1"/>
          </p:cNvSpPr>
          <p:nvPr>
            <p:ph type="ftr" idx="11"/>
          </p:nvPr>
        </p:nvSpPr>
        <p:spPr>
          <a:xfrm>
            <a:off x="4528931" y="6486569"/>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21_Title Slide">
  <p:cSld name="21_Title Slide">
    <p:spTree>
      <p:nvGrpSpPr>
        <p:cNvPr id="1" name="Shape 180"/>
        <p:cNvGrpSpPr/>
        <p:nvPr/>
      </p:nvGrpSpPr>
      <p:grpSpPr>
        <a:xfrm>
          <a:off x="0" y="0"/>
          <a:ext cx="0" cy="0"/>
          <a:chOff x="0" y="0"/>
          <a:chExt cx="0" cy="0"/>
        </a:xfrm>
      </p:grpSpPr>
      <p:sp>
        <p:nvSpPr>
          <p:cNvPr id="181" name="Google Shape;181;p23"/>
          <p:cNvSpPr/>
          <p:nvPr/>
        </p:nvSpPr>
        <p:spPr>
          <a:xfrm>
            <a:off x="0" y="4467498"/>
            <a:ext cx="12192000" cy="2390503"/>
          </a:xfrm>
          <a:prstGeom prst="rect">
            <a:avLst/>
          </a:prstGeom>
          <a:gradFill>
            <a:gsLst>
              <a:gs pos="0">
                <a:srgbClr val="30A4CF"/>
              </a:gs>
              <a:gs pos="100000">
                <a:srgbClr val="67D7F4"/>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82" name="Google Shape;182;p23"/>
          <p:cNvSpPr>
            <a:spLocks noGrp="1"/>
          </p:cNvSpPr>
          <p:nvPr>
            <p:ph type="pic" idx="2"/>
          </p:nvPr>
        </p:nvSpPr>
        <p:spPr>
          <a:xfrm>
            <a:off x="326572" y="297179"/>
            <a:ext cx="2743201" cy="2263142"/>
          </a:xfrm>
          <a:prstGeom prst="rect">
            <a:avLst/>
          </a:prstGeom>
          <a:solidFill>
            <a:schemeClr val="lt1"/>
          </a:solidFill>
          <a:ln>
            <a:noFill/>
          </a:ln>
        </p:spPr>
        <p:txBody>
          <a:bodyPr/>
          <a:lstStyle/>
          <a:p>
            <a:endParaRPr lang="en-US"/>
          </a:p>
        </p:txBody>
      </p:sp>
      <p:sp>
        <p:nvSpPr>
          <p:cNvPr id="183" name="Google Shape;183;p23"/>
          <p:cNvSpPr>
            <a:spLocks noGrp="1"/>
          </p:cNvSpPr>
          <p:nvPr>
            <p:ph type="pic" idx="3"/>
          </p:nvPr>
        </p:nvSpPr>
        <p:spPr>
          <a:xfrm>
            <a:off x="3378926" y="297179"/>
            <a:ext cx="2743201" cy="2263142"/>
          </a:xfrm>
          <a:prstGeom prst="rect">
            <a:avLst/>
          </a:prstGeom>
          <a:solidFill>
            <a:schemeClr val="lt1"/>
          </a:solidFill>
          <a:ln>
            <a:noFill/>
          </a:ln>
        </p:spPr>
        <p:txBody>
          <a:bodyPr/>
          <a:lstStyle/>
          <a:p>
            <a:endParaRPr lang="en-US"/>
          </a:p>
        </p:txBody>
      </p:sp>
      <p:sp>
        <p:nvSpPr>
          <p:cNvPr id="184" name="Google Shape;184;p23"/>
          <p:cNvSpPr/>
          <p:nvPr/>
        </p:nvSpPr>
        <p:spPr>
          <a:xfrm>
            <a:off x="6853646" y="2690951"/>
            <a:ext cx="3686631" cy="4167051"/>
          </a:xfrm>
          <a:prstGeom prst="rect">
            <a:avLst/>
          </a:prstGeom>
          <a:solidFill>
            <a:srgbClr val="D8D8D8">
              <a:alpha val="2980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85" name="Google Shape;185;p23"/>
          <p:cNvSpPr>
            <a:spLocks noGrp="1"/>
          </p:cNvSpPr>
          <p:nvPr>
            <p:ph type="pic" idx="4"/>
          </p:nvPr>
        </p:nvSpPr>
        <p:spPr>
          <a:xfrm>
            <a:off x="7328264" y="3063239"/>
            <a:ext cx="4389121" cy="3468190"/>
          </a:xfrm>
          <a:prstGeom prst="rect">
            <a:avLst/>
          </a:prstGeom>
          <a:solidFill>
            <a:schemeClr val="lt1"/>
          </a:solidFill>
          <a:ln>
            <a:noFill/>
          </a:ln>
        </p:spPr>
        <p:txBody>
          <a:bodyPr/>
          <a:lstStyle/>
          <a:p>
            <a:endParaRPr lang="en-US"/>
          </a:p>
        </p:txBody>
      </p:sp>
      <p:sp>
        <p:nvSpPr>
          <p:cNvPr id="186" name="Google Shape;186;p23"/>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GB"/>
              <a:t>‹#›</a:t>
            </a:fld>
            <a:endParaRPr/>
          </a:p>
        </p:txBody>
      </p:sp>
      <p:sp>
        <p:nvSpPr>
          <p:cNvPr id="187" name="Google Shape;187;p23"/>
          <p:cNvSpPr txBox="1">
            <a:spLocks noGrp="1"/>
          </p:cNvSpPr>
          <p:nvPr>
            <p:ph type="dt" idx="10"/>
          </p:nvPr>
        </p:nvSpPr>
        <p:spPr>
          <a:xfrm>
            <a:off x="9448800" y="648656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8" name="Google Shape;188;p23"/>
          <p:cNvSpPr txBox="1">
            <a:spLocks noGrp="1"/>
          </p:cNvSpPr>
          <p:nvPr>
            <p:ph type="ftr" idx="11"/>
          </p:nvPr>
        </p:nvSpPr>
        <p:spPr>
          <a:xfrm>
            <a:off x="4528931" y="6486569"/>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22_Title Slide">
  <p:cSld name="22_Title Slide">
    <p:spTree>
      <p:nvGrpSpPr>
        <p:cNvPr id="1" name="Shape 189"/>
        <p:cNvGrpSpPr/>
        <p:nvPr/>
      </p:nvGrpSpPr>
      <p:grpSpPr>
        <a:xfrm>
          <a:off x="0" y="0"/>
          <a:ext cx="0" cy="0"/>
          <a:chOff x="0" y="0"/>
          <a:chExt cx="0" cy="0"/>
        </a:xfrm>
      </p:grpSpPr>
      <p:sp>
        <p:nvSpPr>
          <p:cNvPr id="190" name="Google Shape;190;p24"/>
          <p:cNvSpPr>
            <a:spLocks noGrp="1"/>
          </p:cNvSpPr>
          <p:nvPr>
            <p:ph type="pic" idx="2"/>
          </p:nvPr>
        </p:nvSpPr>
        <p:spPr>
          <a:xfrm>
            <a:off x="10493829" y="0"/>
            <a:ext cx="1698171" cy="2263142"/>
          </a:xfrm>
          <a:prstGeom prst="rect">
            <a:avLst/>
          </a:prstGeom>
          <a:solidFill>
            <a:schemeClr val="lt1"/>
          </a:solidFill>
          <a:ln>
            <a:noFill/>
          </a:ln>
        </p:spPr>
        <p:txBody>
          <a:bodyPr/>
          <a:lstStyle/>
          <a:p>
            <a:endParaRPr lang="en-US"/>
          </a:p>
        </p:txBody>
      </p:sp>
      <p:sp>
        <p:nvSpPr>
          <p:cNvPr id="191" name="Google Shape;191;p24"/>
          <p:cNvSpPr/>
          <p:nvPr/>
        </p:nvSpPr>
        <p:spPr>
          <a:xfrm>
            <a:off x="10493829" y="2521134"/>
            <a:ext cx="1698171" cy="1737359"/>
          </a:xfrm>
          <a:prstGeom prst="rect">
            <a:avLst/>
          </a:prstGeom>
          <a:gradFill>
            <a:gsLst>
              <a:gs pos="0">
                <a:srgbClr val="30A4CF"/>
              </a:gs>
              <a:gs pos="100000">
                <a:srgbClr val="67D7F4"/>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2" name="Google Shape;192;p24"/>
          <p:cNvSpPr>
            <a:spLocks noGrp="1"/>
          </p:cNvSpPr>
          <p:nvPr>
            <p:ph type="pic" idx="3"/>
          </p:nvPr>
        </p:nvSpPr>
        <p:spPr>
          <a:xfrm>
            <a:off x="7315201" y="0"/>
            <a:ext cx="2956560" cy="2263142"/>
          </a:xfrm>
          <a:prstGeom prst="rect">
            <a:avLst/>
          </a:prstGeom>
          <a:solidFill>
            <a:schemeClr val="lt1"/>
          </a:solidFill>
          <a:ln>
            <a:noFill/>
          </a:ln>
        </p:spPr>
        <p:txBody>
          <a:bodyPr/>
          <a:lstStyle/>
          <a:p>
            <a:endParaRPr lang="en-US"/>
          </a:p>
        </p:txBody>
      </p:sp>
      <p:sp>
        <p:nvSpPr>
          <p:cNvPr id="193" name="Google Shape;193;p24"/>
          <p:cNvSpPr>
            <a:spLocks noGrp="1"/>
          </p:cNvSpPr>
          <p:nvPr>
            <p:ph type="pic" idx="4"/>
          </p:nvPr>
        </p:nvSpPr>
        <p:spPr>
          <a:xfrm>
            <a:off x="7315202" y="4516482"/>
            <a:ext cx="4876799" cy="2341519"/>
          </a:xfrm>
          <a:prstGeom prst="rect">
            <a:avLst/>
          </a:prstGeom>
          <a:solidFill>
            <a:schemeClr val="lt1"/>
          </a:solidFill>
          <a:ln>
            <a:noFill/>
          </a:ln>
        </p:spPr>
        <p:txBody>
          <a:bodyPr/>
          <a:lstStyle/>
          <a:p>
            <a:endParaRPr lang="en-US"/>
          </a:p>
        </p:txBody>
      </p:sp>
      <p:sp>
        <p:nvSpPr>
          <p:cNvPr id="194" name="Google Shape;194;p24"/>
          <p:cNvSpPr>
            <a:spLocks noGrp="1"/>
          </p:cNvSpPr>
          <p:nvPr>
            <p:ph type="pic" idx="5"/>
          </p:nvPr>
        </p:nvSpPr>
        <p:spPr>
          <a:xfrm>
            <a:off x="7315201" y="2521131"/>
            <a:ext cx="2956560" cy="1737360"/>
          </a:xfrm>
          <a:prstGeom prst="rect">
            <a:avLst/>
          </a:prstGeom>
          <a:solidFill>
            <a:schemeClr val="lt1"/>
          </a:solidFill>
          <a:ln>
            <a:noFill/>
          </a:ln>
        </p:spPr>
        <p:txBody>
          <a:bodyPr/>
          <a:lstStyle/>
          <a:p>
            <a:endParaRPr lang="en-US"/>
          </a:p>
        </p:txBody>
      </p:sp>
      <p:sp>
        <p:nvSpPr>
          <p:cNvPr id="195" name="Google Shape;195;p24"/>
          <p:cNvSpPr>
            <a:spLocks noGrp="1"/>
          </p:cNvSpPr>
          <p:nvPr>
            <p:ph type="pic" idx="6"/>
          </p:nvPr>
        </p:nvSpPr>
        <p:spPr>
          <a:xfrm>
            <a:off x="4136573" y="-1"/>
            <a:ext cx="2956560" cy="4258491"/>
          </a:xfrm>
          <a:prstGeom prst="rect">
            <a:avLst/>
          </a:prstGeom>
          <a:solidFill>
            <a:schemeClr val="lt1"/>
          </a:solidFill>
          <a:ln>
            <a:noFill/>
          </a:ln>
        </p:spPr>
        <p:txBody>
          <a:bodyPr/>
          <a:lstStyle/>
          <a:p>
            <a:endParaRPr lang="en-US"/>
          </a:p>
        </p:txBody>
      </p:sp>
      <p:sp>
        <p:nvSpPr>
          <p:cNvPr id="196" name="Google Shape;196;p24"/>
          <p:cNvSpPr>
            <a:spLocks noGrp="1"/>
          </p:cNvSpPr>
          <p:nvPr>
            <p:ph type="pic" idx="7"/>
          </p:nvPr>
        </p:nvSpPr>
        <p:spPr>
          <a:xfrm>
            <a:off x="4136573" y="4516480"/>
            <a:ext cx="2956560" cy="2341520"/>
          </a:xfrm>
          <a:prstGeom prst="rect">
            <a:avLst/>
          </a:prstGeom>
          <a:solidFill>
            <a:schemeClr val="lt1"/>
          </a:solidFill>
          <a:ln>
            <a:noFill/>
          </a:ln>
        </p:spPr>
        <p:txBody>
          <a:bodyPr/>
          <a:lstStyle/>
          <a:p>
            <a:endParaRPr lang="en-US"/>
          </a:p>
        </p:txBody>
      </p:sp>
      <p:sp>
        <p:nvSpPr>
          <p:cNvPr id="197" name="Google Shape;197;p24"/>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GB"/>
              <a:t>‹#›</a:t>
            </a:fld>
            <a:endParaRPr/>
          </a:p>
        </p:txBody>
      </p:sp>
      <p:sp>
        <p:nvSpPr>
          <p:cNvPr id="198" name="Google Shape;198;p24"/>
          <p:cNvSpPr txBox="1">
            <a:spLocks noGrp="1"/>
          </p:cNvSpPr>
          <p:nvPr>
            <p:ph type="dt" idx="10"/>
          </p:nvPr>
        </p:nvSpPr>
        <p:spPr>
          <a:xfrm>
            <a:off x="9448800" y="648656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9" name="Google Shape;199;p24"/>
          <p:cNvSpPr txBox="1">
            <a:spLocks noGrp="1"/>
          </p:cNvSpPr>
          <p:nvPr>
            <p:ph type="ftr" idx="11"/>
          </p:nvPr>
        </p:nvSpPr>
        <p:spPr>
          <a:xfrm>
            <a:off x="4528931" y="6486569"/>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24_Title Slide">
  <p:cSld name="24_Title Slide">
    <p:spTree>
      <p:nvGrpSpPr>
        <p:cNvPr id="1" name="Shape 200"/>
        <p:cNvGrpSpPr/>
        <p:nvPr/>
      </p:nvGrpSpPr>
      <p:grpSpPr>
        <a:xfrm>
          <a:off x="0" y="0"/>
          <a:ext cx="0" cy="0"/>
          <a:chOff x="0" y="0"/>
          <a:chExt cx="0" cy="0"/>
        </a:xfrm>
      </p:grpSpPr>
      <p:sp>
        <p:nvSpPr>
          <p:cNvPr id="201" name="Google Shape;201;p25"/>
          <p:cNvSpPr>
            <a:spLocks noGrp="1"/>
          </p:cNvSpPr>
          <p:nvPr>
            <p:ph type="pic" idx="2"/>
          </p:nvPr>
        </p:nvSpPr>
        <p:spPr>
          <a:xfrm>
            <a:off x="5073555" y="2767147"/>
            <a:ext cx="2830832" cy="2830832"/>
          </a:xfrm>
          <a:prstGeom prst="rect">
            <a:avLst/>
          </a:prstGeom>
          <a:solidFill>
            <a:schemeClr val="lt1"/>
          </a:solidFill>
          <a:ln>
            <a:noFill/>
          </a:ln>
        </p:spPr>
        <p:txBody>
          <a:bodyPr/>
          <a:lstStyle/>
          <a:p>
            <a:endParaRPr lang="en-US"/>
          </a:p>
        </p:txBody>
      </p:sp>
      <p:sp>
        <p:nvSpPr>
          <p:cNvPr id="202" name="Google Shape;202;p25"/>
          <p:cNvSpPr>
            <a:spLocks noGrp="1"/>
          </p:cNvSpPr>
          <p:nvPr>
            <p:ph type="pic" idx="3"/>
          </p:nvPr>
        </p:nvSpPr>
        <p:spPr>
          <a:xfrm>
            <a:off x="1772459" y="500197"/>
            <a:ext cx="2731364" cy="2731364"/>
          </a:xfrm>
          <a:prstGeom prst="rect">
            <a:avLst/>
          </a:prstGeom>
          <a:solidFill>
            <a:schemeClr val="lt1"/>
          </a:solidFill>
          <a:ln>
            <a:noFill/>
          </a:ln>
        </p:spPr>
        <p:txBody>
          <a:bodyPr/>
          <a:lstStyle/>
          <a:p>
            <a:endParaRPr lang="en-US"/>
          </a:p>
        </p:txBody>
      </p:sp>
      <p:sp>
        <p:nvSpPr>
          <p:cNvPr id="203" name="Google Shape;203;p25"/>
          <p:cNvSpPr>
            <a:spLocks noGrp="1"/>
          </p:cNvSpPr>
          <p:nvPr>
            <p:ph type="pic" idx="4"/>
          </p:nvPr>
        </p:nvSpPr>
        <p:spPr>
          <a:xfrm>
            <a:off x="7552505" y="3"/>
            <a:ext cx="3618415" cy="2767147"/>
          </a:xfrm>
          <a:prstGeom prst="rect">
            <a:avLst/>
          </a:prstGeom>
          <a:solidFill>
            <a:schemeClr val="lt1"/>
          </a:solidFill>
          <a:ln>
            <a:noFill/>
          </a:ln>
        </p:spPr>
        <p:txBody>
          <a:bodyPr/>
          <a:lstStyle/>
          <a:p>
            <a:endParaRPr lang="en-US"/>
          </a:p>
        </p:txBody>
      </p:sp>
      <p:sp>
        <p:nvSpPr>
          <p:cNvPr id="204" name="Google Shape;204;p25"/>
          <p:cNvSpPr>
            <a:spLocks noGrp="1"/>
          </p:cNvSpPr>
          <p:nvPr>
            <p:ph type="pic" idx="5"/>
          </p:nvPr>
        </p:nvSpPr>
        <p:spPr>
          <a:xfrm>
            <a:off x="11522800" y="800327"/>
            <a:ext cx="669200" cy="1666964"/>
          </a:xfrm>
          <a:prstGeom prst="rect">
            <a:avLst/>
          </a:prstGeom>
          <a:solidFill>
            <a:schemeClr val="lt1"/>
          </a:solidFill>
          <a:ln>
            <a:noFill/>
          </a:ln>
        </p:spPr>
        <p:txBody>
          <a:bodyPr/>
          <a:lstStyle/>
          <a:p>
            <a:endParaRPr lang="en-US"/>
          </a:p>
        </p:txBody>
      </p:sp>
      <p:sp>
        <p:nvSpPr>
          <p:cNvPr id="205" name="Google Shape;205;p25"/>
          <p:cNvSpPr>
            <a:spLocks noGrp="1"/>
          </p:cNvSpPr>
          <p:nvPr>
            <p:ph type="pic" idx="6"/>
          </p:nvPr>
        </p:nvSpPr>
        <p:spPr>
          <a:xfrm>
            <a:off x="8256269" y="2767150"/>
            <a:ext cx="3935732" cy="4090853"/>
          </a:xfrm>
          <a:prstGeom prst="rect">
            <a:avLst/>
          </a:prstGeom>
          <a:solidFill>
            <a:schemeClr val="lt1"/>
          </a:solidFill>
          <a:ln>
            <a:noFill/>
          </a:ln>
        </p:spPr>
        <p:txBody>
          <a:bodyPr/>
          <a:lstStyle/>
          <a:p>
            <a:endParaRPr lang="en-US"/>
          </a:p>
        </p:txBody>
      </p:sp>
      <p:sp>
        <p:nvSpPr>
          <p:cNvPr id="206" name="Google Shape;206;p25"/>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GB"/>
              <a:t>‹#›</a:t>
            </a:fld>
            <a:endParaRPr/>
          </a:p>
        </p:txBody>
      </p:sp>
      <p:sp>
        <p:nvSpPr>
          <p:cNvPr id="207" name="Google Shape;207;p25"/>
          <p:cNvSpPr txBox="1">
            <a:spLocks noGrp="1"/>
          </p:cNvSpPr>
          <p:nvPr>
            <p:ph type="dt" idx="10"/>
          </p:nvPr>
        </p:nvSpPr>
        <p:spPr>
          <a:xfrm>
            <a:off x="9448800" y="648656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8" name="Google Shape;208;p25"/>
          <p:cNvSpPr txBox="1">
            <a:spLocks noGrp="1"/>
          </p:cNvSpPr>
          <p:nvPr>
            <p:ph type="ftr" idx="11"/>
          </p:nvPr>
        </p:nvSpPr>
        <p:spPr>
          <a:xfrm>
            <a:off x="4528931" y="6486569"/>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25_Title Slide">
  <p:cSld name="25_Title Slide">
    <p:spTree>
      <p:nvGrpSpPr>
        <p:cNvPr id="1" name="Shape 209"/>
        <p:cNvGrpSpPr/>
        <p:nvPr/>
      </p:nvGrpSpPr>
      <p:grpSpPr>
        <a:xfrm>
          <a:off x="0" y="0"/>
          <a:ext cx="0" cy="0"/>
          <a:chOff x="0" y="0"/>
          <a:chExt cx="0" cy="0"/>
        </a:xfrm>
      </p:grpSpPr>
      <p:sp>
        <p:nvSpPr>
          <p:cNvPr id="210" name="Google Shape;210;p26"/>
          <p:cNvSpPr/>
          <p:nvPr/>
        </p:nvSpPr>
        <p:spPr>
          <a:xfrm>
            <a:off x="0" y="0"/>
            <a:ext cx="718459" cy="6858000"/>
          </a:xfrm>
          <a:prstGeom prst="rect">
            <a:avLst/>
          </a:prstGeom>
          <a:gradFill>
            <a:gsLst>
              <a:gs pos="0">
                <a:srgbClr val="30A4CF"/>
              </a:gs>
              <a:gs pos="100000">
                <a:srgbClr val="67D7F4"/>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11" name="Google Shape;211;p26"/>
          <p:cNvSpPr>
            <a:spLocks noGrp="1"/>
          </p:cNvSpPr>
          <p:nvPr>
            <p:ph type="pic" idx="2"/>
          </p:nvPr>
        </p:nvSpPr>
        <p:spPr>
          <a:xfrm>
            <a:off x="9235440" y="-1"/>
            <a:ext cx="2956560" cy="4258491"/>
          </a:xfrm>
          <a:prstGeom prst="rect">
            <a:avLst/>
          </a:prstGeom>
          <a:solidFill>
            <a:schemeClr val="lt1"/>
          </a:solidFill>
          <a:ln>
            <a:noFill/>
          </a:ln>
        </p:spPr>
        <p:txBody>
          <a:bodyPr/>
          <a:lstStyle/>
          <a:p>
            <a:endParaRPr lang="en-US"/>
          </a:p>
        </p:txBody>
      </p:sp>
      <p:sp>
        <p:nvSpPr>
          <p:cNvPr id="212" name="Google Shape;212;p26"/>
          <p:cNvSpPr>
            <a:spLocks noGrp="1"/>
          </p:cNvSpPr>
          <p:nvPr>
            <p:ph type="pic" idx="3"/>
          </p:nvPr>
        </p:nvSpPr>
        <p:spPr>
          <a:xfrm>
            <a:off x="6326777" y="1306287"/>
            <a:ext cx="2764972" cy="2952205"/>
          </a:xfrm>
          <a:prstGeom prst="rect">
            <a:avLst/>
          </a:prstGeom>
          <a:solidFill>
            <a:schemeClr val="lt1"/>
          </a:solidFill>
          <a:ln>
            <a:noFill/>
          </a:ln>
        </p:spPr>
        <p:txBody>
          <a:bodyPr/>
          <a:lstStyle/>
          <a:p>
            <a:endParaRPr lang="en-US"/>
          </a:p>
        </p:txBody>
      </p:sp>
      <p:sp>
        <p:nvSpPr>
          <p:cNvPr id="213" name="Google Shape;213;p26"/>
          <p:cNvSpPr>
            <a:spLocks noGrp="1"/>
          </p:cNvSpPr>
          <p:nvPr>
            <p:ph type="pic" idx="4"/>
          </p:nvPr>
        </p:nvSpPr>
        <p:spPr>
          <a:xfrm>
            <a:off x="6326776" y="4389120"/>
            <a:ext cx="5865224" cy="2468880"/>
          </a:xfrm>
          <a:prstGeom prst="rect">
            <a:avLst/>
          </a:prstGeom>
          <a:solidFill>
            <a:schemeClr val="lt1"/>
          </a:solidFill>
          <a:ln>
            <a:noFill/>
          </a:ln>
        </p:spPr>
        <p:txBody>
          <a:bodyPr/>
          <a:lstStyle/>
          <a:p>
            <a:endParaRPr lang="en-US"/>
          </a:p>
        </p:txBody>
      </p:sp>
      <p:sp>
        <p:nvSpPr>
          <p:cNvPr id="214" name="Google Shape;214;p26"/>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GB"/>
              <a:t>‹#›</a:t>
            </a:fld>
            <a:endParaRPr/>
          </a:p>
        </p:txBody>
      </p:sp>
      <p:sp>
        <p:nvSpPr>
          <p:cNvPr id="215" name="Google Shape;215;p26"/>
          <p:cNvSpPr txBox="1">
            <a:spLocks noGrp="1"/>
          </p:cNvSpPr>
          <p:nvPr>
            <p:ph type="dt" idx="10"/>
          </p:nvPr>
        </p:nvSpPr>
        <p:spPr>
          <a:xfrm>
            <a:off x="9448800" y="648656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6" name="Google Shape;216;p26"/>
          <p:cNvSpPr txBox="1">
            <a:spLocks noGrp="1"/>
          </p:cNvSpPr>
          <p:nvPr>
            <p:ph type="ftr" idx="11"/>
          </p:nvPr>
        </p:nvSpPr>
        <p:spPr>
          <a:xfrm>
            <a:off x="4528931" y="6486569"/>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26_Title Slide">
  <p:cSld name="26_Title Slide">
    <p:spTree>
      <p:nvGrpSpPr>
        <p:cNvPr id="1" name="Shape 217"/>
        <p:cNvGrpSpPr/>
        <p:nvPr/>
      </p:nvGrpSpPr>
      <p:grpSpPr>
        <a:xfrm>
          <a:off x="0" y="0"/>
          <a:ext cx="0" cy="0"/>
          <a:chOff x="0" y="0"/>
          <a:chExt cx="0" cy="0"/>
        </a:xfrm>
      </p:grpSpPr>
      <p:sp>
        <p:nvSpPr>
          <p:cNvPr id="218" name="Google Shape;218;p27"/>
          <p:cNvSpPr>
            <a:spLocks noGrp="1"/>
          </p:cNvSpPr>
          <p:nvPr>
            <p:ph type="pic" idx="2"/>
          </p:nvPr>
        </p:nvSpPr>
        <p:spPr>
          <a:xfrm>
            <a:off x="849087" y="953588"/>
            <a:ext cx="2956560" cy="5133704"/>
          </a:xfrm>
          <a:prstGeom prst="rect">
            <a:avLst/>
          </a:prstGeom>
          <a:solidFill>
            <a:schemeClr val="lt1"/>
          </a:solidFill>
          <a:ln>
            <a:noFill/>
          </a:ln>
        </p:spPr>
        <p:txBody>
          <a:bodyPr/>
          <a:lstStyle/>
          <a:p>
            <a:endParaRPr lang="en-US"/>
          </a:p>
        </p:txBody>
      </p:sp>
      <p:sp>
        <p:nvSpPr>
          <p:cNvPr id="219" name="Google Shape;219;p27"/>
          <p:cNvSpPr>
            <a:spLocks noGrp="1"/>
          </p:cNvSpPr>
          <p:nvPr>
            <p:ph type="pic" idx="3"/>
          </p:nvPr>
        </p:nvSpPr>
        <p:spPr>
          <a:xfrm>
            <a:off x="4066903" y="953590"/>
            <a:ext cx="2764972" cy="2952205"/>
          </a:xfrm>
          <a:prstGeom prst="rect">
            <a:avLst/>
          </a:prstGeom>
          <a:solidFill>
            <a:schemeClr val="lt1"/>
          </a:solidFill>
          <a:ln>
            <a:noFill/>
          </a:ln>
        </p:spPr>
        <p:txBody>
          <a:bodyPr/>
          <a:lstStyle/>
          <a:p>
            <a:endParaRPr lang="en-US"/>
          </a:p>
        </p:txBody>
      </p:sp>
      <p:sp>
        <p:nvSpPr>
          <p:cNvPr id="220" name="Google Shape;220;p27"/>
          <p:cNvSpPr>
            <a:spLocks noGrp="1"/>
          </p:cNvSpPr>
          <p:nvPr>
            <p:ph type="pic" idx="4"/>
          </p:nvPr>
        </p:nvSpPr>
        <p:spPr>
          <a:xfrm>
            <a:off x="7093130" y="953590"/>
            <a:ext cx="4023361" cy="2952205"/>
          </a:xfrm>
          <a:prstGeom prst="rect">
            <a:avLst/>
          </a:prstGeom>
          <a:solidFill>
            <a:schemeClr val="lt1"/>
          </a:solidFill>
          <a:ln>
            <a:noFill/>
          </a:ln>
        </p:spPr>
        <p:txBody>
          <a:bodyPr/>
          <a:lstStyle/>
          <a:p>
            <a:endParaRPr lang="en-US"/>
          </a:p>
        </p:txBody>
      </p:sp>
      <p:sp>
        <p:nvSpPr>
          <p:cNvPr id="221" name="Google Shape;221;p27"/>
          <p:cNvSpPr>
            <a:spLocks noGrp="1"/>
          </p:cNvSpPr>
          <p:nvPr>
            <p:ph type="pic" idx="5"/>
          </p:nvPr>
        </p:nvSpPr>
        <p:spPr>
          <a:xfrm>
            <a:off x="7093130" y="4101739"/>
            <a:ext cx="4023361" cy="1985555"/>
          </a:xfrm>
          <a:prstGeom prst="rect">
            <a:avLst/>
          </a:prstGeom>
          <a:solidFill>
            <a:schemeClr val="lt1"/>
          </a:solidFill>
          <a:ln>
            <a:noFill/>
          </a:ln>
        </p:spPr>
        <p:txBody>
          <a:bodyPr/>
          <a:lstStyle/>
          <a:p>
            <a:endParaRPr lang="en-US"/>
          </a:p>
        </p:txBody>
      </p:sp>
      <p:sp>
        <p:nvSpPr>
          <p:cNvPr id="222" name="Google Shape;222;p27"/>
          <p:cNvSpPr/>
          <p:nvPr/>
        </p:nvSpPr>
        <p:spPr>
          <a:xfrm>
            <a:off x="4066903" y="4101739"/>
            <a:ext cx="2764972" cy="1985555"/>
          </a:xfrm>
          <a:prstGeom prst="rect">
            <a:avLst/>
          </a:prstGeom>
          <a:gradFill>
            <a:gsLst>
              <a:gs pos="0">
                <a:srgbClr val="30A4CF"/>
              </a:gs>
              <a:gs pos="100000">
                <a:srgbClr val="67D7F4"/>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23" name="Google Shape;223;p27"/>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GB"/>
              <a:t>‹#›</a:t>
            </a:fld>
            <a:endParaRPr/>
          </a:p>
        </p:txBody>
      </p:sp>
      <p:sp>
        <p:nvSpPr>
          <p:cNvPr id="224" name="Google Shape;224;p27"/>
          <p:cNvSpPr txBox="1">
            <a:spLocks noGrp="1"/>
          </p:cNvSpPr>
          <p:nvPr>
            <p:ph type="dt" idx="10"/>
          </p:nvPr>
        </p:nvSpPr>
        <p:spPr>
          <a:xfrm>
            <a:off x="9448800" y="648656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5" name="Google Shape;225;p27"/>
          <p:cNvSpPr txBox="1">
            <a:spLocks noGrp="1"/>
          </p:cNvSpPr>
          <p:nvPr>
            <p:ph type="ftr" idx="11"/>
          </p:nvPr>
        </p:nvSpPr>
        <p:spPr>
          <a:xfrm>
            <a:off x="4528931" y="6486569"/>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33_Title Slide">
  <p:cSld name="33_Title Slide">
    <p:spTree>
      <p:nvGrpSpPr>
        <p:cNvPr id="1" name="Shape 226"/>
        <p:cNvGrpSpPr/>
        <p:nvPr/>
      </p:nvGrpSpPr>
      <p:grpSpPr>
        <a:xfrm>
          <a:off x="0" y="0"/>
          <a:ext cx="0" cy="0"/>
          <a:chOff x="0" y="0"/>
          <a:chExt cx="0" cy="0"/>
        </a:xfrm>
      </p:grpSpPr>
      <p:sp>
        <p:nvSpPr>
          <p:cNvPr id="227" name="Google Shape;227;p28"/>
          <p:cNvSpPr/>
          <p:nvPr/>
        </p:nvSpPr>
        <p:spPr>
          <a:xfrm>
            <a:off x="825268" y="1974619"/>
            <a:ext cx="4957224" cy="2045051"/>
          </a:xfrm>
          <a:prstGeom prst="roundRect">
            <a:avLst>
              <a:gd name="adj" fmla="val 50000"/>
            </a:avLst>
          </a:prstGeom>
          <a:solidFill>
            <a:schemeClr val="lt1"/>
          </a:solidFill>
          <a:ln>
            <a:noFill/>
          </a:ln>
          <a:effectLst>
            <a:outerShdw blurRad="381000" dist="38100" dir="5400000" algn="t" rotWithShape="0">
              <a:srgbClr val="000000">
                <a:alpha val="2392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28" name="Google Shape;228;p28"/>
          <p:cNvSpPr>
            <a:spLocks noGrp="1"/>
          </p:cNvSpPr>
          <p:nvPr>
            <p:ph type="pic" idx="2"/>
          </p:nvPr>
        </p:nvSpPr>
        <p:spPr>
          <a:xfrm>
            <a:off x="1238991" y="2212194"/>
            <a:ext cx="1569896" cy="1569896"/>
          </a:xfrm>
          <a:prstGeom prst="rect">
            <a:avLst/>
          </a:prstGeom>
          <a:solidFill>
            <a:schemeClr val="lt1"/>
          </a:solidFill>
          <a:ln>
            <a:noFill/>
          </a:ln>
        </p:spPr>
        <p:txBody>
          <a:bodyPr/>
          <a:lstStyle/>
          <a:p>
            <a:endParaRPr lang="en-US"/>
          </a:p>
        </p:txBody>
      </p:sp>
      <p:sp>
        <p:nvSpPr>
          <p:cNvPr id="229" name="Google Shape;229;p28"/>
          <p:cNvSpPr/>
          <p:nvPr/>
        </p:nvSpPr>
        <p:spPr>
          <a:xfrm>
            <a:off x="825268" y="4352059"/>
            <a:ext cx="4957224" cy="2045051"/>
          </a:xfrm>
          <a:prstGeom prst="roundRect">
            <a:avLst>
              <a:gd name="adj" fmla="val 50000"/>
            </a:avLst>
          </a:prstGeom>
          <a:gradFill>
            <a:gsLst>
              <a:gs pos="0">
                <a:srgbClr val="30A4CF"/>
              </a:gs>
              <a:gs pos="100000">
                <a:srgbClr val="67D7F4"/>
              </a:gs>
            </a:gsLst>
            <a:lin ang="5400000" scaled="0"/>
          </a:gradFill>
          <a:ln>
            <a:noFill/>
          </a:ln>
          <a:effectLst>
            <a:outerShdw blurRad="381000" dist="38100" dir="5400000" algn="t" rotWithShape="0">
              <a:srgbClr val="000000">
                <a:alpha val="2392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0" name="Google Shape;230;p28"/>
          <p:cNvSpPr>
            <a:spLocks noGrp="1"/>
          </p:cNvSpPr>
          <p:nvPr>
            <p:ph type="pic" idx="3"/>
          </p:nvPr>
        </p:nvSpPr>
        <p:spPr>
          <a:xfrm>
            <a:off x="1238991" y="4589634"/>
            <a:ext cx="1569896" cy="1569896"/>
          </a:xfrm>
          <a:prstGeom prst="rect">
            <a:avLst/>
          </a:prstGeom>
          <a:solidFill>
            <a:schemeClr val="lt1"/>
          </a:solidFill>
          <a:ln>
            <a:noFill/>
          </a:ln>
        </p:spPr>
        <p:txBody>
          <a:bodyPr/>
          <a:lstStyle/>
          <a:p>
            <a:endParaRPr lang="en-US"/>
          </a:p>
        </p:txBody>
      </p:sp>
      <p:sp>
        <p:nvSpPr>
          <p:cNvPr id="231" name="Google Shape;231;p28"/>
          <p:cNvSpPr/>
          <p:nvPr/>
        </p:nvSpPr>
        <p:spPr>
          <a:xfrm>
            <a:off x="6096000" y="1974619"/>
            <a:ext cx="4957224" cy="2045051"/>
          </a:xfrm>
          <a:prstGeom prst="roundRect">
            <a:avLst>
              <a:gd name="adj" fmla="val 50000"/>
            </a:avLst>
          </a:prstGeom>
          <a:gradFill>
            <a:gsLst>
              <a:gs pos="0">
                <a:srgbClr val="30A4CF"/>
              </a:gs>
              <a:gs pos="100000">
                <a:srgbClr val="67D7F4"/>
              </a:gs>
            </a:gsLst>
            <a:lin ang="5400000" scaled="0"/>
          </a:gradFill>
          <a:ln>
            <a:noFill/>
          </a:ln>
          <a:effectLst>
            <a:outerShdw blurRad="381000" dist="38100" dir="5400000" algn="t" rotWithShape="0">
              <a:srgbClr val="000000">
                <a:alpha val="2392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2" name="Google Shape;232;p28"/>
          <p:cNvSpPr>
            <a:spLocks noGrp="1"/>
          </p:cNvSpPr>
          <p:nvPr>
            <p:ph type="pic" idx="4"/>
          </p:nvPr>
        </p:nvSpPr>
        <p:spPr>
          <a:xfrm>
            <a:off x="6509723" y="2212194"/>
            <a:ext cx="1569896" cy="1569896"/>
          </a:xfrm>
          <a:prstGeom prst="rect">
            <a:avLst/>
          </a:prstGeom>
          <a:solidFill>
            <a:schemeClr val="lt1"/>
          </a:solidFill>
          <a:ln>
            <a:noFill/>
          </a:ln>
        </p:spPr>
        <p:txBody>
          <a:bodyPr/>
          <a:lstStyle/>
          <a:p>
            <a:endParaRPr lang="en-US"/>
          </a:p>
        </p:txBody>
      </p:sp>
      <p:sp>
        <p:nvSpPr>
          <p:cNvPr id="233" name="Google Shape;233;p28"/>
          <p:cNvSpPr/>
          <p:nvPr/>
        </p:nvSpPr>
        <p:spPr>
          <a:xfrm>
            <a:off x="6096000" y="4352059"/>
            <a:ext cx="4957224" cy="2045051"/>
          </a:xfrm>
          <a:prstGeom prst="roundRect">
            <a:avLst>
              <a:gd name="adj" fmla="val 50000"/>
            </a:avLst>
          </a:prstGeom>
          <a:solidFill>
            <a:schemeClr val="lt1"/>
          </a:solidFill>
          <a:ln>
            <a:noFill/>
          </a:ln>
          <a:effectLst>
            <a:outerShdw blurRad="381000" dist="38100" dir="5400000" algn="t" rotWithShape="0">
              <a:srgbClr val="000000">
                <a:alpha val="2392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4" name="Google Shape;234;p28"/>
          <p:cNvSpPr>
            <a:spLocks noGrp="1"/>
          </p:cNvSpPr>
          <p:nvPr>
            <p:ph type="pic" idx="5"/>
          </p:nvPr>
        </p:nvSpPr>
        <p:spPr>
          <a:xfrm>
            <a:off x="6509723" y="4589634"/>
            <a:ext cx="1569896" cy="1569896"/>
          </a:xfrm>
          <a:prstGeom prst="rect">
            <a:avLst/>
          </a:prstGeom>
          <a:solidFill>
            <a:schemeClr val="lt1"/>
          </a:solidFill>
          <a:ln>
            <a:noFill/>
          </a:ln>
        </p:spPr>
        <p:txBody>
          <a:bodyPr/>
          <a:lstStyle/>
          <a:p>
            <a:endParaRPr lang="en-US"/>
          </a:p>
        </p:txBody>
      </p:sp>
      <p:sp>
        <p:nvSpPr>
          <p:cNvPr id="235" name="Google Shape;235;p28"/>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GB"/>
              <a:t>‹#›</a:t>
            </a:fld>
            <a:endParaRPr/>
          </a:p>
        </p:txBody>
      </p:sp>
      <p:sp>
        <p:nvSpPr>
          <p:cNvPr id="236" name="Google Shape;236;p28"/>
          <p:cNvSpPr txBox="1">
            <a:spLocks noGrp="1"/>
          </p:cNvSpPr>
          <p:nvPr>
            <p:ph type="dt" idx="10"/>
          </p:nvPr>
        </p:nvSpPr>
        <p:spPr>
          <a:xfrm>
            <a:off x="9448800" y="648656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7" name="Google Shape;237;p28"/>
          <p:cNvSpPr txBox="1">
            <a:spLocks noGrp="1"/>
          </p:cNvSpPr>
          <p:nvPr>
            <p:ph type="ftr" idx="11"/>
          </p:nvPr>
        </p:nvSpPr>
        <p:spPr>
          <a:xfrm>
            <a:off x="4528931" y="6486569"/>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34_Title Slide">
  <p:cSld name="34_Title Slide">
    <p:spTree>
      <p:nvGrpSpPr>
        <p:cNvPr id="1" name="Shape 238"/>
        <p:cNvGrpSpPr/>
        <p:nvPr/>
      </p:nvGrpSpPr>
      <p:grpSpPr>
        <a:xfrm>
          <a:off x="0" y="0"/>
          <a:ext cx="0" cy="0"/>
          <a:chOff x="0" y="0"/>
          <a:chExt cx="0" cy="0"/>
        </a:xfrm>
      </p:grpSpPr>
      <p:sp>
        <p:nvSpPr>
          <p:cNvPr id="239" name="Google Shape;239;p29"/>
          <p:cNvSpPr/>
          <p:nvPr/>
        </p:nvSpPr>
        <p:spPr>
          <a:xfrm>
            <a:off x="0" y="0"/>
            <a:ext cx="718459" cy="6858000"/>
          </a:xfrm>
          <a:prstGeom prst="rect">
            <a:avLst/>
          </a:prstGeom>
          <a:gradFill>
            <a:gsLst>
              <a:gs pos="0">
                <a:srgbClr val="30A4CF"/>
              </a:gs>
              <a:gs pos="100000">
                <a:srgbClr val="67D7F4"/>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40" name="Google Shape;240;p29"/>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GB"/>
              <a:t>‹#›</a:t>
            </a:fld>
            <a:endParaRPr/>
          </a:p>
        </p:txBody>
      </p:sp>
      <p:sp>
        <p:nvSpPr>
          <p:cNvPr id="241" name="Google Shape;241;p29"/>
          <p:cNvSpPr txBox="1">
            <a:spLocks noGrp="1"/>
          </p:cNvSpPr>
          <p:nvPr>
            <p:ph type="dt" idx="10"/>
          </p:nvPr>
        </p:nvSpPr>
        <p:spPr>
          <a:xfrm>
            <a:off x="9448800" y="648656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2" name="Google Shape;242;p29"/>
          <p:cNvSpPr txBox="1">
            <a:spLocks noGrp="1"/>
          </p:cNvSpPr>
          <p:nvPr>
            <p:ph type="ftr" idx="11"/>
          </p:nvPr>
        </p:nvSpPr>
        <p:spPr>
          <a:xfrm>
            <a:off x="4528931" y="6486569"/>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35_Title Slide">
  <p:cSld name="35_Title Slide">
    <p:spTree>
      <p:nvGrpSpPr>
        <p:cNvPr id="1" name="Shape 243"/>
        <p:cNvGrpSpPr/>
        <p:nvPr/>
      </p:nvGrpSpPr>
      <p:grpSpPr>
        <a:xfrm>
          <a:off x="0" y="0"/>
          <a:ext cx="0" cy="0"/>
          <a:chOff x="0" y="0"/>
          <a:chExt cx="0" cy="0"/>
        </a:xfrm>
      </p:grpSpPr>
      <p:sp>
        <p:nvSpPr>
          <p:cNvPr id="244" name="Google Shape;244;p30"/>
          <p:cNvSpPr/>
          <p:nvPr/>
        </p:nvSpPr>
        <p:spPr>
          <a:xfrm>
            <a:off x="7880762" y="0"/>
            <a:ext cx="4311239" cy="6858000"/>
          </a:xfrm>
          <a:prstGeom prst="rect">
            <a:avLst/>
          </a:prstGeom>
          <a:gradFill>
            <a:gsLst>
              <a:gs pos="0">
                <a:srgbClr val="30A4CF"/>
              </a:gs>
              <a:gs pos="100000">
                <a:srgbClr val="67D7F4"/>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45" name="Google Shape;245;p30"/>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GB"/>
              <a:t>‹#›</a:t>
            </a:fld>
            <a:endParaRPr/>
          </a:p>
        </p:txBody>
      </p:sp>
      <p:sp>
        <p:nvSpPr>
          <p:cNvPr id="246" name="Google Shape;246;p30"/>
          <p:cNvSpPr txBox="1">
            <a:spLocks noGrp="1"/>
          </p:cNvSpPr>
          <p:nvPr>
            <p:ph type="dt" idx="10"/>
          </p:nvPr>
        </p:nvSpPr>
        <p:spPr>
          <a:xfrm>
            <a:off x="9448800" y="648656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7" name="Google Shape;247;p30"/>
          <p:cNvSpPr txBox="1">
            <a:spLocks noGrp="1"/>
          </p:cNvSpPr>
          <p:nvPr>
            <p:ph type="ftr" idx="11"/>
          </p:nvPr>
        </p:nvSpPr>
        <p:spPr>
          <a:xfrm>
            <a:off x="4528931" y="6486569"/>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36_Title Slide">
  <p:cSld name="36_Title Slide">
    <p:spTree>
      <p:nvGrpSpPr>
        <p:cNvPr id="1" name="Shape 248"/>
        <p:cNvGrpSpPr/>
        <p:nvPr/>
      </p:nvGrpSpPr>
      <p:grpSpPr>
        <a:xfrm>
          <a:off x="0" y="0"/>
          <a:ext cx="0" cy="0"/>
          <a:chOff x="0" y="0"/>
          <a:chExt cx="0" cy="0"/>
        </a:xfrm>
      </p:grpSpPr>
      <p:sp>
        <p:nvSpPr>
          <p:cNvPr id="249" name="Google Shape;249;p31"/>
          <p:cNvSpPr/>
          <p:nvPr/>
        </p:nvSpPr>
        <p:spPr>
          <a:xfrm>
            <a:off x="0" y="0"/>
            <a:ext cx="2063931" cy="6858000"/>
          </a:xfrm>
          <a:prstGeom prst="rect">
            <a:avLst/>
          </a:prstGeom>
          <a:gradFill>
            <a:gsLst>
              <a:gs pos="0">
                <a:srgbClr val="30A4CF"/>
              </a:gs>
              <a:gs pos="100000">
                <a:srgbClr val="67D7F4"/>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0" name="Google Shape;250;p31"/>
          <p:cNvSpPr>
            <a:spLocks noGrp="1"/>
          </p:cNvSpPr>
          <p:nvPr>
            <p:ph type="pic" idx="2"/>
          </p:nvPr>
        </p:nvSpPr>
        <p:spPr>
          <a:xfrm>
            <a:off x="378825" y="535578"/>
            <a:ext cx="3553097" cy="5786844"/>
          </a:xfrm>
          <a:prstGeom prst="rect">
            <a:avLst/>
          </a:prstGeom>
          <a:solidFill>
            <a:schemeClr val="lt1"/>
          </a:solidFill>
          <a:ln>
            <a:noFill/>
          </a:ln>
        </p:spPr>
        <p:txBody>
          <a:bodyPr/>
          <a:lstStyle/>
          <a:p>
            <a:endParaRPr lang="en-US"/>
          </a:p>
        </p:txBody>
      </p:sp>
      <p:sp>
        <p:nvSpPr>
          <p:cNvPr id="251" name="Google Shape;251;p31"/>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GB"/>
              <a:t>‹#›</a:t>
            </a:fld>
            <a:endParaRPr/>
          </a:p>
        </p:txBody>
      </p:sp>
      <p:sp>
        <p:nvSpPr>
          <p:cNvPr id="252" name="Google Shape;252;p31"/>
          <p:cNvSpPr txBox="1">
            <a:spLocks noGrp="1"/>
          </p:cNvSpPr>
          <p:nvPr>
            <p:ph type="dt" idx="10"/>
          </p:nvPr>
        </p:nvSpPr>
        <p:spPr>
          <a:xfrm>
            <a:off x="9448800" y="648656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3" name="Google Shape;253;p31"/>
          <p:cNvSpPr txBox="1">
            <a:spLocks noGrp="1"/>
          </p:cNvSpPr>
          <p:nvPr>
            <p:ph type="ftr" idx="11"/>
          </p:nvPr>
        </p:nvSpPr>
        <p:spPr>
          <a:xfrm>
            <a:off x="4528931" y="6486569"/>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37_Title Slide">
  <p:cSld name="37_Title Slide">
    <p:spTree>
      <p:nvGrpSpPr>
        <p:cNvPr id="1" name="Shape 254"/>
        <p:cNvGrpSpPr/>
        <p:nvPr/>
      </p:nvGrpSpPr>
      <p:grpSpPr>
        <a:xfrm>
          <a:off x="0" y="0"/>
          <a:ext cx="0" cy="0"/>
          <a:chOff x="0" y="0"/>
          <a:chExt cx="0" cy="0"/>
        </a:xfrm>
      </p:grpSpPr>
      <p:sp>
        <p:nvSpPr>
          <p:cNvPr id="255" name="Google Shape;255;p32"/>
          <p:cNvSpPr/>
          <p:nvPr/>
        </p:nvSpPr>
        <p:spPr>
          <a:xfrm>
            <a:off x="-1" y="0"/>
            <a:ext cx="9118601" cy="6858000"/>
          </a:xfrm>
          <a:prstGeom prst="rect">
            <a:avLst/>
          </a:prstGeom>
          <a:gradFill>
            <a:gsLst>
              <a:gs pos="0">
                <a:srgbClr val="30A4CF"/>
              </a:gs>
              <a:gs pos="100000">
                <a:srgbClr val="67D7F4"/>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6" name="Google Shape;256;p32"/>
          <p:cNvSpPr>
            <a:spLocks noGrp="1"/>
          </p:cNvSpPr>
          <p:nvPr>
            <p:ph type="pic" idx="2"/>
          </p:nvPr>
        </p:nvSpPr>
        <p:spPr>
          <a:xfrm>
            <a:off x="6096001" y="535578"/>
            <a:ext cx="5539377" cy="5786844"/>
          </a:xfrm>
          <a:prstGeom prst="rect">
            <a:avLst/>
          </a:prstGeom>
          <a:solidFill>
            <a:schemeClr val="lt1"/>
          </a:solidFill>
          <a:ln>
            <a:noFill/>
          </a:ln>
        </p:spPr>
        <p:txBody>
          <a:bodyPr/>
          <a:lstStyle/>
          <a:p>
            <a:endParaRPr lang="en-US"/>
          </a:p>
        </p:txBody>
      </p:sp>
      <p:sp>
        <p:nvSpPr>
          <p:cNvPr id="257" name="Google Shape;257;p32"/>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GB"/>
              <a:t>‹#›</a:t>
            </a:fld>
            <a:endParaRPr/>
          </a:p>
        </p:txBody>
      </p:sp>
      <p:sp>
        <p:nvSpPr>
          <p:cNvPr id="258" name="Google Shape;258;p32"/>
          <p:cNvSpPr txBox="1">
            <a:spLocks noGrp="1"/>
          </p:cNvSpPr>
          <p:nvPr>
            <p:ph type="dt" idx="10"/>
          </p:nvPr>
        </p:nvSpPr>
        <p:spPr>
          <a:xfrm>
            <a:off x="9448800" y="648656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9" name="Google Shape;259;p32"/>
          <p:cNvSpPr txBox="1">
            <a:spLocks noGrp="1"/>
          </p:cNvSpPr>
          <p:nvPr>
            <p:ph type="ftr" idx="11"/>
          </p:nvPr>
        </p:nvSpPr>
        <p:spPr>
          <a:xfrm>
            <a:off x="4528931" y="6486569"/>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1" r:id="rId22"/>
    <p:sldLayoutId id="2147483672" r:id="rId23"/>
    <p:sldLayoutId id="2147483673" r:id="rId24"/>
    <p:sldLayoutId id="2147483674" r:id="rId25"/>
    <p:sldLayoutId id="2147483675" r:id="rId26"/>
    <p:sldLayoutId id="2147483676" r:id="rId27"/>
    <p:sldLayoutId id="2147483677" r:id="rId28"/>
    <p:sldLayoutId id="2147483678" r:id="rId2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jpg"/><Relationship Id="rId7" Type="http://schemas.microsoft.com/office/2007/relationships/hdphoto" Target="../media/hdphoto1.wdp"/><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7.png"/><Relationship Id="rId5" Type="http://schemas.openxmlformats.org/officeDocument/2006/relationships/image" Target="../media/image3.png"/><Relationship Id="rId10" Type="http://schemas.microsoft.com/office/2007/relationships/hdphoto" Target="../media/hdphoto2.wdp"/><Relationship Id="rId4" Type="http://schemas.openxmlformats.org/officeDocument/2006/relationships/image" Target="../media/image2.png"/><Relationship Id="rId9"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emf"/><Relationship Id="rId5"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8.emf"/><Relationship Id="rId5" Type="http://schemas.openxmlformats.org/officeDocument/2006/relationships/image" Target="../media/image2.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jpg"/><Relationship Id="rId7"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5.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60.png"/><Relationship Id="rId5" Type="http://schemas.openxmlformats.org/officeDocument/2006/relationships/image" Target="../media/image16.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7.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jpg"/><Relationship Id="rId7"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33.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34.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42.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43.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8" Type="http://schemas.openxmlformats.org/officeDocument/2006/relationships/hyperlink" Target="https://openmodelica.org/doc/OpenModelicaUsersGuide/latest/omedit.html" TargetMode="External"/><Relationship Id="rId3" Type="http://schemas.openxmlformats.org/officeDocument/2006/relationships/image" Target="../media/image1.jpg"/><Relationship Id="rId7" Type="http://schemas.openxmlformats.org/officeDocument/2006/relationships/hyperlink" Target="https://simulationresearch.lbl.gov/modelica/training.html" TargetMode="External"/><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hyperlink" Target="https://build.openmodelica.org/Documentation/Buildings.Examples.Tutorial.SimpleHouse.html" TargetMode="External"/><Relationship Id="rId5" Type="http://schemas.openxmlformats.org/officeDocument/2006/relationships/hyperlink" Target="https://mbe.modelica.university/" TargetMode="Externa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1.jpg"/><Relationship Id="rId7" Type="http://schemas.openxmlformats.org/officeDocument/2006/relationships/image" Target="../media/image45.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3.png"/><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63">
          <a:extLst>
            <a:ext uri="{FF2B5EF4-FFF2-40B4-BE49-F238E27FC236}">
              <a16:creationId xmlns:a16="http://schemas.microsoft.com/office/drawing/2014/main" id="{68D35401-032C-EBFC-E91A-E44F31408ADD}"/>
            </a:ext>
          </a:extLst>
        </p:cNvPr>
        <p:cNvGrpSpPr/>
        <p:nvPr/>
      </p:nvGrpSpPr>
      <p:grpSpPr>
        <a:xfrm>
          <a:off x="0" y="0"/>
          <a:ext cx="0" cy="0"/>
          <a:chOff x="0" y="0"/>
          <a:chExt cx="0" cy="0"/>
        </a:xfrm>
      </p:grpSpPr>
      <p:pic>
        <p:nvPicPr>
          <p:cNvPr id="264" name="Google Shape;264;p33" descr="Une image contenant ciel, plein air, nuage, agriculture&#10;&#10;Description générée automatiquement">
            <a:extLst>
              <a:ext uri="{FF2B5EF4-FFF2-40B4-BE49-F238E27FC236}">
                <a16:creationId xmlns:a16="http://schemas.microsoft.com/office/drawing/2014/main" id="{58FDE690-7227-821F-596F-1992C125F1A9}"/>
              </a:ext>
            </a:extLst>
          </p:cNvPr>
          <p:cNvPicPr preferRelativeResize="0"/>
          <p:nvPr/>
        </p:nvPicPr>
        <p:blipFill rotWithShape="1">
          <a:blip r:embed="rId3">
            <a:alphaModFix/>
          </a:blip>
          <a:srcRect l="5973" t="9105" b="15903"/>
          <a:stretch/>
        </p:blipFill>
        <p:spPr>
          <a:xfrm>
            <a:off x="719138" y="0"/>
            <a:ext cx="11472863" cy="6858000"/>
          </a:xfrm>
          <a:prstGeom prst="rect">
            <a:avLst/>
          </a:prstGeom>
          <a:noFill/>
          <a:ln>
            <a:noFill/>
          </a:ln>
        </p:spPr>
      </p:pic>
      <p:sp>
        <p:nvSpPr>
          <p:cNvPr id="265" name="Google Shape;265;p33">
            <a:extLst>
              <a:ext uri="{FF2B5EF4-FFF2-40B4-BE49-F238E27FC236}">
                <a16:creationId xmlns:a16="http://schemas.microsoft.com/office/drawing/2014/main" id="{71CFECA2-3543-9F65-EB3E-A87D8990979F}"/>
              </a:ext>
            </a:extLst>
          </p:cNvPr>
          <p:cNvSpPr/>
          <p:nvPr/>
        </p:nvSpPr>
        <p:spPr>
          <a:xfrm>
            <a:off x="719138" y="1"/>
            <a:ext cx="11500295" cy="6858000"/>
          </a:xfrm>
          <a:prstGeom prst="rect">
            <a:avLst/>
          </a:prstGeom>
          <a:solidFill>
            <a:schemeClr val="lt1">
              <a:alpha val="93725"/>
            </a:schemeClr>
          </a:solidFill>
          <a:ln>
            <a:noFill/>
          </a:ln>
          <a:effectLst>
            <a:outerShdw blurRad="876300" dist="393700" dir="5400000" algn="t" rotWithShape="0">
              <a:srgbClr val="000000">
                <a:alpha val="784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dirty="0">
              <a:solidFill>
                <a:schemeClr val="lt1"/>
              </a:solidFill>
              <a:latin typeface="Calibri"/>
              <a:ea typeface="Calibri"/>
              <a:cs typeface="Calibri"/>
              <a:sym typeface="Calibri"/>
            </a:endParaRPr>
          </a:p>
        </p:txBody>
      </p:sp>
      <p:sp>
        <p:nvSpPr>
          <p:cNvPr id="266" name="Google Shape;266;p33">
            <a:extLst>
              <a:ext uri="{FF2B5EF4-FFF2-40B4-BE49-F238E27FC236}">
                <a16:creationId xmlns:a16="http://schemas.microsoft.com/office/drawing/2014/main" id="{E1E1E3CD-2070-E907-FD8E-75F135B0DEF4}"/>
              </a:ext>
            </a:extLst>
          </p:cNvPr>
          <p:cNvSpPr txBox="1"/>
          <p:nvPr/>
        </p:nvSpPr>
        <p:spPr>
          <a:xfrm>
            <a:off x="1067837" y="1468704"/>
            <a:ext cx="10531345" cy="17542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GB" sz="3200" b="1" i="0" u="none" strike="noStrike" cap="none" dirty="0">
                <a:solidFill>
                  <a:srgbClr val="30A4CF"/>
                </a:solidFill>
                <a:latin typeface="Nunito"/>
                <a:ea typeface="Nunito"/>
                <a:cs typeface="Nunito"/>
                <a:sym typeface="Nunito"/>
              </a:rPr>
              <a:t>In technical module 2</a:t>
            </a:r>
          </a:p>
          <a:p>
            <a:pPr marL="0" marR="0" lvl="0" indent="0" algn="ctr" rtl="0">
              <a:lnSpc>
                <a:spcPct val="100000"/>
              </a:lnSpc>
              <a:spcBef>
                <a:spcPts val="0"/>
              </a:spcBef>
              <a:spcAft>
                <a:spcPts val="0"/>
              </a:spcAft>
              <a:buNone/>
            </a:pPr>
            <a:endParaRPr lang="en-GB" sz="3200" b="1" i="0" u="none" strike="noStrike" cap="none" dirty="0">
              <a:solidFill>
                <a:srgbClr val="30A4CF"/>
              </a:solidFill>
              <a:latin typeface="Nunito"/>
              <a:ea typeface="Nunito"/>
              <a:cs typeface="Nunito"/>
              <a:sym typeface="Nunito"/>
            </a:endParaRPr>
          </a:p>
          <a:p>
            <a:pPr marL="0" marR="0" lvl="0" indent="0" algn="ctr" rtl="0">
              <a:lnSpc>
                <a:spcPct val="100000"/>
              </a:lnSpc>
              <a:spcBef>
                <a:spcPts val="0"/>
              </a:spcBef>
              <a:spcAft>
                <a:spcPts val="0"/>
              </a:spcAft>
              <a:buNone/>
            </a:pPr>
            <a:r>
              <a:rPr lang="en-GB" sz="4400" b="1" dirty="0">
                <a:solidFill>
                  <a:srgbClr val="30A4CF"/>
                </a:solidFill>
                <a:latin typeface="Nunito"/>
                <a:ea typeface="Nunito"/>
                <a:cs typeface="Nunito"/>
                <a:sym typeface="Nunito"/>
              </a:rPr>
              <a:t>System Modelling of Cold Room</a:t>
            </a:r>
            <a:endParaRPr sz="4400" b="1" i="0" u="none" strike="noStrike" cap="none" dirty="0">
              <a:solidFill>
                <a:srgbClr val="30A4CF"/>
              </a:solidFill>
              <a:latin typeface="Nunito"/>
              <a:ea typeface="Nunito"/>
              <a:cs typeface="Nunito"/>
              <a:sym typeface="Nunito"/>
            </a:endParaRPr>
          </a:p>
        </p:txBody>
      </p:sp>
      <p:grpSp>
        <p:nvGrpSpPr>
          <p:cNvPr id="267" name="Google Shape;267;p33">
            <a:extLst>
              <a:ext uri="{FF2B5EF4-FFF2-40B4-BE49-F238E27FC236}">
                <a16:creationId xmlns:a16="http://schemas.microsoft.com/office/drawing/2014/main" id="{5B16DA7C-E23C-9731-A5D0-11861A7501B5}"/>
              </a:ext>
            </a:extLst>
          </p:cNvPr>
          <p:cNvGrpSpPr/>
          <p:nvPr/>
        </p:nvGrpSpPr>
        <p:grpSpPr>
          <a:xfrm>
            <a:off x="211858" y="180932"/>
            <a:ext cx="310791" cy="304800"/>
            <a:chOff x="3848100" y="2292350"/>
            <a:chExt cx="310790" cy="304800"/>
          </a:xfrm>
        </p:grpSpPr>
        <p:sp>
          <p:nvSpPr>
            <p:cNvPr id="268" name="Google Shape;268;p33">
              <a:extLst>
                <a:ext uri="{FF2B5EF4-FFF2-40B4-BE49-F238E27FC236}">
                  <a16:creationId xmlns:a16="http://schemas.microsoft.com/office/drawing/2014/main" id="{AADEEF33-E390-9F71-C0BB-71E5300C92B7}"/>
                </a:ext>
              </a:extLst>
            </p:cNvPr>
            <p:cNvSpPr/>
            <p:nvPr/>
          </p:nvSpPr>
          <p:spPr>
            <a:xfrm>
              <a:off x="3848100" y="2292350"/>
              <a:ext cx="114300" cy="1143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9" name="Google Shape;269;p33">
              <a:extLst>
                <a:ext uri="{FF2B5EF4-FFF2-40B4-BE49-F238E27FC236}">
                  <a16:creationId xmlns:a16="http://schemas.microsoft.com/office/drawing/2014/main" id="{60059313-5F74-B59F-447A-EEA0FDCC76B3}"/>
                </a:ext>
              </a:extLst>
            </p:cNvPr>
            <p:cNvSpPr/>
            <p:nvPr/>
          </p:nvSpPr>
          <p:spPr>
            <a:xfrm>
              <a:off x="4044590" y="2292350"/>
              <a:ext cx="114300" cy="1143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0" name="Google Shape;270;p33">
              <a:extLst>
                <a:ext uri="{FF2B5EF4-FFF2-40B4-BE49-F238E27FC236}">
                  <a16:creationId xmlns:a16="http://schemas.microsoft.com/office/drawing/2014/main" id="{3175526C-354C-3BA3-7D16-0302A5DA3EB4}"/>
                </a:ext>
              </a:extLst>
            </p:cNvPr>
            <p:cNvSpPr/>
            <p:nvPr/>
          </p:nvSpPr>
          <p:spPr>
            <a:xfrm>
              <a:off x="3848100" y="2482850"/>
              <a:ext cx="114300" cy="1143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1" name="Google Shape;271;p33">
              <a:extLst>
                <a:ext uri="{FF2B5EF4-FFF2-40B4-BE49-F238E27FC236}">
                  <a16:creationId xmlns:a16="http://schemas.microsoft.com/office/drawing/2014/main" id="{4271A9B7-B16C-EEAA-BB41-5944D619447D}"/>
                </a:ext>
              </a:extLst>
            </p:cNvPr>
            <p:cNvSpPr/>
            <p:nvPr/>
          </p:nvSpPr>
          <p:spPr>
            <a:xfrm>
              <a:off x="4044590" y="2482850"/>
              <a:ext cx="114300" cy="1143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272" name="Google Shape;272;p33" descr="Une image contenant texte, Police, Graphique, capture d’écran&#10;&#10;Description générée automatiquement">
            <a:extLst>
              <a:ext uri="{FF2B5EF4-FFF2-40B4-BE49-F238E27FC236}">
                <a16:creationId xmlns:a16="http://schemas.microsoft.com/office/drawing/2014/main" id="{44198515-176B-37BB-3EE0-CFEC090251D6}"/>
              </a:ext>
            </a:extLst>
          </p:cNvPr>
          <p:cNvPicPr preferRelativeResize="0"/>
          <p:nvPr/>
        </p:nvPicPr>
        <p:blipFill rotWithShape="1">
          <a:blip r:embed="rId4">
            <a:alphaModFix/>
          </a:blip>
          <a:srcRect/>
          <a:stretch/>
        </p:blipFill>
        <p:spPr>
          <a:xfrm>
            <a:off x="1006291" y="309038"/>
            <a:ext cx="4388368" cy="1140977"/>
          </a:xfrm>
          <a:prstGeom prst="rect">
            <a:avLst/>
          </a:prstGeom>
          <a:noFill/>
          <a:ln>
            <a:noFill/>
          </a:ln>
        </p:spPr>
      </p:pic>
      <p:pic>
        <p:nvPicPr>
          <p:cNvPr id="273" name="Google Shape;273;p33" descr="Une image contenant capture d’écran, Bleu électrique, Police, Bleu Majorelle&#10;&#10;Description générée automatiquement">
            <a:extLst>
              <a:ext uri="{FF2B5EF4-FFF2-40B4-BE49-F238E27FC236}">
                <a16:creationId xmlns:a16="http://schemas.microsoft.com/office/drawing/2014/main" id="{E8FE9CFE-12E9-63E9-2CD3-C0265C2BB18E}"/>
              </a:ext>
            </a:extLst>
          </p:cNvPr>
          <p:cNvPicPr preferRelativeResize="0"/>
          <p:nvPr/>
        </p:nvPicPr>
        <p:blipFill rotWithShape="1">
          <a:blip r:embed="rId5">
            <a:alphaModFix/>
          </a:blip>
          <a:srcRect/>
          <a:stretch/>
        </p:blipFill>
        <p:spPr>
          <a:xfrm>
            <a:off x="915628" y="6156329"/>
            <a:ext cx="1867772" cy="551919"/>
          </a:xfrm>
          <a:prstGeom prst="rect">
            <a:avLst/>
          </a:prstGeom>
          <a:noFill/>
          <a:ln>
            <a:noFill/>
          </a:ln>
        </p:spPr>
      </p:pic>
      <p:sp>
        <p:nvSpPr>
          <p:cNvPr id="274" name="Google Shape;274;p33">
            <a:extLst>
              <a:ext uri="{FF2B5EF4-FFF2-40B4-BE49-F238E27FC236}">
                <a16:creationId xmlns:a16="http://schemas.microsoft.com/office/drawing/2014/main" id="{90E2CC80-2ECE-15BA-216E-02F37607DC6A}"/>
              </a:ext>
            </a:extLst>
          </p:cNvPr>
          <p:cNvSpPr txBox="1">
            <a:spLocks noGrp="1"/>
          </p:cNvSpPr>
          <p:nvPr>
            <p:ph type="dt" idx="10"/>
          </p:nvPr>
        </p:nvSpPr>
        <p:spPr>
          <a:xfrm>
            <a:off x="5205436" y="6249724"/>
            <a:ext cx="27432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sz="1600" b="1" dirty="0">
                <a:solidFill>
                  <a:srgbClr val="002060"/>
                </a:solidFill>
              </a:rPr>
              <a:t>13 October 2026</a:t>
            </a:r>
            <a:endParaRPr sz="1600" b="1" dirty="0">
              <a:solidFill>
                <a:srgbClr val="002060"/>
              </a:solidFill>
            </a:endParaRPr>
          </a:p>
        </p:txBody>
      </p:sp>
      <p:sp>
        <p:nvSpPr>
          <p:cNvPr id="275" name="Google Shape;275;p33">
            <a:extLst>
              <a:ext uri="{FF2B5EF4-FFF2-40B4-BE49-F238E27FC236}">
                <a16:creationId xmlns:a16="http://schemas.microsoft.com/office/drawing/2014/main" id="{32B1BEC9-6984-E84A-A694-03AEFEE0A257}"/>
              </a:ext>
            </a:extLst>
          </p:cNvPr>
          <p:cNvSpPr/>
          <p:nvPr/>
        </p:nvSpPr>
        <p:spPr>
          <a:xfrm>
            <a:off x="2783400" y="3425423"/>
            <a:ext cx="7100217" cy="49321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GB" sz="2000" b="1" i="0" u="none" strike="noStrike" cap="none" dirty="0">
                <a:solidFill>
                  <a:srgbClr val="000000"/>
                </a:solidFill>
                <a:latin typeface="Arial"/>
                <a:ea typeface="Arial"/>
                <a:cs typeface="Arial"/>
                <a:sym typeface="Arial"/>
              </a:rPr>
              <a:t>Course delivered by: </a:t>
            </a:r>
            <a:r>
              <a:rPr lang="en-GB" sz="2000" b="0" i="0" u="none" strike="noStrike" cap="none" dirty="0">
                <a:solidFill>
                  <a:srgbClr val="000000"/>
                </a:solidFill>
                <a:latin typeface="Arial"/>
                <a:ea typeface="Arial"/>
                <a:cs typeface="Arial"/>
                <a:sym typeface="Arial"/>
              </a:rPr>
              <a:t>Bahareh Bakhsh Zahmatkesh</a:t>
            </a:r>
            <a:endParaRPr sz="2000" b="0" i="0" u="none" strike="noStrike" cap="none" dirty="0">
              <a:solidFill>
                <a:srgbClr val="000000"/>
              </a:solidFill>
              <a:latin typeface="Arial"/>
              <a:ea typeface="Arial"/>
              <a:cs typeface="Arial"/>
              <a:sym typeface="Arial"/>
            </a:endParaRPr>
          </a:p>
        </p:txBody>
      </p:sp>
      <p:sp>
        <p:nvSpPr>
          <p:cNvPr id="277" name="Google Shape;277;p33">
            <a:extLst>
              <a:ext uri="{FF2B5EF4-FFF2-40B4-BE49-F238E27FC236}">
                <a16:creationId xmlns:a16="http://schemas.microsoft.com/office/drawing/2014/main" id="{552702B0-9CB7-679E-B279-B006970D4405}"/>
              </a:ext>
            </a:extLst>
          </p:cNvPr>
          <p:cNvSpPr txBox="1"/>
          <p:nvPr/>
        </p:nvSpPr>
        <p:spPr>
          <a:xfrm rot="-5400000">
            <a:off x="-854513" y="5031038"/>
            <a:ext cx="2251455" cy="38856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lt1"/>
                </a:solidFill>
                <a:latin typeface="Nunito Sans SemiBold"/>
                <a:ea typeface="Nunito Sans SemiBold"/>
                <a:cs typeface="Nunito Sans SemiBold"/>
                <a:sym typeface="Nunito Sans SemiBold"/>
              </a:rPr>
              <a:t>AGRICOOL</a:t>
            </a:r>
            <a:endParaRPr sz="1400" b="0" i="0" u="none" strike="noStrike" cap="none">
              <a:solidFill>
                <a:srgbClr val="000000"/>
              </a:solidFill>
              <a:latin typeface="Arial"/>
              <a:ea typeface="Arial"/>
              <a:cs typeface="Arial"/>
              <a:sym typeface="Arial"/>
            </a:endParaRPr>
          </a:p>
        </p:txBody>
      </p:sp>
      <p:sp>
        <p:nvSpPr>
          <p:cNvPr id="278" name="Google Shape;278;p33">
            <a:extLst>
              <a:ext uri="{FF2B5EF4-FFF2-40B4-BE49-F238E27FC236}">
                <a16:creationId xmlns:a16="http://schemas.microsoft.com/office/drawing/2014/main" id="{51E3687A-41A5-77C6-8E16-2A4DC136D72D}"/>
              </a:ext>
            </a:extLst>
          </p:cNvPr>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200"/>
              <a:buNone/>
            </a:pPr>
            <a:fld id="{00000000-1234-1234-1234-123412341234}" type="slidenum">
              <a:rPr lang="en-GB"/>
              <a:t>1</a:t>
            </a:fld>
            <a:endParaRPr/>
          </a:p>
        </p:txBody>
      </p:sp>
      <p:sp>
        <p:nvSpPr>
          <p:cNvPr id="2" name="Google Shape;275;p33">
            <a:extLst>
              <a:ext uri="{FF2B5EF4-FFF2-40B4-BE49-F238E27FC236}">
                <a16:creationId xmlns:a16="http://schemas.microsoft.com/office/drawing/2014/main" id="{DE899EB0-3D37-186E-5F08-7E2626C600FB}"/>
              </a:ext>
            </a:extLst>
          </p:cNvPr>
          <p:cNvSpPr/>
          <p:nvPr/>
        </p:nvSpPr>
        <p:spPr>
          <a:xfrm>
            <a:off x="1290930" y="3918633"/>
            <a:ext cx="10308252" cy="49321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None/>
            </a:pPr>
            <a:r>
              <a:rPr lang="en-US" sz="2000" dirty="0"/>
              <a:t>PhD Candidate in Thermal and Fluid Engineering, </a:t>
            </a:r>
            <a:r>
              <a:rPr lang="en-US" sz="2000" b="0" i="0" u="none" strike="noStrike" cap="none" dirty="0">
                <a:solidFill>
                  <a:srgbClr val="000000"/>
                </a:solidFill>
                <a:latin typeface="Arial"/>
                <a:ea typeface="Arial"/>
                <a:cs typeface="Arial"/>
                <a:sym typeface="Arial"/>
              </a:rPr>
              <a:t>University of Twente, The Netherlands</a:t>
            </a:r>
          </a:p>
          <a:p>
            <a:pPr marL="0" marR="0" lvl="0" indent="0" algn="r" rtl="0">
              <a:lnSpc>
                <a:spcPct val="100000"/>
              </a:lnSpc>
              <a:spcBef>
                <a:spcPts val="0"/>
              </a:spcBef>
              <a:spcAft>
                <a:spcPts val="0"/>
              </a:spcAft>
              <a:buNone/>
            </a:pPr>
            <a:endParaRPr sz="2000" b="0" i="0" u="none" strike="noStrike" cap="none" dirty="0">
              <a:solidFill>
                <a:srgbClr val="000000"/>
              </a:solidFill>
              <a:latin typeface="Arial"/>
              <a:ea typeface="Arial"/>
              <a:cs typeface="Arial"/>
              <a:sym typeface="Arial"/>
            </a:endParaRPr>
          </a:p>
        </p:txBody>
      </p:sp>
      <p:graphicFrame>
        <p:nvGraphicFramePr>
          <p:cNvPr id="4" name="Table 3">
            <a:extLst>
              <a:ext uri="{FF2B5EF4-FFF2-40B4-BE49-F238E27FC236}">
                <a16:creationId xmlns:a16="http://schemas.microsoft.com/office/drawing/2014/main" id="{2C12D7E0-CF68-289C-CDDF-B154723C7056}"/>
              </a:ext>
            </a:extLst>
          </p:cNvPr>
          <p:cNvGraphicFramePr>
            <a:graphicFrameLocks noGrp="1"/>
          </p:cNvGraphicFramePr>
          <p:nvPr>
            <p:extLst>
              <p:ext uri="{D42A27DB-BD31-4B8C-83A1-F6EECF244321}">
                <p14:modId xmlns:p14="http://schemas.microsoft.com/office/powerpoint/2010/main" val="1404064950"/>
              </p:ext>
            </p:extLst>
          </p:nvPr>
        </p:nvGraphicFramePr>
        <p:xfrm>
          <a:off x="3319685" y="4822535"/>
          <a:ext cx="8128001" cy="1112520"/>
        </p:xfrm>
        <a:graphic>
          <a:graphicData uri="http://schemas.openxmlformats.org/drawingml/2006/table">
            <a:tbl>
              <a:tblPr firstRow="1" bandRow="1">
                <a:tableStyleId>{5C22544A-7EE6-4342-B048-85BDC9FD1C3A}</a:tableStyleId>
              </a:tblPr>
              <a:tblGrid>
                <a:gridCol w="1084675">
                  <a:extLst>
                    <a:ext uri="{9D8B030D-6E8A-4147-A177-3AD203B41FA5}">
                      <a16:colId xmlns:a16="http://schemas.microsoft.com/office/drawing/2014/main" val="2568870002"/>
                    </a:ext>
                  </a:extLst>
                </a:gridCol>
                <a:gridCol w="923778">
                  <a:extLst>
                    <a:ext uri="{9D8B030D-6E8A-4147-A177-3AD203B41FA5}">
                      <a16:colId xmlns:a16="http://schemas.microsoft.com/office/drawing/2014/main" val="2756633972"/>
                    </a:ext>
                  </a:extLst>
                </a:gridCol>
                <a:gridCol w="6119548">
                  <a:extLst>
                    <a:ext uri="{9D8B030D-6E8A-4147-A177-3AD203B41FA5}">
                      <a16:colId xmlns:a16="http://schemas.microsoft.com/office/drawing/2014/main" val="1543286677"/>
                    </a:ext>
                  </a:extLst>
                </a:gridCol>
              </a:tblGrid>
              <a:tr h="370840">
                <a:tc>
                  <a:txBody>
                    <a:bodyPr/>
                    <a:lstStyle/>
                    <a:p>
                      <a:pPr algn="r"/>
                      <a:endParaRPr lang="en-US" dirty="0">
                        <a:solidFill>
                          <a:schemeClr val="accent5">
                            <a:lumMod val="50000"/>
                          </a:schemeClr>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b="0" dirty="0">
                          <a:solidFill>
                            <a:schemeClr val="accent5">
                              <a:lumMod val="50000"/>
                            </a:schemeClr>
                          </a:solidFill>
                        </a:rPr>
                        <a:t>Email:</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b="0" dirty="0">
                          <a:solidFill>
                            <a:schemeClr val="accent5">
                              <a:lumMod val="50000"/>
                            </a:schemeClr>
                          </a:solidFill>
                        </a:rPr>
                        <a:t>bahareh.bakhshzahmatkesh@utwente.nl</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18841911"/>
                  </a:ext>
                </a:extLst>
              </a:tr>
              <a:tr h="370840">
                <a:tc>
                  <a:txBody>
                    <a:bodyPr/>
                    <a:lstStyle/>
                    <a:p>
                      <a:pPr algn="r"/>
                      <a:endParaRPr lang="en-US" dirty="0">
                        <a:solidFill>
                          <a:schemeClr val="accent5">
                            <a:lumMod val="50000"/>
                          </a:schemeClr>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r"/>
                      <a:r>
                        <a:rPr lang="en-US" dirty="0">
                          <a:solidFill>
                            <a:schemeClr val="accent5">
                              <a:lumMod val="50000"/>
                            </a:schemeClr>
                          </a:solidFill>
                        </a:rPr>
                        <a:t>LinkedIn:</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accent5">
                              <a:lumMod val="50000"/>
                            </a:schemeClr>
                          </a:solidFill>
                        </a:rPr>
                        <a:t>www.linkedin.com/in/bahareh-zahmatkesh</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9769139"/>
                  </a:ext>
                </a:extLst>
              </a:tr>
              <a:tr h="370840">
                <a:tc>
                  <a:txBody>
                    <a:bodyPr/>
                    <a:lstStyle/>
                    <a:p>
                      <a:pPr algn="r"/>
                      <a:endParaRPr lang="en-US" dirty="0">
                        <a:solidFill>
                          <a:schemeClr val="accent5">
                            <a:lumMod val="50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a:r>
                        <a:rPr lang="en-US" dirty="0">
                          <a:solidFill>
                            <a:schemeClr val="accent5">
                              <a:lumMod val="50000"/>
                            </a:schemeClr>
                          </a:solidFill>
                        </a:rPr>
                        <a:t>GitHub:</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accent5">
                              <a:lumMod val="50000"/>
                            </a:schemeClr>
                          </a:solidFill>
                        </a:rPr>
                        <a:t>https://github.com/B-BZ</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15181107"/>
                  </a:ext>
                </a:extLst>
              </a:tr>
            </a:tbl>
          </a:graphicData>
        </a:graphic>
      </p:graphicFrame>
      <p:pic>
        <p:nvPicPr>
          <p:cNvPr id="6" name="Picture 5">
            <a:extLst>
              <a:ext uri="{FF2B5EF4-FFF2-40B4-BE49-F238E27FC236}">
                <a16:creationId xmlns:a16="http://schemas.microsoft.com/office/drawing/2014/main" id="{7373795E-7494-F4E9-16E6-905D1A77E30B}"/>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10000" b="90000" l="10000" r="90000"/>
                    </a14:imgEffect>
                  </a14:imgLayer>
                </a14:imgProps>
              </a:ext>
            </a:extLst>
          </a:blip>
          <a:stretch>
            <a:fillRect/>
          </a:stretch>
        </p:blipFill>
        <p:spPr>
          <a:xfrm>
            <a:off x="3948136" y="4822534"/>
            <a:ext cx="365760" cy="365760"/>
          </a:xfrm>
          <a:prstGeom prst="rect">
            <a:avLst/>
          </a:prstGeom>
        </p:spPr>
      </p:pic>
      <p:pic>
        <p:nvPicPr>
          <p:cNvPr id="8" name="Picture 7">
            <a:extLst>
              <a:ext uri="{FF2B5EF4-FFF2-40B4-BE49-F238E27FC236}">
                <a16:creationId xmlns:a16="http://schemas.microsoft.com/office/drawing/2014/main" id="{72058A8E-DA3F-483B-EBF3-B36BCD380CDA}"/>
              </a:ext>
            </a:extLst>
          </p:cNvPr>
          <p:cNvPicPr>
            <a:picLocks noChangeAspect="1"/>
          </p:cNvPicPr>
          <p:nvPr/>
        </p:nvPicPr>
        <p:blipFill>
          <a:blip r:embed="rId8"/>
          <a:stretch>
            <a:fillRect/>
          </a:stretch>
        </p:blipFill>
        <p:spPr>
          <a:xfrm>
            <a:off x="3948136" y="5198566"/>
            <a:ext cx="365760" cy="365760"/>
          </a:xfrm>
          <a:prstGeom prst="rect">
            <a:avLst/>
          </a:prstGeom>
        </p:spPr>
      </p:pic>
      <p:pic>
        <p:nvPicPr>
          <p:cNvPr id="10" name="Picture 9">
            <a:extLst>
              <a:ext uri="{FF2B5EF4-FFF2-40B4-BE49-F238E27FC236}">
                <a16:creationId xmlns:a16="http://schemas.microsoft.com/office/drawing/2014/main" id="{F08FB2A4-F6B8-BFDE-1619-45E59A123FAE}"/>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10000" b="90000" l="10000" r="90000">
                        <a14:foregroundMark x1="59091" y1="57895" x2="59091" y2="57895"/>
                        <a14:foregroundMark x1="55981" y1="44817" x2="55981" y2="44817"/>
                        <a14:foregroundMark x1="55981" y1="44817" x2="55981" y2="44817"/>
                        <a14:foregroundMark x1="55981" y1="44817" x2="55981" y2="44817"/>
                        <a14:foregroundMark x1="55981" y1="44817" x2="55981" y2="44817"/>
                        <a14:foregroundMark x1="55981" y1="44817" x2="55981" y2="44817"/>
                        <a14:foregroundMark x1="55981" y1="44817" x2="55981" y2="44817"/>
                        <a14:foregroundMark x1="55981" y1="44817" x2="55981" y2="44817"/>
                        <a14:foregroundMark x1="63796" y1="38596" x2="48166" y2="53190"/>
                        <a14:foregroundMark x1="22648" y1="21372" x2="50239" y2="25040"/>
                        <a14:foregroundMark x1="58612" y1="48485" x2="58612" y2="48485"/>
                        <a14:foregroundMark x1="58612" y1="48485" x2="58612" y2="48485"/>
                        <a14:foregroundMark x1="58612" y1="48485" x2="58612" y2="48485"/>
                        <a14:foregroundMark x1="58612" y1="48485" x2="58612" y2="48485"/>
                        <a14:foregroundMark x1="58612" y1="48485" x2="58612" y2="48485"/>
                      </a14:backgroundRemoval>
                    </a14:imgEffect>
                  </a14:imgLayer>
                </a14:imgProps>
              </a:ext>
            </a:extLst>
          </a:blip>
          <a:stretch>
            <a:fillRect/>
          </a:stretch>
        </p:blipFill>
        <p:spPr>
          <a:xfrm>
            <a:off x="3948136" y="5564326"/>
            <a:ext cx="365760" cy="365760"/>
          </a:xfrm>
          <a:prstGeom prst="rect">
            <a:avLst/>
          </a:prstGeom>
        </p:spPr>
      </p:pic>
      <p:pic>
        <p:nvPicPr>
          <p:cNvPr id="3" name="Picture 2" descr="University of Twente (UT) | Research University | The Netherlands">
            <a:extLst>
              <a:ext uri="{FF2B5EF4-FFF2-40B4-BE49-F238E27FC236}">
                <a16:creationId xmlns:a16="http://schemas.microsoft.com/office/drawing/2014/main" id="{55EA498E-5EAD-19FF-02EE-6A1B930628AC}"/>
              </a:ext>
            </a:extLst>
          </p:cNvPr>
          <p:cNvPicPr>
            <a:picLocks noChangeAspect="1"/>
          </p:cNvPicPr>
          <p:nvPr/>
        </p:nvPicPr>
        <p:blipFill>
          <a:blip r:embed="rId11"/>
          <a:srcRect l="9101" t="20081" r="9120" b="20083"/>
          <a:stretch>
            <a:fillRect/>
          </a:stretch>
        </p:blipFill>
        <p:spPr>
          <a:xfrm>
            <a:off x="10606435" y="6156328"/>
            <a:ext cx="1508635" cy="551919"/>
          </a:xfrm>
          <a:prstGeom prst="rect">
            <a:avLst/>
          </a:prstGeom>
        </p:spPr>
      </p:pic>
    </p:spTree>
    <p:extLst>
      <p:ext uri="{BB962C8B-B14F-4D97-AF65-F5344CB8AC3E}">
        <p14:creationId xmlns:p14="http://schemas.microsoft.com/office/powerpoint/2010/main" val="10633666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pic>
        <p:nvPicPr>
          <p:cNvPr id="495" name="Google Shape;495;p45" descr="Une image contenant ciel, plein air, nuage, agriculture&#10;&#10;Description générée automatiquement"/>
          <p:cNvPicPr preferRelativeResize="0"/>
          <p:nvPr/>
        </p:nvPicPr>
        <p:blipFill rotWithShape="1">
          <a:blip r:embed="rId3">
            <a:alphaModFix/>
          </a:blip>
          <a:srcRect l="5973" t="9105" b="15903"/>
          <a:stretch/>
        </p:blipFill>
        <p:spPr>
          <a:xfrm>
            <a:off x="719138" y="0"/>
            <a:ext cx="11472863" cy="6858000"/>
          </a:xfrm>
          <a:prstGeom prst="rect">
            <a:avLst/>
          </a:prstGeom>
          <a:noFill/>
          <a:ln>
            <a:noFill/>
          </a:ln>
        </p:spPr>
      </p:pic>
      <p:sp>
        <p:nvSpPr>
          <p:cNvPr id="496" name="Google Shape;496;p45"/>
          <p:cNvSpPr/>
          <p:nvPr/>
        </p:nvSpPr>
        <p:spPr>
          <a:xfrm>
            <a:off x="664273" y="0"/>
            <a:ext cx="11527727" cy="6858000"/>
          </a:xfrm>
          <a:prstGeom prst="rect">
            <a:avLst/>
          </a:prstGeom>
          <a:solidFill>
            <a:schemeClr val="lt1">
              <a:alpha val="93725"/>
            </a:schemeClr>
          </a:solidFill>
          <a:ln>
            <a:noFill/>
          </a:ln>
          <a:effectLst>
            <a:outerShdw blurRad="876300" dist="393700" dir="5400000" algn="t" rotWithShape="0">
              <a:srgbClr val="000000">
                <a:alpha val="784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a:solidFill>
                <a:srgbClr val="FF0000"/>
              </a:solidFill>
              <a:latin typeface="Calibri"/>
              <a:ea typeface="Calibri"/>
              <a:cs typeface="Calibri"/>
              <a:sym typeface="Calibri"/>
            </a:endParaRPr>
          </a:p>
        </p:txBody>
      </p:sp>
      <p:sp>
        <p:nvSpPr>
          <p:cNvPr id="497" name="Google Shape;497;p45"/>
          <p:cNvSpPr txBox="1"/>
          <p:nvPr/>
        </p:nvSpPr>
        <p:spPr>
          <a:xfrm rot="-5400000">
            <a:off x="-797364" y="5204656"/>
            <a:ext cx="2251455" cy="38856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dirty="0">
                <a:solidFill>
                  <a:schemeClr val="lt1"/>
                </a:solidFill>
                <a:latin typeface="Nunito Sans SemiBold"/>
                <a:ea typeface="Nunito Sans SemiBold"/>
                <a:cs typeface="Nunito Sans SemiBold"/>
                <a:sym typeface="Nunito Sans SemiBold"/>
              </a:rPr>
              <a:t>AGRICOOL</a:t>
            </a:r>
            <a:endParaRPr sz="1400" b="0" i="0" u="none" strike="noStrike" cap="none" dirty="0">
              <a:solidFill>
                <a:srgbClr val="000000"/>
              </a:solidFill>
              <a:latin typeface="Arial"/>
              <a:ea typeface="Arial"/>
              <a:cs typeface="Arial"/>
              <a:sym typeface="Arial"/>
            </a:endParaRPr>
          </a:p>
        </p:txBody>
      </p:sp>
      <p:grpSp>
        <p:nvGrpSpPr>
          <p:cNvPr id="498" name="Google Shape;498;p45"/>
          <p:cNvGrpSpPr/>
          <p:nvPr/>
        </p:nvGrpSpPr>
        <p:grpSpPr>
          <a:xfrm>
            <a:off x="211858" y="180932"/>
            <a:ext cx="310791" cy="304800"/>
            <a:chOff x="3848100" y="2292350"/>
            <a:chExt cx="310790" cy="304800"/>
          </a:xfrm>
        </p:grpSpPr>
        <p:sp>
          <p:nvSpPr>
            <p:cNvPr id="499" name="Google Shape;499;p45"/>
            <p:cNvSpPr/>
            <p:nvPr/>
          </p:nvSpPr>
          <p:spPr>
            <a:xfrm>
              <a:off x="3848100" y="2292350"/>
              <a:ext cx="114300" cy="1143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0" name="Google Shape;500;p45"/>
            <p:cNvSpPr/>
            <p:nvPr/>
          </p:nvSpPr>
          <p:spPr>
            <a:xfrm>
              <a:off x="4044590" y="2292350"/>
              <a:ext cx="114300" cy="1143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1" name="Google Shape;501;p45"/>
            <p:cNvSpPr/>
            <p:nvPr/>
          </p:nvSpPr>
          <p:spPr>
            <a:xfrm>
              <a:off x="3848100" y="2482850"/>
              <a:ext cx="114300" cy="1143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2" name="Google Shape;502;p45"/>
            <p:cNvSpPr/>
            <p:nvPr/>
          </p:nvSpPr>
          <p:spPr>
            <a:xfrm>
              <a:off x="4044590" y="2482850"/>
              <a:ext cx="114300" cy="1143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503" name="Google Shape;503;p45" descr="Une image contenant capture d’écran, Bleu électrique, Police, Bleu Majorelle&#10;&#10;Description générée automatiquement"/>
          <p:cNvPicPr preferRelativeResize="0"/>
          <p:nvPr/>
        </p:nvPicPr>
        <p:blipFill rotWithShape="1">
          <a:blip r:embed="rId4">
            <a:alphaModFix/>
          </a:blip>
          <a:srcRect/>
          <a:stretch/>
        </p:blipFill>
        <p:spPr>
          <a:xfrm>
            <a:off x="860763" y="6356352"/>
            <a:ext cx="1729633" cy="384363"/>
          </a:xfrm>
          <a:prstGeom prst="rect">
            <a:avLst/>
          </a:prstGeom>
          <a:noFill/>
          <a:ln>
            <a:noFill/>
          </a:ln>
        </p:spPr>
      </p:pic>
      <p:sp>
        <p:nvSpPr>
          <p:cNvPr id="504" name="Google Shape;504;p45"/>
          <p:cNvSpPr txBox="1">
            <a:spLocks noGrp="1"/>
          </p:cNvSpPr>
          <p:nvPr>
            <p:ph type="dt" idx="10"/>
          </p:nvPr>
        </p:nvSpPr>
        <p:spPr>
          <a:xfrm>
            <a:off x="8910320" y="6360403"/>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en-GB" dirty="0"/>
              <a:t>13 September 2026</a:t>
            </a:r>
            <a:endParaRPr dirty="0"/>
          </a:p>
        </p:txBody>
      </p:sp>
      <p:sp>
        <p:nvSpPr>
          <p:cNvPr id="505" name="Google Shape;505;p45"/>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200"/>
              <a:buNone/>
            </a:pPr>
            <a:fld id="{00000000-1234-1234-1234-123412341234}" type="slidenum">
              <a:rPr lang="en-GB"/>
              <a:t>2</a:t>
            </a:fld>
            <a:endParaRPr/>
          </a:p>
        </p:txBody>
      </p:sp>
      <p:pic>
        <p:nvPicPr>
          <p:cNvPr id="506" name="Google Shape;506;p45" descr="Une image contenant texte, Police, Graphique, capture d’écran&#10;&#10;Description générée automatiquement"/>
          <p:cNvPicPr preferRelativeResize="0"/>
          <p:nvPr/>
        </p:nvPicPr>
        <p:blipFill rotWithShape="1">
          <a:blip r:embed="rId5">
            <a:alphaModFix/>
          </a:blip>
          <a:srcRect/>
          <a:stretch/>
        </p:blipFill>
        <p:spPr>
          <a:xfrm>
            <a:off x="9040304" y="105564"/>
            <a:ext cx="2939837" cy="764359"/>
          </a:xfrm>
          <a:prstGeom prst="rect">
            <a:avLst/>
          </a:prstGeom>
          <a:noFill/>
          <a:ln>
            <a:noFill/>
          </a:ln>
        </p:spPr>
      </p:pic>
      <p:sp>
        <p:nvSpPr>
          <p:cNvPr id="508" name="Google Shape;508;p45"/>
          <p:cNvSpPr/>
          <p:nvPr/>
        </p:nvSpPr>
        <p:spPr>
          <a:xfrm>
            <a:off x="860763" y="1450954"/>
            <a:ext cx="11197158" cy="764359"/>
          </a:xfrm>
          <a:prstGeom prst="rect">
            <a:avLst/>
          </a:prstGeom>
          <a:noFill/>
          <a:ln>
            <a:noFill/>
          </a:ln>
        </p:spPr>
        <p:txBody>
          <a:bodyPr spcFirstLastPara="1" wrap="square" lIns="91425" tIns="45700" rIns="91425" bIns="45700" anchor="t" anchorCtr="0">
            <a:noAutofit/>
          </a:bodyPr>
          <a:lstStyle/>
          <a:p>
            <a:pPr marR="0" lvl="0" algn="just" rtl="0">
              <a:lnSpc>
                <a:spcPct val="150000"/>
              </a:lnSpc>
              <a:spcBef>
                <a:spcPts val="0"/>
              </a:spcBef>
              <a:spcAft>
                <a:spcPts val="600"/>
              </a:spcAft>
              <a:buClr>
                <a:srgbClr val="000000"/>
              </a:buClr>
              <a:buSzPts val="2400"/>
            </a:pPr>
            <a:r>
              <a:rPr lang="en-US" sz="2400" b="0" i="0" u="none" strike="noStrike" cap="none" dirty="0">
                <a:solidFill>
                  <a:srgbClr val="000000"/>
                </a:solidFill>
                <a:latin typeface="Arial"/>
                <a:ea typeface="Arial"/>
                <a:cs typeface="Arial"/>
                <a:sym typeface="Arial"/>
              </a:rPr>
              <a:t>By the end of this session, participants will be able to:</a:t>
            </a:r>
          </a:p>
        </p:txBody>
      </p:sp>
      <p:sp>
        <p:nvSpPr>
          <p:cNvPr id="3" name="Google Shape;266;p33">
            <a:extLst>
              <a:ext uri="{FF2B5EF4-FFF2-40B4-BE49-F238E27FC236}">
                <a16:creationId xmlns:a16="http://schemas.microsoft.com/office/drawing/2014/main" id="{58E1D275-CA42-3B05-139C-BDFEA620D2B0}"/>
              </a:ext>
            </a:extLst>
          </p:cNvPr>
          <p:cNvSpPr txBox="1"/>
          <p:nvPr/>
        </p:nvSpPr>
        <p:spPr>
          <a:xfrm>
            <a:off x="860763" y="428582"/>
            <a:ext cx="6823297" cy="769401"/>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None/>
            </a:pPr>
            <a:r>
              <a:rPr lang="en-GB" sz="4400" b="1" dirty="0">
                <a:solidFill>
                  <a:srgbClr val="30A4CF"/>
                </a:solidFill>
                <a:latin typeface="Nunito"/>
                <a:ea typeface="Nunito"/>
                <a:cs typeface="Nunito"/>
                <a:sym typeface="Nunito"/>
              </a:rPr>
              <a:t>What will you learn?</a:t>
            </a:r>
            <a:endParaRPr sz="4400" b="1" i="0" u="none" strike="noStrike" cap="none" dirty="0">
              <a:solidFill>
                <a:srgbClr val="30A4CF"/>
              </a:solidFill>
              <a:latin typeface="Nunito"/>
              <a:ea typeface="Nunito"/>
              <a:cs typeface="Nunito"/>
              <a:sym typeface="Nunito"/>
            </a:endParaRPr>
          </a:p>
        </p:txBody>
      </p:sp>
      <p:sp>
        <p:nvSpPr>
          <p:cNvPr id="4" name="Google Shape;508;p45">
            <a:extLst>
              <a:ext uri="{FF2B5EF4-FFF2-40B4-BE49-F238E27FC236}">
                <a16:creationId xmlns:a16="http://schemas.microsoft.com/office/drawing/2014/main" id="{F1F0D3CC-76D2-F13D-D56E-9316E6EE7D37}"/>
              </a:ext>
            </a:extLst>
          </p:cNvPr>
          <p:cNvSpPr/>
          <p:nvPr/>
        </p:nvSpPr>
        <p:spPr>
          <a:xfrm>
            <a:off x="856990" y="2320877"/>
            <a:ext cx="11197158" cy="677324"/>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50000"/>
              </a:lnSpc>
              <a:spcBef>
                <a:spcPts val="0"/>
              </a:spcBef>
              <a:spcAft>
                <a:spcPts val="600"/>
              </a:spcAft>
              <a:buClr>
                <a:srgbClr val="000000"/>
              </a:buClr>
              <a:buSzPts val="2400"/>
              <a:buFont typeface="Arial"/>
              <a:buChar char="•"/>
            </a:pPr>
            <a:r>
              <a:rPr lang="en-US" sz="2400" b="0" i="0" u="none" strike="noStrike" cap="none" dirty="0">
                <a:solidFill>
                  <a:srgbClr val="000000"/>
                </a:solidFill>
                <a:latin typeface="Arial"/>
                <a:ea typeface="Arial"/>
                <a:cs typeface="Arial"/>
                <a:sym typeface="Arial"/>
              </a:rPr>
              <a:t>Explain how dynamic system modelling supports off-grid cooling design. </a:t>
            </a:r>
          </a:p>
        </p:txBody>
      </p:sp>
      <p:sp>
        <p:nvSpPr>
          <p:cNvPr id="6" name="Google Shape;508;p45">
            <a:extLst>
              <a:ext uri="{FF2B5EF4-FFF2-40B4-BE49-F238E27FC236}">
                <a16:creationId xmlns:a16="http://schemas.microsoft.com/office/drawing/2014/main" id="{522C245D-3A84-8DAB-7169-F72FFE3C18E7}"/>
              </a:ext>
            </a:extLst>
          </p:cNvPr>
          <p:cNvSpPr/>
          <p:nvPr/>
        </p:nvSpPr>
        <p:spPr>
          <a:xfrm>
            <a:off x="856990" y="3013941"/>
            <a:ext cx="11197158" cy="677324"/>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50000"/>
              </a:lnSpc>
              <a:spcBef>
                <a:spcPts val="0"/>
              </a:spcBef>
              <a:spcAft>
                <a:spcPts val="600"/>
              </a:spcAft>
              <a:buClr>
                <a:srgbClr val="000000"/>
              </a:buClr>
              <a:buSzPts val="2400"/>
              <a:buFont typeface="Arial"/>
              <a:buChar char="•"/>
            </a:pPr>
            <a:r>
              <a:rPr lang="en-US" sz="2400" b="0" i="0" u="none" strike="noStrike" cap="none" dirty="0">
                <a:solidFill>
                  <a:srgbClr val="000000"/>
                </a:solidFill>
                <a:latin typeface="Arial"/>
                <a:ea typeface="Arial"/>
                <a:cs typeface="Arial"/>
                <a:sym typeface="Arial"/>
              </a:rPr>
              <a:t>Distinguish static worst-case sizing from dynamic performance assessment</a:t>
            </a:r>
          </a:p>
        </p:txBody>
      </p:sp>
      <p:sp>
        <p:nvSpPr>
          <p:cNvPr id="7" name="Google Shape;508;p45">
            <a:extLst>
              <a:ext uri="{FF2B5EF4-FFF2-40B4-BE49-F238E27FC236}">
                <a16:creationId xmlns:a16="http://schemas.microsoft.com/office/drawing/2014/main" id="{14CF9616-6930-AD71-BB1B-138C6FFA2CA3}"/>
              </a:ext>
            </a:extLst>
          </p:cNvPr>
          <p:cNvSpPr/>
          <p:nvPr/>
        </p:nvSpPr>
        <p:spPr>
          <a:xfrm>
            <a:off x="856990" y="3691265"/>
            <a:ext cx="11197158" cy="771570"/>
          </a:xfrm>
          <a:prstGeom prst="rect">
            <a:avLst/>
          </a:prstGeom>
          <a:noFill/>
          <a:ln>
            <a:noFill/>
          </a:ln>
        </p:spPr>
        <p:txBody>
          <a:bodyPr spcFirstLastPara="1" wrap="square" lIns="91425" tIns="45700" rIns="91425" bIns="45700" anchor="t" anchorCtr="0">
            <a:noAutofit/>
          </a:bodyPr>
          <a:lstStyle/>
          <a:p>
            <a:pPr marL="342900" marR="0" lvl="0" indent="-342900" rtl="0">
              <a:lnSpc>
                <a:spcPct val="150000"/>
              </a:lnSpc>
              <a:spcBef>
                <a:spcPts val="0"/>
              </a:spcBef>
              <a:spcAft>
                <a:spcPts val="600"/>
              </a:spcAft>
              <a:buClr>
                <a:srgbClr val="000000"/>
              </a:buClr>
              <a:buSzPts val="2400"/>
              <a:buFont typeface="Arial"/>
              <a:buChar char="•"/>
            </a:pPr>
            <a:r>
              <a:rPr lang="en-US" sz="2400" dirty="0"/>
              <a:t>Describe</a:t>
            </a:r>
            <a:r>
              <a:rPr lang="en-US" sz="2400" b="0" i="0" u="none" strike="noStrike" cap="none" dirty="0">
                <a:solidFill>
                  <a:srgbClr val="000000"/>
                </a:solidFill>
                <a:latin typeface="Arial"/>
                <a:ea typeface="Arial"/>
                <a:cs typeface="Arial"/>
                <a:sym typeface="Arial"/>
              </a:rPr>
              <a:t> how Modelica and reusable libraries model physical systems..</a:t>
            </a:r>
          </a:p>
        </p:txBody>
      </p:sp>
      <p:sp>
        <p:nvSpPr>
          <p:cNvPr id="8" name="Google Shape;508;p45">
            <a:extLst>
              <a:ext uri="{FF2B5EF4-FFF2-40B4-BE49-F238E27FC236}">
                <a16:creationId xmlns:a16="http://schemas.microsoft.com/office/drawing/2014/main" id="{796FCAE8-7C36-2F3B-BBED-D8F5FFE1D96D}"/>
              </a:ext>
            </a:extLst>
          </p:cNvPr>
          <p:cNvSpPr/>
          <p:nvPr/>
        </p:nvSpPr>
        <p:spPr>
          <a:xfrm>
            <a:off x="856990" y="4388792"/>
            <a:ext cx="11197158" cy="771571"/>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50000"/>
              </a:lnSpc>
              <a:spcBef>
                <a:spcPts val="0"/>
              </a:spcBef>
              <a:spcAft>
                <a:spcPts val="600"/>
              </a:spcAft>
              <a:buClr>
                <a:srgbClr val="000000"/>
              </a:buClr>
              <a:buSzPts val="2400"/>
              <a:buFont typeface="Arial"/>
              <a:buChar char="•"/>
            </a:pPr>
            <a:r>
              <a:rPr lang="en-US" sz="2400" dirty="0"/>
              <a:t>Interpret</a:t>
            </a:r>
            <a:r>
              <a:rPr lang="en-US" sz="2400" b="0" i="0" u="none" strike="noStrike" cap="none" dirty="0">
                <a:solidFill>
                  <a:srgbClr val="000000"/>
                </a:solidFill>
                <a:latin typeface="Arial"/>
                <a:ea typeface="Arial"/>
                <a:cs typeface="Arial"/>
                <a:sym typeface="Arial"/>
              </a:rPr>
              <a:t> simulation results to compare design and operating scenarios.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94">
          <a:extLst>
            <a:ext uri="{FF2B5EF4-FFF2-40B4-BE49-F238E27FC236}">
              <a16:creationId xmlns:a16="http://schemas.microsoft.com/office/drawing/2014/main" id="{F8C54029-B7C1-FCAE-DD6C-283B029FECF8}"/>
            </a:ext>
          </a:extLst>
        </p:cNvPr>
        <p:cNvGrpSpPr/>
        <p:nvPr/>
      </p:nvGrpSpPr>
      <p:grpSpPr>
        <a:xfrm>
          <a:off x="0" y="0"/>
          <a:ext cx="0" cy="0"/>
          <a:chOff x="0" y="0"/>
          <a:chExt cx="0" cy="0"/>
        </a:xfrm>
      </p:grpSpPr>
      <p:pic>
        <p:nvPicPr>
          <p:cNvPr id="495" name="Google Shape;495;p45" descr="Une image contenant ciel, plein air, nuage, agriculture&#10;&#10;Description générée automatiquement">
            <a:extLst>
              <a:ext uri="{FF2B5EF4-FFF2-40B4-BE49-F238E27FC236}">
                <a16:creationId xmlns:a16="http://schemas.microsoft.com/office/drawing/2014/main" id="{AA867E62-6D76-C457-1EC0-76595673AD29}"/>
              </a:ext>
            </a:extLst>
          </p:cNvPr>
          <p:cNvPicPr preferRelativeResize="0"/>
          <p:nvPr/>
        </p:nvPicPr>
        <p:blipFill rotWithShape="1">
          <a:blip r:embed="rId3">
            <a:alphaModFix/>
          </a:blip>
          <a:srcRect l="5973" t="9105" b="15903"/>
          <a:stretch/>
        </p:blipFill>
        <p:spPr>
          <a:xfrm>
            <a:off x="719138" y="0"/>
            <a:ext cx="11472863" cy="6858000"/>
          </a:xfrm>
          <a:prstGeom prst="rect">
            <a:avLst/>
          </a:prstGeom>
          <a:noFill/>
          <a:ln>
            <a:noFill/>
          </a:ln>
        </p:spPr>
      </p:pic>
      <p:sp>
        <p:nvSpPr>
          <p:cNvPr id="496" name="Google Shape;496;p45">
            <a:extLst>
              <a:ext uri="{FF2B5EF4-FFF2-40B4-BE49-F238E27FC236}">
                <a16:creationId xmlns:a16="http://schemas.microsoft.com/office/drawing/2014/main" id="{8E957D5D-BDC8-1A38-E0EE-09681E7D8B9E}"/>
              </a:ext>
            </a:extLst>
          </p:cNvPr>
          <p:cNvSpPr/>
          <p:nvPr/>
        </p:nvSpPr>
        <p:spPr>
          <a:xfrm>
            <a:off x="664273" y="0"/>
            <a:ext cx="11527727" cy="6858000"/>
          </a:xfrm>
          <a:prstGeom prst="rect">
            <a:avLst/>
          </a:prstGeom>
          <a:solidFill>
            <a:schemeClr val="lt1">
              <a:alpha val="93725"/>
            </a:schemeClr>
          </a:solidFill>
          <a:ln>
            <a:noFill/>
          </a:ln>
          <a:effectLst>
            <a:outerShdw blurRad="876300" dist="393700" dir="5400000" algn="t" rotWithShape="0">
              <a:srgbClr val="000000">
                <a:alpha val="784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a:solidFill>
                <a:srgbClr val="FF0000"/>
              </a:solidFill>
              <a:latin typeface="Calibri"/>
              <a:ea typeface="Calibri"/>
              <a:cs typeface="Calibri"/>
              <a:sym typeface="Calibri"/>
            </a:endParaRPr>
          </a:p>
        </p:txBody>
      </p:sp>
      <p:sp>
        <p:nvSpPr>
          <p:cNvPr id="497" name="Google Shape;497;p45">
            <a:extLst>
              <a:ext uri="{FF2B5EF4-FFF2-40B4-BE49-F238E27FC236}">
                <a16:creationId xmlns:a16="http://schemas.microsoft.com/office/drawing/2014/main" id="{AD22FD20-DAD2-C529-90C9-4939E3A77CC7}"/>
              </a:ext>
            </a:extLst>
          </p:cNvPr>
          <p:cNvSpPr txBox="1"/>
          <p:nvPr/>
        </p:nvSpPr>
        <p:spPr>
          <a:xfrm rot="-5400000">
            <a:off x="-797364" y="5204656"/>
            <a:ext cx="2251455" cy="38856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dirty="0">
                <a:solidFill>
                  <a:schemeClr val="lt1"/>
                </a:solidFill>
                <a:latin typeface="Nunito Sans SemiBold"/>
                <a:ea typeface="Nunito Sans SemiBold"/>
                <a:cs typeface="Nunito Sans SemiBold"/>
                <a:sym typeface="Nunito Sans SemiBold"/>
              </a:rPr>
              <a:t>AGRICOOL</a:t>
            </a:r>
            <a:endParaRPr sz="1400" b="0" i="0" u="none" strike="noStrike" cap="none" dirty="0">
              <a:solidFill>
                <a:srgbClr val="000000"/>
              </a:solidFill>
              <a:latin typeface="Arial"/>
              <a:ea typeface="Arial"/>
              <a:cs typeface="Arial"/>
              <a:sym typeface="Arial"/>
            </a:endParaRPr>
          </a:p>
        </p:txBody>
      </p:sp>
      <p:grpSp>
        <p:nvGrpSpPr>
          <p:cNvPr id="498" name="Google Shape;498;p45">
            <a:extLst>
              <a:ext uri="{FF2B5EF4-FFF2-40B4-BE49-F238E27FC236}">
                <a16:creationId xmlns:a16="http://schemas.microsoft.com/office/drawing/2014/main" id="{E7260AAA-6502-73CD-5AD7-F787180F7C45}"/>
              </a:ext>
            </a:extLst>
          </p:cNvPr>
          <p:cNvGrpSpPr/>
          <p:nvPr/>
        </p:nvGrpSpPr>
        <p:grpSpPr>
          <a:xfrm>
            <a:off x="211858" y="180932"/>
            <a:ext cx="310791" cy="304800"/>
            <a:chOff x="3848100" y="2292350"/>
            <a:chExt cx="310790" cy="304800"/>
          </a:xfrm>
        </p:grpSpPr>
        <p:sp>
          <p:nvSpPr>
            <p:cNvPr id="499" name="Google Shape;499;p45">
              <a:extLst>
                <a:ext uri="{FF2B5EF4-FFF2-40B4-BE49-F238E27FC236}">
                  <a16:creationId xmlns:a16="http://schemas.microsoft.com/office/drawing/2014/main" id="{8CDD2673-6061-06CF-61AE-1349D966B17C}"/>
                </a:ext>
              </a:extLst>
            </p:cNvPr>
            <p:cNvSpPr/>
            <p:nvPr/>
          </p:nvSpPr>
          <p:spPr>
            <a:xfrm>
              <a:off x="3848100" y="2292350"/>
              <a:ext cx="114300" cy="1143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0" name="Google Shape;500;p45">
              <a:extLst>
                <a:ext uri="{FF2B5EF4-FFF2-40B4-BE49-F238E27FC236}">
                  <a16:creationId xmlns:a16="http://schemas.microsoft.com/office/drawing/2014/main" id="{E47E15FA-6CB8-EAE3-A8E1-EAB18F2ACCCF}"/>
                </a:ext>
              </a:extLst>
            </p:cNvPr>
            <p:cNvSpPr/>
            <p:nvPr/>
          </p:nvSpPr>
          <p:spPr>
            <a:xfrm>
              <a:off x="4044590" y="2292350"/>
              <a:ext cx="114300" cy="1143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1" name="Google Shape;501;p45">
              <a:extLst>
                <a:ext uri="{FF2B5EF4-FFF2-40B4-BE49-F238E27FC236}">
                  <a16:creationId xmlns:a16="http://schemas.microsoft.com/office/drawing/2014/main" id="{5F776DAB-C521-3244-1A32-5BB4B89315B1}"/>
                </a:ext>
              </a:extLst>
            </p:cNvPr>
            <p:cNvSpPr/>
            <p:nvPr/>
          </p:nvSpPr>
          <p:spPr>
            <a:xfrm>
              <a:off x="3848100" y="2482850"/>
              <a:ext cx="114300" cy="1143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2" name="Google Shape;502;p45">
              <a:extLst>
                <a:ext uri="{FF2B5EF4-FFF2-40B4-BE49-F238E27FC236}">
                  <a16:creationId xmlns:a16="http://schemas.microsoft.com/office/drawing/2014/main" id="{A7A6C4BB-73F4-751A-5F35-B6D2DF87D5A9}"/>
                </a:ext>
              </a:extLst>
            </p:cNvPr>
            <p:cNvSpPr/>
            <p:nvPr/>
          </p:nvSpPr>
          <p:spPr>
            <a:xfrm>
              <a:off x="4044590" y="2482850"/>
              <a:ext cx="114300" cy="1143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503" name="Google Shape;503;p45" descr="Une image contenant capture d’écran, Bleu électrique, Police, Bleu Majorelle&#10;&#10;Description générée automatiquement">
            <a:extLst>
              <a:ext uri="{FF2B5EF4-FFF2-40B4-BE49-F238E27FC236}">
                <a16:creationId xmlns:a16="http://schemas.microsoft.com/office/drawing/2014/main" id="{CED7D597-A7D3-67A8-B4AD-C94EEA29199D}"/>
              </a:ext>
            </a:extLst>
          </p:cNvPr>
          <p:cNvPicPr preferRelativeResize="0"/>
          <p:nvPr/>
        </p:nvPicPr>
        <p:blipFill rotWithShape="1">
          <a:blip r:embed="rId4">
            <a:alphaModFix/>
          </a:blip>
          <a:srcRect/>
          <a:stretch/>
        </p:blipFill>
        <p:spPr>
          <a:xfrm>
            <a:off x="860763" y="6356352"/>
            <a:ext cx="1729633" cy="384363"/>
          </a:xfrm>
          <a:prstGeom prst="rect">
            <a:avLst/>
          </a:prstGeom>
          <a:noFill/>
          <a:ln>
            <a:noFill/>
          </a:ln>
        </p:spPr>
      </p:pic>
      <p:sp>
        <p:nvSpPr>
          <p:cNvPr id="504" name="Google Shape;504;p45">
            <a:extLst>
              <a:ext uri="{FF2B5EF4-FFF2-40B4-BE49-F238E27FC236}">
                <a16:creationId xmlns:a16="http://schemas.microsoft.com/office/drawing/2014/main" id="{C5730BC2-EC1A-876E-B92D-98F4123F0226}"/>
              </a:ext>
            </a:extLst>
          </p:cNvPr>
          <p:cNvSpPr txBox="1">
            <a:spLocks noGrp="1"/>
          </p:cNvSpPr>
          <p:nvPr>
            <p:ph type="dt" idx="10"/>
          </p:nvPr>
        </p:nvSpPr>
        <p:spPr>
          <a:xfrm>
            <a:off x="8910320" y="6360403"/>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en-GB" dirty="0"/>
              <a:t>13 September 2026</a:t>
            </a:r>
            <a:endParaRPr dirty="0"/>
          </a:p>
        </p:txBody>
      </p:sp>
      <p:sp>
        <p:nvSpPr>
          <p:cNvPr id="505" name="Google Shape;505;p45">
            <a:extLst>
              <a:ext uri="{FF2B5EF4-FFF2-40B4-BE49-F238E27FC236}">
                <a16:creationId xmlns:a16="http://schemas.microsoft.com/office/drawing/2014/main" id="{9259EF0B-6234-231C-5DDB-C79CE6D406DF}"/>
              </a:ext>
            </a:extLst>
          </p:cNvPr>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200"/>
              <a:buNone/>
            </a:pPr>
            <a:fld id="{00000000-1234-1234-1234-123412341234}" type="slidenum">
              <a:rPr lang="en-GB"/>
              <a:t>3</a:t>
            </a:fld>
            <a:endParaRPr/>
          </a:p>
        </p:txBody>
      </p:sp>
      <p:pic>
        <p:nvPicPr>
          <p:cNvPr id="506" name="Google Shape;506;p45" descr="Une image contenant texte, Police, Graphique, capture d’écran&#10;&#10;Description générée automatiquement">
            <a:extLst>
              <a:ext uri="{FF2B5EF4-FFF2-40B4-BE49-F238E27FC236}">
                <a16:creationId xmlns:a16="http://schemas.microsoft.com/office/drawing/2014/main" id="{1BED1CAA-9301-746E-A75E-F969C62B5B73}"/>
              </a:ext>
            </a:extLst>
          </p:cNvPr>
          <p:cNvPicPr preferRelativeResize="0"/>
          <p:nvPr/>
        </p:nvPicPr>
        <p:blipFill rotWithShape="1">
          <a:blip r:embed="rId5">
            <a:alphaModFix/>
          </a:blip>
          <a:srcRect/>
          <a:stretch/>
        </p:blipFill>
        <p:spPr>
          <a:xfrm>
            <a:off x="9040304" y="105564"/>
            <a:ext cx="2939837" cy="764359"/>
          </a:xfrm>
          <a:prstGeom prst="rect">
            <a:avLst/>
          </a:prstGeom>
          <a:noFill/>
          <a:ln>
            <a:noFill/>
          </a:ln>
        </p:spPr>
      </p:pic>
      <p:sp>
        <p:nvSpPr>
          <p:cNvPr id="3" name="Google Shape;266;p33">
            <a:extLst>
              <a:ext uri="{FF2B5EF4-FFF2-40B4-BE49-F238E27FC236}">
                <a16:creationId xmlns:a16="http://schemas.microsoft.com/office/drawing/2014/main" id="{A2AACBB7-9A8A-77F2-1B40-0DA11901D81D}"/>
              </a:ext>
            </a:extLst>
          </p:cNvPr>
          <p:cNvSpPr txBox="1"/>
          <p:nvPr/>
        </p:nvSpPr>
        <p:spPr>
          <a:xfrm>
            <a:off x="860763" y="428582"/>
            <a:ext cx="6823297" cy="769401"/>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None/>
            </a:pPr>
            <a:r>
              <a:rPr lang="en-GB" sz="4400" b="1" dirty="0">
                <a:solidFill>
                  <a:srgbClr val="30A4CF"/>
                </a:solidFill>
                <a:latin typeface="Nunito"/>
                <a:ea typeface="Nunito"/>
                <a:cs typeface="Nunito"/>
                <a:sym typeface="Nunito"/>
              </a:rPr>
              <a:t>AGRI-COOL System</a:t>
            </a:r>
            <a:endParaRPr sz="4400" b="1" i="0" u="none" strike="noStrike" cap="none" dirty="0">
              <a:solidFill>
                <a:srgbClr val="30A4CF"/>
              </a:solidFill>
              <a:latin typeface="Nunito"/>
              <a:ea typeface="Nunito"/>
              <a:cs typeface="Nunito"/>
              <a:sym typeface="Nunito"/>
            </a:endParaRPr>
          </a:p>
        </p:txBody>
      </p:sp>
      <p:pic>
        <p:nvPicPr>
          <p:cNvPr id="4" name="Picture 3">
            <a:extLst>
              <a:ext uri="{FF2B5EF4-FFF2-40B4-BE49-F238E27FC236}">
                <a16:creationId xmlns:a16="http://schemas.microsoft.com/office/drawing/2014/main" id="{1AB02AA4-1923-73AD-1896-0F7E7613EE93}"/>
              </a:ext>
            </a:extLst>
          </p:cNvPr>
          <p:cNvPicPr>
            <a:picLocks noChangeAspect="1"/>
          </p:cNvPicPr>
          <p:nvPr/>
        </p:nvPicPr>
        <p:blipFill>
          <a:blip r:embed="rId6"/>
          <a:stretch>
            <a:fillRect/>
          </a:stretch>
        </p:blipFill>
        <p:spPr>
          <a:xfrm>
            <a:off x="2282666" y="1342410"/>
            <a:ext cx="8345805" cy="4869514"/>
          </a:xfrm>
          <a:prstGeom prst="rect">
            <a:avLst/>
          </a:prstGeom>
        </p:spPr>
      </p:pic>
    </p:spTree>
    <p:extLst>
      <p:ext uri="{BB962C8B-B14F-4D97-AF65-F5344CB8AC3E}">
        <p14:creationId xmlns:p14="http://schemas.microsoft.com/office/powerpoint/2010/main" val="31501495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94">
          <a:extLst>
            <a:ext uri="{FF2B5EF4-FFF2-40B4-BE49-F238E27FC236}">
              <a16:creationId xmlns:a16="http://schemas.microsoft.com/office/drawing/2014/main" id="{1E37BED7-DE93-E1DA-0D24-CC8C0D900F64}"/>
            </a:ext>
          </a:extLst>
        </p:cNvPr>
        <p:cNvGrpSpPr/>
        <p:nvPr/>
      </p:nvGrpSpPr>
      <p:grpSpPr>
        <a:xfrm>
          <a:off x="0" y="0"/>
          <a:ext cx="0" cy="0"/>
          <a:chOff x="0" y="0"/>
          <a:chExt cx="0" cy="0"/>
        </a:xfrm>
      </p:grpSpPr>
      <p:pic>
        <p:nvPicPr>
          <p:cNvPr id="495" name="Google Shape;495;p45" descr="Une image contenant ciel, plein air, nuage, agriculture&#10;&#10;Description générée automatiquement">
            <a:extLst>
              <a:ext uri="{FF2B5EF4-FFF2-40B4-BE49-F238E27FC236}">
                <a16:creationId xmlns:a16="http://schemas.microsoft.com/office/drawing/2014/main" id="{F213C29B-68EE-4B84-A7D5-32B673562D22}"/>
              </a:ext>
            </a:extLst>
          </p:cNvPr>
          <p:cNvPicPr preferRelativeResize="0"/>
          <p:nvPr/>
        </p:nvPicPr>
        <p:blipFill rotWithShape="1">
          <a:blip r:embed="rId3">
            <a:alphaModFix/>
          </a:blip>
          <a:srcRect l="5973" t="9105" b="15903"/>
          <a:stretch/>
        </p:blipFill>
        <p:spPr>
          <a:xfrm>
            <a:off x="719138" y="0"/>
            <a:ext cx="11472863" cy="6858000"/>
          </a:xfrm>
          <a:prstGeom prst="rect">
            <a:avLst/>
          </a:prstGeom>
          <a:noFill/>
          <a:ln>
            <a:noFill/>
          </a:ln>
        </p:spPr>
      </p:pic>
      <p:sp>
        <p:nvSpPr>
          <p:cNvPr id="496" name="Google Shape;496;p45">
            <a:extLst>
              <a:ext uri="{FF2B5EF4-FFF2-40B4-BE49-F238E27FC236}">
                <a16:creationId xmlns:a16="http://schemas.microsoft.com/office/drawing/2014/main" id="{46CC6D82-0B9B-9DB0-9590-5CA3EFED4DA7}"/>
              </a:ext>
            </a:extLst>
          </p:cNvPr>
          <p:cNvSpPr/>
          <p:nvPr/>
        </p:nvSpPr>
        <p:spPr>
          <a:xfrm>
            <a:off x="664273" y="0"/>
            <a:ext cx="11527727" cy="6858000"/>
          </a:xfrm>
          <a:prstGeom prst="rect">
            <a:avLst/>
          </a:prstGeom>
          <a:solidFill>
            <a:schemeClr val="lt1">
              <a:alpha val="93725"/>
            </a:schemeClr>
          </a:solidFill>
          <a:ln>
            <a:noFill/>
          </a:ln>
          <a:effectLst>
            <a:outerShdw blurRad="876300" dist="393700" dir="5400000" algn="t" rotWithShape="0">
              <a:srgbClr val="000000">
                <a:alpha val="784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a:solidFill>
                <a:srgbClr val="FF0000"/>
              </a:solidFill>
              <a:latin typeface="Calibri"/>
              <a:ea typeface="Calibri"/>
              <a:cs typeface="Calibri"/>
              <a:sym typeface="Calibri"/>
            </a:endParaRPr>
          </a:p>
        </p:txBody>
      </p:sp>
      <p:sp>
        <p:nvSpPr>
          <p:cNvPr id="497" name="Google Shape;497;p45">
            <a:extLst>
              <a:ext uri="{FF2B5EF4-FFF2-40B4-BE49-F238E27FC236}">
                <a16:creationId xmlns:a16="http://schemas.microsoft.com/office/drawing/2014/main" id="{9C9D34D8-46CC-0FA6-F167-E93E43537C1A}"/>
              </a:ext>
            </a:extLst>
          </p:cNvPr>
          <p:cNvSpPr txBox="1"/>
          <p:nvPr/>
        </p:nvSpPr>
        <p:spPr>
          <a:xfrm rot="-5400000">
            <a:off x="-797364" y="5204656"/>
            <a:ext cx="2251455" cy="38856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dirty="0">
                <a:solidFill>
                  <a:schemeClr val="lt1"/>
                </a:solidFill>
                <a:latin typeface="Nunito Sans SemiBold"/>
                <a:ea typeface="Nunito Sans SemiBold"/>
                <a:cs typeface="Nunito Sans SemiBold"/>
                <a:sym typeface="Nunito Sans SemiBold"/>
              </a:rPr>
              <a:t>AGRICOOL</a:t>
            </a:r>
            <a:endParaRPr sz="1400" b="0" i="0" u="none" strike="noStrike" cap="none" dirty="0">
              <a:solidFill>
                <a:srgbClr val="000000"/>
              </a:solidFill>
              <a:latin typeface="Arial"/>
              <a:ea typeface="Arial"/>
              <a:cs typeface="Arial"/>
              <a:sym typeface="Arial"/>
            </a:endParaRPr>
          </a:p>
        </p:txBody>
      </p:sp>
      <p:grpSp>
        <p:nvGrpSpPr>
          <p:cNvPr id="498" name="Google Shape;498;p45">
            <a:extLst>
              <a:ext uri="{FF2B5EF4-FFF2-40B4-BE49-F238E27FC236}">
                <a16:creationId xmlns:a16="http://schemas.microsoft.com/office/drawing/2014/main" id="{97B49D5B-D137-24FD-8757-F913A345C33B}"/>
              </a:ext>
            </a:extLst>
          </p:cNvPr>
          <p:cNvGrpSpPr/>
          <p:nvPr/>
        </p:nvGrpSpPr>
        <p:grpSpPr>
          <a:xfrm>
            <a:off x="211858" y="180932"/>
            <a:ext cx="310791" cy="304800"/>
            <a:chOff x="3848100" y="2292350"/>
            <a:chExt cx="310790" cy="304800"/>
          </a:xfrm>
        </p:grpSpPr>
        <p:sp>
          <p:nvSpPr>
            <p:cNvPr id="499" name="Google Shape;499;p45">
              <a:extLst>
                <a:ext uri="{FF2B5EF4-FFF2-40B4-BE49-F238E27FC236}">
                  <a16:creationId xmlns:a16="http://schemas.microsoft.com/office/drawing/2014/main" id="{3098A98C-1B62-18F7-EF6E-97E5E364A686}"/>
                </a:ext>
              </a:extLst>
            </p:cNvPr>
            <p:cNvSpPr/>
            <p:nvPr/>
          </p:nvSpPr>
          <p:spPr>
            <a:xfrm>
              <a:off x="3848100" y="2292350"/>
              <a:ext cx="114300" cy="1143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0" name="Google Shape;500;p45">
              <a:extLst>
                <a:ext uri="{FF2B5EF4-FFF2-40B4-BE49-F238E27FC236}">
                  <a16:creationId xmlns:a16="http://schemas.microsoft.com/office/drawing/2014/main" id="{CB9D90D7-E852-E6F1-BF2E-B115DDC44565}"/>
                </a:ext>
              </a:extLst>
            </p:cNvPr>
            <p:cNvSpPr/>
            <p:nvPr/>
          </p:nvSpPr>
          <p:spPr>
            <a:xfrm>
              <a:off x="4044590" y="2292350"/>
              <a:ext cx="114300" cy="1143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1" name="Google Shape;501;p45">
              <a:extLst>
                <a:ext uri="{FF2B5EF4-FFF2-40B4-BE49-F238E27FC236}">
                  <a16:creationId xmlns:a16="http://schemas.microsoft.com/office/drawing/2014/main" id="{F8D065B4-7840-3D60-4CE7-5EA52268A022}"/>
                </a:ext>
              </a:extLst>
            </p:cNvPr>
            <p:cNvSpPr/>
            <p:nvPr/>
          </p:nvSpPr>
          <p:spPr>
            <a:xfrm>
              <a:off x="3848100" y="2482850"/>
              <a:ext cx="114300" cy="1143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2" name="Google Shape;502;p45">
              <a:extLst>
                <a:ext uri="{FF2B5EF4-FFF2-40B4-BE49-F238E27FC236}">
                  <a16:creationId xmlns:a16="http://schemas.microsoft.com/office/drawing/2014/main" id="{FA2FBC6E-D994-8440-247E-1CCC93ADE62B}"/>
                </a:ext>
              </a:extLst>
            </p:cNvPr>
            <p:cNvSpPr/>
            <p:nvPr/>
          </p:nvSpPr>
          <p:spPr>
            <a:xfrm>
              <a:off x="4044590" y="2482850"/>
              <a:ext cx="114300" cy="1143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503" name="Google Shape;503;p45" descr="Une image contenant capture d’écran, Bleu électrique, Police, Bleu Majorelle&#10;&#10;Description générée automatiquement">
            <a:extLst>
              <a:ext uri="{FF2B5EF4-FFF2-40B4-BE49-F238E27FC236}">
                <a16:creationId xmlns:a16="http://schemas.microsoft.com/office/drawing/2014/main" id="{73864799-CC56-08C4-B4F9-3242D4C62938}"/>
              </a:ext>
            </a:extLst>
          </p:cNvPr>
          <p:cNvPicPr preferRelativeResize="0"/>
          <p:nvPr/>
        </p:nvPicPr>
        <p:blipFill rotWithShape="1">
          <a:blip r:embed="rId4">
            <a:alphaModFix/>
          </a:blip>
          <a:srcRect/>
          <a:stretch/>
        </p:blipFill>
        <p:spPr>
          <a:xfrm>
            <a:off x="860763" y="6356352"/>
            <a:ext cx="1729633" cy="384363"/>
          </a:xfrm>
          <a:prstGeom prst="rect">
            <a:avLst/>
          </a:prstGeom>
          <a:noFill/>
          <a:ln>
            <a:noFill/>
          </a:ln>
        </p:spPr>
      </p:pic>
      <p:sp>
        <p:nvSpPr>
          <p:cNvPr id="504" name="Google Shape;504;p45">
            <a:extLst>
              <a:ext uri="{FF2B5EF4-FFF2-40B4-BE49-F238E27FC236}">
                <a16:creationId xmlns:a16="http://schemas.microsoft.com/office/drawing/2014/main" id="{409AC85D-5301-59A0-B5FB-5477A191EBE5}"/>
              </a:ext>
            </a:extLst>
          </p:cNvPr>
          <p:cNvSpPr txBox="1">
            <a:spLocks noGrp="1"/>
          </p:cNvSpPr>
          <p:nvPr>
            <p:ph type="dt" idx="10"/>
          </p:nvPr>
        </p:nvSpPr>
        <p:spPr>
          <a:xfrm>
            <a:off x="8910320" y="6360403"/>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en-GB" dirty="0"/>
              <a:t>13 September 2026</a:t>
            </a:r>
            <a:endParaRPr dirty="0"/>
          </a:p>
        </p:txBody>
      </p:sp>
      <p:sp>
        <p:nvSpPr>
          <p:cNvPr id="505" name="Google Shape;505;p45">
            <a:extLst>
              <a:ext uri="{FF2B5EF4-FFF2-40B4-BE49-F238E27FC236}">
                <a16:creationId xmlns:a16="http://schemas.microsoft.com/office/drawing/2014/main" id="{FB3815C9-A2DC-44F1-5E9C-D3D8ECC52B84}"/>
              </a:ext>
            </a:extLst>
          </p:cNvPr>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200"/>
              <a:buNone/>
            </a:pPr>
            <a:fld id="{00000000-1234-1234-1234-123412341234}" type="slidenum">
              <a:rPr lang="en-GB"/>
              <a:t>4</a:t>
            </a:fld>
            <a:endParaRPr/>
          </a:p>
        </p:txBody>
      </p:sp>
      <p:cxnSp>
        <p:nvCxnSpPr>
          <p:cNvPr id="2" name="Straight Arrow Connector 1">
            <a:extLst>
              <a:ext uri="{FF2B5EF4-FFF2-40B4-BE49-F238E27FC236}">
                <a16:creationId xmlns:a16="http://schemas.microsoft.com/office/drawing/2014/main" id="{4E928B28-969E-5FCD-DA6F-4BCC027F6889}"/>
              </a:ext>
            </a:extLst>
          </p:cNvPr>
          <p:cNvCxnSpPr>
            <a:stCxn id="21" idx="2"/>
            <a:endCxn id="24" idx="0"/>
          </p:cNvCxnSpPr>
          <p:nvPr/>
        </p:nvCxnSpPr>
        <p:spPr>
          <a:xfrm>
            <a:off x="6510020" y="4842316"/>
            <a:ext cx="0" cy="190500"/>
          </a:xfrm>
          <a:prstGeom prst="straightConnector1">
            <a:avLst/>
          </a:prstGeom>
          <a:ln w="19050">
            <a:solidFill>
              <a:srgbClr val="387E83"/>
            </a:solidFill>
            <a:tailEnd type="triangle" w="sm" len="sm"/>
          </a:ln>
        </p:spPr>
      </p:cxnSp>
      <p:cxnSp>
        <p:nvCxnSpPr>
          <p:cNvPr id="5" name="Straight Arrow Connector 4">
            <a:extLst>
              <a:ext uri="{FF2B5EF4-FFF2-40B4-BE49-F238E27FC236}">
                <a16:creationId xmlns:a16="http://schemas.microsoft.com/office/drawing/2014/main" id="{E401C31C-8979-DEE1-4CC4-3A545BFF212A}"/>
              </a:ext>
            </a:extLst>
          </p:cNvPr>
          <p:cNvCxnSpPr>
            <a:cxnSpLocks/>
            <a:stCxn id="15" idx="2"/>
          </p:cNvCxnSpPr>
          <p:nvPr/>
        </p:nvCxnSpPr>
        <p:spPr>
          <a:xfrm>
            <a:off x="6510020" y="3946966"/>
            <a:ext cx="0" cy="190500"/>
          </a:xfrm>
          <a:prstGeom prst="straightConnector1">
            <a:avLst/>
          </a:prstGeom>
          <a:ln w="19050">
            <a:solidFill>
              <a:srgbClr val="387E83"/>
            </a:solidFill>
            <a:tailEnd type="triangle" w="sm" len="sm"/>
          </a:ln>
        </p:spPr>
      </p:cxnSp>
      <p:cxnSp>
        <p:nvCxnSpPr>
          <p:cNvPr id="6" name="Straight Arrow Connector 5">
            <a:extLst>
              <a:ext uri="{FF2B5EF4-FFF2-40B4-BE49-F238E27FC236}">
                <a16:creationId xmlns:a16="http://schemas.microsoft.com/office/drawing/2014/main" id="{D8B10023-E53C-726F-9BFF-40B805B473B3}"/>
              </a:ext>
            </a:extLst>
          </p:cNvPr>
          <p:cNvCxnSpPr>
            <a:stCxn id="12" idx="2"/>
            <a:endCxn id="15" idx="0"/>
          </p:cNvCxnSpPr>
          <p:nvPr/>
        </p:nvCxnSpPr>
        <p:spPr>
          <a:xfrm>
            <a:off x="6510020" y="3051616"/>
            <a:ext cx="0" cy="190500"/>
          </a:xfrm>
          <a:prstGeom prst="straightConnector1">
            <a:avLst/>
          </a:prstGeom>
          <a:ln w="19050">
            <a:solidFill>
              <a:srgbClr val="387E83"/>
            </a:solidFill>
            <a:tailEnd type="triangle" w="sm" len="sm"/>
          </a:ln>
        </p:spPr>
      </p:cxnSp>
      <p:cxnSp>
        <p:nvCxnSpPr>
          <p:cNvPr id="7" name="Straight Arrow Connector 6">
            <a:extLst>
              <a:ext uri="{FF2B5EF4-FFF2-40B4-BE49-F238E27FC236}">
                <a16:creationId xmlns:a16="http://schemas.microsoft.com/office/drawing/2014/main" id="{54F727E6-80B4-EE7F-AC31-C58F321686B7}"/>
              </a:ext>
            </a:extLst>
          </p:cNvPr>
          <p:cNvCxnSpPr>
            <a:stCxn id="9" idx="2"/>
            <a:endCxn id="12" idx="0"/>
          </p:cNvCxnSpPr>
          <p:nvPr/>
        </p:nvCxnSpPr>
        <p:spPr>
          <a:xfrm>
            <a:off x="6510020" y="2156266"/>
            <a:ext cx="0" cy="190500"/>
          </a:xfrm>
          <a:prstGeom prst="straightConnector1">
            <a:avLst/>
          </a:prstGeom>
          <a:ln w="19050">
            <a:solidFill>
              <a:srgbClr val="387E83"/>
            </a:solidFill>
            <a:tailEnd type="triangle" w="sm" len="sm"/>
          </a:ln>
        </p:spPr>
      </p:cxnSp>
      <p:sp>
        <p:nvSpPr>
          <p:cNvPr id="8" name="Rectangle 7">
            <a:extLst>
              <a:ext uri="{FF2B5EF4-FFF2-40B4-BE49-F238E27FC236}">
                <a16:creationId xmlns:a16="http://schemas.microsoft.com/office/drawing/2014/main" id="{321856F2-D9F0-BCFD-5920-F73F635EFAFC}"/>
              </a:ext>
            </a:extLst>
          </p:cNvPr>
          <p:cNvSpPr>
            <a:spLocks noGrp="1"/>
          </p:cNvSpPr>
          <p:nvPr/>
        </p:nvSpPr>
        <p:spPr>
          <a:xfrm>
            <a:off x="762001" y="227181"/>
            <a:ext cx="11430000" cy="609600"/>
          </a:xfrm>
          <a:prstGeom prst="rect">
            <a:avLst/>
          </a:prstGeom>
          <a:noFill/>
          <a:ln w="0">
            <a:noFill/>
          </a:ln>
        </p:spPr>
        <p:txBody>
          <a:bodyPr lIns="0" tIns="0" rIns="0" bIns="0" anchor="ctr">
            <a:noAutofit/>
          </a:bodyPr>
          <a:lstStyle/>
          <a:p>
            <a:pPr algn="ctr">
              <a:defRPr sz="3000" b="1">
                <a:solidFill>
                  <a:srgbClr val="173E50"/>
                </a:solidFill>
                <a:latin typeface="DejaVu Sans"/>
                <a:ea typeface="DejaVu Sans"/>
                <a:cs typeface="DejaVu Sans"/>
              </a:defRPr>
            </a:pPr>
            <a:r>
              <a:rPr sz="3200" b="1" dirty="0">
                <a:solidFill>
                  <a:srgbClr val="5ECCEB"/>
                </a:solidFill>
                <a:latin typeface="Arial" panose="020B0604020202020204" pitchFamily="34" charset="0"/>
                <a:ea typeface="DejaVu Sans"/>
                <a:cs typeface="Arial" panose="020B0604020202020204" pitchFamily="34" charset="0"/>
              </a:rPr>
              <a:t>Worst-case design of an off-grid PV cold room</a:t>
            </a:r>
          </a:p>
        </p:txBody>
      </p:sp>
      <p:sp>
        <p:nvSpPr>
          <p:cNvPr id="9" name="Process 1">
            <a:extLst>
              <a:ext uri="{FF2B5EF4-FFF2-40B4-BE49-F238E27FC236}">
                <a16:creationId xmlns:a16="http://schemas.microsoft.com/office/drawing/2014/main" id="{2ACC5432-DB89-B389-B5DD-F5FA1D5056EC}"/>
              </a:ext>
            </a:extLst>
          </p:cNvPr>
          <p:cNvSpPr>
            <a:spLocks noGrp="1"/>
          </p:cNvSpPr>
          <p:nvPr/>
        </p:nvSpPr>
        <p:spPr>
          <a:xfrm>
            <a:off x="1366520" y="1451416"/>
            <a:ext cx="10287000" cy="704850"/>
          </a:xfrm>
          <a:prstGeom prst="rect">
            <a:avLst/>
          </a:prstGeom>
          <a:solidFill>
            <a:srgbClr val="F2F7F8"/>
          </a:solidFill>
          <a:ln w="14288">
            <a:solidFill>
              <a:srgbClr val="387E83"/>
            </a:solidFill>
          </a:ln>
        </p:spPr>
        <p:txBody>
          <a:bodyPr/>
          <a:lstStyle/>
          <a:p>
            <a:endParaRPr lang="en-US">
              <a:solidFill>
                <a:srgbClr val="002060"/>
              </a:solidFill>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A92F65F4-DFF8-6C57-D02F-532734CFF490}"/>
              </a:ext>
            </a:extLst>
          </p:cNvPr>
          <p:cNvSpPr>
            <a:spLocks noGrp="1"/>
          </p:cNvSpPr>
          <p:nvPr/>
        </p:nvSpPr>
        <p:spPr>
          <a:xfrm>
            <a:off x="1509395" y="1508566"/>
            <a:ext cx="10001250" cy="276225"/>
          </a:xfrm>
          <a:prstGeom prst="rect">
            <a:avLst/>
          </a:prstGeom>
          <a:noFill/>
          <a:ln w="0">
            <a:noFill/>
          </a:ln>
        </p:spPr>
        <p:txBody>
          <a:bodyPr lIns="0" tIns="0" rIns="0" bIns="0" anchor="ctr">
            <a:noAutofit/>
          </a:bodyPr>
          <a:lstStyle/>
          <a:p>
            <a:pPr algn="ctr">
              <a:defRPr sz="1950" b="1">
                <a:solidFill>
                  <a:srgbClr val="173E50"/>
                </a:solidFill>
                <a:latin typeface="DejaVu Sans"/>
                <a:ea typeface="DejaVu Sans"/>
                <a:cs typeface="DejaVu Sans"/>
              </a:defRPr>
            </a:pPr>
            <a:r>
              <a:rPr sz="1950" b="1">
                <a:solidFill>
                  <a:srgbClr val="002060"/>
                </a:solidFill>
                <a:latin typeface="Arial" panose="020B0604020202020204" pitchFamily="34" charset="0"/>
                <a:ea typeface="DejaVu Sans"/>
                <a:cs typeface="Arial" panose="020B0604020202020204" pitchFamily="34" charset="0"/>
              </a:rPr>
              <a:t>Define design conditions</a:t>
            </a:r>
          </a:p>
        </p:txBody>
      </p:sp>
      <p:sp>
        <p:nvSpPr>
          <p:cNvPr id="11" name="Rectangle 10">
            <a:extLst>
              <a:ext uri="{FF2B5EF4-FFF2-40B4-BE49-F238E27FC236}">
                <a16:creationId xmlns:a16="http://schemas.microsoft.com/office/drawing/2014/main" id="{5DF79D39-8429-7759-E11D-C3126F6AC5A7}"/>
              </a:ext>
            </a:extLst>
          </p:cNvPr>
          <p:cNvSpPr>
            <a:spLocks noGrp="1"/>
          </p:cNvSpPr>
          <p:nvPr/>
        </p:nvSpPr>
        <p:spPr>
          <a:xfrm>
            <a:off x="1509395" y="1822891"/>
            <a:ext cx="10001250" cy="266700"/>
          </a:xfrm>
          <a:prstGeom prst="rect">
            <a:avLst/>
          </a:prstGeom>
          <a:noFill/>
          <a:ln w="0">
            <a:noFill/>
          </a:ln>
        </p:spPr>
        <p:txBody>
          <a:bodyPr lIns="0" tIns="0" rIns="0" bIns="0" anchor="ctr">
            <a:noAutofit/>
          </a:bodyPr>
          <a:lstStyle/>
          <a:p>
            <a:pPr algn="ctr">
              <a:defRPr sz="1725" b="0">
                <a:solidFill>
                  <a:srgbClr val="395760"/>
                </a:solidFill>
                <a:latin typeface="DejaVu Sans"/>
                <a:ea typeface="DejaVu Sans"/>
                <a:cs typeface="DejaVu Sans"/>
              </a:defRPr>
            </a:pPr>
            <a:r>
              <a:rPr sz="1725" b="0">
                <a:solidFill>
                  <a:srgbClr val="002060"/>
                </a:solidFill>
                <a:latin typeface="Arial" panose="020B0604020202020204" pitchFamily="34" charset="0"/>
                <a:ea typeface="DejaVu Sans"/>
                <a:cs typeface="Arial" panose="020B0604020202020204" pitchFamily="34" charset="0"/>
              </a:rPr>
              <a:t>Room target, crop loading, hot ambient, low-sun period and autonomy</a:t>
            </a:r>
          </a:p>
        </p:txBody>
      </p:sp>
      <p:sp>
        <p:nvSpPr>
          <p:cNvPr id="12" name="Process 2">
            <a:extLst>
              <a:ext uri="{FF2B5EF4-FFF2-40B4-BE49-F238E27FC236}">
                <a16:creationId xmlns:a16="http://schemas.microsoft.com/office/drawing/2014/main" id="{E1CBB39D-5C6C-4C3E-6CCB-608D652D9D9D}"/>
              </a:ext>
            </a:extLst>
          </p:cNvPr>
          <p:cNvSpPr>
            <a:spLocks noGrp="1"/>
          </p:cNvSpPr>
          <p:nvPr/>
        </p:nvSpPr>
        <p:spPr>
          <a:xfrm>
            <a:off x="1366520" y="2346766"/>
            <a:ext cx="10287000" cy="704850"/>
          </a:xfrm>
          <a:prstGeom prst="rect">
            <a:avLst/>
          </a:prstGeom>
          <a:solidFill>
            <a:srgbClr val="F2F7F8"/>
          </a:solidFill>
          <a:ln w="14288">
            <a:solidFill>
              <a:srgbClr val="387E83"/>
            </a:solidFill>
          </a:ln>
        </p:spPr>
        <p:txBody>
          <a:bodyPr/>
          <a:lstStyle/>
          <a:p>
            <a:endParaRPr lang="en-US">
              <a:solidFill>
                <a:srgbClr val="002060"/>
              </a:solidFill>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BBEC52BD-2B58-1742-943C-BB1F9B03801E}"/>
              </a:ext>
            </a:extLst>
          </p:cNvPr>
          <p:cNvSpPr>
            <a:spLocks noGrp="1"/>
          </p:cNvSpPr>
          <p:nvPr/>
        </p:nvSpPr>
        <p:spPr>
          <a:xfrm>
            <a:off x="1509395" y="2403916"/>
            <a:ext cx="10001250" cy="276225"/>
          </a:xfrm>
          <a:prstGeom prst="rect">
            <a:avLst/>
          </a:prstGeom>
          <a:noFill/>
          <a:ln w="0">
            <a:noFill/>
          </a:ln>
        </p:spPr>
        <p:txBody>
          <a:bodyPr lIns="0" tIns="0" rIns="0" bIns="0" anchor="ctr">
            <a:noAutofit/>
          </a:bodyPr>
          <a:lstStyle/>
          <a:p>
            <a:pPr algn="ctr">
              <a:defRPr sz="1950" b="1">
                <a:solidFill>
                  <a:srgbClr val="173E50"/>
                </a:solidFill>
                <a:latin typeface="DejaVu Sans"/>
                <a:ea typeface="DejaVu Sans"/>
                <a:cs typeface="DejaVu Sans"/>
              </a:defRPr>
            </a:pPr>
            <a:r>
              <a:rPr sz="1950" b="1">
                <a:solidFill>
                  <a:srgbClr val="002060"/>
                </a:solidFill>
                <a:latin typeface="Arial" panose="020B0604020202020204" pitchFamily="34" charset="0"/>
                <a:ea typeface="DejaVu Sans"/>
                <a:cs typeface="Arial" panose="020B0604020202020204" pitchFamily="34" charset="0"/>
              </a:rPr>
              <a:t>Calculate cooling loads</a:t>
            </a:r>
          </a:p>
        </p:txBody>
      </p:sp>
      <p:sp>
        <p:nvSpPr>
          <p:cNvPr id="14" name="Rectangle 13">
            <a:extLst>
              <a:ext uri="{FF2B5EF4-FFF2-40B4-BE49-F238E27FC236}">
                <a16:creationId xmlns:a16="http://schemas.microsoft.com/office/drawing/2014/main" id="{5E5B3A83-68D4-BE3D-AB84-458767845F0F}"/>
              </a:ext>
            </a:extLst>
          </p:cNvPr>
          <p:cNvSpPr>
            <a:spLocks noGrp="1"/>
          </p:cNvSpPr>
          <p:nvPr/>
        </p:nvSpPr>
        <p:spPr>
          <a:xfrm>
            <a:off x="1509395" y="2718241"/>
            <a:ext cx="10001250" cy="266700"/>
          </a:xfrm>
          <a:prstGeom prst="rect">
            <a:avLst/>
          </a:prstGeom>
          <a:noFill/>
          <a:ln w="0">
            <a:noFill/>
          </a:ln>
        </p:spPr>
        <p:txBody>
          <a:bodyPr lIns="0" tIns="0" rIns="0" bIns="0" anchor="ctr">
            <a:noAutofit/>
          </a:bodyPr>
          <a:lstStyle/>
          <a:p>
            <a:pPr algn="ctr">
              <a:defRPr sz="1725" b="0">
                <a:solidFill>
                  <a:srgbClr val="395760"/>
                </a:solidFill>
                <a:latin typeface="DejaVu Sans"/>
                <a:ea typeface="DejaVu Sans"/>
                <a:cs typeface="DejaVu Sans"/>
              </a:defRPr>
            </a:pPr>
            <a:r>
              <a:rPr sz="1725" b="0">
                <a:solidFill>
                  <a:srgbClr val="002060"/>
                </a:solidFill>
                <a:latin typeface="Arial" panose="020B0604020202020204" pitchFamily="34" charset="0"/>
                <a:ea typeface="DejaVu Sans"/>
                <a:cs typeface="Arial" panose="020B0604020202020204" pitchFamily="34" charset="0"/>
              </a:rPr>
              <a:t>Envelope + crops + infiltration + internal gains: peak kW and daily kWh</a:t>
            </a:r>
          </a:p>
        </p:txBody>
      </p:sp>
      <p:sp>
        <p:nvSpPr>
          <p:cNvPr id="15" name="Process 3">
            <a:extLst>
              <a:ext uri="{FF2B5EF4-FFF2-40B4-BE49-F238E27FC236}">
                <a16:creationId xmlns:a16="http://schemas.microsoft.com/office/drawing/2014/main" id="{22BE3647-4D38-6005-A717-E60ACDCF63A1}"/>
              </a:ext>
            </a:extLst>
          </p:cNvPr>
          <p:cNvSpPr>
            <a:spLocks noGrp="1"/>
          </p:cNvSpPr>
          <p:nvPr/>
        </p:nvSpPr>
        <p:spPr>
          <a:xfrm>
            <a:off x="1366520" y="3242116"/>
            <a:ext cx="10287000" cy="704850"/>
          </a:xfrm>
          <a:prstGeom prst="rect">
            <a:avLst/>
          </a:prstGeom>
          <a:solidFill>
            <a:srgbClr val="F2F7F8"/>
          </a:solidFill>
          <a:ln w="14288">
            <a:solidFill>
              <a:srgbClr val="387E83"/>
            </a:solidFill>
          </a:ln>
        </p:spPr>
        <p:txBody>
          <a:bodyPr/>
          <a:lstStyle/>
          <a:p>
            <a:endParaRPr lang="en-US">
              <a:solidFill>
                <a:srgbClr val="002060"/>
              </a:solidFill>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A082D245-CB59-94D6-69FC-C6885E4C33E3}"/>
              </a:ext>
            </a:extLst>
          </p:cNvPr>
          <p:cNvSpPr>
            <a:spLocks noGrp="1"/>
          </p:cNvSpPr>
          <p:nvPr/>
        </p:nvSpPr>
        <p:spPr>
          <a:xfrm>
            <a:off x="1509395" y="3299266"/>
            <a:ext cx="10001250" cy="276225"/>
          </a:xfrm>
          <a:prstGeom prst="rect">
            <a:avLst/>
          </a:prstGeom>
          <a:noFill/>
          <a:ln w="0">
            <a:noFill/>
          </a:ln>
        </p:spPr>
        <p:txBody>
          <a:bodyPr lIns="0" tIns="0" rIns="0" bIns="0" anchor="ctr">
            <a:noAutofit/>
          </a:bodyPr>
          <a:lstStyle/>
          <a:p>
            <a:pPr algn="ctr">
              <a:defRPr sz="1950" b="1">
                <a:solidFill>
                  <a:srgbClr val="173E50"/>
                </a:solidFill>
                <a:latin typeface="DejaVu Sans"/>
                <a:ea typeface="DejaVu Sans"/>
                <a:cs typeface="DejaVu Sans"/>
              </a:defRPr>
            </a:pPr>
            <a:r>
              <a:rPr sz="1950" b="1">
                <a:solidFill>
                  <a:srgbClr val="002060"/>
                </a:solidFill>
                <a:latin typeface="Arial" panose="020B0604020202020204" pitchFamily="34" charset="0"/>
                <a:ea typeface="DejaVu Sans"/>
                <a:cs typeface="Arial" panose="020B0604020202020204" pitchFamily="34" charset="0"/>
              </a:rPr>
              <a:t>Size cooling and thermal storage</a:t>
            </a:r>
          </a:p>
        </p:txBody>
      </p:sp>
      <p:sp>
        <p:nvSpPr>
          <p:cNvPr id="17" name="Rectangle 16">
            <a:extLst>
              <a:ext uri="{FF2B5EF4-FFF2-40B4-BE49-F238E27FC236}">
                <a16:creationId xmlns:a16="http://schemas.microsoft.com/office/drawing/2014/main" id="{0FA1A65A-5381-695F-6FAC-E45BFAB08B15}"/>
              </a:ext>
            </a:extLst>
          </p:cNvPr>
          <p:cNvSpPr>
            <a:spLocks noGrp="1"/>
          </p:cNvSpPr>
          <p:nvPr/>
        </p:nvSpPr>
        <p:spPr>
          <a:xfrm>
            <a:off x="1509395" y="3613591"/>
            <a:ext cx="10001250" cy="266700"/>
          </a:xfrm>
          <a:prstGeom prst="rect">
            <a:avLst/>
          </a:prstGeom>
          <a:noFill/>
          <a:ln w="0">
            <a:noFill/>
          </a:ln>
        </p:spPr>
        <p:txBody>
          <a:bodyPr lIns="0" tIns="0" rIns="0" bIns="0" anchor="ctr">
            <a:noAutofit/>
          </a:bodyPr>
          <a:lstStyle/>
          <a:p>
            <a:pPr algn="ctr">
              <a:defRPr sz="1725" b="0">
                <a:solidFill>
                  <a:srgbClr val="395760"/>
                </a:solidFill>
                <a:latin typeface="DejaVu Sans"/>
                <a:ea typeface="DejaVu Sans"/>
                <a:cs typeface="DejaVu Sans"/>
              </a:defRPr>
            </a:pPr>
            <a:r>
              <a:rPr sz="1725" b="0">
                <a:solidFill>
                  <a:srgbClr val="002060"/>
                </a:solidFill>
                <a:latin typeface="Arial" panose="020B0604020202020204" pitchFamily="34" charset="0"/>
                <a:ea typeface="DejaVu Sans"/>
                <a:cs typeface="Arial" panose="020B0604020202020204" pitchFamily="34" charset="0"/>
              </a:rPr>
              <a:t>Air cooler, chiller and ice storage, including storage recharge</a:t>
            </a:r>
          </a:p>
        </p:txBody>
      </p:sp>
      <p:sp>
        <p:nvSpPr>
          <p:cNvPr id="21" name="Process 5">
            <a:extLst>
              <a:ext uri="{FF2B5EF4-FFF2-40B4-BE49-F238E27FC236}">
                <a16:creationId xmlns:a16="http://schemas.microsoft.com/office/drawing/2014/main" id="{3005BF42-BC75-0957-3099-B8FD75F3E2EC}"/>
              </a:ext>
            </a:extLst>
          </p:cNvPr>
          <p:cNvSpPr>
            <a:spLocks noGrp="1"/>
          </p:cNvSpPr>
          <p:nvPr/>
        </p:nvSpPr>
        <p:spPr>
          <a:xfrm>
            <a:off x="1366520" y="4137466"/>
            <a:ext cx="10287000" cy="704850"/>
          </a:xfrm>
          <a:prstGeom prst="rect">
            <a:avLst/>
          </a:prstGeom>
          <a:solidFill>
            <a:srgbClr val="F2F7F8"/>
          </a:solidFill>
          <a:ln w="14288">
            <a:solidFill>
              <a:srgbClr val="387E83"/>
            </a:solidFill>
          </a:ln>
        </p:spPr>
        <p:txBody>
          <a:bodyPr/>
          <a:lstStyle/>
          <a:p>
            <a:endParaRPr lang="en-US">
              <a:solidFill>
                <a:srgbClr val="002060"/>
              </a:solidFill>
              <a:latin typeface="Arial" panose="020B0604020202020204" pitchFamily="34" charset="0"/>
              <a:cs typeface="Arial" panose="020B0604020202020204" pitchFamily="34" charset="0"/>
            </a:endParaRPr>
          </a:p>
        </p:txBody>
      </p:sp>
      <p:sp>
        <p:nvSpPr>
          <p:cNvPr id="22" name="Rectangle 21">
            <a:extLst>
              <a:ext uri="{FF2B5EF4-FFF2-40B4-BE49-F238E27FC236}">
                <a16:creationId xmlns:a16="http://schemas.microsoft.com/office/drawing/2014/main" id="{7C721307-04E7-3356-8F28-92F54C58469E}"/>
              </a:ext>
            </a:extLst>
          </p:cNvPr>
          <p:cNvSpPr>
            <a:spLocks noGrp="1"/>
          </p:cNvSpPr>
          <p:nvPr/>
        </p:nvSpPr>
        <p:spPr>
          <a:xfrm>
            <a:off x="1509395" y="4194616"/>
            <a:ext cx="10001250" cy="276225"/>
          </a:xfrm>
          <a:prstGeom prst="rect">
            <a:avLst/>
          </a:prstGeom>
          <a:noFill/>
          <a:ln w="0">
            <a:noFill/>
          </a:ln>
        </p:spPr>
        <p:txBody>
          <a:bodyPr lIns="0" tIns="0" rIns="0" bIns="0" anchor="ctr">
            <a:noAutofit/>
          </a:bodyPr>
          <a:lstStyle/>
          <a:p>
            <a:pPr algn="ctr">
              <a:defRPr sz="1950" b="1">
                <a:solidFill>
                  <a:srgbClr val="173E50"/>
                </a:solidFill>
                <a:latin typeface="DejaVu Sans"/>
                <a:ea typeface="DejaVu Sans"/>
                <a:cs typeface="DejaVu Sans"/>
              </a:defRPr>
            </a:pPr>
            <a:r>
              <a:rPr sz="1950" b="1">
                <a:solidFill>
                  <a:srgbClr val="002060"/>
                </a:solidFill>
                <a:latin typeface="Arial" panose="020B0604020202020204" pitchFamily="34" charset="0"/>
                <a:ea typeface="DejaVu Sans"/>
                <a:cs typeface="Arial" panose="020B0604020202020204" pitchFamily="34" charset="0"/>
              </a:rPr>
              <a:t>Size the electrical system</a:t>
            </a:r>
          </a:p>
        </p:txBody>
      </p:sp>
      <p:sp>
        <p:nvSpPr>
          <p:cNvPr id="23" name="Rectangle 22">
            <a:extLst>
              <a:ext uri="{FF2B5EF4-FFF2-40B4-BE49-F238E27FC236}">
                <a16:creationId xmlns:a16="http://schemas.microsoft.com/office/drawing/2014/main" id="{0DDB978B-4FC1-473F-B75B-4016F9A9746F}"/>
              </a:ext>
            </a:extLst>
          </p:cNvPr>
          <p:cNvSpPr>
            <a:spLocks noGrp="1"/>
          </p:cNvSpPr>
          <p:nvPr/>
        </p:nvSpPr>
        <p:spPr>
          <a:xfrm>
            <a:off x="1509395" y="4508941"/>
            <a:ext cx="10001250" cy="266700"/>
          </a:xfrm>
          <a:prstGeom prst="rect">
            <a:avLst/>
          </a:prstGeom>
          <a:noFill/>
          <a:ln w="0">
            <a:noFill/>
          </a:ln>
        </p:spPr>
        <p:txBody>
          <a:bodyPr lIns="0" tIns="0" rIns="0" bIns="0" anchor="ctr">
            <a:noAutofit/>
          </a:bodyPr>
          <a:lstStyle/>
          <a:p>
            <a:pPr algn="ctr">
              <a:defRPr sz="1725" b="0">
                <a:solidFill>
                  <a:srgbClr val="395760"/>
                </a:solidFill>
                <a:latin typeface="DejaVu Sans"/>
                <a:ea typeface="DejaVu Sans"/>
                <a:cs typeface="DejaVu Sans"/>
              </a:defRPr>
            </a:pPr>
            <a:r>
              <a:rPr sz="1725" b="0">
                <a:solidFill>
                  <a:srgbClr val="002060"/>
                </a:solidFill>
                <a:latin typeface="Arial" panose="020B0604020202020204" pitchFamily="34" charset="0"/>
                <a:ea typeface="DejaVu Sans"/>
                <a:cs typeface="Arial" panose="020B0604020202020204" pitchFamily="34" charset="0"/>
              </a:rPr>
              <a:t>PV and inverter for power and energy needs, battery for autonomy</a:t>
            </a:r>
          </a:p>
        </p:txBody>
      </p:sp>
      <p:sp>
        <p:nvSpPr>
          <p:cNvPr id="24" name="Process 6">
            <a:extLst>
              <a:ext uri="{FF2B5EF4-FFF2-40B4-BE49-F238E27FC236}">
                <a16:creationId xmlns:a16="http://schemas.microsoft.com/office/drawing/2014/main" id="{EF8A2C42-F385-9340-D351-63AC5B3739A5}"/>
              </a:ext>
            </a:extLst>
          </p:cNvPr>
          <p:cNvSpPr>
            <a:spLocks noGrp="1"/>
          </p:cNvSpPr>
          <p:nvPr/>
        </p:nvSpPr>
        <p:spPr>
          <a:xfrm>
            <a:off x="1366520" y="5032816"/>
            <a:ext cx="10287000" cy="704850"/>
          </a:xfrm>
          <a:prstGeom prst="rect">
            <a:avLst/>
          </a:prstGeom>
          <a:solidFill>
            <a:srgbClr val="DCEFEB"/>
          </a:solidFill>
          <a:ln w="14288">
            <a:solidFill>
              <a:srgbClr val="387E83"/>
            </a:solidFill>
          </a:ln>
        </p:spPr>
        <p:txBody>
          <a:bodyPr/>
          <a:lstStyle/>
          <a:p>
            <a:endParaRPr lang="en-US">
              <a:solidFill>
                <a:srgbClr val="002060"/>
              </a:solidFill>
              <a:latin typeface="Arial" panose="020B0604020202020204" pitchFamily="34" charset="0"/>
              <a:cs typeface="Arial" panose="020B0604020202020204" pitchFamily="34" charset="0"/>
            </a:endParaRPr>
          </a:p>
        </p:txBody>
      </p:sp>
      <p:sp>
        <p:nvSpPr>
          <p:cNvPr id="25" name="Rectangle 24">
            <a:extLst>
              <a:ext uri="{FF2B5EF4-FFF2-40B4-BE49-F238E27FC236}">
                <a16:creationId xmlns:a16="http://schemas.microsoft.com/office/drawing/2014/main" id="{2006D2D1-EF67-8B13-6A34-3B992D3B85A7}"/>
              </a:ext>
            </a:extLst>
          </p:cNvPr>
          <p:cNvSpPr>
            <a:spLocks noGrp="1"/>
          </p:cNvSpPr>
          <p:nvPr/>
        </p:nvSpPr>
        <p:spPr>
          <a:xfrm>
            <a:off x="1509395" y="5089966"/>
            <a:ext cx="10001250" cy="276225"/>
          </a:xfrm>
          <a:prstGeom prst="rect">
            <a:avLst/>
          </a:prstGeom>
          <a:noFill/>
          <a:ln w="0">
            <a:noFill/>
          </a:ln>
        </p:spPr>
        <p:txBody>
          <a:bodyPr lIns="0" tIns="0" rIns="0" bIns="0" anchor="ctr">
            <a:noAutofit/>
          </a:bodyPr>
          <a:lstStyle/>
          <a:p>
            <a:pPr algn="ctr">
              <a:defRPr sz="1950" b="1">
                <a:solidFill>
                  <a:srgbClr val="173E50"/>
                </a:solidFill>
                <a:latin typeface="DejaVu Sans"/>
                <a:ea typeface="DejaVu Sans"/>
                <a:cs typeface="DejaVu Sans"/>
              </a:defRPr>
            </a:pPr>
            <a:r>
              <a:rPr sz="1950" b="1" dirty="0">
                <a:solidFill>
                  <a:srgbClr val="002060"/>
                </a:solidFill>
                <a:latin typeface="Arial" panose="020B0604020202020204" pitchFamily="34" charset="0"/>
                <a:ea typeface="DejaVu Sans"/>
                <a:cs typeface="Arial" panose="020B0604020202020204" pitchFamily="34" charset="0"/>
              </a:rPr>
              <a:t>Check the complete design</a:t>
            </a:r>
          </a:p>
        </p:txBody>
      </p:sp>
      <p:sp>
        <p:nvSpPr>
          <p:cNvPr id="26" name="Rectangle 25">
            <a:extLst>
              <a:ext uri="{FF2B5EF4-FFF2-40B4-BE49-F238E27FC236}">
                <a16:creationId xmlns:a16="http://schemas.microsoft.com/office/drawing/2014/main" id="{59AA560A-5437-4ADF-7E35-C2662D81A371}"/>
              </a:ext>
            </a:extLst>
          </p:cNvPr>
          <p:cNvSpPr>
            <a:spLocks noGrp="1"/>
          </p:cNvSpPr>
          <p:nvPr/>
        </p:nvSpPr>
        <p:spPr>
          <a:xfrm>
            <a:off x="1509395" y="5404291"/>
            <a:ext cx="10001250" cy="266700"/>
          </a:xfrm>
          <a:prstGeom prst="rect">
            <a:avLst/>
          </a:prstGeom>
          <a:noFill/>
          <a:ln w="0">
            <a:noFill/>
          </a:ln>
        </p:spPr>
        <p:txBody>
          <a:bodyPr lIns="0" tIns="0" rIns="0" bIns="0" anchor="ctr">
            <a:noAutofit/>
          </a:bodyPr>
          <a:lstStyle/>
          <a:p>
            <a:pPr algn="ctr">
              <a:defRPr sz="1725" b="0">
                <a:solidFill>
                  <a:srgbClr val="395760"/>
                </a:solidFill>
                <a:latin typeface="DejaVu Sans"/>
                <a:ea typeface="DejaVu Sans"/>
                <a:cs typeface="DejaVu Sans"/>
              </a:defRPr>
            </a:pPr>
            <a:r>
              <a:rPr sz="1725" b="0" dirty="0">
                <a:solidFill>
                  <a:srgbClr val="002060"/>
                </a:solidFill>
                <a:latin typeface="Arial" panose="020B0604020202020204" pitchFamily="34" charset="0"/>
                <a:ea typeface="DejaVu Sans"/>
                <a:cs typeface="Arial" panose="020B0604020202020204" pitchFamily="34" charset="0"/>
              </a:rPr>
              <a:t>Cooling capacity, daily energy and autonomy, then revise if needed</a:t>
            </a:r>
          </a:p>
        </p:txBody>
      </p:sp>
    </p:spTree>
    <p:extLst>
      <p:ext uri="{BB962C8B-B14F-4D97-AF65-F5344CB8AC3E}">
        <p14:creationId xmlns:p14="http://schemas.microsoft.com/office/powerpoint/2010/main" val="1792816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1" grpId="0"/>
      <p:bldP spid="12" grpId="0" animBg="1"/>
      <p:bldP spid="13" grpId="0"/>
      <p:bldP spid="14" grpId="0"/>
      <p:bldP spid="15" grpId="0" animBg="1"/>
      <p:bldP spid="16" grpId="0"/>
      <p:bldP spid="17" grpId="0"/>
      <p:bldP spid="21" grpId="0" animBg="1"/>
      <p:bldP spid="22" grpId="0"/>
      <p:bldP spid="23" grpId="0"/>
      <p:bldP spid="24" grpId="0" animBg="1"/>
      <p:bldP spid="25" grpId="0"/>
      <p:bldP spid="2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94">
          <a:extLst>
            <a:ext uri="{FF2B5EF4-FFF2-40B4-BE49-F238E27FC236}">
              <a16:creationId xmlns:a16="http://schemas.microsoft.com/office/drawing/2014/main" id="{7ACEB899-4565-102B-3BAE-236028B4A0BE}"/>
            </a:ext>
          </a:extLst>
        </p:cNvPr>
        <p:cNvGrpSpPr/>
        <p:nvPr/>
      </p:nvGrpSpPr>
      <p:grpSpPr>
        <a:xfrm>
          <a:off x="0" y="0"/>
          <a:ext cx="0" cy="0"/>
          <a:chOff x="0" y="0"/>
          <a:chExt cx="0" cy="0"/>
        </a:xfrm>
      </p:grpSpPr>
      <p:pic>
        <p:nvPicPr>
          <p:cNvPr id="495" name="Google Shape;495;p45" descr="Une image contenant ciel, plein air, nuage, agriculture&#10;&#10;Description générée automatiquement">
            <a:extLst>
              <a:ext uri="{FF2B5EF4-FFF2-40B4-BE49-F238E27FC236}">
                <a16:creationId xmlns:a16="http://schemas.microsoft.com/office/drawing/2014/main" id="{A776F329-9987-C7B5-758D-B3EC156F8DA1}"/>
              </a:ext>
            </a:extLst>
          </p:cNvPr>
          <p:cNvPicPr preferRelativeResize="0"/>
          <p:nvPr/>
        </p:nvPicPr>
        <p:blipFill rotWithShape="1">
          <a:blip r:embed="rId3">
            <a:alphaModFix/>
          </a:blip>
          <a:srcRect l="5973" t="9105" b="15903"/>
          <a:stretch/>
        </p:blipFill>
        <p:spPr>
          <a:xfrm>
            <a:off x="719138" y="0"/>
            <a:ext cx="11472863" cy="6858000"/>
          </a:xfrm>
          <a:prstGeom prst="rect">
            <a:avLst/>
          </a:prstGeom>
          <a:noFill/>
          <a:ln>
            <a:noFill/>
          </a:ln>
        </p:spPr>
      </p:pic>
      <p:sp>
        <p:nvSpPr>
          <p:cNvPr id="496" name="Google Shape;496;p45">
            <a:extLst>
              <a:ext uri="{FF2B5EF4-FFF2-40B4-BE49-F238E27FC236}">
                <a16:creationId xmlns:a16="http://schemas.microsoft.com/office/drawing/2014/main" id="{C1CF5A45-83F4-D0F2-6ABA-CFAAD917E481}"/>
              </a:ext>
            </a:extLst>
          </p:cNvPr>
          <p:cNvSpPr/>
          <p:nvPr/>
        </p:nvSpPr>
        <p:spPr>
          <a:xfrm>
            <a:off x="664273" y="0"/>
            <a:ext cx="11527727" cy="6858000"/>
          </a:xfrm>
          <a:prstGeom prst="rect">
            <a:avLst/>
          </a:prstGeom>
          <a:solidFill>
            <a:schemeClr val="lt1">
              <a:alpha val="93725"/>
            </a:schemeClr>
          </a:solidFill>
          <a:ln>
            <a:noFill/>
          </a:ln>
          <a:effectLst>
            <a:outerShdw blurRad="876300" dist="393700" dir="5400000" algn="t" rotWithShape="0">
              <a:srgbClr val="000000">
                <a:alpha val="784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a:solidFill>
                <a:srgbClr val="FF0000"/>
              </a:solidFill>
              <a:latin typeface="Calibri"/>
              <a:ea typeface="Calibri"/>
              <a:cs typeface="Calibri"/>
              <a:sym typeface="Calibri"/>
            </a:endParaRPr>
          </a:p>
        </p:txBody>
      </p:sp>
      <p:sp>
        <p:nvSpPr>
          <p:cNvPr id="497" name="Google Shape;497;p45">
            <a:extLst>
              <a:ext uri="{FF2B5EF4-FFF2-40B4-BE49-F238E27FC236}">
                <a16:creationId xmlns:a16="http://schemas.microsoft.com/office/drawing/2014/main" id="{9E3EAF2F-A83B-474B-8073-01C451F37530}"/>
              </a:ext>
            </a:extLst>
          </p:cNvPr>
          <p:cNvSpPr txBox="1"/>
          <p:nvPr/>
        </p:nvSpPr>
        <p:spPr>
          <a:xfrm rot="-5400000">
            <a:off x="-797364" y="5204656"/>
            <a:ext cx="2251455" cy="38856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lt1"/>
                </a:solidFill>
                <a:latin typeface="Nunito Sans SemiBold"/>
                <a:ea typeface="Nunito Sans SemiBold"/>
                <a:cs typeface="Nunito Sans SemiBold"/>
                <a:sym typeface="Nunito Sans SemiBold"/>
              </a:rPr>
              <a:t>AGRICOOL</a:t>
            </a:r>
            <a:endParaRPr sz="1400" b="0" i="0" u="none" strike="noStrike" cap="none">
              <a:solidFill>
                <a:srgbClr val="000000"/>
              </a:solidFill>
              <a:latin typeface="Arial"/>
              <a:ea typeface="Arial"/>
              <a:cs typeface="Arial"/>
              <a:sym typeface="Arial"/>
            </a:endParaRPr>
          </a:p>
        </p:txBody>
      </p:sp>
      <p:grpSp>
        <p:nvGrpSpPr>
          <p:cNvPr id="498" name="Google Shape;498;p45">
            <a:extLst>
              <a:ext uri="{FF2B5EF4-FFF2-40B4-BE49-F238E27FC236}">
                <a16:creationId xmlns:a16="http://schemas.microsoft.com/office/drawing/2014/main" id="{0FEABFA9-671F-BCA3-2153-21B32DDDFB81}"/>
              </a:ext>
            </a:extLst>
          </p:cNvPr>
          <p:cNvGrpSpPr/>
          <p:nvPr/>
        </p:nvGrpSpPr>
        <p:grpSpPr>
          <a:xfrm>
            <a:off x="211858" y="180932"/>
            <a:ext cx="310791" cy="304800"/>
            <a:chOff x="3848100" y="2292350"/>
            <a:chExt cx="310790" cy="304800"/>
          </a:xfrm>
        </p:grpSpPr>
        <p:sp>
          <p:nvSpPr>
            <p:cNvPr id="499" name="Google Shape;499;p45">
              <a:extLst>
                <a:ext uri="{FF2B5EF4-FFF2-40B4-BE49-F238E27FC236}">
                  <a16:creationId xmlns:a16="http://schemas.microsoft.com/office/drawing/2014/main" id="{01F4DC1A-4DB9-D7C7-FFFC-961B33D322A7}"/>
                </a:ext>
              </a:extLst>
            </p:cNvPr>
            <p:cNvSpPr/>
            <p:nvPr/>
          </p:nvSpPr>
          <p:spPr>
            <a:xfrm>
              <a:off x="3848100" y="2292350"/>
              <a:ext cx="114300" cy="1143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0" name="Google Shape;500;p45">
              <a:extLst>
                <a:ext uri="{FF2B5EF4-FFF2-40B4-BE49-F238E27FC236}">
                  <a16:creationId xmlns:a16="http://schemas.microsoft.com/office/drawing/2014/main" id="{3808B7A5-DBEE-9D80-0967-9A2DE027C3A8}"/>
                </a:ext>
              </a:extLst>
            </p:cNvPr>
            <p:cNvSpPr/>
            <p:nvPr/>
          </p:nvSpPr>
          <p:spPr>
            <a:xfrm>
              <a:off x="4044590" y="2292350"/>
              <a:ext cx="114300" cy="1143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1" name="Google Shape;501;p45">
              <a:extLst>
                <a:ext uri="{FF2B5EF4-FFF2-40B4-BE49-F238E27FC236}">
                  <a16:creationId xmlns:a16="http://schemas.microsoft.com/office/drawing/2014/main" id="{AD1AA89A-08A2-9E28-61AD-3454137B21CF}"/>
                </a:ext>
              </a:extLst>
            </p:cNvPr>
            <p:cNvSpPr/>
            <p:nvPr/>
          </p:nvSpPr>
          <p:spPr>
            <a:xfrm>
              <a:off x="3848100" y="2482850"/>
              <a:ext cx="114300" cy="1143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2" name="Google Shape;502;p45">
              <a:extLst>
                <a:ext uri="{FF2B5EF4-FFF2-40B4-BE49-F238E27FC236}">
                  <a16:creationId xmlns:a16="http://schemas.microsoft.com/office/drawing/2014/main" id="{79A77BCB-E48F-8333-2C48-1AB23E244EE5}"/>
                </a:ext>
              </a:extLst>
            </p:cNvPr>
            <p:cNvSpPr/>
            <p:nvPr/>
          </p:nvSpPr>
          <p:spPr>
            <a:xfrm>
              <a:off x="4044590" y="2482850"/>
              <a:ext cx="114300" cy="1143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503" name="Google Shape;503;p45" descr="Une image contenant capture d’écran, Bleu électrique, Police, Bleu Majorelle&#10;&#10;Description générée automatiquement">
            <a:extLst>
              <a:ext uri="{FF2B5EF4-FFF2-40B4-BE49-F238E27FC236}">
                <a16:creationId xmlns:a16="http://schemas.microsoft.com/office/drawing/2014/main" id="{258C8365-6217-EE61-2E9A-3019D697325A}"/>
              </a:ext>
            </a:extLst>
          </p:cNvPr>
          <p:cNvPicPr preferRelativeResize="0"/>
          <p:nvPr/>
        </p:nvPicPr>
        <p:blipFill rotWithShape="1">
          <a:blip r:embed="rId4">
            <a:alphaModFix/>
          </a:blip>
          <a:srcRect/>
          <a:stretch/>
        </p:blipFill>
        <p:spPr>
          <a:xfrm>
            <a:off x="659183" y="6441981"/>
            <a:ext cx="1729633" cy="384363"/>
          </a:xfrm>
          <a:prstGeom prst="rect">
            <a:avLst/>
          </a:prstGeom>
          <a:noFill/>
          <a:ln>
            <a:noFill/>
          </a:ln>
        </p:spPr>
      </p:pic>
      <p:sp>
        <p:nvSpPr>
          <p:cNvPr id="504" name="Google Shape;504;p45">
            <a:extLst>
              <a:ext uri="{FF2B5EF4-FFF2-40B4-BE49-F238E27FC236}">
                <a16:creationId xmlns:a16="http://schemas.microsoft.com/office/drawing/2014/main" id="{C3633AF3-8B73-D5B8-1FD5-75764C6A826D}"/>
              </a:ext>
            </a:extLst>
          </p:cNvPr>
          <p:cNvSpPr txBox="1">
            <a:spLocks noGrp="1"/>
          </p:cNvSpPr>
          <p:nvPr>
            <p:ph type="dt" idx="10"/>
          </p:nvPr>
        </p:nvSpPr>
        <p:spPr>
          <a:xfrm>
            <a:off x="9332517" y="64262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en-GB" dirty="0"/>
              <a:t>13 September 2026</a:t>
            </a:r>
            <a:endParaRPr dirty="0"/>
          </a:p>
        </p:txBody>
      </p:sp>
      <p:sp>
        <p:nvSpPr>
          <p:cNvPr id="505" name="Google Shape;505;p45">
            <a:extLst>
              <a:ext uri="{FF2B5EF4-FFF2-40B4-BE49-F238E27FC236}">
                <a16:creationId xmlns:a16="http://schemas.microsoft.com/office/drawing/2014/main" id="{BE178157-3380-501E-0DFB-A99DDB88B77C}"/>
              </a:ext>
            </a:extLst>
          </p:cNvPr>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200"/>
              <a:buNone/>
            </a:pPr>
            <a:fld id="{00000000-1234-1234-1234-123412341234}" type="slidenum">
              <a:rPr lang="en-GB"/>
              <a:t>5</a:t>
            </a:fld>
            <a:endParaRPr/>
          </a:p>
        </p:txBody>
      </p:sp>
      <p:pic>
        <p:nvPicPr>
          <p:cNvPr id="506" name="Google Shape;506;p45" descr="Une image contenant texte, Police, Graphique, capture d’écran&#10;&#10;Description générée automatiquement">
            <a:extLst>
              <a:ext uri="{FF2B5EF4-FFF2-40B4-BE49-F238E27FC236}">
                <a16:creationId xmlns:a16="http://schemas.microsoft.com/office/drawing/2014/main" id="{DA011B81-DD63-132C-7FF8-1E753D256886}"/>
              </a:ext>
            </a:extLst>
          </p:cNvPr>
          <p:cNvPicPr preferRelativeResize="0"/>
          <p:nvPr/>
        </p:nvPicPr>
        <p:blipFill rotWithShape="1">
          <a:blip r:embed="rId5">
            <a:alphaModFix/>
          </a:blip>
          <a:srcRect/>
          <a:stretch/>
        </p:blipFill>
        <p:spPr>
          <a:xfrm>
            <a:off x="9040304" y="105564"/>
            <a:ext cx="2939837" cy="764359"/>
          </a:xfrm>
          <a:prstGeom prst="rect">
            <a:avLst/>
          </a:prstGeom>
          <a:noFill/>
          <a:ln>
            <a:noFill/>
          </a:ln>
        </p:spPr>
      </p:pic>
      <p:sp>
        <p:nvSpPr>
          <p:cNvPr id="3" name="Google Shape;266;p33">
            <a:extLst>
              <a:ext uri="{FF2B5EF4-FFF2-40B4-BE49-F238E27FC236}">
                <a16:creationId xmlns:a16="http://schemas.microsoft.com/office/drawing/2014/main" id="{BCB0365A-6B35-9D5B-0B1C-2916DB021F68}"/>
              </a:ext>
            </a:extLst>
          </p:cNvPr>
          <p:cNvSpPr txBox="1"/>
          <p:nvPr/>
        </p:nvSpPr>
        <p:spPr>
          <a:xfrm>
            <a:off x="859298" y="371432"/>
            <a:ext cx="8362367" cy="1446509"/>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None/>
            </a:pPr>
            <a:r>
              <a:rPr lang="en-US" sz="4400" b="1" dirty="0">
                <a:solidFill>
                  <a:srgbClr val="30A4CF"/>
                </a:solidFill>
                <a:latin typeface="Nunito"/>
                <a:ea typeface="Nunito"/>
                <a:cs typeface="Nunito"/>
                <a:sym typeface="Nunito"/>
              </a:rPr>
              <a:t>What might the sizing assumptions miss?</a:t>
            </a:r>
          </a:p>
        </p:txBody>
      </p:sp>
      <p:sp>
        <p:nvSpPr>
          <p:cNvPr id="8" name="Weather">
            <a:extLst>
              <a:ext uri="{FF2B5EF4-FFF2-40B4-BE49-F238E27FC236}">
                <a16:creationId xmlns:a16="http://schemas.microsoft.com/office/drawing/2014/main" id="{1AFE5F9A-AB63-BD4C-C006-FDBDA6BEDF36}"/>
              </a:ext>
            </a:extLst>
          </p:cNvPr>
          <p:cNvSpPr>
            <a:spLocks noGrp="1"/>
          </p:cNvSpPr>
          <p:nvPr/>
        </p:nvSpPr>
        <p:spPr>
          <a:xfrm>
            <a:off x="859298" y="2078679"/>
            <a:ext cx="3333750" cy="323850"/>
          </a:xfrm>
          <a:prstGeom prst="rect">
            <a:avLst/>
          </a:prstGeom>
          <a:noFill/>
          <a:ln w="0">
            <a:noFill/>
          </a:ln>
        </p:spPr>
        <p:txBody>
          <a:bodyPr>
            <a:noAutofit/>
          </a:bodyPr>
          <a:lstStyle/>
          <a:p>
            <a:pPr>
              <a:defRPr sz="1950" b="1">
                <a:solidFill>
                  <a:srgbClr val="096AA8"/>
                </a:solidFill>
                <a:latin typeface="Bitstream Charter"/>
                <a:ea typeface="Bitstream Charter"/>
                <a:cs typeface="Bitstream Charter"/>
              </a:defRPr>
            </a:pPr>
            <a:r>
              <a:rPr lang="en-US" sz="1950" b="1" dirty="0">
                <a:solidFill>
                  <a:srgbClr val="096AA8"/>
                </a:solidFill>
                <a:latin typeface="+mn-lt"/>
                <a:ea typeface="Bitstream Charter"/>
                <a:cs typeface="Bitstream Charter"/>
              </a:rPr>
              <a:t>Component capacity</a:t>
            </a:r>
            <a:endParaRPr sz="1950" b="1" dirty="0">
              <a:solidFill>
                <a:srgbClr val="096AA8"/>
              </a:solidFill>
              <a:latin typeface="+mn-lt"/>
              <a:ea typeface="Bitstream Charter"/>
              <a:cs typeface="Bitstream Charter"/>
            </a:endParaRPr>
          </a:p>
        </p:txBody>
      </p:sp>
      <p:sp>
        <p:nvSpPr>
          <p:cNvPr id="10" name="Weather prompt">
            <a:extLst>
              <a:ext uri="{FF2B5EF4-FFF2-40B4-BE49-F238E27FC236}">
                <a16:creationId xmlns:a16="http://schemas.microsoft.com/office/drawing/2014/main" id="{36680428-8CC2-4303-B0FB-96A150B2973C}"/>
              </a:ext>
            </a:extLst>
          </p:cNvPr>
          <p:cNvSpPr>
            <a:spLocks noGrp="1"/>
          </p:cNvSpPr>
          <p:nvPr/>
        </p:nvSpPr>
        <p:spPr>
          <a:xfrm>
            <a:off x="859298" y="2469204"/>
            <a:ext cx="7228062" cy="590550"/>
          </a:xfrm>
          <a:prstGeom prst="rect">
            <a:avLst/>
          </a:prstGeom>
          <a:noFill/>
          <a:ln w="0">
            <a:noFill/>
          </a:ln>
        </p:spPr>
        <p:txBody>
          <a:bodyPr>
            <a:noAutofit/>
          </a:bodyPr>
          <a:lstStyle/>
          <a:p>
            <a:pPr>
              <a:defRPr sz="1800" b="0">
                <a:solidFill>
                  <a:srgbClr val="14354E"/>
                </a:solidFill>
                <a:latin typeface="Bitstream Charter"/>
                <a:ea typeface="Bitstream Charter"/>
                <a:cs typeface="Bitstream Charter"/>
              </a:defRPr>
            </a:pPr>
            <a:r>
              <a:rPr lang="en-US" sz="1800" b="0" dirty="0">
                <a:solidFill>
                  <a:srgbClr val="14354E"/>
                </a:solidFill>
                <a:latin typeface="+mn-lt"/>
                <a:ea typeface="Bitstream Charter"/>
                <a:cs typeface="Bitstream Charter"/>
              </a:rPr>
              <a:t>Are we oversizing by assuming all peak loads occur together?</a:t>
            </a:r>
            <a:endParaRPr sz="1800" b="0" dirty="0">
              <a:solidFill>
                <a:srgbClr val="14354E"/>
              </a:solidFill>
              <a:latin typeface="+mn-lt"/>
              <a:ea typeface="Bitstream Charter"/>
              <a:cs typeface="Bitstream Charter"/>
            </a:endParaRPr>
          </a:p>
        </p:txBody>
      </p:sp>
      <p:sp>
        <p:nvSpPr>
          <p:cNvPr id="12" name="Loading">
            <a:extLst>
              <a:ext uri="{FF2B5EF4-FFF2-40B4-BE49-F238E27FC236}">
                <a16:creationId xmlns:a16="http://schemas.microsoft.com/office/drawing/2014/main" id="{28114DF8-4563-C2A9-8390-A92AB0D385AD}"/>
              </a:ext>
            </a:extLst>
          </p:cNvPr>
          <p:cNvSpPr>
            <a:spLocks noGrp="1"/>
          </p:cNvSpPr>
          <p:nvPr/>
        </p:nvSpPr>
        <p:spPr>
          <a:xfrm>
            <a:off x="859298" y="3135003"/>
            <a:ext cx="3333750" cy="323850"/>
          </a:xfrm>
          <a:prstGeom prst="rect">
            <a:avLst/>
          </a:prstGeom>
          <a:noFill/>
          <a:ln w="0">
            <a:noFill/>
          </a:ln>
        </p:spPr>
        <p:txBody>
          <a:bodyPr>
            <a:noAutofit/>
          </a:bodyPr>
          <a:lstStyle/>
          <a:p>
            <a:pPr>
              <a:defRPr sz="1950" b="1">
                <a:solidFill>
                  <a:srgbClr val="096AA8"/>
                </a:solidFill>
                <a:latin typeface="Bitstream Charter"/>
                <a:ea typeface="Bitstream Charter"/>
                <a:cs typeface="Bitstream Charter"/>
              </a:defRPr>
            </a:pPr>
            <a:r>
              <a:rPr lang="en-US" sz="1950" b="1" dirty="0">
                <a:solidFill>
                  <a:srgbClr val="096AA8"/>
                </a:solidFill>
                <a:latin typeface="+mn-lt"/>
              </a:rPr>
              <a:t>Electricity consumption</a:t>
            </a:r>
            <a:endParaRPr sz="1950" b="1" dirty="0">
              <a:solidFill>
                <a:srgbClr val="096AA8"/>
              </a:solidFill>
              <a:latin typeface="+mn-lt"/>
            </a:endParaRPr>
          </a:p>
        </p:txBody>
      </p:sp>
      <p:sp>
        <p:nvSpPr>
          <p:cNvPr id="14" name="Loading prompt">
            <a:extLst>
              <a:ext uri="{FF2B5EF4-FFF2-40B4-BE49-F238E27FC236}">
                <a16:creationId xmlns:a16="http://schemas.microsoft.com/office/drawing/2014/main" id="{E1523B08-D72F-FDBC-A879-6A7BA9F7F5DD}"/>
              </a:ext>
            </a:extLst>
          </p:cNvPr>
          <p:cNvSpPr>
            <a:spLocks noGrp="1"/>
          </p:cNvSpPr>
          <p:nvPr/>
        </p:nvSpPr>
        <p:spPr>
          <a:xfrm>
            <a:off x="859298" y="3525528"/>
            <a:ext cx="9178782" cy="590550"/>
          </a:xfrm>
          <a:prstGeom prst="rect">
            <a:avLst/>
          </a:prstGeom>
          <a:noFill/>
          <a:ln w="0">
            <a:noFill/>
          </a:ln>
        </p:spPr>
        <p:txBody>
          <a:bodyPr>
            <a:noAutofit/>
          </a:bodyPr>
          <a:lstStyle/>
          <a:p>
            <a:pPr>
              <a:defRPr sz="1800" b="0">
                <a:solidFill>
                  <a:srgbClr val="14354E"/>
                </a:solidFill>
                <a:latin typeface="Bitstream Charter"/>
                <a:ea typeface="Bitstream Charter"/>
                <a:cs typeface="Bitstream Charter"/>
              </a:defRPr>
            </a:pPr>
            <a:r>
              <a:rPr lang="en-US" sz="1800" dirty="0">
                <a:solidFill>
                  <a:srgbClr val="14354E"/>
                </a:solidFill>
                <a:latin typeface="+mn-lt"/>
              </a:rPr>
              <a:t>Are we overestimating energy use by assuming continuous full-load operation?</a:t>
            </a:r>
            <a:endParaRPr sz="1800" dirty="0">
              <a:solidFill>
                <a:srgbClr val="14354E"/>
              </a:solidFill>
              <a:latin typeface="+mn-lt"/>
            </a:endParaRPr>
          </a:p>
        </p:txBody>
      </p:sp>
      <p:sp>
        <p:nvSpPr>
          <p:cNvPr id="21" name="Loading">
            <a:extLst>
              <a:ext uri="{FF2B5EF4-FFF2-40B4-BE49-F238E27FC236}">
                <a16:creationId xmlns:a16="http://schemas.microsoft.com/office/drawing/2014/main" id="{E3A83809-0D5F-C1F5-5932-A92F252A35B8}"/>
              </a:ext>
            </a:extLst>
          </p:cNvPr>
          <p:cNvSpPr>
            <a:spLocks noGrp="1"/>
          </p:cNvSpPr>
          <p:nvPr/>
        </p:nvSpPr>
        <p:spPr>
          <a:xfrm>
            <a:off x="914163" y="4220526"/>
            <a:ext cx="3333750" cy="323850"/>
          </a:xfrm>
          <a:prstGeom prst="rect">
            <a:avLst/>
          </a:prstGeom>
          <a:noFill/>
          <a:ln w="0">
            <a:noFill/>
          </a:ln>
        </p:spPr>
        <p:txBody>
          <a:bodyPr>
            <a:noAutofit/>
          </a:bodyPr>
          <a:lstStyle/>
          <a:p>
            <a:pPr>
              <a:defRPr sz="1950" b="1">
                <a:solidFill>
                  <a:srgbClr val="096AA8"/>
                </a:solidFill>
                <a:latin typeface="Bitstream Charter"/>
                <a:ea typeface="Bitstream Charter"/>
                <a:cs typeface="Bitstream Charter"/>
              </a:defRPr>
            </a:pPr>
            <a:r>
              <a:rPr lang="en-US" sz="1950" b="1" dirty="0">
                <a:solidFill>
                  <a:srgbClr val="096AA8"/>
                </a:solidFill>
                <a:latin typeface="+mn-lt"/>
              </a:rPr>
              <a:t>Usable solar energy</a:t>
            </a:r>
            <a:endParaRPr sz="1950" b="1" dirty="0">
              <a:solidFill>
                <a:srgbClr val="096AA8"/>
              </a:solidFill>
              <a:latin typeface="+mn-lt"/>
            </a:endParaRPr>
          </a:p>
        </p:txBody>
      </p:sp>
      <p:sp>
        <p:nvSpPr>
          <p:cNvPr id="22" name="Loading prompt">
            <a:extLst>
              <a:ext uri="{FF2B5EF4-FFF2-40B4-BE49-F238E27FC236}">
                <a16:creationId xmlns:a16="http://schemas.microsoft.com/office/drawing/2014/main" id="{B652F29F-9E5F-068A-D0B4-1B4E2E02E65E}"/>
              </a:ext>
            </a:extLst>
          </p:cNvPr>
          <p:cNvSpPr>
            <a:spLocks noGrp="1"/>
          </p:cNvSpPr>
          <p:nvPr/>
        </p:nvSpPr>
        <p:spPr>
          <a:xfrm>
            <a:off x="914163" y="4611051"/>
            <a:ext cx="9178782" cy="590550"/>
          </a:xfrm>
          <a:prstGeom prst="rect">
            <a:avLst/>
          </a:prstGeom>
          <a:noFill/>
          <a:ln w="0">
            <a:noFill/>
          </a:ln>
        </p:spPr>
        <p:txBody>
          <a:bodyPr>
            <a:noAutofit/>
          </a:bodyPr>
          <a:lstStyle/>
          <a:p>
            <a:pPr>
              <a:defRPr sz="1800" b="0">
                <a:solidFill>
                  <a:srgbClr val="14354E"/>
                </a:solidFill>
                <a:latin typeface="Bitstream Charter"/>
                <a:ea typeface="Bitstream Charter"/>
                <a:cs typeface="Bitstream Charter"/>
              </a:defRPr>
            </a:pPr>
            <a:r>
              <a:rPr lang="en-US" sz="1800" dirty="0">
                <a:solidFill>
                  <a:srgbClr val="14354E"/>
                </a:solidFill>
                <a:latin typeface="+mn-lt"/>
              </a:rPr>
              <a:t>Are we overestimating how much PV energy the system can actually use?</a:t>
            </a:r>
            <a:endParaRPr sz="1800" dirty="0">
              <a:solidFill>
                <a:srgbClr val="14354E"/>
              </a:solidFill>
              <a:latin typeface="+mn-lt"/>
            </a:endParaRPr>
          </a:p>
        </p:txBody>
      </p:sp>
      <p:sp>
        <p:nvSpPr>
          <p:cNvPr id="23" name="Loading">
            <a:extLst>
              <a:ext uri="{FF2B5EF4-FFF2-40B4-BE49-F238E27FC236}">
                <a16:creationId xmlns:a16="http://schemas.microsoft.com/office/drawing/2014/main" id="{E7CB8933-BEB4-AA41-E842-1AB0C4F52E6D}"/>
              </a:ext>
            </a:extLst>
          </p:cNvPr>
          <p:cNvSpPr>
            <a:spLocks noGrp="1"/>
          </p:cNvSpPr>
          <p:nvPr/>
        </p:nvSpPr>
        <p:spPr>
          <a:xfrm>
            <a:off x="914162" y="5238754"/>
            <a:ext cx="3333750" cy="323850"/>
          </a:xfrm>
          <a:prstGeom prst="rect">
            <a:avLst/>
          </a:prstGeom>
          <a:noFill/>
          <a:ln w="0">
            <a:noFill/>
          </a:ln>
        </p:spPr>
        <p:txBody>
          <a:bodyPr>
            <a:noAutofit/>
          </a:bodyPr>
          <a:lstStyle/>
          <a:p>
            <a:pPr>
              <a:defRPr sz="1950" b="1">
                <a:solidFill>
                  <a:srgbClr val="096AA8"/>
                </a:solidFill>
                <a:latin typeface="Bitstream Charter"/>
                <a:ea typeface="Bitstream Charter"/>
                <a:cs typeface="Bitstream Charter"/>
              </a:defRPr>
            </a:pPr>
            <a:r>
              <a:rPr lang="en-US" sz="1950" b="1" dirty="0">
                <a:solidFill>
                  <a:srgbClr val="096AA8"/>
                </a:solidFill>
                <a:latin typeface="+mn-lt"/>
              </a:rPr>
              <a:t>Storage autonomy</a:t>
            </a:r>
            <a:endParaRPr sz="1950" b="1" dirty="0">
              <a:solidFill>
                <a:srgbClr val="096AA8"/>
              </a:solidFill>
              <a:latin typeface="+mn-lt"/>
            </a:endParaRPr>
          </a:p>
        </p:txBody>
      </p:sp>
      <p:sp>
        <p:nvSpPr>
          <p:cNvPr id="24" name="Loading prompt">
            <a:extLst>
              <a:ext uri="{FF2B5EF4-FFF2-40B4-BE49-F238E27FC236}">
                <a16:creationId xmlns:a16="http://schemas.microsoft.com/office/drawing/2014/main" id="{F8DE0211-9C22-DF8C-E778-E8B4AF2A72EC}"/>
              </a:ext>
            </a:extLst>
          </p:cNvPr>
          <p:cNvSpPr>
            <a:spLocks noGrp="1"/>
          </p:cNvSpPr>
          <p:nvPr/>
        </p:nvSpPr>
        <p:spPr>
          <a:xfrm>
            <a:off x="914162" y="5629279"/>
            <a:ext cx="9178782" cy="590550"/>
          </a:xfrm>
          <a:prstGeom prst="rect">
            <a:avLst/>
          </a:prstGeom>
          <a:noFill/>
          <a:ln w="0">
            <a:noFill/>
          </a:ln>
        </p:spPr>
        <p:txBody>
          <a:bodyPr>
            <a:noAutofit/>
          </a:bodyPr>
          <a:lstStyle/>
          <a:p>
            <a:pPr>
              <a:defRPr sz="1800" b="0">
                <a:solidFill>
                  <a:srgbClr val="14354E"/>
                </a:solidFill>
                <a:latin typeface="Bitstream Charter"/>
                <a:ea typeface="Bitstream Charter"/>
                <a:cs typeface="Bitstream Charter"/>
              </a:defRPr>
            </a:pPr>
            <a:r>
              <a:rPr lang="en-US" sz="1800" dirty="0">
                <a:solidFill>
                  <a:srgbClr val="14354E"/>
                </a:solidFill>
                <a:latin typeface="+mn-lt"/>
              </a:rPr>
              <a:t>Will the ice tank recharge sufficiently before nightfall?</a:t>
            </a:r>
            <a:endParaRPr sz="1800" dirty="0">
              <a:solidFill>
                <a:srgbClr val="14354E"/>
              </a:solidFill>
              <a:latin typeface="+mn-lt"/>
            </a:endParaRPr>
          </a:p>
        </p:txBody>
      </p:sp>
    </p:spTree>
    <p:extLst>
      <p:ext uri="{BB962C8B-B14F-4D97-AF65-F5344CB8AC3E}">
        <p14:creationId xmlns:p14="http://schemas.microsoft.com/office/powerpoint/2010/main" val="3864106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2" grpId="0"/>
      <p:bldP spid="14" grpId="0"/>
      <p:bldP spid="21" grpId="0"/>
      <p:bldP spid="22" grpId="0"/>
      <p:bldP spid="23" grpId="0"/>
      <p:bldP spid="2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94">
          <a:extLst>
            <a:ext uri="{FF2B5EF4-FFF2-40B4-BE49-F238E27FC236}">
              <a16:creationId xmlns:a16="http://schemas.microsoft.com/office/drawing/2014/main" id="{D1280108-6164-692C-5C8C-BF446926A2E5}"/>
            </a:ext>
          </a:extLst>
        </p:cNvPr>
        <p:cNvGrpSpPr/>
        <p:nvPr/>
      </p:nvGrpSpPr>
      <p:grpSpPr>
        <a:xfrm>
          <a:off x="0" y="0"/>
          <a:ext cx="0" cy="0"/>
          <a:chOff x="0" y="0"/>
          <a:chExt cx="0" cy="0"/>
        </a:xfrm>
      </p:grpSpPr>
      <p:pic>
        <p:nvPicPr>
          <p:cNvPr id="495" name="Google Shape;495;p45" descr="Une image contenant ciel, plein air, nuage, agriculture&#10;&#10;Description générée automatiquement">
            <a:extLst>
              <a:ext uri="{FF2B5EF4-FFF2-40B4-BE49-F238E27FC236}">
                <a16:creationId xmlns:a16="http://schemas.microsoft.com/office/drawing/2014/main" id="{DE4977C4-CB22-89EB-19A2-CA573AD7D863}"/>
              </a:ext>
            </a:extLst>
          </p:cNvPr>
          <p:cNvPicPr preferRelativeResize="0"/>
          <p:nvPr/>
        </p:nvPicPr>
        <p:blipFill rotWithShape="1">
          <a:blip r:embed="rId3">
            <a:alphaModFix/>
          </a:blip>
          <a:srcRect l="5973" t="9105" b="15903"/>
          <a:stretch/>
        </p:blipFill>
        <p:spPr>
          <a:xfrm>
            <a:off x="719138" y="0"/>
            <a:ext cx="11472863" cy="6858000"/>
          </a:xfrm>
          <a:prstGeom prst="rect">
            <a:avLst/>
          </a:prstGeom>
          <a:noFill/>
          <a:ln>
            <a:noFill/>
          </a:ln>
        </p:spPr>
      </p:pic>
      <p:sp>
        <p:nvSpPr>
          <p:cNvPr id="496" name="Google Shape;496;p45">
            <a:extLst>
              <a:ext uri="{FF2B5EF4-FFF2-40B4-BE49-F238E27FC236}">
                <a16:creationId xmlns:a16="http://schemas.microsoft.com/office/drawing/2014/main" id="{E68567A2-48C2-605B-F7C7-90F6BF80ABDF}"/>
              </a:ext>
            </a:extLst>
          </p:cNvPr>
          <p:cNvSpPr/>
          <p:nvPr/>
        </p:nvSpPr>
        <p:spPr>
          <a:xfrm>
            <a:off x="664273" y="0"/>
            <a:ext cx="11527727" cy="6858000"/>
          </a:xfrm>
          <a:prstGeom prst="rect">
            <a:avLst/>
          </a:prstGeom>
          <a:solidFill>
            <a:schemeClr val="lt1">
              <a:alpha val="93725"/>
            </a:schemeClr>
          </a:solidFill>
          <a:ln>
            <a:noFill/>
          </a:ln>
          <a:effectLst>
            <a:outerShdw blurRad="876300" dist="393700" dir="5400000" algn="t" rotWithShape="0">
              <a:srgbClr val="000000">
                <a:alpha val="784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a:solidFill>
                <a:srgbClr val="FF0000"/>
              </a:solidFill>
              <a:latin typeface="Calibri"/>
              <a:ea typeface="Calibri"/>
              <a:cs typeface="Calibri"/>
              <a:sym typeface="Calibri"/>
            </a:endParaRPr>
          </a:p>
        </p:txBody>
      </p:sp>
      <p:sp>
        <p:nvSpPr>
          <p:cNvPr id="497" name="Google Shape;497;p45">
            <a:extLst>
              <a:ext uri="{FF2B5EF4-FFF2-40B4-BE49-F238E27FC236}">
                <a16:creationId xmlns:a16="http://schemas.microsoft.com/office/drawing/2014/main" id="{3C461211-6CC4-3204-9210-29CD2B9A1C6A}"/>
              </a:ext>
            </a:extLst>
          </p:cNvPr>
          <p:cNvSpPr txBox="1"/>
          <p:nvPr/>
        </p:nvSpPr>
        <p:spPr>
          <a:xfrm rot="-5400000">
            <a:off x="-797364" y="5204656"/>
            <a:ext cx="2251455" cy="38856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dirty="0">
                <a:solidFill>
                  <a:schemeClr val="lt1"/>
                </a:solidFill>
                <a:latin typeface="Nunito Sans SemiBold"/>
                <a:ea typeface="Nunito Sans SemiBold"/>
                <a:cs typeface="Nunito Sans SemiBold"/>
                <a:sym typeface="Nunito Sans SemiBold"/>
              </a:rPr>
              <a:t>AGRICOOL</a:t>
            </a:r>
            <a:endParaRPr sz="1400" b="0" i="0" u="none" strike="noStrike" cap="none" dirty="0">
              <a:solidFill>
                <a:srgbClr val="000000"/>
              </a:solidFill>
              <a:latin typeface="Arial"/>
              <a:ea typeface="Arial"/>
              <a:cs typeface="Arial"/>
              <a:sym typeface="Arial"/>
            </a:endParaRPr>
          </a:p>
        </p:txBody>
      </p:sp>
      <p:grpSp>
        <p:nvGrpSpPr>
          <p:cNvPr id="498" name="Google Shape;498;p45">
            <a:extLst>
              <a:ext uri="{FF2B5EF4-FFF2-40B4-BE49-F238E27FC236}">
                <a16:creationId xmlns:a16="http://schemas.microsoft.com/office/drawing/2014/main" id="{5632C6E1-EA97-4543-964D-E0EA3CD71D6B}"/>
              </a:ext>
            </a:extLst>
          </p:cNvPr>
          <p:cNvGrpSpPr/>
          <p:nvPr/>
        </p:nvGrpSpPr>
        <p:grpSpPr>
          <a:xfrm>
            <a:off x="211858" y="180932"/>
            <a:ext cx="310791" cy="304800"/>
            <a:chOff x="3848100" y="2292350"/>
            <a:chExt cx="310790" cy="304800"/>
          </a:xfrm>
        </p:grpSpPr>
        <p:sp>
          <p:nvSpPr>
            <p:cNvPr id="499" name="Google Shape;499;p45">
              <a:extLst>
                <a:ext uri="{FF2B5EF4-FFF2-40B4-BE49-F238E27FC236}">
                  <a16:creationId xmlns:a16="http://schemas.microsoft.com/office/drawing/2014/main" id="{31238988-7B68-CD70-90FE-B92617DEAB6C}"/>
                </a:ext>
              </a:extLst>
            </p:cNvPr>
            <p:cNvSpPr/>
            <p:nvPr/>
          </p:nvSpPr>
          <p:spPr>
            <a:xfrm>
              <a:off x="3848100" y="2292350"/>
              <a:ext cx="114300" cy="1143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0" name="Google Shape;500;p45">
              <a:extLst>
                <a:ext uri="{FF2B5EF4-FFF2-40B4-BE49-F238E27FC236}">
                  <a16:creationId xmlns:a16="http://schemas.microsoft.com/office/drawing/2014/main" id="{356A50A6-0E2D-3133-1164-ACE5646FED66}"/>
                </a:ext>
              </a:extLst>
            </p:cNvPr>
            <p:cNvSpPr/>
            <p:nvPr/>
          </p:nvSpPr>
          <p:spPr>
            <a:xfrm>
              <a:off x="4044590" y="2292350"/>
              <a:ext cx="114300" cy="1143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1" name="Google Shape;501;p45">
              <a:extLst>
                <a:ext uri="{FF2B5EF4-FFF2-40B4-BE49-F238E27FC236}">
                  <a16:creationId xmlns:a16="http://schemas.microsoft.com/office/drawing/2014/main" id="{1C00A0DB-B421-B2BA-1546-0EF5DC1DDF66}"/>
                </a:ext>
              </a:extLst>
            </p:cNvPr>
            <p:cNvSpPr/>
            <p:nvPr/>
          </p:nvSpPr>
          <p:spPr>
            <a:xfrm>
              <a:off x="3848100" y="2482850"/>
              <a:ext cx="114300" cy="1143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2" name="Google Shape;502;p45">
              <a:extLst>
                <a:ext uri="{FF2B5EF4-FFF2-40B4-BE49-F238E27FC236}">
                  <a16:creationId xmlns:a16="http://schemas.microsoft.com/office/drawing/2014/main" id="{0E1B6FDB-6546-C802-C415-31FCD20DF51B}"/>
                </a:ext>
              </a:extLst>
            </p:cNvPr>
            <p:cNvSpPr/>
            <p:nvPr/>
          </p:nvSpPr>
          <p:spPr>
            <a:xfrm>
              <a:off x="4044590" y="2482850"/>
              <a:ext cx="114300" cy="1143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503" name="Google Shape;503;p45" descr="Une image contenant capture d’écran, Bleu électrique, Police, Bleu Majorelle&#10;&#10;Description générée automatiquement">
            <a:extLst>
              <a:ext uri="{FF2B5EF4-FFF2-40B4-BE49-F238E27FC236}">
                <a16:creationId xmlns:a16="http://schemas.microsoft.com/office/drawing/2014/main" id="{1DEE16BF-59B6-199D-A9A2-FF3D27E4E3B0}"/>
              </a:ext>
            </a:extLst>
          </p:cNvPr>
          <p:cNvPicPr preferRelativeResize="0"/>
          <p:nvPr/>
        </p:nvPicPr>
        <p:blipFill rotWithShape="1">
          <a:blip r:embed="rId4">
            <a:alphaModFix/>
          </a:blip>
          <a:srcRect/>
          <a:stretch/>
        </p:blipFill>
        <p:spPr>
          <a:xfrm>
            <a:off x="860763" y="6356352"/>
            <a:ext cx="1729633" cy="384363"/>
          </a:xfrm>
          <a:prstGeom prst="rect">
            <a:avLst/>
          </a:prstGeom>
          <a:noFill/>
          <a:ln>
            <a:noFill/>
          </a:ln>
        </p:spPr>
      </p:pic>
      <p:sp>
        <p:nvSpPr>
          <p:cNvPr id="504" name="Google Shape;504;p45">
            <a:extLst>
              <a:ext uri="{FF2B5EF4-FFF2-40B4-BE49-F238E27FC236}">
                <a16:creationId xmlns:a16="http://schemas.microsoft.com/office/drawing/2014/main" id="{9C2ABDBD-2719-C6BC-4033-D16FA26B5CF2}"/>
              </a:ext>
            </a:extLst>
          </p:cNvPr>
          <p:cNvSpPr txBox="1">
            <a:spLocks noGrp="1"/>
          </p:cNvSpPr>
          <p:nvPr>
            <p:ph type="dt" idx="10"/>
          </p:nvPr>
        </p:nvSpPr>
        <p:spPr>
          <a:xfrm>
            <a:off x="8910320" y="6360403"/>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en-GB" dirty="0"/>
              <a:t>13 September 2026</a:t>
            </a:r>
            <a:endParaRPr dirty="0"/>
          </a:p>
        </p:txBody>
      </p:sp>
      <p:sp>
        <p:nvSpPr>
          <p:cNvPr id="505" name="Google Shape;505;p45">
            <a:extLst>
              <a:ext uri="{FF2B5EF4-FFF2-40B4-BE49-F238E27FC236}">
                <a16:creationId xmlns:a16="http://schemas.microsoft.com/office/drawing/2014/main" id="{CCD5F767-A40A-C53D-5817-4D22F48BD3A7}"/>
              </a:ext>
            </a:extLst>
          </p:cNvPr>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200"/>
              <a:buNone/>
            </a:pPr>
            <a:fld id="{00000000-1234-1234-1234-123412341234}" type="slidenum">
              <a:rPr lang="en-GB"/>
              <a:t>6</a:t>
            </a:fld>
            <a:endParaRPr/>
          </a:p>
        </p:txBody>
      </p:sp>
      <p:pic>
        <p:nvPicPr>
          <p:cNvPr id="506" name="Google Shape;506;p45" descr="Une image contenant texte, Police, Graphique, capture d’écran&#10;&#10;Description générée automatiquement">
            <a:extLst>
              <a:ext uri="{FF2B5EF4-FFF2-40B4-BE49-F238E27FC236}">
                <a16:creationId xmlns:a16="http://schemas.microsoft.com/office/drawing/2014/main" id="{C9C6ABE4-3857-2308-FD73-B17C855E3ABA}"/>
              </a:ext>
            </a:extLst>
          </p:cNvPr>
          <p:cNvPicPr preferRelativeResize="0"/>
          <p:nvPr/>
        </p:nvPicPr>
        <p:blipFill rotWithShape="1">
          <a:blip r:embed="rId5">
            <a:alphaModFix/>
          </a:blip>
          <a:srcRect/>
          <a:stretch/>
        </p:blipFill>
        <p:spPr>
          <a:xfrm>
            <a:off x="9040304" y="105564"/>
            <a:ext cx="2939837" cy="764359"/>
          </a:xfrm>
          <a:prstGeom prst="rect">
            <a:avLst/>
          </a:prstGeom>
          <a:noFill/>
          <a:ln>
            <a:noFill/>
          </a:ln>
        </p:spPr>
      </p:pic>
      <p:sp>
        <p:nvSpPr>
          <p:cNvPr id="3" name="Google Shape;266;p33">
            <a:extLst>
              <a:ext uri="{FF2B5EF4-FFF2-40B4-BE49-F238E27FC236}">
                <a16:creationId xmlns:a16="http://schemas.microsoft.com/office/drawing/2014/main" id="{416AE292-388A-C9AB-0BCC-21B4FD49B564}"/>
              </a:ext>
            </a:extLst>
          </p:cNvPr>
          <p:cNvSpPr txBox="1"/>
          <p:nvPr/>
        </p:nvSpPr>
        <p:spPr>
          <a:xfrm>
            <a:off x="3043920" y="3044299"/>
            <a:ext cx="6823297" cy="76940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GB" sz="4400" b="1" dirty="0">
                <a:solidFill>
                  <a:srgbClr val="30A4CF"/>
                </a:solidFill>
                <a:latin typeface="Nunito"/>
                <a:ea typeface="Nunito"/>
                <a:cs typeface="Nunito"/>
                <a:sym typeface="Nunito"/>
              </a:rPr>
              <a:t>Methodology</a:t>
            </a:r>
            <a:endParaRPr sz="4400" b="1" i="0" u="none" strike="noStrike" cap="none" dirty="0">
              <a:solidFill>
                <a:srgbClr val="30A4CF"/>
              </a:solidFill>
              <a:latin typeface="Nunito"/>
              <a:ea typeface="Nunito"/>
              <a:cs typeface="Nunito"/>
              <a:sym typeface="Nunito"/>
            </a:endParaRPr>
          </a:p>
        </p:txBody>
      </p:sp>
    </p:spTree>
    <p:extLst>
      <p:ext uri="{BB962C8B-B14F-4D97-AF65-F5344CB8AC3E}">
        <p14:creationId xmlns:p14="http://schemas.microsoft.com/office/powerpoint/2010/main" val="31838708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94">
          <a:extLst>
            <a:ext uri="{FF2B5EF4-FFF2-40B4-BE49-F238E27FC236}">
              <a16:creationId xmlns:a16="http://schemas.microsoft.com/office/drawing/2014/main" id="{02342852-2508-EBA8-B8FC-BD2F85B7CE5B}"/>
            </a:ext>
          </a:extLst>
        </p:cNvPr>
        <p:cNvGrpSpPr/>
        <p:nvPr/>
      </p:nvGrpSpPr>
      <p:grpSpPr>
        <a:xfrm>
          <a:off x="0" y="0"/>
          <a:ext cx="0" cy="0"/>
          <a:chOff x="0" y="0"/>
          <a:chExt cx="0" cy="0"/>
        </a:xfrm>
      </p:grpSpPr>
      <p:pic>
        <p:nvPicPr>
          <p:cNvPr id="495" name="Google Shape;495;p45" descr="Une image contenant ciel, plein air, nuage, agriculture&#10;&#10;Description générée automatiquement">
            <a:extLst>
              <a:ext uri="{FF2B5EF4-FFF2-40B4-BE49-F238E27FC236}">
                <a16:creationId xmlns:a16="http://schemas.microsoft.com/office/drawing/2014/main" id="{68F0889F-7D1C-8FAA-A974-EC487C9520A1}"/>
              </a:ext>
            </a:extLst>
          </p:cNvPr>
          <p:cNvPicPr preferRelativeResize="0"/>
          <p:nvPr/>
        </p:nvPicPr>
        <p:blipFill rotWithShape="1">
          <a:blip r:embed="rId3">
            <a:alphaModFix/>
          </a:blip>
          <a:srcRect l="5973" t="9105" b="15903"/>
          <a:stretch/>
        </p:blipFill>
        <p:spPr>
          <a:xfrm>
            <a:off x="719138" y="0"/>
            <a:ext cx="11472863" cy="6858000"/>
          </a:xfrm>
          <a:prstGeom prst="rect">
            <a:avLst/>
          </a:prstGeom>
          <a:noFill/>
          <a:ln>
            <a:noFill/>
          </a:ln>
        </p:spPr>
      </p:pic>
      <p:sp>
        <p:nvSpPr>
          <p:cNvPr id="496" name="Google Shape;496;p45">
            <a:extLst>
              <a:ext uri="{FF2B5EF4-FFF2-40B4-BE49-F238E27FC236}">
                <a16:creationId xmlns:a16="http://schemas.microsoft.com/office/drawing/2014/main" id="{C45604D2-06DF-0971-15E1-79B45224A69A}"/>
              </a:ext>
            </a:extLst>
          </p:cNvPr>
          <p:cNvSpPr/>
          <p:nvPr/>
        </p:nvSpPr>
        <p:spPr>
          <a:xfrm>
            <a:off x="664273" y="0"/>
            <a:ext cx="11527727" cy="6858000"/>
          </a:xfrm>
          <a:prstGeom prst="rect">
            <a:avLst/>
          </a:prstGeom>
          <a:solidFill>
            <a:schemeClr val="lt1">
              <a:alpha val="93725"/>
            </a:schemeClr>
          </a:solidFill>
          <a:ln>
            <a:noFill/>
          </a:ln>
          <a:effectLst>
            <a:outerShdw blurRad="876300" dist="393700" dir="5400000" algn="t" rotWithShape="0">
              <a:srgbClr val="000000">
                <a:alpha val="784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a:solidFill>
                <a:srgbClr val="FF0000"/>
              </a:solidFill>
              <a:latin typeface="Calibri"/>
              <a:ea typeface="Calibri"/>
              <a:cs typeface="Calibri"/>
              <a:sym typeface="Calibri"/>
            </a:endParaRPr>
          </a:p>
        </p:txBody>
      </p:sp>
      <p:sp>
        <p:nvSpPr>
          <p:cNvPr id="497" name="Google Shape;497;p45">
            <a:extLst>
              <a:ext uri="{FF2B5EF4-FFF2-40B4-BE49-F238E27FC236}">
                <a16:creationId xmlns:a16="http://schemas.microsoft.com/office/drawing/2014/main" id="{D526E4CA-DA25-E733-FFCD-65C5C506CB76}"/>
              </a:ext>
            </a:extLst>
          </p:cNvPr>
          <p:cNvSpPr txBox="1"/>
          <p:nvPr/>
        </p:nvSpPr>
        <p:spPr>
          <a:xfrm rot="-5400000">
            <a:off x="-797364" y="5204656"/>
            <a:ext cx="2251455" cy="38856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lt1"/>
                </a:solidFill>
                <a:latin typeface="Nunito Sans SemiBold"/>
                <a:ea typeface="Nunito Sans SemiBold"/>
                <a:cs typeface="Nunito Sans SemiBold"/>
                <a:sym typeface="Nunito Sans SemiBold"/>
              </a:rPr>
              <a:t>AGRICOOL</a:t>
            </a:r>
            <a:endParaRPr sz="1400" b="0" i="0" u="none" strike="noStrike" cap="none">
              <a:solidFill>
                <a:srgbClr val="000000"/>
              </a:solidFill>
              <a:latin typeface="Arial"/>
              <a:ea typeface="Arial"/>
              <a:cs typeface="Arial"/>
              <a:sym typeface="Arial"/>
            </a:endParaRPr>
          </a:p>
        </p:txBody>
      </p:sp>
      <p:grpSp>
        <p:nvGrpSpPr>
          <p:cNvPr id="498" name="Google Shape;498;p45">
            <a:extLst>
              <a:ext uri="{FF2B5EF4-FFF2-40B4-BE49-F238E27FC236}">
                <a16:creationId xmlns:a16="http://schemas.microsoft.com/office/drawing/2014/main" id="{A600AFCD-4C85-BF78-A3F2-AF51530A8C80}"/>
              </a:ext>
            </a:extLst>
          </p:cNvPr>
          <p:cNvGrpSpPr/>
          <p:nvPr/>
        </p:nvGrpSpPr>
        <p:grpSpPr>
          <a:xfrm>
            <a:off x="211858" y="180932"/>
            <a:ext cx="310791" cy="304800"/>
            <a:chOff x="3848100" y="2292350"/>
            <a:chExt cx="310790" cy="304800"/>
          </a:xfrm>
        </p:grpSpPr>
        <p:sp>
          <p:nvSpPr>
            <p:cNvPr id="499" name="Google Shape;499;p45">
              <a:extLst>
                <a:ext uri="{FF2B5EF4-FFF2-40B4-BE49-F238E27FC236}">
                  <a16:creationId xmlns:a16="http://schemas.microsoft.com/office/drawing/2014/main" id="{72F1D669-1D9B-7B0D-D72E-A786D4AF40C2}"/>
                </a:ext>
              </a:extLst>
            </p:cNvPr>
            <p:cNvSpPr/>
            <p:nvPr/>
          </p:nvSpPr>
          <p:spPr>
            <a:xfrm>
              <a:off x="3848100" y="2292350"/>
              <a:ext cx="114300" cy="1143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0" name="Google Shape;500;p45">
              <a:extLst>
                <a:ext uri="{FF2B5EF4-FFF2-40B4-BE49-F238E27FC236}">
                  <a16:creationId xmlns:a16="http://schemas.microsoft.com/office/drawing/2014/main" id="{2BDBA89B-7E52-AEAB-8BFF-1793B3521C21}"/>
                </a:ext>
              </a:extLst>
            </p:cNvPr>
            <p:cNvSpPr/>
            <p:nvPr/>
          </p:nvSpPr>
          <p:spPr>
            <a:xfrm>
              <a:off x="4044590" y="2292350"/>
              <a:ext cx="114300" cy="1143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1" name="Google Shape;501;p45">
              <a:extLst>
                <a:ext uri="{FF2B5EF4-FFF2-40B4-BE49-F238E27FC236}">
                  <a16:creationId xmlns:a16="http://schemas.microsoft.com/office/drawing/2014/main" id="{4B8C5BA2-2FDA-6185-C9EC-4F64FA80CB7B}"/>
                </a:ext>
              </a:extLst>
            </p:cNvPr>
            <p:cNvSpPr/>
            <p:nvPr/>
          </p:nvSpPr>
          <p:spPr>
            <a:xfrm>
              <a:off x="3848100" y="2482850"/>
              <a:ext cx="114300" cy="1143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2" name="Google Shape;502;p45">
              <a:extLst>
                <a:ext uri="{FF2B5EF4-FFF2-40B4-BE49-F238E27FC236}">
                  <a16:creationId xmlns:a16="http://schemas.microsoft.com/office/drawing/2014/main" id="{4D608D60-62EC-D2D2-8A9C-E78DB823A385}"/>
                </a:ext>
              </a:extLst>
            </p:cNvPr>
            <p:cNvSpPr/>
            <p:nvPr/>
          </p:nvSpPr>
          <p:spPr>
            <a:xfrm>
              <a:off x="4044590" y="2482850"/>
              <a:ext cx="114300" cy="1143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503" name="Google Shape;503;p45" descr="Une image contenant capture d’écran, Bleu électrique, Police, Bleu Majorelle&#10;&#10;Description générée automatiquement">
            <a:extLst>
              <a:ext uri="{FF2B5EF4-FFF2-40B4-BE49-F238E27FC236}">
                <a16:creationId xmlns:a16="http://schemas.microsoft.com/office/drawing/2014/main" id="{760B85D5-AC5B-08B0-4A72-389C52035A40}"/>
              </a:ext>
            </a:extLst>
          </p:cNvPr>
          <p:cNvPicPr preferRelativeResize="0"/>
          <p:nvPr/>
        </p:nvPicPr>
        <p:blipFill rotWithShape="1">
          <a:blip r:embed="rId4">
            <a:alphaModFix/>
          </a:blip>
          <a:srcRect/>
          <a:stretch/>
        </p:blipFill>
        <p:spPr>
          <a:xfrm>
            <a:off x="659183" y="6441981"/>
            <a:ext cx="1729633" cy="384363"/>
          </a:xfrm>
          <a:prstGeom prst="rect">
            <a:avLst/>
          </a:prstGeom>
          <a:noFill/>
          <a:ln>
            <a:noFill/>
          </a:ln>
        </p:spPr>
      </p:pic>
      <p:sp>
        <p:nvSpPr>
          <p:cNvPr id="504" name="Google Shape;504;p45">
            <a:extLst>
              <a:ext uri="{FF2B5EF4-FFF2-40B4-BE49-F238E27FC236}">
                <a16:creationId xmlns:a16="http://schemas.microsoft.com/office/drawing/2014/main" id="{403181CB-ED41-0439-0A25-1AEAF0E35A09}"/>
              </a:ext>
            </a:extLst>
          </p:cNvPr>
          <p:cNvSpPr txBox="1">
            <a:spLocks noGrp="1"/>
          </p:cNvSpPr>
          <p:nvPr>
            <p:ph type="dt" idx="10"/>
          </p:nvPr>
        </p:nvSpPr>
        <p:spPr>
          <a:xfrm>
            <a:off x="9332517" y="64262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en-GB" dirty="0"/>
              <a:t>13 September 2026</a:t>
            </a:r>
            <a:endParaRPr dirty="0"/>
          </a:p>
        </p:txBody>
      </p:sp>
      <p:sp>
        <p:nvSpPr>
          <p:cNvPr id="505" name="Google Shape;505;p45">
            <a:extLst>
              <a:ext uri="{FF2B5EF4-FFF2-40B4-BE49-F238E27FC236}">
                <a16:creationId xmlns:a16="http://schemas.microsoft.com/office/drawing/2014/main" id="{B0F5BA83-C466-2446-221A-ADCF77D74829}"/>
              </a:ext>
            </a:extLst>
          </p:cNvPr>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200"/>
              <a:buNone/>
            </a:pPr>
            <a:fld id="{00000000-1234-1234-1234-123412341234}" type="slidenum">
              <a:rPr lang="en-GB"/>
              <a:t>7</a:t>
            </a:fld>
            <a:endParaRPr/>
          </a:p>
        </p:txBody>
      </p:sp>
      <p:pic>
        <p:nvPicPr>
          <p:cNvPr id="506" name="Google Shape;506;p45" descr="Une image contenant texte, Police, Graphique, capture d’écran&#10;&#10;Description générée automatiquement">
            <a:extLst>
              <a:ext uri="{FF2B5EF4-FFF2-40B4-BE49-F238E27FC236}">
                <a16:creationId xmlns:a16="http://schemas.microsoft.com/office/drawing/2014/main" id="{FFE66E00-FD1E-0B45-F172-58381D147409}"/>
              </a:ext>
            </a:extLst>
          </p:cNvPr>
          <p:cNvPicPr preferRelativeResize="0"/>
          <p:nvPr/>
        </p:nvPicPr>
        <p:blipFill rotWithShape="1">
          <a:blip r:embed="rId5">
            <a:alphaModFix/>
          </a:blip>
          <a:srcRect/>
          <a:stretch/>
        </p:blipFill>
        <p:spPr>
          <a:xfrm>
            <a:off x="9135880" y="28031"/>
            <a:ext cx="2939837" cy="764359"/>
          </a:xfrm>
          <a:prstGeom prst="rect">
            <a:avLst/>
          </a:prstGeom>
          <a:noFill/>
          <a:ln>
            <a:noFill/>
          </a:ln>
        </p:spPr>
      </p:pic>
      <p:sp>
        <p:nvSpPr>
          <p:cNvPr id="482" name="Title">
            <a:extLst>
              <a:ext uri="{FF2B5EF4-FFF2-40B4-BE49-F238E27FC236}">
                <a16:creationId xmlns:a16="http://schemas.microsoft.com/office/drawing/2014/main" id="{C05A1F72-B2BB-6C1B-422D-68F6A0590BFB}"/>
              </a:ext>
            </a:extLst>
          </p:cNvPr>
          <p:cNvSpPr>
            <a:spLocks noGrp="1"/>
          </p:cNvSpPr>
          <p:nvPr/>
        </p:nvSpPr>
        <p:spPr>
          <a:xfrm>
            <a:off x="719138" y="792390"/>
            <a:ext cx="10972800" cy="609600"/>
          </a:xfrm>
          <a:prstGeom prst="rect">
            <a:avLst/>
          </a:prstGeom>
          <a:noFill/>
          <a:ln w="0">
            <a:noFill/>
          </a:ln>
        </p:spPr>
        <p:txBody>
          <a:bodyPr lIns="0" tIns="0" rIns="0" bIns="0" anchor="ctr">
            <a:noAutofit/>
          </a:bodyPr>
          <a:lstStyle/>
          <a:p>
            <a:pPr algn="l">
              <a:defRPr sz="3300" b="1">
                <a:solidFill>
                  <a:srgbClr val="14354E"/>
                </a:solidFill>
                <a:latin typeface="Bitstream Charter"/>
                <a:ea typeface="Bitstream Charter"/>
                <a:cs typeface="Bitstream Charter"/>
              </a:defRPr>
            </a:pPr>
            <a:r>
              <a:rPr sz="4400" b="1" dirty="0">
                <a:solidFill>
                  <a:srgbClr val="30A4CF"/>
                </a:solidFill>
                <a:latin typeface="Nunito"/>
              </a:rPr>
              <a:t>Dynamic</a:t>
            </a:r>
            <a:r>
              <a:rPr lang="en-US" sz="4400" b="1" dirty="0">
                <a:solidFill>
                  <a:srgbClr val="30A4CF"/>
                </a:solidFill>
                <a:latin typeface="Nunito"/>
              </a:rPr>
              <a:t> System-Level</a:t>
            </a:r>
            <a:r>
              <a:rPr sz="4400" b="1" dirty="0">
                <a:solidFill>
                  <a:srgbClr val="30A4CF"/>
                </a:solidFill>
                <a:latin typeface="Nunito"/>
              </a:rPr>
              <a:t> modelling</a:t>
            </a:r>
          </a:p>
        </p:txBody>
      </p:sp>
      <p:sp>
        <p:nvSpPr>
          <p:cNvPr id="488" name="Inputs heading">
            <a:extLst>
              <a:ext uri="{FF2B5EF4-FFF2-40B4-BE49-F238E27FC236}">
                <a16:creationId xmlns:a16="http://schemas.microsoft.com/office/drawing/2014/main" id="{67B3E6B7-7C23-10AE-24EC-BE94BC560213}"/>
              </a:ext>
            </a:extLst>
          </p:cNvPr>
          <p:cNvSpPr>
            <a:spLocks noGrp="1"/>
          </p:cNvSpPr>
          <p:nvPr/>
        </p:nvSpPr>
        <p:spPr>
          <a:xfrm>
            <a:off x="1026717" y="2349139"/>
            <a:ext cx="2762250" cy="419100"/>
          </a:xfrm>
          <a:prstGeom prst="rect">
            <a:avLst/>
          </a:prstGeom>
          <a:noFill/>
          <a:ln w="0">
            <a:noFill/>
          </a:ln>
        </p:spPr>
        <p:txBody>
          <a:bodyPr lIns="0" tIns="0" rIns="0" bIns="0" anchor="ctr">
            <a:noAutofit/>
          </a:bodyPr>
          <a:lstStyle/>
          <a:p>
            <a:pPr algn="l">
              <a:defRPr sz="2100" b="1">
                <a:solidFill>
                  <a:srgbClr val="096AA8"/>
                </a:solidFill>
                <a:latin typeface="Bitstream Charter"/>
                <a:ea typeface="Bitstream Charter"/>
                <a:cs typeface="Bitstream Charter"/>
              </a:defRPr>
            </a:pPr>
            <a:r>
              <a:rPr sz="2100" b="1">
                <a:solidFill>
                  <a:srgbClr val="096AA8"/>
                </a:solidFill>
                <a:latin typeface="Arial" panose="020B0604020202020204" pitchFamily="34" charset="0"/>
                <a:ea typeface="Bitstream Charter"/>
                <a:cs typeface="Arial" panose="020B0604020202020204" pitchFamily="34" charset="0"/>
              </a:rPr>
              <a:t>Changing conditions</a:t>
            </a:r>
          </a:p>
        </p:txBody>
      </p:sp>
      <p:sp>
        <p:nvSpPr>
          <p:cNvPr id="490" name="Inputs">
            <a:extLst>
              <a:ext uri="{FF2B5EF4-FFF2-40B4-BE49-F238E27FC236}">
                <a16:creationId xmlns:a16="http://schemas.microsoft.com/office/drawing/2014/main" id="{524B2D64-21E3-12E3-EDB5-534B6069AF91}"/>
              </a:ext>
            </a:extLst>
          </p:cNvPr>
          <p:cNvSpPr>
            <a:spLocks noGrp="1"/>
          </p:cNvSpPr>
          <p:nvPr/>
        </p:nvSpPr>
        <p:spPr>
          <a:xfrm>
            <a:off x="1026717" y="2892064"/>
            <a:ext cx="2667000" cy="1219200"/>
          </a:xfrm>
          <a:prstGeom prst="rect">
            <a:avLst/>
          </a:prstGeom>
          <a:noFill/>
          <a:ln w="0">
            <a:noFill/>
          </a:ln>
        </p:spPr>
        <p:txBody>
          <a:bodyPr lIns="0" tIns="0" rIns="0" bIns="0" anchor="ctr">
            <a:noAutofit/>
          </a:bodyPr>
          <a:lstStyle/>
          <a:p>
            <a:pPr algn="l">
              <a:defRPr sz="1950" b="0">
                <a:solidFill>
                  <a:srgbClr val="14354E"/>
                </a:solidFill>
                <a:latin typeface="Bitstream Charter"/>
                <a:ea typeface="Bitstream Charter"/>
                <a:cs typeface="Bitstream Charter"/>
              </a:defRPr>
            </a:pPr>
            <a:r>
              <a:rPr sz="1950" b="0" dirty="0">
                <a:solidFill>
                  <a:srgbClr val="14354E"/>
                </a:solidFill>
                <a:latin typeface="Arial" panose="020B0604020202020204" pitchFamily="34" charset="0"/>
                <a:ea typeface="Bitstream Charter"/>
                <a:cs typeface="Arial" panose="020B0604020202020204" pitchFamily="34" charset="0"/>
              </a:rPr>
              <a:t>Weather and sunlight</a:t>
            </a:r>
          </a:p>
          <a:p>
            <a:pPr algn="l">
              <a:defRPr sz="1950" b="0">
                <a:solidFill>
                  <a:srgbClr val="14354E"/>
                </a:solidFill>
                <a:latin typeface="Bitstream Charter"/>
                <a:ea typeface="Bitstream Charter"/>
                <a:cs typeface="Bitstream Charter"/>
              </a:defRPr>
            </a:pPr>
            <a:r>
              <a:rPr sz="1950" b="0" dirty="0">
                <a:solidFill>
                  <a:srgbClr val="14354E"/>
                </a:solidFill>
                <a:latin typeface="Arial" panose="020B0604020202020204" pitchFamily="34" charset="0"/>
                <a:ea typeface="Bitstream Charter"/>
                <a:cs typeface="Arial" panose="020B0604020202020204" pitchFamily="34" charset="0"/>
              </a:rPr>
              <a:t>Crop arrivals</a:t>
            </a:r>
          </a:p>
          <a:p>
            <a:pPr algn="l">
              <a:defRPr sz="1950" b="0">
                <a:solidFill>
                  <a:srgbClr val="14354E"/>
                </a:solidFill>
                <a:latin typeface="Bitstream Charter"/>
                <a:ea typeface="Bitstream Charter"/>
                <a:cs typeface="Bitstream Charter"/>
              </a:defRPr>
            </a:pPr>
            <a:r>
              <a:rPr sz="1950" b="0" dirty="0">
                <a:solidFill>
                  <a:srgbClr val="14354E"/>
                </a:solidFill>
                <a:latin typeface="Arial" panose="020B0604020202020204" pitchFamily="34" charset="0"/>
                <a:ea typeface="Bitstream Charter"/>
                <a:cs typeface="Arial" panose="020B0604020202020204" pitchFamily="34" charset="0"/>
              </a:rPr>
              <a:t>Other heat gains</a:t>
            </a:r>
          </a:p>
        </p:txBody>
      </p:sp>
      <p:sp>
        <p:nvSpPr>
          <p:cNvPr id="492" name="Direction of information flow">
            <a:extLst>
              <a:ext uri="{FF2B5EF4-FFF2-40B4-BE49-F238E27FC236}">
                <a16:creationId xmlns:a16="http://schemas.microsoft.com/office/drawing/2014/main" id="{6F4B6263-81D3-2DD4-8327-AF0E169A027C}"/>
              </a:ext>
            </a:extLst>
          </p:cNvPr>
          <p:cNvSpPr>
            <a:spLocks noGrp="1"/>
          </p:cNvSpPr>
          <p:nvPr/>
        </p:nvSpPr>
        <p:spPr>
          <a:xfrm>
            <a:off x="3760392" y="3187339"/>
            <a:ext cx="400050" cy="228600"/>
          </a:xfrm>
          <a:prstGeom prst="rightArrow">
            <a:avLst/>
          </a:prstGeom>
          <a:solidFill>
            <a:srgbClr val="096AA8"/>
          </a:solidFill>
          <a:ln w="0">
            <a:noFill/>
          </a:ln>
        </p:spPr>
        <p:txBody>
          <a:bodyPr/>
          <a:lstStyle/>
          <a:p>
            <a:endParaRPr lang="en-US">
              <a:latin typeface="Arial" panose="020B0604020202020204" pitchFamily="34" charset="0"/>
              <a:cs typeface="Arial" panose="020B0604020202020204" pitchFamily="34" charset="0"/>
            </a:endParaRPr>
          </a:p>
        </p:txBody>
      </p:sp>
      <p:sp>
        <p:nvSpPr>
          <p:cNvPr id="494" name="Outputs heading">
            <a:extLst>
              <a:ext uri="{FF2B5EF4-FFF2-40B4-BE49-F238E27FC236}">
                <a16:creationId xmlns:a16="http://schemas.microsoft.com/office/drawing/2014/main" id="{7476DA09-9DC8-4F17-1BC6-C3D312570B74}"/>
              </a:ext>
            </a:extLst>
          </p:cNvPr>
          <p:cNvSpPr>
            <a:spLocks noGrp="1"/>
          </p:cNvSpPr>
          <p:nvPr/>
        </p:nvSpPr>
        <p:spPr>
          <a:xfrm>
            <a:off x="9456342" y="2349139"/>
            <a:ext cx="2619375" cy="419100"/>
          </a:xfrm>
          <a:prstGeom prst="rect">
            <a:avLst/>
          </a:prstGeom>
          <a:noFill/>
          <a:ln w="0">
            <a:noFill/>
          </a:ln>
        </p:spPr>
        <p:txBody>
          <a:bodyPr lIns="0" tIns="0" rIns="0" bIns="0" anchor="ctr">
            <a:noAutofit/>
          </a:bodyPr>
          <a:lstStyle/>
          <a:p>
            <a:pPr algn="l">
              <a:defRPr sz="2100" b="1">
                <a:solidFill>
                  <a:srgbClr val="096AA8"/>
                </a:solidFill>
                <a:latin typeface="Bitstream Charter"/>
                <a:ea typeface="Bitstream Charter"/>
                <a:cs typeface="Bitstream Charter"/>
              </a:defRPr>
            </a:pPr>
            <a:r>
              <a:rPr sz="2100" b="1">
                <a:solidFill>
                  <a:srgbClr val="096AA8"/>
                </a:solidFill>
                <a:latin typeface="Arial" panose="020B0604020202020204" pitchFamily="34" charset="0"/>
                <a:ea typeface="Bitstream Charter"/>
                <a:cs typeface="Arial" panose="020B0604020202020204" pitchFamily="34" charset="0"/>
              </a:rPr>
              <a:t>System response</a:t>
            </a:r>
          </a:p>
        </p:txBody>
      </p:sp>
      <p:sp>
        <p:nvSpPr>
          <p:cNvPr id="508" name="Outputs">
            <a:extLst>
              <a:ext uri="{FF2B5EF4-FFF2-40B4-BE49-F238E27FC236}">
                <a16:creationId xmlns:a16="http://schemas.microsoft.com/office/drawing/2014/main" id="{0B50C784-4E93-2AF5-3D68-2738518DFB64}"/>
              </a:ext>
            </a:extLst>
          </p:cNvPr>
          <p:cNvSpPr>
            <a:spLocks noGrp="1"/>
          </p:cNvSpPr>
          <p:nvPr/>
        </p:nvSpPr>
        <p:spPr>
          <a:xfrm>
            <a:off x="9456342" y="2892064"/>
            <a:ext cx="2619375" cy="1419225"/>
          </a:xfrm>
          <a:prstGeom prst="rect">
            <a:avLst/>
          </a:prstGeom>
          <a:noFill/>
          <a:ln w="0">
            <a:noFill/>
          </a:ln>
        </p:spPr>
        <p:txBody>
          <a:bodyPr lIns="0" tIns="0" rIns="0" bIns="0" anchor="ctr">
            <a:noAutofit/>
          </a:bodyPr>
          <a:lstStyle/>
          <a:p>
            <a:pPr algn="l">
              <a:defRPr sz="1950" b="0">
                <a:solidFill>
                  <a:srgbClr val="14354E"/>
                </a:solidFill>
                <a:latin typeface="Bitstream Charter"/>
                <a:ea typeface="Bitstream Charter"/>
                <a:cs typeface="Bitstream Charter"/>
              </a:defRPr>
            </a:pPr>
            <a:r>
              <a:rPr sz="1950" b="0">
                <a:solidFill>
                  <a:srgbClr val="14354E"/>
                </a:solidFill>
                <a:latin typeface="Arial" panose="020B0604020202020204" pitchFamily="34" charset="0"/>
                <a:ea typeface="Bitstream Charter"/>
                <a:cs typeface="Arial" panose="020B0604020202020204" pitchFamily="34" charset="0"/>
              </a:rPr>
              <a:t>Room and crop</a:t>
            </a:r>
          </a:p>
          <a:p>
            <a:pPr algn="l">
              <a:defRPr sz="1950" b="0">
                <a:solidFill>
                  <a:srgbClr val="14354E"/>
                </a:solidFill>
                <a:latin typeface="Bitstream Charter"/>
                <a:ea typeface="Bitstream Charter"/>
                <a:cs typeface="Bitstream Charter"/>
              </a:defRPr>
            </a:pPr>
            <a:r>
              <a:rPr sz="1950" b="0">
                <a:solidFill>
                  <a:srgbClr val="14354E"/>
                </a:solidFill>
                <a:latin typeface="Arial" panose="020B0604020202020204" pitchFamily="34" charset="0"/>
                <a:ea typeface="Bitstream Charter"/>
                <a:cs typeface="Arial" panose="020B0604020202020204" pitchFamily="34" charset="0"/>
              </a:rPr>
              <a:t>temperatures</a:t>
            </a:r>
          </a:p>
          <a:p>
            <a:pPr algn="l">
              <a:defRPr sz="1950" b="0">
                <a:solidFill>
                  <a:srgbClr val="14354E"/>
                </a:solidFill>
                <a:latin typeface="Bitstream Charter"/>
                <a:ea typeface="Bitstream Charter"/>
                <a:cs typeface="Bitstream Charter"/>
              </a:defRPr>
            </a:pPr>
            <a:r>
              <a:rPr sz="1950" b="0">
                <a:solidFill>
                  <a:srgbClr val="14354E"/>
                </a:solidFill>
                <a:latin typeface="Arial" panose="020B0604020202020204" pitchFamily="34" charset="0"/>
                <a:ea typeface="Bitstream Charter"/>
                <a:cs typeface="Arial" panose="020B0604020202020204" pitchFamily="34" charset="0"/>
              </a:rPr>
              <a:t>Storage state</a:t>
            </a:r>
          </a:p>
          <a:p>
            <a:pPr algn="l">
              <a:defRPr sz="1950" b="0">
                <a:solidFill>
                  <a:srgbClr val="14354E"/>
                </a:solidFill>
                <a:latin typeface="Bitstream Charter"/>
                <a:ea typeface="Bitstream Charter"/>
                <a:cs typeface="Bitstream Charter"/>
              </a:defRPr>
            </a:pPr>
            <a:r>
              <a:rPr sz="1950" b="0">
                <a:solidFill>
                  <a:srgbClr val="14354E"/>
                </a:solidFill>
                <a:latin typeface="Arial" panose="020B0604020202020204" pitchFamily="34" charset="0"/>
                <a:ea typeface="Bitstream Charter"/>
                <a:cs typeface="Arial" panose="020B0604020202020204" pitchFamily="34" charset="0"/>
              </a:rPr>
              <a:t>Electricity use</a:t>
            </a:r>
          </a:p>
        </p:txBody>
      </p:sp>
      <p:sp>
        <p:nvSpPr>
          <p:cNvPr id="510" name="Direction of information flow">
            <a:extLst>
              <a:ext uri="{FF2B5EF4-FFF2-40B4-BE49-F238E27FC236}">
                <a16:creationId xmlns:a16="http://schemas.microsoft.com/office/drawing/2014/main" id="{6AB9F323-4369-3EFF-3BF4-D3E0370EE143}"/>
              </a:ext>
            </a:extLst>
          </p:cNvPr>
          <p:cNvSpPr>
            <a:spLocks noGrp="1"/>
          </p:cNvSpPr>
          <p:nvPr/>
        </p:nvSpPr>
        <p:spPr>
          <a:xfrm>
            <a:off x="8970567" y="3187339"/>
            <a:ext cx="400050" cy="228600"/>
          </a:xfrm>
          <a:prstGeom prst="rightArrow">
            <a:avLst/>
          </a:prstGeom>
          <a:solidFill>
            <a:srgbClr val="096AA8"/>
          </a:solidFill>
          <a:ln w="0">
            <a:noFill/>
          </a:ln>
        </p:spPr>
        <p:txBody>
          <a:bodyPr/>
          <a:lstStyle/>
          <a:p>
            <a:endParaRPr lang="en-US">
              <a:latin typeface="Arial" panose="020B0604020202020204" pitchFamily="34" charset="0"/>
              <a:cs typeface="Arial" panose="020B0604020202020204" pitchFamily="34" charset="0"/>
            </a:endParaRPr>
          </a:p>
        </p:txBody>
      </p:sp>
      <p:sp>
        <p:nvSpPr>
          <p:cNvPr id="512" name="Model content">
            <a:extLst>
              <a:ext uri="{FF2B5EF4-FFF2-40B4-BE49-F238E27FC236}">
                <a16:creationId xmlns:a16="http://schemas.microsoft.com/office/drawing/2014/main" id="{F48D0FBD-A22B-47A5-6DA7-083F7B1C6FFA}"/>
              </a:ext>
            </a:extLst>
          </p:cNvPr>
          <p:cNvSpPr>
            <a:spLocks noGrp="1"/>
          </p:cNvSpPr>
          <p:nvPr/>
        </p:nvSpPr>
        <p:spPr>
          <a:xfrm>
            <a:off x="4095237" y="4811788"/>
            <a:ext cx="4572000" cy="666750"/>
          </a:xfrm>
          <a:prstGeom prst="rect">
            <a:avLst/>
          </a:prstGeom>
          <a:noFill/>
          <a:ln w="0">
            <a:noFill/>
          </a:ln>
        </p:spPr>
        <p:txBody>
          <a:bodyPr lIns="0" tIns="0" rIns="0" bIns="0" anchor="ctr">
            <a:noAutofit/>
          </a:bodyPr>
          <a:lstStyle/>
          <a:p>
            <a:pPr algn="ctr">
              <a:defRPr sz="2025" b="1">
                <a:solidFill>
                  <a:srgbClr val="096AA8"/>
                </a:solidFill>
                <a:latin typeface="Bitstream Charter"/>
                <a:ea typeface="Bitstream Charter"/>
                <a:cs typeface="Bitstream Charter"/>
              </a:defRPr>
            </a:pPr>
            <a:r>
              <a:rPr sz="2025" b="1" dirty="0">
                <a:solidFill>
                  <a:srgbClr val="096AA8"/>
                </a:solidFill>
                <a:latin typeface="Arial" panose="020B0604020202020204" pitchFamily="34" charset="0"/>
                <a:ea typeface="Bitstream Charter"/>
                <a:cs typeface="Arial" panose="020B0604020202020204" pitchFamily="34" charset="0"/>
              </a:rPr>
              <a:t>Components + energy balances</a:t>
            </a:r>
          </a:p>
          <a:p>
            <a:pPr algn="ctr">
              <a:defRPr sz="2025" b="1">
                <a:solidFill>
                  <a:srgbClr val="096AA8"/>
                </a:solidFill>
                <a:latin typeface="Bitstream Charter"/>
                <a:ea typeface="Bitstream Charter"/>
                <a:cs typeface="Bitstream Charter"/>
              </a:defRPr>
            </a:pPr>
            <a:r>
              <a:rPr sz="2025" b="1" dirty="0">
                <a:solidFill>
                  <a:srgbClr val="096AA8"/>
                </a:solidFill>
                <a:latin typeface="Arial" panose="020B0604020202020204" pitchFamily="34" charset="0"/>
                <a:ea typeface="Bitstream Charter"/>
                <a:cs typeface="Arial" panose="020B0604020202020204" pitchFamily="34" charset="0"/>
              </a:rPr>
              <a:t>+ control logic</a:t>
            </a:r>
          </a:p>
        </p:txBody>
      </p:sp>
      <p:sp>
        <p:nvSpPr>
          <p:cNvPr id="514" name="Purpose">
            <a:extLst>
              <a:ext uri="{FF2B5EF4-FFF2-40B4-BE49-F238E27FC236}">
                <a16:creationId xmlns:a16="http://schemas.microsoft.com/office/drawing/2014/main" id="{5D2EE7A7-6FED-9BA3-8861-9B06D0FDE758}"/>
              </a:ext>
            </a:extLst>
          </p:cNvPr>
          <p:cNvSpPr>
            <a:spLocks noGrp="1"/>
          </p:cNvSpPr>
          <p:nvPr/>
        </p:nvSpPr>
        <p:spPr>
          <a:xfrm>
            <a:off x="2028646" y="5705611"/>
            <a:ext cx="9073715" cy="381000"/>
          </a:xfrm>
          <a:prstGeom prst="rect">
            <a:avLst/>
          </a:prstGeom>
          <a:noFill/>
          <a:ln w="0">
            <a:noFill/>
          </a:ln>
        </p:spPr>
        <p:txBody>
          <a:bodyPr lIns="0" tIns="0" rIns="0" bIns="0" anchor="ctr">
            <a:noAutofit/>
          </a:bodyPr>
          <a:lstStyle/>
          <a:p>
            <a:pPr algn="ctr">
              <a:defRPr sz="2175" b="1">
                <a:solidFill>
                  <a:srgbClr val="14354E"/>
                </a:solidFill>
                <a:latin typeface="Bitstream Charter"/>
                <a:ea typeface="Bitstream Charter"/>
                <a:cs typeface="Bitstream Charter"/>
              </a:defRPr>
            </a:pPr>
            <a:r>
              <a:rPr sz="2175" b="1" dirty="0">
                <a:solidFill>
                  <a:srgbClr val="14354E"/>
                </a:solidFill>
                <a:latin typeface="Arial" panose="020B0604020202020204" pitchFamily="34" charset="0"/>
                <a:ea typeface="Bitstream Charter"/>
                <a:cs typeface="Arial" panose="020B0604020202020204" pitchFamily="34" charset="0"/>
              </a:rPr>
              <a:t>Assess whether temperature requirements are met, day and night.</a:t>
            </a:r>
          </a:p>
        </p:txBody>
      </p:sp>
      <p:pic>
        <p:nvPicPr>
          <p:cNvPr id="516" name="Picture 515">
            <a:extLst>
              <a:ext uri="{FF2B5EF4-FFF2-40B4-BE49-F238E27FC236}">
                <a16:creationId xmlns:a16="http://schemas.microsoft.com/office/drawing/2014/main" id="{B7AA41BB-A513-BF64-063C-D0E78B24570B}"/>
              </a:ext>
            </a:extLst>
          </p:cNvPr>
          <p:cNvPicPr>
            <a:picLocks noChangeAspect="1"/>
          </p:cNvPicPr>
          <p:nvPr/>
        </p:nvPicPr>
        <p:blipFill>
          <a:blip r:embed="rId6"/>
          <a:stretch>
            <a:fillRect/>
          </a:stretch>
        </p:blipFill>
        <p:spPr>
          <a:xfrm>
            <a:off x="4391058" y="2005511"/>
            <a:ext cx="4348893" cy="2537442"/>
          </a:xfrm>
          <a:prstGeom prst="rect">
            <a:avLst/>
          </a:prstGeom>
        </p:spPr>
      </p:pic>
    </p:spTree>
    <p:extLst>
      <p:ext uri="{BB962C8B-B14F-4D97-AF65-F5344CB8AC3E}">
        <p14:creationId xmlns:p14="http://schemas.microsoft.com/office/powerpoint/2010/main" val="218262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9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9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9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8" grpId="0"/>
      <p:bldP spid="490" grpId="0"/>
      <p:bldP spid="492" grpId="0" animBg="1"/>
      <p:bldP spid="494" grpId="0"/>
      <p:bldP spid="508" grpId="0"/>
      <p:bldP spid="510" grpId="0" animBg="1"/>
      <p:bldP spid="512" grpId="0"/>
      <p:bldP spid="5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94">
          <a:extLst>
            <a:ext uri="{FF2B5EF4-FFF2-40B4-BE49-F238E27FC236}">
              <a16:creationId xmlns:a16="http://schemas.microsoft.com/office/drawing/2014/main" id="{844D65B0-8965-55D0-6BF9-D8D55B8308F9}"/>
            </a:ext>
          </a:extLst>
        </p:cNvPr>
        <p:cNvGrpSpPr/>
        <p:nvPr/>
      </p:nvGrpSpPr>
      <p:grpSpPr>
        <a:xfrm>
          <a:off x="0" y="0"/>
          <a:ext cx="0" cy="0"/>
          <a:chOff x="0" y="0"/>
          <a:chExt cx="0" cy="0"/>
        </a:xfrm>
      </p:grpSpPr>
      <p:pic>
        <p:nvPicPr>
          <p:cNvPr id="495" name="Google Shape;495;p45" descr="Une image contenant ciel, plein air, nuage, agriculture&#10;&#10;Description générée automatiquement">
            <a:extLst>
              <a:ext uri="{FF2B5EF4-FFF2-40B4-BE49-F238E27FC236}">
                <a16:creationId xmlns:a16="http://schemas.microsoft.com/office/drawing/2014/main" id="{92A918AC-40D0-9725-6F78-8381A60D6777}"/>
              </a:ext>
            </a:extLst>
          </p:cNvPr>
          <p:cNvPicPr preferRelativeResize="0"/>
          <p:nvPr/>
        </p:nvPicPr>
        <p:blipFill rotWithShape="1">
          <a:blip r:embed="rId3">
            <a:alphaModFix/>
          </a:blip>
          <a:srcRect l="5973" t="9105" b="15903"/>
          <a:stretch/>
        </p:blipFill>
        <p:spPr>
          <a:xfrm>
            <a:off x="719138" y="0"/>
            <a:ext cx="11472863" cy="6858000"/>
          </a:xfrm>
          <a:prstGeom prst="rect">
            <a:avLst/>
          </a:prstGeom>
          <a:noFill/>
          <a:ln>
            <a:noFill/>
          </a:ln>
        </p:spPr>
      </p:pic>
      <p:sp>
        <p:nvSpPr>
          <p:cNvPr id="496" name="Google Shape;496;p45">
            <a:extLst>
              <a:ext uri="{FF2B5EF4-FFF2-40B4-BE49-F238E27FC236}">
                <a16:creationId xmlns:a16="http://schemas.microsoft.com/office/drawing/2014/main" id="{3CD54BBE-7AB0-1F18-7D91-D4CAF4478D7D}"/>
              </a:ext>
            </a:extLst>
          </p:cNvPr>
          <p:cNvSpPr/>
          <p:nvPr/>
        </p:nvSpPr>
        <p:spPr>
          <a:xfrm>
            <a:off x="664273" y="0"/>
            <a:ext cx="11527727" cy="6858000"/>
          </a:xfrm>
          <a:prstGeom prst="rect">
            <a:avLst/>
          </a:prstGeom>
          <a:solidFill>
            <a:schemeClr val="lt1">
              <a:alpha val="93725"/>
            </a:schemeClr>
          </a:solidFill>
          <a:ln>
            <a:noFill/>
          </a:ln>
          <a:effectLst>
            <a:outerShdw blurRad="876300" dist="393700" dir="5400000" algn="t" rotWithShape="0">
              <a:srgbClr val="000000">
                <a:alpha val="784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dirty="0">
              <a:solidFill>
                <a:srgbClr val="FF0000"/>
              </a:solidFill>
              <a:latin typeface="Calibri"/>
              <a:ea typeface="Calibri"/>
              <a:cs typeface="Calibri"/>
              <a:sym typeface="Calibri"/>
            </a:endParaRPr>
          </a:p>
        </p:txBody>
      </p:sp>
      <p:sp>
        <p:nvSpPr>
          <p:cNvPr id="497" name="Google Shape;497;p45">
            <a:extLst>
              <a:ext uri="{FF2B5EF4-FFF2-40B4-BE49-F238E27FC236}">
                <a16:creationId xmlns:a16="http://schemas.microsoft.com/office/drawing/2014/main" id="{2A7C9EEF-1954-836D-F04A-DBFA89E23CB4}"/>
              </a:ext>
            </a:extLst>
          </p:cNvPr>
          <p:cNvSpPr txBox="1"/>
          <p:nvPr/>
        </p:nvSpPr>
        <p:spPr>
          <a:xfrm rot="-5400000">
            <a:off x="-797364" y="5204656"/>
            <a:ext cx="2251455" cy="38856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lt1"/>
                </a:solidFill>
                <a:latin typeface="Nunito Sans SemiBold"/>
                <a:ea typeface="Nunito Sans SemiBold"/>
                <a:cs typeface="Nunito Sans SemiBold"/>
                <a:sym typeface="Nunito Sans SemiBold"/>
              </a:rPr>
              <a:t>AGRICOOL</a:t>
            </a:r>
            <a:endParaRPr sz="1400" b="0" i="0" u="none" strike="noStrike" cap="none">
              <a:solidFill>
                <a:srgbClr val="000000"/>
              </a:solidFill>
              <a:latin typeface="Arial"/>
              <a:ea typeface="Arial"/>
              <a:cs typeface="Arial"/>
              <a:sym typeface="Arial"/>
            </a:endParaRPr>
          </a:p>
        </p:txBody>
      </p:sp>
      <p:pic>
        <p:nvPicPr>
          <p:cNvPr id="503" name="Google Shape;503;p45" descr="Une image contenant capture d’écran, Bleu électrique, Police, Bleu Majorelle&#10;&#10;Description générée automatiquement">
            <a:extLst>
              <a:ext uri="{FF2B5EF4-FFF2-40B4-BE49-F238E27FC236}">
                <a16:creationId xmlns:a16="http://schemas.microsoft.com/office/drawing/2014/main" id="{4846D6D0-245B-4406-6027-9B1E2A9B550A}"/>
              </a:ext>
            </a:extLst>
          </p:cNvPr>
          <p:cNvPicPr preferRelativeResize="0"/>
          <p:nvPr/>
        </p:nvPicPr>
        <p:blipFill rotWithShape="1">
          <a:blip r:embed="rId4">
            <a:alphaModFix/>
          </a:blip>
          <a:srcRect/>
          <a:stretch/>
        </p:blipFill>
        <p:spPr>
          <a:xfrm>
            <a:off x="659183" y="6441981"/>
            <a:ext cx="1729633" cy="384363"/>
          </a:xfrm>
          <a:prstGeom prst="rect">
            <a:avLst/>
          </a:prstGeom>
          <a:noFill/>
          <a:ln>
            <a:noFill/>
          </a:ln>
        </p:spPr>
      </p:pic>
      <p:sp>
        <p:nvSpPr>
          <p:cNvPr id="504" name="Google Shape;504;p45">
            <a:extLst>
              <a:ext uri="{FF2B5EF4-FFF2-40B4-BE49-F238E27FC236}">
                <a16:creationId xmlns:a16="http://schemas.microsoft.com/office/drawing/2014/main" id="{87666801-5A08-A324-7A09-C988EC94857B}"/>
              </a:ext>
            </a:extLst>
          </p:cNvPr>
          <p:cNvSpPr txBox="1">
            <a:spLocks noGrp="1"/>
          </p:cNvSpPr>
          <p:nvPr>
            <p:ph type="dt" idx="10"/>
          </p:nvPr>
        </p:nvSpPr>
        <p:spPr>
          <a:xfrm>
            <a:off x="9332517" y="64262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en-GB" dirty="0"/>
              <a:t>13 September 2026</a:t>
            </a:r>
            <a:endParaRPr dirty="0"/>
          </a:p>
        </p:txBody>
      </p:sp>
      <p:sp>
        <p:nvSpPr>
          <p:cNvPr id="505" name="Google Shape;505;p45">
            <a:extLst>
              <a:ext uri="{FF2B5EF4-FFF2-40B4-BE49-F238E27FC236}">
                <a16:creationId xmlns:a16="http://schemas.microsoft.com/office/drawing/2014/main" id="{D3132AB2-B6FE-778F-825B-6AB1D04749A3}"/>
              </a:ext>
            </a:extLst>
          </p:cNvPr>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200"/>
              <a:buNone/>
            </a:pPr>
            <a:fld id="{00000000-1234-1234-1234-123412341234}" type="slidenum">
              <a:rPr lang="en-GB"/>
              <a:t>8</a:t>
            </a:fld>
            <a:endParaRPr/>
          </a:p>
        </p:txBody>
      </p:sp>
      <p:sp>
        <p:nvSpPr>
          <p:cNvPr id="4" name="Title">
            <a:extLst>
              <a:ext uri="{FF2B5EF4-FFF2-40B4-BE49-F238E27FC236}">
                <a16:creationId xmlns:a16="http://schemas.microsoft.com/office/drawing/2014/main" id="{E00411A6-5754-FA47-18A7-B939B69EE3FB}"/>
              </a:ext>
            </a:extLst>
          </p:cNvPr>
          <p:cNvSpPr>
            <a:spLocks noGrp="1"/>
          </p:cNvSpPr>
          <p:nvPr/>
        </p:nvSpPr>
        <p:spPr>
          <a:xfrm>
            <a:off x="909519" y="369950"/>
            <a:ext cx="10972800" cy="638175"/>
          </a:xfrm>
          <a:prstGeom prst="rect">
            <a:avLst/>
          </a:prstGeom>
          <a:noFill/>
          <a:ln w="0">
            <a:noFill/>
          </a:ln>
        </p:spPr>
        <p:txBody>
          <a:bodyPr lIns="0" tIns="0" rIns="0" bIns="0" anchor="ctr">
            <a:noAutofit/>
          </a:bodyPr>
          <a:lstStyle/>
          <a:p>
            <a:pPr algn="l">
              <a:defRPr sz="3300" b="1">
                <a:solidFill>
                  <a:srgbClr val="14354E"/>
                </a:solidFill>
                <a:latin typeface="Bitstream Charter"/>
                <a:ea typeface="Bitstream Charter"/>
                <a:cs typeface="Bitstream Charter"/>
              </a:defRPr>
            </a:pPr>
            <a:r>
              <a:rPr sz="4400" b="1" dirty="0">
                <a:solidFill>
                  <a:srgbClr val="30A4CF"/>
                </a:solidFill>
                <a:latin typeface="Nunito"/>
              </a:rPr>
              <a:t>Modelica for dynamic system modelling</a:t>
            </a:r>
          </a:p>
        </p:txBody>
      </p:sp>
      <p:sp>
        <p:nvSpPr>
          <p:cNvPr id="5" name="Subtitle">
            <a:extLst>
              <a:ext uri="{FF2B5EF4-FFF2-40B4-BE49-F238E27FC236}">
                <a16:creationId xmlns:a16="http://schemas.microsoft.com/office/drawing/2014/main" id="{0A8B8E0E-3846-04C1-C1FC-97D09CB06DB4}"/>
              </a:ext>
            </a:extLst>
          </p:cNvPr>
          <p:cNvSpPr>
            <a:spLocks noGrp="1"/>
          </p:cNvSpPr>
          <p:nvPr/>
        </p:nvSpPr>
        <p:spPr>
          <a:xfrm>
            <a:off x="909519" y="1103375"/>
            <a:ext cx="10972800" cy="533400"/>
          </a:xfrm>
          <a:prstGeom prst="rect">
            <a:avLst/>
          </a:prstGeom>
          <a:noFill/>
          <a:ln w="0">
            <a:noFill/>
          </a:ln>
        </p:spPr>
        <p:txBody>
          <a:bodyPr lIns="0" tIns="0" rIns="0" bIns="0" anchor="ctr">
            <a:noAutofit/>
          </a:bodyPr>
          <a:lstStyle/>
          <a:p>
            <a:pPr algn="l">
              <a:defRPr sz="2025" b="0">
                <a:solidFill>
                  <a:srgbClr val="456174"/>
                </a:solidFill>
                <a:latin typeface="Bitstream Charter"/>
                <a:ea typeface="Bitstream Charter"/>
                <a:cs typeface="Bitstream Charter"/>
              </a:defRPr>
            </a:pPr>
            <a:r>
              <a:rPr sz="2025" b="0">
                <a:solidFill>
                  <a:srgbClr val="456174"/>
                </a:solidFill>
                <a:latin typeface="Arial" panose="020B0604020202020204" pitchFamily="34" charset="0"/>
                <a:ea typeface="Bitstream Charter"/>
                <a:cs typeface="Arial" panose="020B0604020202020204" pitchFamily="34" charset="0"/>
              </a:rPr>
              <a:t>Our chosen language for describing connected physical systems</a:t>
            </a:r>
          </a:p>
        </p:txBody>
      </p:sp>
      <p:sp>
        <p:nvSpPr>
          <p:cNvPr id="8" name="Equation-based">
            <a:extLst>
              <a:ext uri="{FF2B5EF4-FFF2-40B4-BE49-F238E27FC236}">
                <a16:creationId xmlns:a16="http://schemas.microsoft.com/office/drawing/2014/main" id="{996D8249-41B6-8550-DC94-59668142E81C}"/>
              </a:ext>
            </a:extLst>
          </p:cNvPr>
          <p:cNvSpPr>
            <a:spLocks noGrp="1"/>
          </p:cNvSpPr>
          <p:nvPr/>
        </p:nvSpPr>
        <p:spPr>
          <a:xfrm>
            <a:off x="909519" y="1997949"/>
            <a:ext cx="5715000" cy="323850"/>
          </a:xfrm>
          <a:prstGeom prst="rect">
            <a:avLst/>
          </a:prstGeom>
          <a:noFill/>
          <a:ln w="0">
            <a:noFill/>
          </a:ln>
        </p:spPr>
        <p:txBody>
          <a:bodyPr lIns="0" tIns="0" rIns="0" bIns="0" anchor="ctr">
            <a:noAutofit/>
          </a:bodyPr>
          <a:lstStyle/>
          <a:p>
            <a:pPr algn="l">
              <a:defRPr sz="2175" b="1">
                <a:solidFill>
                  <a:srgbClr val="096AA8"/>
                </a:solidFill>
                <a:latin typeface="Bitstream Charter"/>
                <a:ea typeface="Bitstream Charter"/>
                <a:cs typeface="Bitstream Charter"/>
              </a:defRPr>
            </a:pPr>
            <a:r>
              <a:rPr sz="2175" b="1" dirty="0">
                <a:solidFill>
                  <a:srgbClr val="096AA8"/>
                </a:solidFill>
                <a:latin typeface="Arial" panose="020B0604020202020204" pitchFamily="34" charset="0"/>
                <a:ea typeface="Bitstream Charter"/>
                <a:cs typeface="Arial" panose="020B0604020202020204" pitchFamily="34" charset="0"/>
              </a:rPr>
              <a:t>Equation-based</a:t>
            </a:r>
          </a:p>
        </p:txBody>
      </p:sp>
      <p:sp>
        <p:nvSpPr>
          <p:cNvPr id="9" name="Equation-based detail">
            <a:extLst>
              <a:ext uri="{FF2B5EF4-FFF2-40B4-BE49-F238E27FC236}">
                <a16:creationId xmlns:a16="http://schemas.microsoft.com/office/drawing/2014/main" id="{16BF092E-1614-4341-0C07-43D526F71D63}"/>
              </a:ext>
            </a:extLst>
          </p:cNvPr>
          <p:cNvSpPr>
            <a:spLocks noGrp="1"/>
          </p:cNvSpPr>
          <p:nvPr/>
        </p:nvSpPr>
        <p:spPr>
          <a:xfrm>
            <a:off x="909519" y="2364613"/>
            <a:ext cx="5905500" cy="726652"/>
          </a:xfrm>
          <a:prstGeom prst="rect">
            <a:avLst/>
          </a:prstGeom>
          <a:noFill/>
          <a:ln w="0">
            <a:noFill/>
          </a:ln>
        </p:spPr>
        <p:txBody>
          <a:bodyPr lIns="0" tIns="0" rIns="0" bIns="0" anchor="ctr">
            <a:noAutofit/>
          </a:bodyPr>
          <a:lstStyle/>
          <a:p>
            <a:pPr>
              <a:defRPr sz="1875" b="0">
                <a:solidFill>
                  <a:srgbClr val="14354E"/>
                </a:solidFill>
                <a:latin typeface="Bitstream Charter"/>
                <a:ea typeface="Bitstream Charter"/>
                <a:cs typeface="Bitstream Charter"/>
              </a:defRPr>
            </a:pPr>
            <a:r>
              <a:rPr lang="en-US" sz="1875" dirty="0">
                <a:solidFill>
                  <a:srgbClr val="14354E"/>
                </a:solidFill>
                <a:latin typeface="Arial" panose="020B0604020202020204" pitchFamily="34" charset="0"/>
                <a:ea typeface="Bitstream Charter"/>
                <a:cs typeface="Arial" panose="020B0604020202020204" pitchFamily="34" charset="0"/>
              </a:rPr>
              <a:t>Use physical laws, such as energy conservation.</a:t>
            </a:r>
            <a:br>
              <a:rPr lang="en-US" sz="1875" b="0" dirty="0">
                <a:solidFill>
                  <a:srgbClr val="14354E"/>
                </a:solidFill>
                <a:latin typeface="Arial" panose="020B0604020202020204" pitchFamily="34" charset="0"/>
                <a:ea typeface="Bitstream Charter"/>
                <a:cs typeface="Arial" panose="020B0604020202020204" pitchFamily="34" charset="0"/>
              </a:rPr>
            </a:br>
            <a:r>
              <a:rPr sz="1875" b="0" dirty="0">
                <a:solidFill>
                  <a:srgbClr val="14354E"/>
                </a:solidFill>
                <a:latin typeface="Arial" panose="020B0604020202020204" pitchFamily="34" charset="0"/>
                <a:ea typeface="Bitstream Charter"/>
                <a:cs typeface="Arial" panose="020B0604020202020204" pitchFamily="34" charset="0"/>
              </a:rPr>
              <a:t>Write relationships. The tool solves them together.</a:t>
            </a:r>
          </a:p>
        </p:txBody>
      </p:sp>
      <p:sp>
        <p:nvSpPr>
          <p:cNvPr id="12" name="Object-oriented and reusable">
            <a:extLst>
              <a:ext uri="{FF2B5EF4-FFF2-40B4-BE49-F238E27FC236}">
                <a16:creationId xmlns:a16="http://schemas.microsoft.com/office/drawing/2014/main" id="{648616DA-0544-4C60-71D5-64FBC7764183}"/>
              </a:ext>
            </a:extLst>
          </p:cNvPr>
          <p:cNvSpPr>
            <a:spLocks noGrp="1"/>
          </p:cNvSpPr>
          <p:nvPr/>
        </p:nvSpPr>
        <p:spPr>
          <a:xfrm>
            <a:off x="909519" y="3478337"/>
            <a:ext cx="5715000" cy="323850"/>
          </a:xfrm>
          <a:prstGeom prst="rect">
            <a:avLst/>
          </a:prstGeom>
          <a:noFill/>
          <a:ln w="0">
            <a:noFill/>
          </a:ln>
        </p:spPr>
        <p:txBody>
          <a:bodyPr lIns="0" tIns="0" rIns="0" bIns="0" anchor="ctr">
            <a:noAutofit/>
          </a:bodyPr>
          <a:lstStyle/>
          <a:p>
            <a:pPr algn="l">
              <a:defRPr sz="2175" b="1">
                <a:solidFill>
                  <a:srgbClr val="096AA8"/>
                </a:solidFill>
                <a:latin typeface="Bitstream Charter"/>
                <a:ea typeface="Bitstream Charter"/>
                <a:cs typeface="Bitstream Charter"/>
              </a:defRPr>
            </a:pPr>
            <a:r>
              <a:rPr sz="2175" b="1" dirty="0">
                <a:solidFill>
                  <a:srgbClr val="096AA8"/>
                </a:solidFill>
                <a:latin typeface="Arial" panose="020B0604020202020204" pitchFamily="34" charset="0"/>
                <a:ea typeface="Bitstream Charter"/>
                <a:cs typeface="Arial" panose="020B0604020202020204" pitchFamily="34" charset="0"/>
              </a:rPr>
              <a:t>Object-oriented and reusable</a:t>
            </a:r>
          </a:p>
        </p:txBody>
      </p:sp>
      <p:sp>
        <p:nvSpPr>
          <p:cNvPr id="13" name="Object-oriented and reusable detail">
            <a:extLst>
              <a:ext uri="{FF2B5EF4-FFF2-40B4-BE49-F238E27FC236}">
                <a16:creationId xmlns:a16="http://schemas.microsoft.com/office/drawing/2014/main" id="{AC73B477-3EF2-DA10-400B-62E2C51754DF}"/>
              </a:ext>
            </a:extLst>
          </p:cNvPr>
          <p:cNvSpPr>
            <a:spLocks noGrp="1"/>
          </p:cNvSpPr>
          <p:nvPr/>
        </p:nvSpPr>
        <p:spPr>
          <a:xfrm>
            <a:off x="909519" y="3883089"/>
            <a:ext cx="5905500" cy="342900"/>
          </a:xfrm>
          <a:prstGeom prst="rect">
            <a:avLst/>
          </a:prstGeom>
          <a:noFill/>
          <a:ln w="0">
            <a:noFill/>
          </a:ln>
        </p:spPr>
        <p:txBody>
          <a:bodyPr lIns="0" tIns="0" rIns="0" bIns="0" anchor="ctr">
            <a:noAutofit/>
          </a:bodyPr>
          <a:lstStyle/>
          <a:p>
            <a:pPr algn="l">
              <a:defRPr sz="1875" b="0">
                <a:solidFill>
                  <a:srgbClr val="14354E"/>
                </a:solidFill>
                <a:latin typeface="Bitstream Charter"/>
                <a:ea typeface="Bitstream Charter"/>
                <a:cs typeface="Bitstream Charter"/>
              </a:defRPr>
            </a:pPr>
            <a:r>
              <a:rPr sz="1875" b="0" dirty="0">
                <a:solidFill>
                  <a:srgbClr val="14354E"/>
                </a:solidFill>
                <a:latin typeface="Arial" panose="020B0604020202020204" pitchFamily="34" charset="0"/>
                <a:ea typeface="Bitstream Charter"/>
                <a:cs typeface="Arial" panose="020B0604020202020204" pitchFamily="34" charset="0"/>
              </a:rPr>
              <a:t>Keep equations, parameters and connectors together.</a:t>
            </a:r>
          </a:p>
        </p:txBody>
      </p:sp>
      <p:sp>
        <p:nvSpPr>
          <p:cNvPr id="14" name="Multi-domain">
            <a:extLst>
              <a:ext uri="{FF2B5EF4-FFF2-40B4-BE49-F238E27FC236}">
                <a16:creationId xmlns:a16="http://schemas.microsoft.com/office/drawing/2014/main" id="{F0D3BE3F-A99E-1843-EBA6-0E548DBC4DF8}"/>
              </a:ext>
            </a:extLst>
          </p:cNvPr>
          <p:cNvSpPr>
            <a:spLocks noGrp="1"/>
          </p:cNvSpPr>
          <p:nvPr/>
        </p:nvSpPr>
        <p:spPr>
          <a:xfrm>
            <a:off x="909519" y="4855888"/>
            <a:ext cx="5715000" cy="323850"/>
          </a:xfrm>
          <a:prstGeom prst="rect">
            <a:avLst/>
          </a:prstGeom>
          <a:noFill/>
          <a:ln w="0">
            <a:noFill/>
          </a:ln>
        </p:spPr>
        <p:txBody>
          <a:bodyPr lIns="0" tIns="0" rIns="0" bIns="0" anchor="ctr">
            <a:noAutofit/>
          </a:bodyPr>
          <a:lstStyle/>
          <a:p>
            <a:pPr algn="l">
              <a:defRPr sz="2175" b="1">
                <a:solidFill>
                  <a:srgbClr val="096AA8"/>
                </a:solidFill>
                <a:latin typeface="Bitstream Charter"/>
                <a:ea typeface="Bitstream Charter"/>
                <a:cs typeface="Bitstream Charter"/>
              </a:defRPr>
            </a:pPr>
            <a:r>
              <a:rPr sz="2175" b="1" dirty="0">
                <a:solidFill>
                  <a:srgbClr val="096AA8"/>
                </a:solidFill>
                <a:latin typeface="Arial" panose="020B0604020202020204" pitchFamily="34" charset="0"/>
                <a:ea typeface="Bitstream Charter"/>
                <a:cs typeface="Arial" panose="020B0604020202020204" pitchFamily="34" charset="0"/>
              </a:rPr>
              <a:t>Multi-domain</a:t>
            </a:r>
          </a:p>
        </p:txBody>
      </p:sp>
      <p:sp>
        <p:nvSpPr>
          <p:cNvPr id="15" name="Multi-domain detail">
            <a:extLst>
              <a:ext uri="{FF2B5EF4-FFF2-40B4-BE49-F238E27FC236}">
                <a16:creationId xmlns:a16="http://schemas.microsoft.com/office/drawing/2014/main" id="{F034F1AF-88BD-4C61-8954-A9C01BFEFB9B}"/>
              </a:ext>
            </a:extLst>
          </p:cNvPr>
          <p:cNvSpPr>
            <a:spLocks noGrp="1"/>
          </p:cNvSpPr>
          <p:nvPr/>
        </p:nvSpPr>
        <p:spPr>
          <a:xfrm>
            <a:off x="909519" y="5221628"/>
            <a:ext cx="5905500" cy="342900"/>
          </a:xfrm>
          <a:prstGeom prst="rect">
            <a:avLst/>
          </a:prstGeom>
          <a:noFill/>
          <a:ln w="0">
            <a:noFill/>
          </a:ln>
        </p:spPr>
        <p:txBody>
          <a:bodyPr lIns="0" tIns="0" rIns="0" bIns="0" anchor="ctr">
            <a:noAutofit/>
          </a:bodyPr>
          <a:lstStyle/>
          <a:p>
            <a:pPr algn="l">
              <a:defRPr sz="1875" b="0">
                <a:solidFill>
                  <a:srgbClr val="14354E"/>
                </a:solidFill>
                <a:latin typeface="Bitstream Charter"/>
                <a:ea typeface="Bitstream Charter"/>
                <a:cs typeface="Bitstream Charter"/>
              </a:defRPr>
            </a:pPr>
            <a:r>
              <a:rPr sz="1875" b="0" dirty="0">
                <a:solidFill>
                  <a:srgbClr val="14354E"/>
                </a:solidFill>
                <a:latin typeface="Arial" panose="020B0604020202020204" pitchFamily="34" charset="0"/>
                <a:ea typeface="Bitstream Charter"/>
                <a:cs typeface="Arial" panose="020B0604020202020204" pitchFamily="34" charset="0"/>
              </a:rPr>
              <a:t>Connect thermal, fluid, electrical and control models.</a:t>
            </a:r>
          </a:p>
        </p:txBody>
      </p:sp>
      <p:pic>
        <p:nvPicPr>
          <p:cNvPr id="22" name="Picture 21" descr="Modelica">
            <a:extLst>
              <a:ext uri="{FF2B5EF4-FFF2-40B4-BE49-F238E27FC236}">
                <a16:creationId xmlns:a16="http://schemas.microsoft.com/office/drawing/2014/main" id="{2D24533E-6500-94C3-BF93-D035830BB845}"/>
              </a:ext>
            </a:extLst>
          </p:cNvPr>
          <p:cNvPicPr>
            <a:picLocks noChangeAspect="1"/>
          </p:cNvPicPr>
          <p:nvPr/>
        </p:nvPicPr>
        <p:blipFill>
          <a:blip r:embed="rId5"/>
          <a:srcRect t="21846" b="23652"/>
          <a:stretch>
            <a:fillRect/>
          </a:stretch>
        </p:blipFill>
        <p:spPr>
          <a:xfrm>
            <a:off x="7583789" y="2764076"/>
            <a:ext cx="3497455" cy="1906173"/>
          </a:xfrm>
          <a:prstGeom prst="rect">
            <a:avLst/>
          </a:prstGeom>
        </p:spPr>
      </p:pic>
      <p:sp>
        <p:nvSpPr>
          <p:cNvPr id="23" name="Physics-based">
            <a:extLst>
              <a:ext uri="{FF2B5EF4-FFF2-40B4-BE49-F238E27FC236}">
                <a16:creationId xmlns:a16="http://schemas.microsoft.com/office/drawing/2014/main" id="{9D16C24B-3D7E-81D4-9C6D-329C7CE3A52E}"/>
              </a:ext>
            </a:extLst>
          </p:cNvPr>
          <p:cNvSpPr>
            <a:spLocks noGrp="1"/>
          </p:cNvSpPr>
          <p:nvPr/>
        </p:nvSpPr>
        <p:spPr>
          <a:xfrm>
            <a:off x="7583788" y="4751450"/>
            <a:ext cx="3497455" cy="323850"/>
          </a:xfrm>
          <a:prstGeom prst="rect">
            <a:avLst/>
          </a:prstGeom>
          <a:noFill/>
          <a:ln w="0">
            <a:noFill/>
          </a:ln>
        </p:spPr>
        <p:txBody>
          <a:bodyPr lIns="0" tIns="0" rIns="0" bIns="0" anchor="ctr">
            <a:noAutofit/>
          </a:bodyPr>
          <a:lstStyle/>
          <a:p>
            <a:pPr algn="ctr">
              <a:defRPr sz="2175" b="1">
                <a:solidFill>
                  <a:srgbClr val="096AA8"/>
                </a:solidFill>
                <a:latin typeface="Bitstream Charter"/>
                <a:ea typeface="Bitstream Charter"/>
                <a:cs typeface="Bitstream Charter"/>
              </a:defRPr>
            </a:pPr>
            <a:r>
              <a:rPr lang="en-US" sz="2175" b="1" dirty="0">
                <a:solidFill>
                  <a:srgbClr val="096AA8"/>
                </a:solidFill>
                <a:latin typeface="Arial" panose="020B0604020202020204" pitchFamily="34" charset="0"/>
                <a:ea typeface="Bitstream Charter"/>
                <a:cs typeface="Arial" panose="020B0604020202020204" pitchFamily="34" charset="0"/>
              </a:rPr>
              <a:t>https://modelica.org/</a:t>
            </a:r>
            <a:endParaRPr sz="2175" b="1" dirty="0">
              <a:solidFill>
                <a:srgbClr val="096AA8"/>
              </a:solidFill>
              <a:latin typeface="Arial" panose="020B0604020202020204" pitchFamily="34" charset="0"/>
              <a:ea typeface="Bitstream Charter"/>
              <a:cs typeface="Arial" panose="020B0604020202020204" pitchFamily="34" charset="0"/>
            </a:endParaRPr>
          </a:p>
        </p:txBody>
      </p:sp>
    </p:spTree>
    <p:extLst>
      <p:ext uri="{BB962C8B-B14F-4D97-AF65-F5344CB8AC3E}">
        <p14:creationId xmlns:p14="http://schemas.microsoft.com/office/powerpoint/2010/main" val="114869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2" grpId="0"/>
      <p:bldP spid="13" grpId="0"/>
      <p:bldP spid="14" grpId="0"/>
      <p:bldP spid="15" grpId="0"/>
      <p:bldP spid="2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94">
          <a:extLst>
            <a:ext uri="{FF2B5EF4-FFF2-40B4-BE49-F238E27FC236}">
              <a16:creationId xmlns:a16="http://schemas.microsoft.com/office/drawing/2014/main" id="{DD8D4DBF-50AC-8188-C91C-A4FE3F2C9F1D}"/>
            </a:ext>
          </a:extLst>
        </p:cNvPr>
        <p:cNvGrpSpPr/>
        <p:nvPr/>
      </p:nvGrpSpPr>
      <p:grpSpPr>
        <a:xfrm>
          <a:off x="0" y="0"/>
          <a:ext cx="0" cy="0"/>
          <a:chOff x="0" y="0"/>
          <a:chExt cx="0" cy="0"/>
        </a:xfrm>
      </p:grpSpPr>
      <p:pic>
        <p:nvPicPr>
          <p:cNvPr id="495" name="Google Shape;495;p45" descr="Une image contenant ciel, plein air, nuage, agriculture&#10;&#10;Description générée automatiquement">
            <a:extLst>
              <a:ext uri="{FF2B5EF4-FFF2-40B4-BE49-F238E27FC236}">
                <a16:creationId xmlns:a16="http://schemas.microsoft.com/office/drawing/2014/main" id="{2C52D566-0376-2080-D947-EC7813F8DC15}"/>
              </a:ext>
            </a:extLst>
          </p:cNvPr>
          <p:cNvPicPr preferRelativeResize="0"/>
          <p:nvPr/>
        </p:nvPicPr>
        <p:blipFill rotWithShape="1">
          <a:blip r:embed="rId3">
            <a:alphaModFix/>
          </a:blip>
          <a:srcRect l="5973" t="9105" b="15903"/>
          <a:stretch/>
        </p:blipFill>
        <p:spPr>
          <a:xfrm>
            <a:off x="719138" y="0"/>
            <a:ext cx="11472863" cy="6858000"/>
          </a:xfrm>
          <a:prstGeom prst="rect">
            <a:avLst/>
          </a:prstGeom>
          <a:noFill/>
          <a:ln>
            <a:noFill/>
          </a:ln>
        </p:spPr>
      </p:pic>
      <p:sp>
        <p:nvSpPr>
          <p:cNvPr id="496" name="Google Shape;496;p45">
            <a:extLst>
              <a:ext uri="{FF2B5EF4-FFF2-40B4-BE49-F238E27FC236}">
                <a16:creationId xmlns:a16="http://schemas.microsoft.com/office/drawing/2014/main" id="{5DBCD72A-A3DB-E983-9862-8561F431B992}"/>
              </a:ext>
            </a:extLst>
          </p:cNvPr>
          <p:cNvSpPr/>
          <p:nvPr/>
        </p:nvSpPr>
        <p:spPr>
          <a:xfrm>
            <a:off x="664273" y="0"/>
            <a:ext cx="11527727" cy="6858000"/>
          </a:xfrm>
          <a:prstGeom prst="rect">
            <a:avLst/>
          </a:prstGeom>
          <a:solidFill>
            <a:schemeClr val="lt1">
              <a:alpha val="93725"/>
            </a:schemeClr>
          </a:solidFill>
          <a:ln>
            <a:noFill/>
          </a:ln>
          <a:effectLst>
            <a:outerShdw blurRad="876300" dist="393700" dir="5400000" algn="t" rotWithShape="0">
              <a:srgbClr val="000000">
                <a:alpha val="784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dirty="0">
              <a:solidFill>
                <a:srgbClr val="FF0000"/>
              </a:solidFill>
              <a:latin typeface="Calibri"/>
              <a:ea typeface="Calibri"/>
              <a:cs typeface="Calibri"/>
              <a:sym typeface="Calibri"/>
            </a:endParaRPr>
          </a:p>
        </p:txBody>
      </p:sp>
      <p:sp>
        <p:nvSpPr>
          <p:cNvPr id="497" name="Google Shape;497;p45">
            <a:extLst>
              <a:ext uri="{FF2B5EF4-FFF2-40B4-BE49-F238E27FC236}">
                <a16:creationId xmlns:a16="http://schemas.microsoft.com/office/drawing/2014/main" id="{C4864899-CD19-685E-F91F-617FC074A2D7}"/>
              </a:ext>
            </a:extLst>
          </p:cNvPr>
          <p:cNvSpPr txBox="1"/>
          <p:nvPr/>
        </p:nvSpPr>
        <p:spPr>
          <a:xfrm rot="-5400000">
            <a:off x="-797364" y="5204656"/>
            <a:ext cx="2251455" cy="38856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lt1"/>
                </a:solidFill>
                <a:latin typeface="Nunito Sans SemiBold"/>
                <a:ea typeface="Nunito Sans SemiBold"/>
                <a:cs typeface="Nunito Sans SemiBold"/>
                <a:sym typeface="Nunito Sans SemiBold"/>
              </a:rPr>
              <a:t>AGRICOOL</a:t>
            </a:r>
            <a:endParaRPr sz="1400" b="0" i="0" u="none" strike="noStrike" cap="none">
              <a:solidFill>
                <a:srgbClr val="000000"/>
              </a:solidFill>
              <a:latin typeface="Arial"/>
              <a:ea typeface="Arial"/>
              <a:cs typeface="Arial"/>
              <a:sym typeface="Arial"/>
            </a:endParaRPr>
          </a:p>
        </p:txBody>
      </p:sp>
      <p:pic>
        <p:nvPicPr>
          <p:cNvPr id="503" name="Google Shape;503;p45" descr="Une image contenant capture d’écran, Bleu électrique, Police, Bleu Majorelle&#10;&#10;Description générée automatiquement">
            <a:extLst>
              <a:ext uri="{FF2B5EF4-FFF2-40B4-BE49-F238E27FC236}">
                <a16:creationId xmlns:a16="http://schemas.microsoft.com/office/drawing/2014/main" id="{28DCECBC-0102-B296-FCCD-4C9A4AE8B525}"/>
              </a:ext>
            </a:extLst>
          </p:cNvPr>
          <p:cNvPicPr preferRelativeResize="0"/>
          <p:nvPr/>
        </p:nvPicPr>
        <p:blipFill rotWithShape="1">
          <a:blip r:embed="rId4">
            <a:alphaModFix/>
          </a:blip>
          <a:srcRect/>
          <a:stretch/>
        </p:blipFill>
        <p:spPr>
          <a:xfrm>
            <a:off x="659183" y="6441981"/>
            <a:ext cx="1729633" cy="384363"/>
          </a:xfrm>
          <a:prstGeom prst="rect">
            <a:avLst/>
          </a:prstGeom>
          <a:noFill/>
          <a:ln>
            <a:noFill/>
          </a:ln>
        </p:spPr>
      </p:pic>
      <p:sp>
        <p:nvSpPr>
          <p:cNvPr id="504" name="Google Shape;504;p45">
            <a:extLst>
              <a:ext uri="{FF2B5EF4-FFF2-40B4-BE49-F238E27FC236}">
                <a16:creationId xmlns:a16="http://schemas.microsoft.com/office/drawing/2014/main" id="{573076E8-8E81-4944-503D-8C322EF69D1F}"/>
              </a:ext>
            </a:extLst>
          </p:cNvPr>
          <p:cNvSpPr txBox="1">
            <a:spLocks noGrp="1"/>
          </p:cNvSpPr>
          <p:nvPr>
            <p:ph type="dt" idx="10"/>
          </p:nvPr>
        </p:nvSpPr>
        <p:spPr>
          <a:xfrm>
            <a:off x="9332517" y="64262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en-GB" dirty="0"/>
              <a:t>13 September 2026</a:t>
            </a:r>
            <a:endParaRPr dirty="0"/>
          </a:p>
        </p:txBody>
      </p:sp>
      <p:sp>
        <p:nvSpPr>
          <p:cNvPr id="505" name="Google Shape;505;p45">
            <a:extLst>
              <a:ext uri="{FF2B5EF4-FFF2-40B4-BE49-F238E27FC236}">
                <a16:creationId xmlns:a16="http://schemas.microsoft.com/office/drawing/2014/main" id="{636191B9-6CEC-6726-7AD6-EF98794049BB}"/>
              </a:ext>
            </a:extLst>
          </p:cNvPr>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200"/>
              <a:buNone/>
            </a:pPr>
            <a:fld id="{00000000-1234-1234-1234-123412341234}" type="slidenum">
              <a:rPr lang="en-GB"/>
              <a:t>9</a:t>
            </a:fld>
            <a:endParaRPr/>
          </a:p>
        </p:txBody>
      </p:sp>
      <p:cxnSp>
        <p:nvCxnSpPr>
          <p:cNvPr id="2" name="Connector: Elbow 1">
            <a:extLst>
              <a:ext uri="{FF2B5EF4-FFF2-40B4-BE49-F238E27FC236}">
                <a16:creationId xmlns:a16="http://schemas.microsoft.com/office/drawing/2014/main" id="{D4E7D726-CFDC-3DD6-57A2-963AAB36F977}"/>
              </a:ext>
            </a:extLst>
          </p:cNvPr>
          <p:cNvCxnSpPr>
            <a:stCxn id="19" idx="3"/>
            <a:endCxn id="20" idx="1"/>
          </p:cNvCxnSpPr>
          <p:nvPr/>
        </p:nvCxnSpPr>
        <p:spPr>
          <a:xfrm flipV="1">
            <a:off x="5433750" y="3534233"/>
            <a:ext cx="2495550" cy="1038225"/>
          </a:xfrm>
          <a:prstGeom prst="bentConnector3">
            <a:avLst>
              <a:gd name="adj1" fmla="val 50000"/>
            </a:avLst>
          </a:prstGeom>
          <a:ln w="23813">
            <a:solidFill>
              <a:srgbClr val="096AA8"/>
            </a:solidFill>
            <a:tailEnd type="triangle" w="med" len="med"/>
          </a:ln>
        </p:spPr>
      </p:cxnSp>
      <p:cxnSp>
        <p:nvCxnSpPr>
          <p:cNvPr id="3" name="Connector: Elbow 2">
            <a:extLst>
              <a:ext uri="{FF2B5EF4-FFF2-40B4-BE49-F238E27FC236}">
                <a16:creationId xmlns:a16="http://schemas.microsoft.com/office/drawing/2014/main" id="{379FC96E-E91E-0CE1-CF58-246E98FCAA3D}"/>
              </a:ext>
            </a:extLst>
          </p:cNvPr>
          <p:cNvCxnSpPr>
            <a:stCxn id="18" idx="3"/>
            <a:endCxn id="20" idx="1"/>
          </p:cNvCxnSpPr>
          <p:nvPr/>
        </p:nvCxnSpPr>
        <p:spPr>
          <a:xfrm>
            <a:off x="5433750" y="2515058"/>
            <a:ext cx="2495550" cy="1019175"/>
          </a:xfrm>
          <a:prstGeom prst="bentConnector3">
            <a:avLst>
              <a:gd name="adj1" fmla="val 50000"/>
            </a:avLst>
          </a:prstGeom>
          <a:ln w="23813">
            <a:solidFill>
              <a:srgbClr val="096AA8"/>
            </a:solidFill>
            <a:tailEnd type="triangle" w="med" len="med"/>
          </a:ln>
        </p:spPr>
      </p:cxnSp>
      <p:sp>
        <p:nvSpPr>
          <p:cNvPr id="16" name="Title">
            <a:extLst>
              <a:ext uri="{FF2B5EF4-FFF2-40B4-BE49-F238E27FC236}">
                <a16:creationId xmlns:a16="http://schemas.microsoft.com/office/drawing/2014/main" id="{4C5623B0-94DB-1583-926F-098E8B7B65C4}"/>
              </a:ext>
            </a:extLst>
          </p:cNvPr>
          <p:cNvSpPr>
            <a:spLocks noGrp="1"/>
          </p:cNvSpPr>
          <p:nvPr/>
        </p:nvSpPr>
        <p:spPr>
          <a:xfrm>
            <a:off x="1004625" y="121233"/>
            <a:ext cx="10972800" cy="638175"/>
          </a:xfrm>
          <a:prstGeom prst="rect">
            <a:avLst/>
          </a:prstGeom>
          <a:noFill/>
          <a:ln w="0">
            <a:noFill/>
          </a:ln>
        </p:spPr>
        <p:txBody>
          <a:bodyPr lIns="0" tIns="0" rIns="0" bIns="0" anchor="ctr">
            <a:noAutofit/>
          </a:bodyPr>
          <a:lstStyle/>
          <a:p>
            <a:pPr algn="l">
              <a:defRPr sz="3300" b="1">
                <a:solidFill>
                  <a:srgbClr val="14354E"/>
                </a:solidFill>
                <a:latin typeface="Bitstream Charter"/>
                <a:ea typeface="Bitstream Charter"/>
                <a:cs typeface="Bitstream Charter"/>
              </a:defRPr>
            </a:pPr>
            <a:r>
              <a:rPr sz="4400" b="1" dirty="0">
                <a:solidFill>
                  <a:srgbClr val="30A4CF"/>
                </a:solidFill>
                <a:latin typeface="Nunito"/>
              </a:rPr>
              <a:t>Open tools and reusable libraries</a:t>
            </a:r>
          </a:p>
        </p:txBody>
      </p:sp>
      <p:sp>
        <p:nvSpPr>
          <p:cNvPr id="17" name="Subtitle">
            <a:extLst>
              <a:ext uri="{FF2B5EF4-FFF2-40B4-BE49-F238E27FC236}">
                <a16:creationId xmlns:a16="http://schemas.microsoft.com/office/drawing/2014/main" id="{C68B0299-6067-9CFB-C930-508366881DF2}"/>
              </a:ext>
            </a:extLst>
          </p:cNvPr>
          <p:cNvSpPr>
            <a:spLocks noGrp="1"/>
          </p:cNvSpPr>
          <p:nvPr/>
        </p:nvSpPr>
        <p:spPr>
          <a:xfrm>
            <a:off x="1004625" y="854658"/>
            <a:ext cx="10972800" cy="533400"/>
          </a:xfrm>
          <a:prstGeom prst="rect">
            <a:avLst/>
          </a:prstGeom>
          <a:noFill/>
          <a:ln w="0">
            <a:noFill/>
          </a:ln>
        </p:spPr>
        <p:txBody>
          <a:bodyPr lIns="0" tIns="0" rIns="0" bIns="0" anchor="ctr">
            <a:noAutofit/>
          </a:bodyPr>
          <a:lstStyle/>
          <a:p>
            <a:pPr algn="l">
              <a:defRPr sz="2025" b="0">
                <a:solidFill>
                  <a:srgbClr val="456174"/>
                </a:solidFill>
                <a:latin typeface="Bitstream Charter"/>
                <a:ea typeface="Bitstream Charter"/>
                <a:cs typeface="Bitstream Charter"/>
              </a:defRPr>
            </a:pPr>
            <a:r>
              <a:rPr sz="2025" b="1" dirty="0" err="1">
                <a:solidFill>
                  <a:srgbClr val="456174"/>
                </a:solidFill>
                <a:latin typeface="Arial" panose="020B0604020202020204" pitchFamily="34" charset="0"/>
                <a:ea typeface="Bitstream Charter"/>
                <a:cs typeface="Arial" panose="020B0604020202020204" pitchFamily="34" charset="0"/>
              </a:rPr>
              <a:t>OpenModelica</a:t>
            </a:r>
            <a:r>
              <a:rPr sz="2025" b="0" dirty="0">
                <a:solidFill>
                  <a:srgbClr val="456174"/>
                </a:solidFill>
                <a:latin typeface="Arial" panose="020B0604020202020204" pitchFamily="34" charset="0"/>
                <a:ea typeface="Bitstream Charter"/>
                <a:cs typeface="Arial" panose="020B0604020202020204" pitchFamily="34" charset="0"/>
              </a:rPr>
              <a:t> is where we assemble, simulate and plot the model.</a:t>
            </a:r>
          </a:p>
        </p:txBody>
      </p:sp>
      <p:sp>
        <p:nvSpPr>
          <p:cNvPr id="18" name="Modelica Standard Library&#10;Heat transfer, basic components&#10;and control blocks">
            <a:extLst>
              <a:ext uri="{FF2B5EF4-FFF2-40B4-BE49-F238E27FC236}">
                <a16:creationId xmlns:a16="http://schemas.microsoft.com/office/drawing/2014/main" id="{9E3B30FC-3343-B2F4-1598-91D408D0B965}"/>
              </a:ext>
            </a:extLst>
          </p:cNvPr>
          <p:cNvSpPr>
            <a:spLocks noGrp="1"/>
          </p:cNvSpPr>
          <p:nvPr/>
        </p:nvSpPr>
        <p:spPr>
          <a:xfrm>
            <a:off x="1004625" y="1810208"/>
            <a:ext cx="4429125" cy="1409700"/>
          </a:xfrm>
          <a:prstGeom prst="rect">
            <a:avLst/>
          </a:prstGeom>
          <a:solidFill>
            <a:srgbClr val="F0F6FA"/>
          </a:solidFill>
          <a:ln w="19050">
            <a:solidFill>
              <a:srgbClr val="096AA8"/>
            </a:solidFill>
          </a:ln>
        </p:spPr>
        <p:txBody>
          <a:bodyPr lIns="76200" tIns="57150" rIns="76200" bIns="57150" anchor="ctr">
            <a:noAutofit/>
          </a:bodyPr>
          <a:lstStyle/>
          <a:p>
            <a:pPr algn="ctr">
              <a:defRPr sz="2025">
                <a:solidFill>
                  <a:srgbClr val="14354E"/>
                </a:solidFill>
                <a:latin typeface="Bitstream Charter"/>
                <a:ea typeface="Bitstream Charter"/>
                <a:cs typeface="Bitstream Charter"/>
              </a:defRPr>
            </a:pPr>
            <a:r>
              <a:rPr sz="2025">
                <a:solidFill>
                  <a:srgbClr val="14354E"/>
                </a:solidFill>
                <a:latin typeface="Arial" panose="020B0604020202020204" pitchFamily="34" charset="0"/>
                <a:ea typeface="Bitstream Charter"/>
                <a:cs typeface="Arial" panose="020B0604020202020204" pitchFamily="34" charset="0"/>
              </a:rPr>
              <a:t>Modelica Standard Library</a:t>
            </a:r>
          </a:p>
          <a:p>
            <a:pPr algn="ctr">
              <a:defRPr sz="2025">
                <a:solidFill>
                  <a:srgbClr val="14354E"/>
                </a:solidFill>
                <a:latin typeface="Bitstream Charter"/>
                <a:ea typeface="Bitstream Charter"/>
                <a:cs typeface="Bitstream Charter"/>
              </a:defRPr>
            </a:pPr>
            <a:r>
              <a:rPr sz="2025">
                <a:solidFill>
                  <a:srgbClr val="14354E"/>
                </a:solidFill>
                <a:latin typeface="Arial" panose="020B0604020202020204" pitchFamily="34" charset="0"/>
                <a:ea typeface="Bitstream Charter"/>
                <a:cs typeface="Arial" panose="020B0604020202020204" pitchFamily="34" charset="0"/>
              </a:rPr>
              <a:t>Heat transfer, basic components</a:t>
            </a:r>
          </a:p>
          <a:p>
            <a:pPr algn="ctr">
              <a:defRPr sz="2025">
                <a:solidFill>
                  <a:srgbClr val="14354E"/>
                </a:solidFill>
                <a:latin typeface="Bitstream Charter"/>
                <a:ea typeface="Bitstream Charter"/>
                <a:cs typeface="Bitstream Charter"/>
              </a:defRPr>
            </a:pPr>
            <a:r>
              <a:rPr sz="2025">
                <a:solidFill>
                  <a:srgbClr val="14354E"/>
                </a:solidFill>
                <a:latin typeface="Arial" panose="020B0604020202020204" pitchFamily="34" charset="0"/>
                <a:ea typeface="Bitstream Charter"/>
                <a:cs typeface="Arial" panose="020B0604020202020204" pitchFamily="34" charset="0"/>
              </a:rPr>
              <a:t>and control blocks</a:t>
            </a:r>
          </a:p>
        </p:txBody>
      </p:sp>
      <p:sp>
        <p:nvSpPr>
          <p:cNvPr id="19" name="Buildings library&#10;Chiller, air cooler, pump, fan,&#10;ice tank and weather reader">
            <a:extLst>
              <a:ext uri="{FF2B5EF4-FFF2-40B4-BE49-F238E27FC236}">
                <a16:creationId xmlns:a16="http://schemas.microsoft.com/office/drawing/2014/main" id="{02A190D4-7C2B-CB2A-FD0E-91D6B8A0CCD3}"/>
              </a:ext>
            </a:extLst>
          </p:cNvPr>
          <p:cNvSpPr>
            <a:spLocks noGrp="1"/>
          </p:cNvSpPr>
          <p:nvPr/>
        </p:nvSpPr>
        <p:spPr>
          <a:xfrm>
            <a:off x="1004625" y="3867608"/>
            <a:ext cx="4429125" cy="1409700"/>
          </a:xfrm>
          <a:prstGeom prst="rect">
            <a:avLst/>
          </a:prstGeom>
          <a:solidFill>
            <a:srgbClr val="F0F6FA"/>
          </a:solidFill>
          <a:ln w="19050">
            <a:solidFill>
              <a:srgbClr val="096AA8"/>
            </a:solidFill>
          </a:ln>
        </p:spPr>
        <p:txBody>
          <a:bodyPr lIns="76200" tIns="57150" rIns="76200" bIns="57150" anchor="ctr">
            <a:noAutofit/>
          </a:bodyPr>
          <a:lstStyle/>
          <a:p>
            <a:pPr algn="ctr">
              <a:defRPr sz="2025">
                <a:solidFill>
                  <a:srgbClr val="14354E"/>
                </a:solidFill>
                <a:latin typeface="Bitstream Charter"/>
                <a:ea typeface="Bitstream Charter"/>
                <a:cs typeface="Bitstream Charter"/>
              </a:defRPr>
            </a:pPr>
            <a:r>
              <a:rPr sz="2025">
                <a:solidFill>
                  <a:srgbClr val="14354E"/>
                </a:solidFill>
                <a:latin typeface="Arial" panose="020B0604020202020204" pitchFamily="34" charset="0"/>
                <a:ea typeface="Bitstream Charter"/>
                <a:cs typeface="Arial" panose="020B0604020202020204" pitchFamily="34" charset="0"/>
              </a:rPr>
              <a:t>Buildings library</a:t>
            </a:r>
          </a:p>
          <a:p>
            <a:pPr algn="ctr">
              <a:defRPr sz="2025">
                <a:solidFill>
                  <a:srgbClr val="14354E"/>
                </a:solidFill>
                <a:latin typeface="Bitstream Charter"/>
                <a:ea typeface="Bitstream Charter"/>
                <a:cs typeface="Bitstream Charter"/>
              </a:defRPr>
            </a:pPr>
            <a:r>
              <a:rPr sz="2025">
                <a:solidFill>
                  <a:srgbClr val="14354E"/>
                </a:solidFill>
                <a:latin typeface="Arial" panose="020B0604020202020204" pitchFamily="34" charset="0"/>
                <a:ea typeface="Bitstream Charter"/>
                <a:cs typeface="Arial" panose="020B0604020202020204" pitchFamily="34" charset="0"/>
              </a:rPr>
              <a:t>Chiller, air cooler, pump, fan,</a:t>
            </a:r>
          </a:p>
          <a:p>
            <a:pPr algn="ctr">
              <a:defRPr sz="2025">
                <a:solidFill>
                  <a:srgbClr val="14354E"/>
                </a:solidFill>
                <a:latin typeface="Bitstream Charter"/>
                <a:ea typeface="Bitstream Charter"/>
                <a:cs typeface="Bitstream Charter"/>
              </a:defRPr>
            </a:pPr>
            <a:r>
              <a:rPr sz="2025">
                <a:solidFill>
                  <a:srgbClr val="14354E"/>
                </a:solidFill>
                <a:latin typeface="Arial" panose="020B0604020202020204" pitchFamily="34" charset="0"/>
                <a:ea typeface="Bitstream Charter"/>
                <a:cs typeface="Arial" panose="020B0604020202020204" pitchFamily="34" charset="0"/>
              </a:rPr>
              <a:t>ice tank and weather reader</a:t>
            </a:r>
          </a:p>
        </p:txBody>
      </p:sp>
      <p:sp>
        <p:nvSpPr>
          <p:cNvPr id="20" name="Our AgriCOOL model&#10;Library components +&#10;small custom models">
            <a:extLst>
              <a:ext uri="{FF2B5EF4-FFF2-40B4-BE49-F238E27FC236}">
                <a16:creationId xmlns:a16="http://schemas.microsoft.com/office/drawing/2014/main" id="{37FCB209-0F23-F7F7-EFDF-36858CAD1E26}"/>
              </a:ext>
            </a:extLst>
          </p:cNvPr>
          <p:cNvSpPr>
            <a:spLocks noGrp="1"/>
          </p:cNvSpPr>
          <p:nvPr/>
        </p:nvSpPr>
        <p:spPr>
          <a:xfrm>
            <a:off x="7929300" y="2819858"/>
            <a:ext cx="4010025" cy="1428750"/>
          </a:xfrm>
          <a:prstGeom prst="rect">
            <a:avLst/>
          </a:prstGeom>
          <a:solidFill>
            <a:srgbClr val="ECF7F4"/>
          </a:solidFill>
          <a:ln w="19050">
            <a:solidFill>
              <a:srgbClr val="168A85"/>
            </a:solidFill>
          </a:ln>
        </p:spPr>
        <p:txBody>
          <a:bodyPr lIns="76200" tIns="57150" rIns="76200" bIns="57150" anchor="ctr">
            <a:noAutofit/>
          </a:bodyPr>
          <a:lstStyle/>
          <a:p>
            <a:pPr algn="ctr">
              <a:defRPr sz="2175">
                <a:solidFill>
                  <a:srgbClr val="14354E"/>
                </a:solidFill>
                <a:latin typeface="Bitstream Charter"/>
                <a:ea typeface="Bitstream Charter"/>
                <a:cs typeface="Bitstream Charter"/>
              </a:defRPr>
            </a:pPr>
            <a:r>
              <a:rPr sz="2175">
                <a:solidFill>
                  <a:srgbClr val="14354E"/>
                </a:solidFill>
                <a:latin typeface="Arial" panose="020B0604020202020204" pitchFamily="34" charset="0"/>
                <a:ea typeface="Bitstream Charter"/>
                <a:cs typeface="Arial" panose="020B0604020202020204" pitchFamily="34" charset="0"/>
              </a:rPr>
              <a:t>Our AgriCOOL model</a:t>
            </a:r>
          </a:p>
          <a:p>
            <a:pPr algn="ctr">
              <a:defRPr sz="2175">
                <a:solidFill>
                  <a:srgbClr val="14354E"/>
                </a:solidFill>
                <a:latin typeface="Bitstream Charter"/>
                <a:ea typeface="Bitstream Charter"/>
                <a:cs typeface="Bitstream Charter"/>
              </a:defRPr>
            </a:pPr>
            <a:r>
              <a:rPr sz="2175">
                <a:solidFill>
                  <a:srgbClr val="14354E"/>
                </a:solidFill>
                <a:latin typeface="Arial" panose="020B0604020202020204" pitchFamily="34" charset="0"/>
                <a:ea typeface="Bitstream Charter"/>
                <a:cs typeface="Arial" panose="020B0604020202020204" pitchFamily="34" charset="0"/>
              </a:rPr>
              <a:t>Library components +</a:t>
            </a:r>
          </a:p>
          <a:p>
            <a:pPr algn="ctr">
              <a:defRPr sz="2175">
                <a:solidFill>
                  <a:srgbClr val="14354E"/>
                </a:solidFill>
                <a:latin typeface="Bitstream Charter"/>
                <a:ea typeface="Bitstream Charter"/>
                <a:cs typeface="Bitstream Charter"/>
              </a:defRPr>
            </a:pPr>
            <a:r>
              <a:rPr sz="2175">
                <a:solidFill>
                  <a:srgbClr val="14354E"/>
                </a:solidFill>
                <a:latin typeface="Arial" panose="020B0604020202020204" pitchFamily="34" charset="0"/>
                <a:ea typeface="Bitstream Charter"/>
                <a:cs typeface="Arial" panose="020B0604020202020204" pitchFamily="34" charset="0"/>
              </a:rPr>
              <a:t>small custom models</a:t>
            </a:r>
          </a:p>
        </p:txBody>
      </p:sp>
      <p:sp>
        <p:nvSpPr>
          <p:cNvPr id="21" name="Tools language distinction">
            <a:extLst>
              <a:ext uri="{FF2B5EF4-FFF2-40B4-BE49-F238E27FC236}">
                <a16:creationId xmlns:a16="http://schemas.microsoft.com/office/drawing/2014/main" id="{F41433DF-C4AE-FF8E-5B09-4A98E3BCB1B6}"/>
              </a:ext>
            </a:extLst>
          </p:cNvPr>
          <p:cNvSpPr>
            <a:spLocks noGrp="1"/>
          </p:cNvSpPr>
          <p:nvPr/>
        </p:nvSpPr>
        <p:spPr>
          <a:xfrm>
            <a:off x="1004625" y="5620363"/>
            <a:ext cx="10972800" cy="323850"/>
          </a:xfrm>
          <a:prstGeom prst="rect">
            <a:avLst/>
          </a:prstGeom>
          <a:noFill/>
          <a:ln w="0">
            <a:noFill/>
          </a:ln>
        </p:spPr>
        <p:txBody>
          <a:bodyPr lIns="0" tIns="0" rIns="0" bIns="0" anchor="ctr">
            <a:noAutofit/>
          </a:bodyPr>
          <a:lstStyle/>
          <a:p>
            <a:pPr algn="l">
              <a:defRPr sz="1950" b="1">
                <a:solidFill>
                  <a:srgbClr val="14354E"/>
                </a:solidFill>
                <a:latin typeface="Bitstream Charter"/>
                <a:ea typeface="Bitstream Charter"/>
                <a:cs typeface="Bitstream Charter"/>
              </a:defRPr>
            </a:pPr>
            <a:r>
              <a:rPr sz="1950" b="1" dirty="0">
                <a:solidFill>
                  <a:srgbClr val="14354E"/>
                </a:solidFill>
                <a:latin typeface="Arial" panose="020B0604020202020204" pitchFamily="34" charset="0"/>
                <a:ea typeface="Bitstream Charter"/>
                <a:cs typeface="Arial" panose="020B0604020202020204" pitchFamily="34" charset="0"/>
              </a:rPr>
              <a:t>Modelica supplies the language. </a:t>
            </a:r>
            <a:r>
              <a:rPr sz="1950" b="1" dirty="0" err="1">
                <a:solidFill>
                  <a:srgbClr val="14354E"/>
                </a:solidFill>
                <a:latin typeface="Arial" panose="020B0604020202020204" pitchFamily="34" charset="0"/>
                <a:ea typeface="Bitstream Charter"/>
                <a:cs typeface="Arial" panose="020B0604020202020204" pitchFamily="34" charset="0"/>
              </a:rPr>
              <a:t>OpenModelica</a:t>
            </a:r>
            <a:r>
              <a:rPr sz="1950" b="1" dirty="0">
                <a:solidFill>
                  <a:srgbClr val="14354E"/>
                </a:solidFill>
                <a:latin typeface="Arial" panose="020B0604020202020204" pitchFamily="34" charset="0"/>
                <a:ea typeface="Bitstream Charter"/>
                <a:cs typeface="Arial" panose="020B0604020202020204" pitchFamily="34" charset="0"/>
              </a:rPr>
              <a:t> supplies the environment.</a:t>
            </a:r>
          </a:p>
        </p:txBody>
      </p:sp>
      <p:sp>
        <p:nvSpPr>
          <p:cNvPr id="24" name="Open source">
            <a:extLst>
              <a:ext uri="{FF2B5EF4-FFF2-40B4-BE49-F238E27FC236}">
                <a16:creationId xmlns:a16="http://schemas.microsoft.com/office/drawing/2014/main" id="{54F14554-7AD8-604B-A381-53FC276DA206}"/>
              </a:ext>
            </a:extLst>
          </p:cNvPr>
          <p:cNvSpPr>
            <a:spLocks noGrp="1"/>
          </p:cNvSpPr>
          <p:nvPr/>
        </p:nvSpPr>
        <p:spPr>
          <a:xfrm>
            <a:off x="1004625" y="6077563"/>
            <a:ext cx="10972800" cy="266700"/>
          </a:xfrm>
          <a:prstGeom prst="rect">
            <a:avLst/>
          </a:prstGeom>
          <a:noFill/>
          <a:ln w="0">
            <a:noFill/>
          </a:ln>
        </p:spPr>
        <p:txBody>
          <a:bodyPr lIns="0" tIns="0" rIns="0" bIns="0" anchor="ctr">
            <a:noAutofit/>
          </a:bodyPr>
          <a:lstStyle/>
          <a:p>
            <a:pPr algn="l">
              <a:defRPr sz="1800" b="0">
                <a:solidFill>
                  <a:srgbClr val="456174"/>
                </a:solidFill>
                <a:latin typeface="Bitstream Charter"/>
                <a:ea typeface="Bitstream Charter"/>
                <a:cs typeface="Bitstream Charter"/>
              </a:defRPr>
            </a:pPr>
            <a:r>
              <a:rPr sz="1800" b="0" dirty="0">
                <a:solidFill>
                  <a:srgbClr val="456174"/>
                </a:solidFill>
                <a:latin typeface="Arial" panose="020B0604020202020204" pitchFamily="34" charset="0"/>
                <a:ea typeface="Bitstream Charter"/>
                <a:cs typeface="Arial" panose="020B0604020202020204" pitchFamily="34" charset="0"/>
              </a:rPr>
              <a:t>Open source lets us inspect equations, adapt components and share models.</a:t>
            </a:r>
          </a:p>
        </p:txBody>
      </p:sp>
      <p:pic>
        <p:nvPicPr>
          <p:cNvPr id="26" name="Picture 25" descr="OMEdit – OpenModelica Connection Editor — OpenModelica User's Guide  v1.14.2-6-g5c52d52477 documentation">
            <a:extLst>
              <a:ext uri="{FF2B5EF4-FFF2-40B4-BE49-F238E27FC236}">
                <a16:creationId xmlns:a16="http://schemas.microsoft.com/office/drawing/2014/main" id="{7E588535-B2C2-B16D-4E76-B8783897F277}"/>
              </a:ext>
            </a:extLst>
          </p:cNvPr>
          <p:cNvPicPr>
            <a:picLocks noChangeAspect="1"/>
          </p:cNvPicPr>
          <p:nvPr/>
        </p:nvPicPr>
        <p:blipFill>
          <a:blip r:embed="rId5"/>
          <a:stretch>
            <a:fillRect/>
          </a:stretch>
        </p:blipFill>
        <p:spPr>
          <a:xfrm>
            <a:off x="9215545" y="799818"/>
            <a:ext cx="1039834" cy="997392"/>
          </a:xfrm>
          <a:prstGeom prst="rect">
            <a:avLst/>
          </a:prstGeom>
        </p:spPr>
      </p:pic>
      <p:pic>
        <p:nvPicPr>
          <p:cNvPr id="28" name="Picture 27" descr="OpenModelica · GitHub">
            <a:extLst>
              <a:ext uri="{FF2B5EF4-FFF2-40B4-BE49-F238E27FC236}">
                <a16:creationId xmlns:a16="http://schemas.microsoft.com/office/drawing/2014/main" id="{43DC8578-360A-8DCC-81EC-95CFBABEC142}"/>
              </a:ext>
            </a:extLst>
          </p:cNvPr>
          <p:cNvPicPr>
            <a:picLocks noChangeAspect="1"/>
          </p:cNvPicPr>
          <p:nvPr/>
        </p:nvPicPr>
        <p:blipFill>
          <a:blip r:embed="rId6"/>
          <a:srcRect t="25717" b="21418"/>
          <a:stretch>
            <a:fillRect/>
          </a:stretch>
        </p:blipFill>
        <p:spPr>
          <a:xfrm>
            <a:off x="10511719" y="997328"/>
            <a:ext cx="1139481" cy="602372"/>
          </a:xfrm>
          <a:prstGeom prst="rect">
            <a:avLst/>
          </a:prstGeom>
        </p:spPr>
      </p:pic>
      <p:pic>
        <p:nvPicPr>
          <p:cNvPr id="30" name="Picture 29">
            <a:extLst>
              <a:ext uri="{FF2B5EF4-FFF2-40B4-BE49-F238E27FC236}">
                <a16:creationId xmlns:a16="http://schemas.microsoft.com/office/drawing/2014/main" id="{A3281A98-1EF6-127E-558A-B481D070E508}"/>
              </a:ext>
            </a:extLst>
          </p:cNvPr>
          <p:cNvPicPr>
            <a:picLocks noChangeAspect="1"/>
          </p:cNvPicPr>
          <p:nvPr/>
        </p:nvPicPr>
        <p:blipFill>
          <a:blip r:embed="rId7"/>
          <a:srcRect t="1361"/>
          <a:stretch>
            <a:fillRect/>
          </a:stretch>
        </p:blipFill>
        <p:spPr>
          <a:xfrm>
            <a:off x="9013890" y="759408"/>
            <a:ext cx="2482978" cy="5148953"/>
          </a:xfrm>
          <a:prstGeom prst="rect">
            <a:avLst/>
          </a:prstGeom>
        </p:spPr>
      </p:pic>
      <p:pic>
        <p:nvPicPr>
          <p:cNvPr id="480" name="Picture 479">
            <a:extLst>
              <a:ext uri="{FF2B5EF4-FFF2-40B4-BE49-F238E27FC236}">
                <a16:creationId xmlns:a16="http://schemas.microsoft.com/office/drawing/2014/main" id="{E35F877A-BEC5-8763-FED6-0CD7531130EB}"/>
              </a:ext>
            </a:extLst>
          </p:cNvPr>
          <p:cNvPicPr>
            <a:picLocks noChangeAspect="1"/>
          </p:cNvPicPr>
          <p:nvPr/>
        </p:nvPicPr>
        <p:blipFill>
          <a:blip r:embed="rId8"/>
          <a:stretch>
            <a:fillRect/>
          </a:stretch>
        </p:blipFill>
        <p:spPr>
          <a:xfrm>
            <a:off x="9209194" y="648020"/>
            <a:ext cx="2025754" cy="5696243"/>
          </a:xfrm>
          <a:prstGeom prst="rect">
            <a:avLst/>
          </a:prstGeom>
        </p:spPr>
      </p:pic>
    </p:spTree>
    <p:extLst>
      <p:ext uri="{BB962C8B-B14F-4D97-AF65-F5344CB8AC3E}">
        <p14:creationId xmlns:p14="http://schemas.microsoft.com/office/powerpoint/2010/main" val="255325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2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28"/>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30"/>
                                        </p:tgtEl>
                                        <p:attrNameLst>
                                          <p:attrName>style.visibility</p:attrName>
                                        </p:attrNameLst>
                                      </p:cBhvr>
                                      <p:to>
                                        <p:strVal val="hidden"/>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8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480"/>
                                        </p:tgtEl>
                                        <p:attrNameLst>
                                          <p:attrName>style.visibility</p:attrName>
                                        </p:attrNameLst>
                                      </p:cBhvr>
                                      <p:to>
                                        <p:strVal val="hidden"/>
                                      </p:to>
                                    </p:set>
                                  </p:childTnLst>
                                </p:cTn>
                              </p:par>
                              <p:par>
                                <p:cTn id="35" presetID="1"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animBg="1"/>
      <p:bldP spid="19" grpId="0" animBg="1"/>
      <p:bldP spid="20" grpId="0" animBg="1"/>
      <p:bldP spid="21" grpId="0"/>
      <p:bldP spid="2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94">
          <a:extLst>
            <a:ext uri="{FF2B5EF4-FFF2-40B4-BE49-F238E27FC236}">
              <a16:creationId xmlns:a16="http://schemas.microsoft.com/office/drawing/2014/main" id="{E9C1AE31-A4E4-2D3A-821B-BD99A5E85E63}"/>
            </a:ext>
          </a:extLst>
        </p:cNvPr>
        <p:cNvGrpSpPr/>
        <p:nvPr/>
      </p:nvGrpSpPr>
      <p:grpSpPr>
        <a:xfrm>
          <a:off x="0" y="0"/>
          <a:ext cx="0" cy="0"/>
          <a:chOff x="0" y="0"/>
          <a:chExt cx="0" cy="0"/>
        </a:xfrm>
      </p:grpSpPr>
      <p:pic>
        <p:nvPicPr>
          <p:cNvPr id="495" name="Google Shape;495;p45" descr="Une image contenant ciel, plein air, nuage, agriculture&#10;&#10;Description générée automatiquement">
            <a:extLst>
              <a:ext uri="{FF2B5EF4-FFF2-40B4-BE49-F238E27FC236}">
                <a16:creationId xmlns:a16="http://schemas.microsoft.com/office/drawing/2014/main" id="{DACDAEA5-ECC9-0E0A-9CAC-674013FEBD6D}"/>
              </a:ext>
            </a:extLst>
          </p:cNvPr>
          <p:cNvPicPr preferRelativeResize="0"/>
          <p:nvPr/>
        </p:nvPicPr>
        <p:blipFill rotWithShape="1">
          <a:blip r:embed="rId3">
            <a:alphaModFix/>
          </a:blip>
          <a:srcRect l="5973" t="9105" b="15903"/>
          <a:stretch/>
        </p:blipFill>
        <p:spPr>
          <a:xfrm>
            <a:off x="719138" y="0"/>
            <a:ext cx="11472863" cy="6858000"/>
          </a:xfrm>
          <a:prstGeom prst="rect">
            <a:avLst/>
          </a:prstGeom>
          <a:noFill/>
          <a:ln>
            <a:noFill/>
          </a:ln>
        </p:spPr>
      </p:pic>
      <p:sp>
        <p:nvSpPr>
          <p:cNvPr id="496" name="Google Shape;496;p45">
            <a:extLst>
              <a:ext uri="{FF2B5EF4-FFF2-40B4-BE49-F238E27FC236}">
                <a16:creationId xmlns:a16="http://schemas.microsoft.com/office/drawing/2014/main" id="{7EC7EE4F-AB06-A158-C19F-0D6023F13F11}"/>
              </a:ext>
            </a:extLst>
          </p:cNvPr>
          <p:cNvSpPr/>
          <p:nvPr/>
        </p:nvSpPr>
        <p:spPr>
          <a:xfrm>
            <a:off x="664273" y="0"/>
            <a:ext cx="11527727" cy="6858000"/>
          </a:xfrm>
          <a:prstGeom prst="rect">
            <a:avLst/>
          </a:prstGeom>
          <a:solidFill>
            <a:schemeClr val="lt1">
              <a:alpha val="93725"/>
            </a:schemeClr>
          </a:solidFill>
          <a:ln>
            <a:noFill/>
          </a:ln>
          <a:effectLst>
            <a:outerShdw blurRad="876300" dist="393700" dir="5400000" algn="t" rotWithShape="0">
              <a:srgbClr val="000000">
                <a:alpha val="784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a:solidFill>
                <a:srgbClr val="FF0000"/>
              </a:solidFill>
              <a:latin typeface="Calibri"/>
              <a:ea typeface="Calibri"/>
              <a:cs typeface="Calibri"/>
              <a:sym typeface="Calibri"/>
            </a:endParaRPr>
          </a:p>
        </p:txBody>
      </p:sp>
      <p:sp>
        <p:nvSpPr>
          <p:cNvPr id="497" name="Google Shape;497;p45">
            <a:extLst>
              <a:ext uri="{FF2B5EF4-FFF2-40B4-BE49-F238E27FC236}">
                <a16:creationId xmlns:a16="http://schemas.microsoft.com/office/drawing/2014/main" id="{728AB6E5-7481-F979-D363-F150B365E620}"/>
              </a:ext>
            </a:extLst>
          </p:cNvPr>
          <p:cNvSpPr txBox="1"/>
          <p:nvPr/>
        </p:nvSpPr>
        <p:spPr>
          <a:xfrm rot="-5400000">
            <a:off x="-797364" y="5204656"/>
            <a:ext cx="2251455" cy="38856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dirty="0">
                <a:solidFill>
                  <a:schemeClr val="lt1"/>
                </a:solidFill>
                <a:latin typeface="Nunito Sans SemiBold"/>
                <a:ea typeface="Nunito Sans SemiBold"/>
                <a:cs typeface="Nunito Sans SemiBold"/>
                <a:sym typeface="Nunito Sans SemiBold"/>
              </a:rPr>
              <a:t>AGRICOOL</a:t>
            </a:r>
            <a:endParaRPr sz="1400" b="0" i="0" u="none" strike="noStrike" cap="none" dirty="0">
              <a:solidFill>
                <a:srgbClr val="000000"/>
              </a:solidFill>
              <a:latin typeface="Arial"/>
              <a:ea typeface="Arial"/>
              <a:cs typeface="Arial"/>
              <a:sym typeface="Arial"/>
            </a:endParaRPr>
          </a:p>
        </p:txBody>
      </p:sp>
      <p:grpSp>
        <p:nvGrpSpPr>
          <p:cNvPr id="498" name="Google Shape;498;p45">
            <a:extLst>
              <a:ext uri="{FF2B5EF4-FFF2-40B4-BE49-F238E27FC236}">
                <a16:creationId xmlns:a16="http://schemas.microsoft.com/office/drawing/2014/main" id="{ED86D8A4-04AB-49F4-3540-387CAD63ACB8}"/>
              </a:ext>
            </a:extLst>
          </p:cNvPr>
          <p:cNvGrpSpPr/>
          <p:nvPr/>
        </p:nvGrpSpPr>
        <p:grpSpPr>
          <a:xfrm>
            <a:off x="211858" y="180932"/>
            <a:ext cx="310791" cy="304800"/>
            <a:chOff x="3848100" y="2292350"/>
            <a:chExt cx="310790" cy="304800"/>
          </a:xfrm>
        </p:grpSpPr>
        <p:sp>
          <p:nvSpPr>
            <p:cNvPr id="499" name="Google Shape;499;p45">
              <a:extLst>
                <a:ext uri="{FF2B5EF4-FFF2-40B4-BE49-F238E27FC236}">
                  <a16:creationId xmlns:a16="http://schemas.microsoft.com/office/drawing/2014/main" id="{0D60C429-AC71-828B-8F29-BBD56E5A6966}"/>
                </a:ext>
              </a:extLst>
            </p:cNvPr>
            <p:cNvSpPr/>
            <p:nvPr/>
          </p:nvSpPr>
          <p:spPr>
            <a:xfrm>
              <a:off x="3848100" y="2292350"/>
              <a:ext cx="114300" cy="1143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0" name="Google Shape;500;p45">
              <a:extLst>
                <a:ext uri="{FF2B5EF4-FFF2-40B4-BE49-F238E27FC236}">
                  <a16:creationId xmlns:a16="http://schemas.microsoft.com/office/drawing/2014/main" id="{B37E61F3-7E2B-37AD-4147-6BD10DE5C467}"/>
                </a:ext>
              </a:extLst>
            </p:cNvPr>
            <p:cNvSpPr/>
            <p:nvPr/>
          </p:nvSpPr>
          <p:spPr>
            <a:xfrm>
              <a:off x="4044590" y="2292350"/>
              <a:ext cx="114300" cy="1143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1" name="Google Shape;501;p45">
              <a:extLst>
                <a:ext uri="{FF2B5EF4-FFF2-40B4-BE49-F238E27FC236}">
                  <a16:creationId xmlns:a16="http://schemas.microsoft.com/office/drawing/2014/main" id="{2BCF0ED3-62CD-046F-577F-4CF10B0CE6B6}"/>
                </a:ext>
              </a:extLst>
            </p:cNvPr>
            <p:cNvSpPr/>
            <p:nvPr/>
          </p:nvSpPr>
          <p:spPr>
            <a:xfrm>
              <a:off x="3848100" y="2482850"/>
              <a:ext cx="114300" cy="1143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2" name="Google Shape;502;p45">
              <a:extLst>
                <a:ext uri="{FF2B5EF4-FFF2-40B4-BE49-F238E27FC236}">
                  <a16:creationId xmlns:a16="http://schemas.microsoft.com/office/drawing/2014/main" id="{D1F3899A-3733-15CA-2EB6-08A3651B5182}"/>
                </a:ext>
              </a:extLst>
            </p:cNvPr>
            <p:cNvSpPr/>
            <p:nvPr/>
          </p:nvSpPr>
          <p:spPr>
            <a:xfrm>
              <a:off x="4044590" y="2482850"/>
              <a:ext cx="114300" cy="1143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503" name="Google Shape;503;p45" descr="Une image contenant capture d’écran, Bleu électrique, Police, Bleu Majorelle&#10;&#10;Description générée automatiquement">
            <a:extLst>
              <a:ext uri="{FF2B5EF4-FFF2-40B4-BE49-F238E27FC236}">
                <a16:creationId xmlns:a16="http://schemas.microsoft.com/office/drawing/2014/main" id="{D63D0F64-FA04-0751-093B-2953BEE3904C}"/>
              </a:ext>
            </a:extLst>
          </p:cNvPr>
          <p:cNvPicPr preferRelativeResize="0"/>
          <p:nvPr/>
        </p:nvPicPr>
        <p:blipFill rotWithShape="1">
          <a:blip r:embed="rId4">
            <a:alphaModFix/>
          </a:blip>
          <a:srcRect/>
          <a:stretch/>
        </p:blipFill>
        <p:spPr>
          <a:xfrm>
            <a:off x="860763" y="6356352"/>
            <a:ext cx="1729633" cy="384363"/>
          </a:xfrm>
          <a:prstGeom prst="rect">
            <a:avLst/>
          </a:prstGeom>
          <a:noFill/>
          <a:ln>
            <a:noFill/>
          </a:ln>
        </p:spPr>
      </p:pic>
      <p:sp>
        <p:nvSpPr>
          <p:cNvPr id="504" name="Google Shape;504;p45">
            <a:extLst>
              <a:ext uri="{FF2B5EF4-FFF2-40B4-BE49-F238E27FC236}">
                <a16:creationId xmlns:a16="http://schemas.microsoft.com/office/drawing/2014/main" id="{7A9633E5-5228-D830-BCF3-433B34D121BC}"/>
              </a:ext>
            </a:extLst>
          </p:cNvPr>
          <p:cNvSpPr txBox="1">
            <a:spLocks noGrp="1"/>
          </p:cNvSpPr>
          <p:nvPr>
            <p:ph type="dt" idx="10"/>
          </p:nvPr>
        </p:nvSpPr>
        <p:spPr>
          <a:xfrm>
            <a:off x="8910320" y="6360403"/>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en-GB" dirty="0"/>
              <a:t>13 September 2026</a:t>
            </a:r>
            <a:endParaRPr dirty="0"/>
          </a:p>
        </p:txBody>
      </p:sp>
      <p:sp>
        <p:nvSpPr>
          <p:cNvPr id="505" name="Google Shape;505;p45">
            <a:extLst>
              <a:ext uri="{FF2B5EF4-FFF2-40B4-BE49-F238E27FC236}">
                <a16:creationId xmlns:a16="http://schemas.microsoft.com/office/drawing/2014/main" id="{D61D3981-C46D-7764-200F-7BB89743ADEA}"/>
              </a:ext>
            </a:extLst>
          </p:cNvPr>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200"/>
              <a:buNone/>
            </a:pPr>
            <a:fld id="{00000000-1234-1234-1234-123412341234}" type="slidenum">
              <a:rPr lang="en-GB"/>
              <a:t>10</a:t>
            </a:fld>
            <a:endParaRPr/>
          </a:p>
        </p:txBody>
      </p:sp>
      <p:pic>
        <p:nvPicPr>
          <p:cNvPr id="506" name="Google Shape;506;p45" descr="Une image contenant texte, Police, Graphique, capture d’écran&#10;&#10;Description générée automatiquement">
            <a:extLst>
              <a:ext uri="{FF2B5EF4-FFF2-40B4-BE49-F238E27FC236}">
                <a16:creationId xmlns:a16="http://schemas.microsoft.com/office/drawing/2014/main" id="{58CC0E3E-B201-CE94-4E6C-6ED5F4D7B6F0}"/>
              </a:ext>
            </a:extLst>
          </p:cNvPr>
          <p:cNvPicPr preferRelativeResize="0"/>
          <p:nvPr/>
        </p:nvPicPr>
        <p:blipFill rotWithShape="1">
          <a:blip r:embed="rId5">
            <a:alphaModFix/>
          </a:blip>
          <a:srcRect/>
          <a:stretch/>
        </p:blipFill>
        <p:spPr>
          <a:xfrm>
            <a:off x="9040304" y="105564"/>
            <a:ext cx="2939837" cy="764359"/>
          </a:xfrm>
          <a:prstGeom prst="rect">
            <a:avLst/>
          </a:prstGeom>
          <a:noFill/>
          <a:ln>
            <a:noFill/>
          </a:ln>
        </p:spPr>
      </p:pic>
      <p:sp>
        <p:nvSpPr>
          <p:cNvPr id="3" name="Google Shape;266;p33">
            <a:extLst>
              <a:ext uri="{FF2B5EF4-FFF2-40B4-BE49-F238E27FC236}">
                <a16:creationId xmlns:a16="http://schemas.microsoft.com/office/drawing/2014/main" id="{F6F84860-CF9D-7357-BF21-068D169673F1}"/>
              </a:ext>
            </a:extLst>
          </p:cNvPr>
          <p:cNvSpPr txBox="1"/>
          <p:nvPr/>
        </p:nvSpPr>
        <p:spPr>
          <a:xfrm>
            <a:off x="1881529" y="2953063"/>
            <a:ext cx="9148080" cy="76940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GB" sz="4400" b="1" dirty="0">
                <a:solidFill>
                  <a:srgbClr val="30A4CF"/>
                </a:solidFill>
                <a:latin typeface="Nunito"/>
                <a:ea typeface="Nunito"/>
                <a:cs typeface="Nunito"/>
                <a:sym typeface="Nunito"/>
              </a:rPr>
              <a:t>Modelling AGRI-COOL Systems</a:t>
            </a:r>
            <a:endParaRPr sz="4400" b="1" i="0" u="none" strike="noStrike" cap="none" dirty="0">
              <a:solidFill>
                <a:srgbClr val="30A4CF"/>
              </a:solidFill>
              <a:latin typeface="Nunito"/>
              <a:ea typeface="Nunito"/>
              <a:cs typeface="Nunito"/>
              <a:sym typeface="Nunito"/>
            </a:endParaRPr>
          </a:p>
        </p:txBody>
      </p:sp>
    </p:spTree>
    <p:extLst>
      <p:ext uri="{BB962C8B-B14F-4D97-AF65-F5344CB8AC3E}">
        <p14:creationId xmlns:p14="http://schemas.microsoft.com/office/powerpoint/2010/main" val="35775646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94">
          <a:extLst>
            <a:ext uri="{FF2B5EF4-FFF2-40B4-BE49-F238E27FC236}">
              <a16:creationId xmlns:a16="http://schemas.microsoft.com/office/drawing/2014/main" id="{835CA9F9-D530-7791-CBDB-F8B054D27A76}"/>
            </a:ext>
          </a:extLst>
        </p:cNvPr>
        <p:cNvGrpSpPr/>
        <p:nvPr/>
      </p:nvGrpSpPr>
      <p:grpSpPr>
        <a:xfrm>
          <a:off x="0" y="0"/>
          <a:ext cx="0" cy="0"/>
          <a:chOff x="0" y="0"/>
          <a:chExt cx="0" cy="0"/>
        </a:xfrm>
      </p:grpSpPr>
      <p:pic>
        <p:nvPicPr>
          <p:cNvPr id="495" name="Google Shape;495;p45" descr="Une image contenant ciel, plein air, nuage, agriculture&#10;&#10;Description générée automatiquement">
            <a:extLst>
              <a:ext uri="{FF2B5EF4-FFF2-40B4-BE49-F238E27FC236}">
                <a16:creationId xmlns:a16="http://schemas.microsoft.com/office/drawing/2014/main" id="{0FA78363-4CA8-68D9-7273-9D4EFB90F211}"/>
              </a:ext>
            </a:extLst>
          </p:cNvPr>
          <p:cNvPicPr preferRelativeResize="0"/>
          <p:nvPr/>
        </p:nvPicPr>
        <p:blipFill rotWithShape="1">
          <a:blip r:embed="rId3">
            <a:alphaModFix/>
          </a:blip>
          <a:srcRect l="5973" t="9105" b="15903"/>
          <a:stretch/>
        </p:blipFill>
        <p:spPr>
          <a:xfrm>
            <a:off x="719138" y="0"/>
            <a:ext cx="11472863" cy="6858000"/>
          </a:xfrm>
          <a:prstGeom prst="rect">
            <a:avLst/>
          </a:prstGeom>
          <a:noFill/>
          <a:ln>
            <a:noFill/>
          </a:ln>
        </p:spPr>
      </p:pic>
      <p:sp>
        <p:nvSpPr>
          <p:cNvPr id="496" name="Google Shape;496;p45">
            <a:extLst>
              <a:ext uri="{FF2B5EF4-FFF2-40B4-BE49-F238E27FC236}">
                <a16:creationId xmlns:a16="http://schemas.microsoft.com/office/drawing/2014/main" id="{987594C4-6945-F982-03A8-F4078D0560F8}"/>
              </a:ext>
            </a:extLst>
          </p:cNvPr>
          <p:cNvSpPr/>
          <p:nvPr/>
        </p:nvSpPr>
        <p:spPr>
          <a:xfrm>
            <a:off x="664273" y="0"/>
            <a:ext cx="11527727" cy="6858000"/>
          </a:xfrm>
          <a:prstGeom prst="rect">
            <a:avLst/>
          </a:prstGeom>
          <a:solidFill>
            <a:schemeClr val="lt1">
              <a:alpha val="93725"/>
            </a:schemeClr>
          </a:solidFill>
          <a:ln>
            <a:noFill/>
          </a:ln>
          <a:effectLst>
            <a:outerShdw blurRad="876300" dist="393700" dir="5400000" algn="t" rotWithShape="0">
              <a:srgbClr val="000000">
                <a:alpha val="784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dirty="0">
              <a:solidFill>
                <a:srgbClr val="FF0000"/>
              </a:solidFill>
              <a:latin typeface="Calibri"/>
              <a:ea typeface="Calibri"/>
              <a:cs typeface="Calibri"/>
              <a:sym typeface="Calibri"/>
            </a:endParaRPr>
          </a:p>
        </p:txBody>
      </p:sp>
      <p:sp>
        <p:nvSpPr>
          <p:cNvPr id="497" name="Google Shape;497;p45">
            <a:extLst>
              <a:ext uri="{FF2B5EF4-FFF2-40B4-BE49-F238E27FC236}">
                <a16:creationId xmlns:a16="http://schemas.microsoft.com/office/drawing/2014/main" id="{A63BD269-ECDB-1BC9-D59B-0B8175F4D801}"/>
              </a:ext>
            </a:extLst>
          </p:cNvPr>
          <p:cNvSpPr txBox="1"/>
          <p:nvPr/>
        </p:nvSpPr>
        <p:spPr>
          <a:xfrm rot="-5400000">
            <a:off x="-797364" y="5204656"/>
            <a:ext cx="2251455" cy="38856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lt1"/>
                </a:solidFill>
                <a:latin typeface="Nunito Sans SemiBold"/>
                <a:ea typeface="Nunito Sans SemiBold"/>
                <a:cs typeface="Nunito Sans SemiBold"/>
                <a:sym typeface="Nunito Sans SemiBold"/>
              </a:rPr>
              <a:t>AGRICOOL</a:t>
            </a:r>
            <a:endParaRPr sz="1400" b="0" i="0" u="none" strike="noStrike" cap="none">
              <a:solidFill>
                <a:srgbClr val="000000"/>
              </a:solidFill>
              <a:latin typeface="Arial"/>
              <a:ea typeface="Arial"/>
              <a:cs typeface="Arial"/>
              <a:sym typeface="Arial"/>
            </a:endParaRPr>
          </a:p>
        </p:txBody>
      </p:sp>
      <p:pic>
        <p:nvPicPr>
          <p:cNvPr id="503" name="Google Shape;503;p45" descr="Une image contenant capture d’écran, Bleu électrique, Police, Bleu Majorelle&#10;&#10;Description générée automatiquement">
            <a:extLst>
              <a:ext uri="{FF2B5EF4-FFF2-40B4-BE49-F238E27FC236}">
                <a16:creationId xmlns:a16="http://schemas.microsoft.com/office/drawing/2014/main" id="{43E7E254-17B8-29E3-8DCE-82E84A278F0A}"/>
              </a:ext>
            </a:extLst>
          </p:cNvPr>
          <p:cNvPicPr preferRelativeResize="0"/>
          <p:nvPr/>
        </p:nvPicPr>
        <p:blipFill rotWithShape="1">
          <a:blip r:embed="rId4">
            <a:alphaModFix/>
          </a:blip>
          <a:srcRect/>
          <a:stretch/>
        </p:blipFill>
        <p:spPr>
          <a:xfrm>
            <a:off x="659183" y="6441981"/>
            <a:ext cx="1729633" cy="384363"/>
          </a:xfrm>
          <a:prstGeom prst="rect">
            <a:avLst/>
          </a:prstGeom>
          <a:noFill/>
          <a:ln>
            <a:noFill/>
          </a:ln>
        </p:spPr>
      </p:pic>
      <p:sp>
        <p:nvSpPr>
          <p:cNvPr id="504" name="Google Shape;504;p45">
            <a:extLst>
              <a:ext uri="{FF2B5EF4-FFF2-40B4-BE49-F238E27FC236}">
                <a16:creationId xmlns:a16="http://schemas.microsoft.com/office/drawing/2014/main" id="{6A262948-59B1-9515-AE38-3B8923ADBB36}"/>
              </a:ext>
            </a:extLst>
          </p:cNvPr>
          <p:cNvSpPr txBox="1">
            <a:spLocks noGrp="1"/>
          </p:cNvSpPr>
          <p:nvPr>
            <p:ph type="dt" idx="10"/>
          </p:nvPr>
        </p:nvSpPr>
        <p:spPr>
          <a:xfrm>
            <a:off x="9332517" y="64262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en-GB" dirty="0"/>
              <a:t>13 September 2026</a:t>
            </a:r>
            <a:endParaRPr dirty="0"/>
          </a:p>
        </p:txBody>
      </p:sp>
      <p:sp>
        <p:nvSpPr>
          <p:cNvPr id="505" name="Google Shape;505;p45">
            <a:extLst>
              <a:ext uri="{FF2B5EF4-FFF2-40B4-BE49-F238E27FC236}">
                <a16:creationId xmlns:a16="http://schemas.microsoft.com/office/drawing/2014/main" id="{E86F7436-A1A7-5639-5DBF-09545D01B6C9}"/>
              </a:ext>
            </a:extLst>
          </p:cNvPr>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200"/>
              <a:buNone/>
            </a:pPr>
            <a:fld id="{00000000-1234-1234-1234-123412341234}" type="slidenum">
              <a:rPr lang="en-GB"/>
              <a:t>11</a:t>
            </a:fld>
            <a:endParaRPr/>
          </a:p>
        </p:txBody>
      </p:sp>
      <p:sp>
        <p:nvSpPr>
          <p:cNvPr id="3" name="Title">
            <a:extLst>
              <a:ext uri="{FF2B5EF4-FFF2-40B4-BE49-F238E27FC236}">
                <a16:creationId xmlns:a16="http://schemas.microsoft.com/office/drawing/2014/main" id="{BCA1AC28-D2F7-AB29-F0E9-BC0DEB63FCFC}"/>
              </a:ext>
            </a:extLst>
          </p:cNvPr>
          <p:cNvSpPr>
            <a:spLocks noGrp="1"/>
          </p:cNvSpPr>
          <p:nvPr/>
        </p:nvSpPr>
        <p:spPr>
          <a:xfrm>
            <a:off x="902209" y="333375"/>
            <a:ext cx="10972800" cy="638175"/>
          </a:xfrm>
          <a:prstGeom prst="rect">
            <a:avLst/>
          </a:prstGeom>
          <a:noFill/>
          <a:ln w="0">
            <a:noFill/>
          </a:ln>
        </p:spPr>
        <p:txBody>
          <a:bodyPr lIns="0" tIns="0" rIns="0" bIns="0" anchor="ctr">
            <a:noAutofit/>
          </a:bodyPr>
          <a:lstStyle/>
          <a:p>
            <a:pPr algn="l">
              <a:defRPr sz="3300" b="1">
                <a:solidFill>
                  <a:srgbClr val="14354E"/>
                </a:solidFill>
                <a:latin typeface="Bitstream Charter"/>
                <a:ea typeface="Bitstream Charter"/>
                <a:cs typeface="Bitstream Charter"/>
              </a:defRPr>
            </a:pPr>
            <a:r>
              <a:rPr sz="4400" b="1" dirty="0">
                <a:solidFill>
                  <a:srgbClr val="30A4CF"/>
                </a:solidFill>
                <a:latin typeface="Nunito"/>
              </a:rPr>
              <a:t>Our simplified </a:t>
            </a:r>
            <a:r>
              <a:rPr lang="en-US" sz="4400" b="1" dirty="0">
                <a:solidFill>
                  <a:srgbClr val="30A4CF"/>
                </a:solidFill>
                <a:latin typeface="Nunito"/>
              </a:rPr>
              <a:t>AGRI-COOL</a:t>
            </a:r>
            <a:r>
              <a:rPr sz="4400" b="1" dirty="0">
                <a:solidFill>
                  <a:srgbClr val="30A4CF"/>
                </a:solidFill>
                <a:latin typeface="Nunito"/>
              </a:rPr>
              <a:t> system</a:t>
            </a:r>
          </a:p>
        </p:txBody>
      </p:sp>
      <p:sp>
        <p:nvSpPr>
          <p:cNvPr id="17" name="Subtitle">
            <a:extLst>
              <a:ext uri="{FF2B5EF4-FFF2-40B4-BE49-F238E27FC236}">
                <a16:creationId xmlns:a16="http://schemas.microsoft.com/office/drawing/2014/main" id="{AA0602CD-1AEE-3882-332E-631E003BE46A}"/>
              </a:ext>
            </a:extLst>
          </p:cNvPr>
          <p:cNvSpPr>
            <a:spLocks noGrp="1"/>
          </p:cNvSpPr>
          <p:nvPr/>
        </p:nvSpPr>
        <p:spPr>
          <a:xfrm>
            <a:off x="902209" y="1066800"/>
            <a:ext cx="10972800" cy="533400"/>
          </a:xfrm>
          <a:prstGeom prst="rect">
            <a:avLst/>
          </a:prstGeom>
          <a:noFill/>
          <a:ln w="0">
            <a:noFill/>
          </a:ln>
        </p:spPr>
        <p:txBody>
          <a:bodyPr lIns="0" tIns="0" rIns="0" bIns="0" anchor="ctr">
            <a:noAutofit/>
          </a:bodyPr>
          <a:lstStyle/>
          <a:p>
            <a:pPr algn="l">
              <a:defRPr sz="2025" b="0">
                <a:solidFill>
                  <a:srgbClr val="456174"/>
                </a:solidFill>
                <a:latin typeface="Bitstream Charter"/>
                <a:ea typeface="Bitstream Charter"/>
                <a:cs typeface="Bitstream Charter"/>
              </a:defRPr>
            </a:pPr>
            <a:r>
              <a:rPr sz="2025" b="0">
                <a:solidFill>
                  <a:srgbClr val="456174"/>
                </a:solidFill>
                <a:latin typeface="Arial" panose="020B0604020202020204" pitchFamily="34" charset="0"/>
                <a:ea typeface="Bitstream Charter"/>
                <a:cs typeface="Arial" panose="020B0604020202020204" pitchFamily="34" charset="0"/>
              </a:rPr>
              <a:t>One circulating brine loop exchanges heat with a separate room-air loop.</a:t>
            </a:r>
          </a:p>
        </p:txBody>
      </p:sp>
      <p:grpSp>
        <p:nvGrpSpPr>
          <p:cNvPr id="21" name="Group 20">
            <a:extLst>
              <a:ext uri="{FF2B5EF4-FFF2-40B4-BE49-F238E27FC236}">
                <a16:creationId xmlns:a16="http://schemas.microsoft.com/office/drawing/2014/main" id="{28D7670A-1A66-CBD1-EA80-6F4C0DA1425A}"/>
              </a:ext>
            </a:extLst>
          </p:cNvPr>
          <p:cNvGrpSpPr/>
          <p:nvPr/>
        </p:nvGrpSpPr>
        <p:grpSpPr>
          <a:xfrm>
            <a:off x="2485419" y="1695450"/>
            <a:ext cx="8346708" cy="4319880"/>
            <a:chOff x="2485419" y="1695450"/>
            <a:chExt cx="8346708" cy="4319880"/>
          </a:xfrm>
        </p:grpSpPr>
        <p:pic>
          <p:nvPicPr>
            <p:cNvPr id="19" name="Picture 18">
              <a:extLst>
                <a:ext uri="{FF2B5EF4-FFF2-40B4-BE49-F238E27FC236}">
                  <a16:creationId xmlns:a16="http://schemas.microsoft.com/office/drawing/2014/main" id="{2A098022-31CA-3E12-1279-5279A268C2C0}"/>
                </a:ext>
              </a:extLst>
            </p:cNvPr>
            <p:cNvPicPr>
              <a:picLocks noChangeAspect="1"/>
            </p:cNvPicPr>
            <p:nvPr/>
          </p:nvPicPr>
          <p:blipFill>
            <a:blip r:embed="rId5"/>
            <a:srcRect t="5503" r="49892" b="48417"/>
            <a:stretch>
              <a:fillRect/>
            </a:stretch>
          </p:blipFill>
          <p:spPr>
            <a:xfrm>
              <a:off x="2485419" y="1695450"/>
              <a:ext cx="8346708" cy="4319880"/>
            </a:xfrm>
            <a:prstGeom prst="rect">
              <a:avLst/>
            </a:prstGeom>
          </p:spPr>
        </p:pic>
        <p:sp>
          <p:nvSpPr>
            <p:cNvPr id="20" name="Rectangle 19">
              <a:extLst>
                <a:ext uri="{FF2B5EF4-FFF2-40B4-BE49-F238E27FC236}">
                  <a16:creationId xmlns:a16="http://schemas.microsoft.com/office/drawing/2014/main" id="{A66DC83B-6B0A-5C9F-085B-BC8D1F69B833}"/>
                </a:ext>
              </a:extLst>
            </p:cNvPr>
            <p:cNvSpPr/>
            <p:nvPr/>
          </p:nvSpPr>
          <p:spPr>
            <a:xfrm>
              <a:off x="2765146" y="1850746"/>
              <a:ext cx="1214323" cy="30723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285966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94">
          <a:extLst>
            <a:ext uri="{FF2B5EF4-FFF2-40B4-BE49-F238E27FC236}">
              <a16:creationId xmlns:a16="http://schemas.microsoft.com/office/drawing/2014/main" id="{AB6C9908-A845-DA62-13BF-CD459DBF8134}"/>
            </a:ext>
          </a:extLst>
        </p:cNvPr>
        <p:cNvGrpSpPr/>
        <p:nvPr/>
      </p:nvGrpSpPr>
      <p:grpSpPr>
        <a:xfrm>
          <a:off x="0" y="0"/>
          <a:ext cx="0" cy="0"/>
          <a:chOff x="0" y="0"/>
          <a:chExt cx="0" cy="0"/>
        </a:xfrm>
      </p:grpSpPr>
      <p:pic>
        <p:nvPicPr>
          <p:cNvPr id="495" name="Google Shape;495;p45" descr="Une image contenant ciel, plein air, nuage, agriculture&#10;&#10;Description générée automatiquement">
            <a:extLst>
              <a:ext uri="{FF2B5EF4-FFF2-40B4-BE49-F238E27FC236}">
                <a16:creationId xmlns:a16="http://schemas.microsoft.com/office/drawing/2014/main" id="{7062010F-8A53-2E18-3FFB-5EB335A579E1}"/>
              </a:ext>
            </a:extLst>
          </p:cNvPr>
          <p:cNvPicPr preferRelativeResize="0"/>
          <p:nvPr/>
        </p:nvPicPr>
        <p:blipFill rotWithShape="1">
          <a:blip r:embed="rId3">
            <a:alphaModFix/>
          </a:blip>
          <a:srcRect l="5973" t="9105" b="15903"/>
          <a:stretch/>
        </p:blipFill>
        <p:spPr>
          <a:xfrm>
            <a:off x="719138" y="0"/>
            <a:ext cx="11472863" cy="6858000"/>
          </a:xfrm>
          <a:prstGeom prst="rect">
            <a:avLst/>
          </a:prstGeom>
          <a:noFill/>
          <a:ln>
            <a:noFill/>
          </a:ln>
        </p:spPr>
      </p:pic>
      <p:sp>
        <p:nvSpPr>
          <p:cNvPr id="496" name="Google Shape;496;p45">
            <a:extLst>
              <a:ext uri="{FF2B5EF4-FFF2-40B4-BE49-F238E27FC236}">
                <a16:creationId xmlns:a16="http://schemas.microsoft.com/office/drawing/2014/main" id="{862DB926-2CB7-1092-0B5D-E8D67C64A622}"/>
              </a:ext>
            </a:extLst>
          </p:cNvPr>
          <p:cNvSpPr/>
          <p:nvPr/>
        </p:nvSpPr>
        <p:spPr>
          <a:xfrm>
            <a:off x="664273" y="0"/>
            <a:ext cx="11527727" cy="6858000"/>
          </a:xfrm>
          <a:prstGeom prst="rect">
            <a:avLst/>
          </a:prstGeom>
          <a:solidFill>
            <a:schemeClr val="lt1">
              <a:alpha val="93725"/>
            </a:schemeClr>
          </a:solidFill>
          <a:ln>
            <a:noFill/>
          </a:ln>
          <a:effectLst>
            <a:outerShdw blurRad="876300" dist="393700" dir="5400000" algn="t" rotWithShape="0">
              <a:srgbClr val="000000">
                <a:alpha val="784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dirty="0">
              <a:solidFill>
                <a:srgbClr val="FF0000"/>
              </a:solidFill>
              <a:latin typeface="Calibri"/>
              <a:ea typeface="Calibri"/>
              <a:cs typeface="Calibri"/>
              <a:sym typeface="Calibri"/>
            </a:endParaRPr>
          </a:p>
        </p:txBody>
      </p:sp>
      <p:sp>
        <p:nvSpPr>
          <p:cNvPr id="497" name="Google Shape;497;p45">
            <a:extLst>
              <a:ext uri="{FF2B5EF4-FFF2-40B4-BE49-F238E27FC236}">
                <a16:creationId xmlns:a16="http://schemas.microsoft.com/office/drawing/2014/main" id="{995AE3EE-EFED-2ACC-852A-476C52153597}"/>
              </a:ext>
            </a:extLst>
          </p:cNvPr>
          <p:cNvSpPr txBox="1"/>
          <p:nvPr/>
        </p:nvSpPr>
        <p:spPr>
          <a:xfrm rot="-5400000">
            <a:off x="-797364" y="5204656"/>
            <a:ext cx="2251455" cy="38856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lt1"/>
                </a:solidFill>
                <a:latin typeface="Nunito Sans SemiBold"/>
                <a:ea typeface="Nunito Sans SemiBold"/>
                <a:cs typeface="Nunito Sans SemiBold"/>
                <a:sym typeface="Nunito Sans SemiBold"/>
              </a:rPr>
              <a:t>AGRICOOL</a:t>
            </a:r>
            <a:endParaRPr sz="1400" b="0" i="0" u="none" strike="noStrike" cap="none">
              <a:solidFill>
                <a:srgbClr val="000000"/>
              </a:solidFill>
              <a:latin typeface="Arial"/>
              <a:ea typeface="Arial"/>
              <a:cs typeface="Arial"/>
              <a:sym typeface="Arial"/>
            </a:endParaRPr>
          </a:p>
        </p:txBody>
      </p:sp>
      <p:pic>
        <p:nvPicPr>
          <p:cNvPr id="503" name="Google Shape;503;p45" descr="Une image contenant capture d’écran, Bleu électrique, Police, Bleu Majorelle&#10;&#10;Description générée automatiquement">
            <a:extLst>
              <a:ext uri="{FF2B5EF4-FFF2-40B4-BE49-F238E27FC236}">
                <a16:creationId xmlns:a16="http://schemas.microsoft.com/office/drawing/2014/main" id="{B6CB6E28-C462-1273-368A-EABF71EF2F38}"/>
              </a:ext>
            </a:extLst>
          </p:cNvPr>
          <p:cNvPicPr preferRelativeResize="0"/>
          <p:nvPr/>
        </p:nvPicPr>
        <p:blipFill rotWithShape="1">
          <a:blip r:embed="rId4">
            <a:alphaModFix/>
          </a:blip>
          <a:srcRect/>
          <a:stretch/>
        </p:blipFill>
        <p:spPr>
          <a:xfrm>
            <a:off x="659183" y="6441981"/>
            <a:ext cx="1729633" cy="384363"/>
          </a:xfrm>
          <a:prstGeom prst="rect">
            <a:avLst/>
          </a:prstGeom>
          <a:noFill/>
          <a:ln>
            <a:noFill/>
          </a:ln>
        </p:spPr>
      </p:pic>
      <p:sp>
        <p:nvSpPr>
          <p:cNvPr id="504" name="Google Shape;504;p45">
            <a:extLst>
              <a:ext uri="{FF2B5EF4-FFF2-40B4-BE49-F238E27FC236}">
                <a16:creationId xmlns:a16="http://schemas.microsoft.com/office/drawing/2014/main" id="{D09F492F-9373-A6B0-E7B0-C490C3FF5F0F}"/>
              </a:ext>
            </a:extLst>
          </p:cNvPr>
          <p:cNvSpPr txBox="1">
            <a:spLocks noGrp="1"/>
          </p:cNvSpPr>
          <p:nvPr>
            <p:ph type="dt" idx="10"/>
          </p:nvPr>
        </p:nvSpPr>
        <p:spPr>
          <a:xfrm>
            <a:off x="9332517" y="64262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en-GB" dirty="0"/>
              <a:t>13 September 2026</a:t>
            </a:r>
            <a:endParaRPr dirty="0"/>
          </a:p>
        </p:txBody>
      </p:sp>
      <p:sp>
        <p:nvSpPr>
          <p:cNvPr id="505" name="Google Shape;505;p45">
            <a:extLst>
              <a:ext uri="{FF2B5EF4-FFF2-40B4-BE49-F238E27FC236}">
                <a16:creationId xmlns:a16="http://schemas.microsoft.com/office/drawing/2014/main" id="{71C85EB6-5433-2458-2B72-308176FB2351}"/>
              </a:ext>
            </a:extLst>
          </p:cNvPr>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200"/>
              <a:buNone/>
            </a:pPr>
            <a:fld id="{00000000-1234-1234-1234-123412341234}" type="slidenum">
              <a:rPr lang="en-GB"/>
              <a:t>12</a:t>
            </a:fld>
            <a:endParaRPr dirty="0"/>
          </a:p>
        </p:txBody>
      </p:sp>
      <p:sp>
        <p:nvSpPr>
          <p:cNvPr id="5" name="Title">
            <a:extLst>
              <a:ext uri="{FF2B5EF4-FFF2-40B4-BE49-F238E27FC236}">
                <a16:creationId xmlns:a16="http://schemas.microsoft.com/office/drawing/2014/main" id="{6DD99884-52E3-2B92-78D3-11047B848509}"/>
              </a:ext>
            </a:extLst>
          </p:cNvPr>
          <p:cNvSpPr>
            <a:spLocks noGrp="1"/>
          </p:cNvSpPr>
          <p:nvPr/>
        </p:nvSpPr>
        <p:spPr>
          <a:xfrm>
            <a:off x="1207016" y="2790877"/>
            <a:ext cx="11126609" cy="1097811"/>
          </a:xfrm>
          <a:prstGeom prst="rect">
            <a:avLst/>
          </a:prstGeom>
          <a:noFill/>
          <a:ln w="0">
            <a:noFill/>
          </a:ln>
        </p:spPr>
        <p:txBody>
          <a:bodyPr lIns="0" tIns="0" rIns="0" bIns="0" anchor="ctr">
            <a:noAutofit/>
          </a:bodyPr>
          <a:lstStyle/>
          <a:p>
            <a:pPr algn="l">
              <a:defRPr sz="3300" b="1">
                <a:solidFill>
                  <a:srgbClr val="14354E"/>
                </a:solidFill>
                <a:latin typeface="Bitstream Charter"/>
                <a:ea typeface="Bitstream Charter"/>
                <a:cs typeface="Bitstream Charter"/>
              </a:defRPr>
            </a:pPr>
            <a:r>
              <a:rPr sz="4400" b="1" dirty="0">
                <a:solidFill>
                  <a:srgbClr val="30A4CF"/>
                </a:solidFill>
                <a:latin typeface="Nunito"/>
              </a:rPr>
              <a:t>Where does the cooling demand come from?</a:t>
            </a:r>
          </a:p>
        </p:txBody>
      </p:sp>
    </p:spTree>
    <p:extLst>
      <p:ext uri="{BB962C8B-B14F-4D97-AF65-F5344CB8AC3E}">
        <p14:creationId xmlns:p14="http://schemas.microsoft.com/office/powerpoint/2010/main" val="14220808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94">
          <a:extLst>
            <a:ext uri="{FF2B5EF4-FFF2-40B4-BE49-F238E27FC236}">
              <a16:creationId xmlns:a16="http://schemas.microsoft.com/office/drawing/2014/main" id="{1FC17F02-9D83-4119-7C85-677EF91F16DB}"/>
            </a:ext>
          </a:extLst>
        </p:cNvPr>
        <p:cNvGrpSpPr/>
        <p:nvPr/>
      </p:nvGrpSpPr>
      <p:grpSpPr>
        <a:xfrm>
          <a:off x="0" y="0"/>
          <a:ext cx="0" cy="0"/>
          <a:chOff x="0" y="0"/>
          <a:chExt cx="0" cy="0"/>
        </a:xfrm>
      </p:grpSpPr>
      <p:pic>
        <p:nvPicPr>
          <p:cNvPr id="495" name="Google Shape;495;p45" descr="Une image contenant ciel, plein air, nuage, agriculture&#10;&#10;Description générée automatiquement">
            <a:extLst>
              <a:ext uri="{FF2B5EF4-FFF2-40B4-BE49-F238E27FC236}">
                <a16:creationId xmlns:a16="http://schemas.microsoft.com/office/drawing/2014/main" id="{D1450F8A-521B-3A78-9391-51E3ACC907D6}"/>
              </a:ext>
            </a:extLst>
          </p:cNvPr>
          <p:cNvPicPr preferRelativeResize="0"/>
          <p:nvPr/>
        </p:nvPicPr>
        <p:blipFill rotWithShape="1">
          <a:blip r:embed="rId3">
            <a:alphaModFix/>
          </a:blip>
          <a:srcRect l="5973" t="9105" b="15903"/>
          <a:stretch/>
        </p:blipFill>
        <p:spPr>
          <a:xfrm>
            <a:off x="719138" y="0"/>
            <a:ext cx="11472863" cy="6858000"/>
          </a:xfrm>
          <a:prstGeom prst="rect">
            <a:avLst/>
          </a:prstGeom>
          <a:noFill/>
          <a:ln>
            <a:noFill/>
          </a:ln>
        </p:spPr>
      </p:pic>
      <p:sp>
        <p:nvSpPr>
          <p:cNvPr id="496" name="Google Shape;496;p45">
            <a:extLst>
              <a:ext uri="{FF2B5EF4-FFF2-40B4-BE49-F238E27FC236}">
                <a16:creationId xmlns:a16="http://schemas.microsoft.com/office/drawing/2014/main" id="{2947A81E-E3AA-3B87-E07F-0D87C9DEA819}"/>
              </a:ext>
            </a:extLst>
          </p:cNvPr>
          <p:cNvSpPr/>
          <p:nvPr/>
        </p:nvSpPr>
        <p:spPr>
          <a:xfrm>
            <a:off x="664273" y="0"/>
            <a:ext cx="11527727" cy="6858000"/>
          </a:xfrm>
          <a:prstGeom prst="rect">
            <a:avLst/>
          </a:prstGeom>
          <a:solidFill>
            <a:schemeClr val="lt1">
              <a:alpha val="93725"/>
            </a:schemeClr>
          </a:solidFill>
          <a:ln>
            <a:noFill/>
          </a:ln>
          <a:effectLst>
            <a:outerShdw blurRad="876300" dist="393700" dir="5400000" algn="t" rotWithShape="0">
              <a:srgbClr val="000000">
                <a:alpha val="784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dirty="0">
              <a:solidFill>
                <a:srgbClr val="FF0000"/>
              </a:solidFill>
              <a:latin typeface="Calibri"/>
              <a:ea typeface="Calibri"/>
              <a:cs typeface="Calibri"/>
              <a:sym typeface="Calibri"/>
            </a:endParaRPr>
          </a:p>
        </p:txBody>
      </p:sp>
      <p:sp>
        <p:nvSpPr>
          <p:cNvPr id="497" name="Google Shape;497;p45">
            <a:extLst>
              <a:ext uri="{FF2B5EF4-FFF2-40B4-BE49-F238E27FC236}">
                <a16:creationId xmlns:a16="http://schemas.microsoft.com/office/drawing/2014/main" id="{E26A2A18-EBDE-DCFC-7CCF-0568D510D1EA}"/>
              </a:ext>
            </a:extLst>
          </p:cNvPr>
          <p:cNvSpPr txBox="1"/>
          <p:nvPr/>
        </p:nvSpPr>
        <p:spPr>
          <a:xfrm rot="-5400000">
            <a:off x="-797364" y="5204656"/>
            <a:ext cx="2251455" cy="38856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lt1"/>
                </a:solidFill>
                <a:latin typeface="Nunito Sans SemiBold"/>
                <a:ea typeface="Nunito Sans SemiBold"/>
                <a:cs typeface="Nunito Sans SemiBold"/>
                <a:sym typeface="Nunito Sans SemiBold"/>
              </a:rPr>
              <a:t>AGRICOOL</a:t>
            </a:r>
            <a:endParaRPr sz="1400" b="0" i="0" u="none" strike="noStrike" cap="none">
              <a:solidFill>
                <a:srgbClr val="000000"/>
              </a:solidFill>
              <a:latin typeface="Arial"/>
              <a:ea typeface="Arial"/>
              <a:cs typeface="Arial"/>
              <a:sym typeface="Arial"/>
            </a:endParaRPr>
          </a:p>
        </p:txBody>
      </p:sp>
      <p:pic>
        <p:nvPicPr>
          <p:cNvPr id="503" name="Google Shape;503;p45" descr="Une image contenant capture d’écran, Bleu électrique, Police, Bleu Majorelle&#10;&#10;Description générée automatiquement">
            <a:extLst>
              <a:ext uri="{FF2B5EF4-FFF2-40B4-BE49-F238E27FC236}">
                <a16:creationId xmlns:a16="http://schemas.microsoft.com/office/drawing/2014/main" id="{7A524862-6CB6-4B91-B041-E74D7E04016B}"/>
              </a:ext>
            </a:extLst>
          </p:cNvPr>
          <p:cNvPicPr preferRelativeResize="0"/>
          <p:nvPr/>
        </p:nvPicPr>
        <p:blipFill rotWithShape="1">
          <a:blip r:embed="rId4">
            <a:alphaModFix/>
          </a:blip>
          <a:srcRect/>
          <a:stretch/>
        </p:blipFill>
        <p:spPr>
          <a:xfrm>
            <a:off x="659183" y="6441981"/>
            <a:ext cx="1729633" cy="384363"/>
          </a:xfrm>
          <a:prstGeom prst="rect">
            <a:avLst/>
          </a:prstGeom>
          <a:noFill/>
          <a:ln>
            <a:noFill/>
          </a:ln>
        </p:spPr>
      </p:pic>
      <p:sp>
        <p:nvSpPr>
          <p:cNvPr id="504" name="Google Shape;504;p45">
            <a:extLst>
              <a:ext uri="{FF2B5EF4-FFF2-40B4-BE49-F238E27FC236}">
                <a16:creationId xmlns:a16="http://schemas.microsoft.com/office/drawing/2014/main" id="{5664E7ED-F5C7-800C-FFAF-15921340B315}"/>
              </a:ext>
            </a:extLst>
          </p:cNvPr>
          <p:cNvSpPr txBox="1">
            <a:spLocks noGrp="1"/>
          </p:cNvSpPr>
          <p:nvPr>
            <p:ph type="dt" idx="10"/>
          </p:nvPr>
        </p:nvSpPr>
        <p:spPr>
          <a:xfrm>
            <a:off x="9332517" y="64262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en-GB" dirty="0"/>
              <a:t>13 September 2026</a:t>
            </a:r>
            <a:endParaRPr dirty="0"/>
          </a:p>
        </p:txBody>
      </p:sp>
      <p:sp>
        <p:nvSpPr>
          <p:cNvPr id="505" name="Google Shape;505;p45">
            <a:extLst>
              <a:ext uri="{FF2B5EF4-FFF2-40B4-BE49-F238E27FC236}">
                <a16:creationId xmlns:a16="http://schemas.microsoft.com/office/drawing/2014/main" id="{63CAD906-F926-9C2C-BD88-F7A7E229F903}"/>
              </a:ext>
            </a:extLst>
          </p:cNvPr>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200"/>
              <a:buNone/>
            </a:pPr>
            <a:fld id="{00000000-1234-1234-1234-123412341234}" type="slidenum">
              <a:rPr lang="en-GB"/>
              <a:t>13</a:t>
            </a:fld>
            <a:endParaRPr dirty="0"/>
          </a:p>
        </p:txBody>
      </p:sp>
      <p:sp>
        <p:nvSpPr>
          <p:cNvPr id="3" name="Rectangle 2">
            <a:extLst>
              <a:ext uri="{FF2B5EF4-FFF2-40B4-BE49-F238E27FC236}">
                <a16:creationId xmlns:a16="http://schemas.microsoft.com/office/drawing/2014/main" id="{97815C7A-3B4C-CFE6-9A9F-DFFD8D7FFC47}"/>
              </a:ext>
            </a:extLst>
          </p:cNvPr>
          <p:cNvSpPr>
            <a:spLocks noGrp="1"/>
          </p:cNvSpPr>
          <p:nvPr/>
        </p:nvSpPr>
        <p:spPr>
          <a:xfrm>
            <a:off x="883842" y="98628"/>
            <a:ext cx="11144250" cy="685800"/>
          </a:xfrm>
          <a:prstGeom prst="rect">
            <a:avLst/>
          </a:prstGeom>
          <a:noFill/>
          <a:ln w="0">
            <a:noFill/>
          </a:ln>
        </p:spPr>
        <p:txBody>
          <a:bodyPr lIns="0" tIns="0" rIns="0" bIns="0" anchor="ctr">
            <a:noAutofit/>
          </a:bodyPr>
          <a:lstStyle/>
          <a:p>
            <a:pPr>
              <a:defRPr sz="3000" b="1">
                <a:solidFill>
                  <a:srgbClr val="239BC2"/>
                </a:solidFill>
                <a:latin typeface="DejaVu Sans"/>
                <a:ea typeface="DejaVu Sans"/>
                <a:cs typeface="DejaVu Sans"/>
              </a:defRPr>
            </a:pPr>
            <a:r>
              <a:rPr sz="3000" b="1" dirty="0">
                <a:solidFill>
                  <a:srgbClr val="239BC2"/>
                </a:solidFill>
                <a:latin typeface="+mj-lt"/>
                <a:ea typeface="DejaVu Sans"/>
                <a:cs typeface="DejaVu Sans"/>
              </a:rPr>
              <a:t>Crop batch: cooling and respiration</a:t>
            </a:r>
          </a:p>
        </p:txBody>
      </p:sp>
      <p:pic>
        <p:nvPicPr>
          <p:cNvPr id="6" name="Picture 5">
            <a:extLst>
              <a:ext uri="{FF2B5EF4-FFF2-40B4-BE49-F238E27FC236}">
                <a16:creationId xmlns:a16="http://schemas.microsoft.com/office/drawing/2014/main" id="{2AC3C9DD-5A84-6050-4331-F3195A14FC99}"/>
              </a:ext>
            </a:extLst>
          </p:cNvPr>
          <p:cNvPicPr>
            <a:picLocks noChangeAspect="1"/>
          </p:cNvPicPr>
          <p:nvPr/>
        </p:nvPicPr>
        <p:blipFill>
          <a:blip r:embed="rId5"/>
          <a:stretch/>
        </p:blipFill>
        <p:spPr>
          <a:xfrm>
            <a:off x="1633142" y="1041603"/>
            <a:ext cx="4673600" cy="3505200"/>
          </a:xfrm>
          <a:prstGeom prst="rect">
            <a:avLst/>
          </a:prstGeom>
        </p:spPr>
      </p:pic>
      <p:sp>
        <p:nvSpPr>
          <p:cNvPr id="8" name="Rectangle 7">
            <a:extLst>
              <a:ext uri="{FF2B5EF4-FFF2-40B4-BE49-F238E27FC236}">
                <a16:creationId xmlns:a16="http://schemas.microsoft.com/office/drawing/2014/main" id="{98A0B783-7466-5F0D-50AE-EA0C1315BE62}"/>
              </a:ext>
            </a:extLst>
          </p:cNvPr>
          <p:cNvSpPr>
            <a:spLocks noGrp="1"/>
          </p:cNvSpPr>
          <p:nvPr/>
        </p:nvSpPr>
        <p:spPr>
          <a:xfrm>
            <a:off x="7484667" y="1394028"/>
            <a:ext cx="4591050" cy="1085850"/>
          </a:xfrm>
          <a:prstGeom prst="rect">
            <a:avLst/>
          </a:prstGeom>
          <a:noFill/>
          <a:ln w="0">
            <a:noFill/>
          </a:ln>
        </p:spPr>
        <p:txBody>
          <a:bodyPr lIns="0" tIns="0" rIns="0" bIns="0" anchor="ctr">
            <a:noAutofit/>
          </a:bodyPr>
          <a:lstStyle/>
          <a:p>
            <a:pPr>
              <a:defRPr sz="2175" b="1">
                <a:solidFill>
                  <a:srgbClr val="173E50"/>
                </a:solidFill>
                <a:latin typeface="DejaVu Sans"/>
                <a:ea typeface="DejaVu Sans"/>
                <a:cs typeface="DejaVu Sans"/>
              </a:defRPr>
            </a:pPr>
            <a:r>
              <a:rPr sz="2175" b="1" dirty="0">
                <a:solidFill>
                  <a:srgbClr val="173E50"/>
                </a:solidFill>
                <a:latin typeface="+mj-lt"/>
                <a:ea typeface="DejaVu Sans"/>
                <a:cs typeface="DejaVu Sans"/>
              </a:rPr>
              <a:t>Warm produce cools gradually.</a:t>
            </a:r>
          </a:p>
          <a:p>
            <a:pPr>
              <a:defRPr sz="2175" b="1">
                <a:solidFill>
                  <a:srgbClr val="173E50"/>
                </a:solidFill>
                <a:latin typeface="DejaVu Sans"/>
                <a:ea typeface="DejaVu Sans"/>
                <a:cs typeface="DejaVu Sans"/>
              </a:defRPr>
            </a:pPr>
            <a:r>
              <a:rPr sz="2175" b="1" dirty="0">
                <a:solidFill>
                  <a:srgbClr val="173E50"/>
                </a:solidFill>
                <a:latin typeface="+mj-lt"/>
                <a:ea typeface="DejaVu Sans"/>
                <a:cs typeface="DejaVu Sans"/>
              </a:rPr>
              <a:t>Respiration generates heat.</a:t>
            </a:r>
          </a:p>
        </p:txBody>
      </p:sp>
      <p:sp>
        <p:nvSpPr>
          <p:cNvPr id="10" name="Rectangle 9">
            <a:extLst>
              <a:ext uri="{FF2B5EF4-FFF2-40B4-BE49-F238E27FC236}">
                <a16:creationId xmlns:a16="http://schemas.microsoft.com/office/drawing/2014/main" id="{88DED6E0-2732-F20C-C0BD-0872BE3F4353}"/>
              </a:ext>
            </a:extLst>
          </p:cNvPr>
          <p:cNvSpPr>
            <a:spLocks noGrp="1"/>
          </p:cNvSpPr>
          <p:nvPr/>
        </p:nvSpPr>
        <p:spPr>
          <a:xfrm>
            <a:off x="7484667" y="2908503"/>
            <a:ext cx="4514850" cy="857250"/>
          </a:xfrm>
          <a:prstGeom prst="rect">
            <a:avLst/>
          </a:prstGeom>
          <a:noFill/>
          <a:ln w="0">
            <a:noFill/>
          </a:ln>
        </p:spPr>
        <p:txBody>
          <a:bodyPr lIns="0" tIns="0" rIns="0" bIns="0" anchor="ctr">
            <a:noAutofit/>
          </a:bodyPr>
          <a:lstStyle/>
          <a:p>
            <a:pPr>
              <a:defRPr sz="1800" b="0">
                <a:solidFill>
                  <a:srgbClr val="516B79"/>
                </a:solidFill>
                <a:latin typeface="DejaVu Sans"/>
                <a:ea typeface="DejaVu Sans"/>
                <a:cs typeface="DejaVu Sans"/>
              </a:defRPr>
            </a:pPr>
            <a:r>
              <a:rPr sz="1800" b="0">
                <a:solidFill>
                  <a:srgbClr val="516B79"/>
                </a:solidFill>
                <a:latin typeface="+mj-lt"/>
                <a:ea typeface="DejaVu Sans"/>
                <a:cs typeface="DejaVu Sans"/>
              </a:rPr>
              <a:t>Model: one temperature per batch,</a:t>
            </a:r>
          </a:p>
          <a:p>
            <a:pPr>
              <a:defRPr sz="1800" b="0">
                <a:solidFill>
                  <a:srgbClr val="516B79"/>
                </a:solidFill>
                <a:latin typeface="DejaVu Sans"/>
                <a:ea typeface="DejaVu Sans"/>
                <a:cs typeface="DejaVu Sans"/>
              </a:defRPr>
            </a:pPr>
            <a:r>
              <a:rPr sz="1800" b="0">
                <a:solidFill>
                  <a:srgbClr val="516B79"/>
                </a:solidFill>
                <a:latin typeface="+mj-lt"/>
                <a:ea typeface="DejaVu Sans"/>
                <a:cs typeface="DejaVu Sans"/>
              </a:rPr>
              <a:t>with no moisture loss.</a:t>
            </a:r>
          </a:p>
        </p:txBody>
      </p:sp>
      <p:sp>
        <p:nvSpPr>
          <p:cNvPr id="12" name="Rectangle 11">
            <a:extLst>
              <a:ext uri="{FF2B5EF4-FFF2-40B4-BE49-F238E27FC236}">
                <a16:creationId xmlns:a16="http://schemas.microsoft.com/office/drawing/2014/main" id="{B9BE65CE-7C00-EBCB-1D7C-2803E19C1122}"/>
              </a:ext>
            </a:extLst>
          </p:cNvPr>
          <p:cNvSpPr>
            <a:spLocks noGrp="1"/>
          </p:cNvSpPr>
          <p:nvPr/>
        </p:nvSpPr>
        <p:spPr>
          <a:xfrm>
            <a:off x="969567" y="4689678"/>
            <a:ext cx="10972800" cy="266700"/>
          </a:xfrm>
          <a:prstGeom prst="rect">
            <a:avLst/>
          </a:prstGeom>
          <a:noFill/>
          <a:ln w="0">
            <a:noFill/>
          </a:ln>
        </p:spPr>
        <p:txBody>
          <a:bodyPr lIns="0" tIns="0" rIns="0" bIns="0" anchor="ctr">
            <a:noAutofit/>
          </a:bodyPr>
          <a:lstStyle/>
          <a:p>
            <a:pPr>
              <a:defRPr sz="1350" b="1">
                <a:solidFill>
                  <a:srgbClr val="387E83"/>
                </a:solidFill>
                <a:latin typeface="DejaVu Sans"/>
                <a:ea typeface="DejaVu Sans"/>
                <a:cs typeface="DejaVu Sans"/>
              </a:defRPr>
            </a:pPr>
            <a:r>
              <a:rPr sz="1350" b="1" dirty="0">
                <a:solidFill>
                  <a:srgbClr val="387E83"/>
                </a:solidFill>
                <a:latin typeface="+mj-lt"/>
                <a:ea typeface="DejaVu Sans"/>
                <a:cs typeface="DejaVu Sans"/>
              </a:rPr>
              <a:t>CROP ENERGY BALANCE</a:t>
            </a:r>
          </a:p>
        </p:txBody>
      </p:sp>
      <mc:AlternateContent xmlns:mc="http://schemas.openxmlformats.org/markup-compatibility/2006" xmlns:a14="http://schemas.microsoft.com/office/drawing/2010/main">
        <mc:Choice Requires="a14">
          <p:sp>
            <p:nvSpPr>
              <p:cNvPr id="14" name="Editable equation 3">
                <a:extLst>
                  <a:ext uri="{FF2B5EF4-FFF2-40B4-BE49-F238E27FC236}">
                    <a16:creationId xmlns:a16="http://schemas.microsoft.com/office/drawing/2014/main" id="{F416141D-10D5-3D93-B7F8-4B9707D64807}"/>
                  </a:ext>
                </a:extLst>
              </p:cNvPr>
              <p:cNvSpPr txBox="1"/>
              <p:nvPr/>
            </p:nvSpPr>
            <p:spPr>
              <a:xfrm>
                <a:off x="2059813" y="4965903"/>
                <a:ext cx="8792308" cy="952500"/>
              </a:xfrm>
              <a:prstGeom prst="rect">
                <a:avLst/>
              </a:prstGeom>
              <a:noFill/>
              <a:ln>
                <a:noFill/>
              </a:ln>
            </p:spPr>
            <p:txBody>
              <a:bodyPr lIns="0" tIns="0" rIns="0" bIns="0" anchor="ctr"/>
              <a:lstStyle/>
              <a:p>
                <a:pPr algn="ctr">
                  <a:defRPr sz="2800"/>
                </a:pPr>
                <a14:m>
                  <m:oMathPara xmlns:m="http://schemas.openxmlformats.org/officeDocument/2006/math">
                    <m:oMath>
                      <m:r>
                        <a:rPr sz="2800">
                          <a:solidFill>
                            <a:srgbClr val="173E50"/>
                          </a:solidFill>
                          <a:latin typeface="Cambria Math" panose="02040503050406030204" pitchFamily="18" charset="0"/>
                        </a:rPr>
                        <m:t>𝑚</m:t>
                      </m:r>
                      <m:sSub>
                        <m:sSubPr>
                          <m:ctrlPr>
                            <a:rPr sz="2800">
                              <a:solidFill>
                                <a:srgbClr val="173E50"/>
                              </a:solidFill>
                              <a:latin typeface="Cambria Math" panose="02040503050406030204" pitchFamily="18" charset="0"/>
                            </a:rPr>
                          </m:ctrlPr>
                        </m:sSubPr>
                        <m:e>
                          <m:r>
                            <a:rPr sz="2800">
                              <a:solidFill>
                                <a:srgbClr val="173E50"/>
                              </a:solidFill>
                              <a:latin typeface="Cambria Math" panose="02040503050406030204" pitchFamily="18" charset="0"/>
                            </a:rPr>
                            <m:t>𝑐</m:t>
                          </m:r>
                        </m:e>
                        <m:sub>
                          <m:r>
                            <m:rPr>
                              <m:sty m:val="p"/>
                            </m:rPr>
                            <a:rPr sz="2800">
                              <a:solidFill>
                                <a:srgbClr val="173E50"/>
                              </a:solidFill>
                              <a:latin typeface="Cambria Math" panose="02040503050406030204" pitchFamily="18" charset="0"/>
                            </a:rPr>
                            <m:t>p</m:t>
                          </m:r>
                        </m:sub>
                      </m:sSub>
                      <m:f>
                        <m:fPr>
                          <m:ctrlPr>
                            <a:rPr sz="2800">
                              <a:solidFill>
                                <a:srgbClr val="173E50"/>
                              </a:solidFill>
                              <a:latin typeface="Cambria Math" panose="02040503050406030204" pitchFamily="18" charset="0"/>
                            </a:rPr>
                          </m:ctrlPr>
                        </m:fPr>
                        <m:num>
                          <m:r>
                            <m:rPr>
                              <m:sty m:val="p"/>
                            </m:rPr>
                            <a:rPr sz="2800">
                              <a:solidFill>
                                <a:srgbClr val="173E50"/>
                              </a:solidFill>
                              <a:latin typeface="Cambria Math" panose="02040503050406030204" pitchFamily="18" charset="0"/>
                            </a:rPr>
                            <m:t>d</m:t>
                          </m:r>
                          <m:sSub>
                            <m:sSubPr>
                              <m:ctrlPr>
                                <a:rPr sz="2800">
                                  <a:solidFill>
                                    <a:srgbClr val="173E50"/>
                                  </a:solidFill>
                                  <a:latin typeface="Cambria Math" panose="02040503050406030204" pitchFamily="18" charset="0"/>
                                </a:rPr>
                              </m:ctrlPr>
                            </m:sSubPr>
                            <m:e>
                              <m:r>
                                <a:rPr sz="2800">
                                  <a:solidFill>
                                    <a:srgbClr val="173E50"/>
                                  </a:solidFill>
                                  <a:latin typeface="Cambria Math" panose="02040503050406030204" pitchFamily="18" charset="0"/>
                                </a:rPr>
                                <m:t>𝑇</m:t>
                              </m:r>
                            </m:e>
                            <m:sub>
                              <m:r>
                                <m:rPr>
                                  <m:sty m:val="p"/>
                                </m:rPr>
                                <a:rPr sz="2800">
                                  <a:solidFill>
                                    <a:srgbClr val="173E50"/>
                                  </a:solidFill>
                                  <a:latin typeface="Cambria Math" panose="02040503050406030204" pitchFamily="18" charset="0"/>
                                </a:rPr>
                                <m:t>p</m:t>
                              </m:r>
                            </m:sub>
                          </m:sSub>
                        </m:num>
                        <m:den>
                          <m:r>
                            <m:rPr>
                              <m:sty m:val="p"/>
                            </m:rPr>
                            <a:rPr sz="2800">
                              <a:solidFill>
                                <a:srgbClr val="173E50"/>
                              </a:solidFill>
                              <a:latin typeface="Cambria Math" panose="02040503050406030204" pitchFamily="18" charset="0"/>
                            </a:rPr>
                            <m:t>dt</m:t>
                          </m:r>
                        </m:den>
                      </m:f>
                      <m:r>
                        <a:rPr sz="2800">
                          <a:solidFill>
                            <a:srgbClr val="173E50"/>
                          </a:solidFill>
                          <a:latin typeface="Cambria Math" panose="02040503050406030204" pitchFamily="18" charset="0"/>
                        </a:rPr>
                        <m:t>=</m:t>
                      </m:r>
                      <m:r>
                        <a:rPr sz="2800">
                          <a:solidFill>
                            <a:srgbClr val="173E50"/>
                          </a:solidFill>
                          <a:latin typeface="Cambria Math" panose="02040503050406030204" pitchFamily="18" charset="0"/>
                        </a:rPr>
                        <m:t>𝑈𝐴</m:t>
                      </m:r>
                      <m:r>
                        <a:rPr sz="2800">
                          <a:solidFill>
                            <a:srgbClr val="173E50"/>
                          </a:solidFill>
                          <a:latin typeface="Cambria Math" panose="02040503050406030204" pitchFamily="18" charset="0"/>
                        </a:rPr>
                        <m:t>(</m:t>
                      </m:r>
                      <m:sSub>
                        <m:sSubPr>
                          <m:ctrlPr>
                            <a:rPr sz="2800">
                              <a:solidFill>
                                <a:srgbClr val="173E50"/>
                              </a:solidFill>
                              <a:latin typeface="Cambria Math" panose="02040503050406030204" pitchFamily="18" charset="0"/>
                            </a:rPr>
                          </m:ctrlPr>
                        </m:sSubPr>
                        <m:e>
                          <m:r>
                            <a:rPr sz="2800">
                              <a:solidFill>
                                <a:srgbClr val="173E50"/>
                              </a:solidFill>
                              <a:latin typeface="Cambria Math" panose="02040503050406030204" pitchFamily="18" charset="0"/>
                            </a:rPr>
                            <m:t>𝑇</m:t>
                          </m:r>
                        </m:e>
                        <m:sub>
                          <m:r>
                            <m:rPr>
                              <m:sty m:val="p"/>
                            </m:rPr>
                            <a:rPr sz="2800">
                              <a:solidFill>
                                <a:srgbClr val="173E50"/>
                              </a:solidFill>
                              <a:latin typeface="Cambria Math" panose="02040503050406030204" pitchFamily="18" charset="0"/>
                            </a:rPr>
                            <m:t>r</m:t>
                          </m:r>
                        </m:sub>
                      </m:sSub>
                      <m:r>
                        <a:rPr sz="2800">
                          <a:solidFill>
                            <a:srgbClr val="173E50"/>
                          </a:solidFill>
                          <a:latin typeface="Cambria Math" panose="02040503050406030204" pitchFamily="18" charset="0"/>
                        </a:rPr>
                        <m:t>−</m:t>
                      </m:r>
                      <m:sSub>
                        <m:sSubPr>
                          <m:ctrlPr>
                            <a:rPr sz="2800">
                              <a:solidFill>
                                <a:srgbClr val="173E50"/>
                              </a:solidFill>
                              <a:latin typeface="Cambria Math" panose="02040503050406030204" pitchFamily="18" charset="0"/>
                            </a:rPr>
                          </m:ctrlPr>
                        </m:sSubPr>
                        <m:e>
                          <m:r>
                            <a:rPr sz="2800">
                              <a:solidFill>
                                <a:srgbClr val="173E50"/>
                              </a:solidFill>
                              <a:latin typeface="Cambria Math" panose="02040503050406030204" pitchFamily="18" charset="0"/>
                            </a:rPr>
                            <m:t>𝑇</m:t>
                          </m:r>
                        </m:e>
                        <m:sub>
                          <m:r>
                            <m:rPr>
                              <m:sty m:val="p"/>
                            </m:rPr>
                            <a:rPr sz="2800">
                              <a:solidFill>
                                <a:srgbClr val="173E50"/>
                              </a:solidFill>
                              <a:latin typeface="Cambria Math" panose="02040503050406030204" pitchFamily="18" charset="0"/>
                            </a:rPr>
                            <m:t>p</m:t>
                          </m:r>
                        </m:sub>
                      </m:sSub>
                      <m:r>
                        <a:rPr sz="2800">
                          <a:solidFill>
                            <a:srgbClr val="173E50"/>
                          </a:solidFill>
                          <a:latin typeface="Cambria Math" panose="02040503050406030204" pitchFamily="18" charset="0"/>
                        </a:rPr>
                        <m:t>)+</m:t>
                      </m:r>
                      <m:r>
                        <a:rPr sz="2800">
                          <a:solidFill>
                            <a:srgbClr val="173E50"/>
                          </a:solidFill>
                          <a:latin typeface="Cambria Math" panose="02040503050406030204" pitchFamily="18" charset="0"/>
                        </a:rPr>
                        <m:t>𝑚</m:t>
                      </m:r>
                      <m:sSub>
                        <m:sSubPr>
                          <m:ctrlPr>
                            <a:rPr sz="2800">
                              <a:solidFill>
                                <a:srgbClr val="173E50"/>
                              </a:solidFill>
                              <a:latin typeface="Cambria Math" panose="02040503050406030204" pitchFamily="18" charset="0"/>
                            </a:rPr>
                          </m:ctrlPr>
                        </m:sSubPr>
                        <m:e>
                          <m:r>
                            <a:rPr sz="2800">
                              <a:solidFill>
                                <a:srgbClr val="173E50"/>
                              </a:solidFill>
                              <a:latin typeface="Cambria Math" panose="02040503050406030204" pitchFamily="18" charset="0"/>
                            </a:rPr>
                            <m:t>𝑞</m:t>
                          </m:r>
                        </m:e>
                        <m:sub>
                          <m:r>
                            <m:rPr>
                              <m:sty m:val="p"/>
                            </m:rPr>
                            <a:rPr sz="2800">
                              <a:solidFill>
                                <a:srgbClr val="173E50"/>
                              </a:solidFill>
                              <a:latin typeface="Cambria Math" panose="02040503050406030204" pitchFamily="18" charset="0"/>
                            </a:rPr>
                            <m:t>resp</m:t>
                          </m:r>
                        </m:sub>
                      </m:sSub>
                    </m:oMath>
                  </m:oMathPara>
                </a14:m>
                <a:endParaRPr lang="en-US" sz="2800">
                  <a:latin typeface="+mj-lt"/>
                </a:endParaRPr>
              </a:p>
            </p:txBody>
          </p:sp>
        </mc:Choice>
        <mc:Fallback xmlns="">
          <p:sp>
            <p:nvSpPr>
              <p:cNvPr id="14" name="Editable equation 3">
                <a:extLst>
                  <a:ext uri="{FF2B5EF4-FFF2-40B4-BE49-F238E27FC236}">
                    <a16:creationId xmlns:a16="http://schemas.microsoft.com/office/drawing/2014/main" id="{F416141D-10D5-3D93-B7F8-4B9707D64807}"/>
                  </a:ext>
                </a:extLst>
              </p:cNvPr>
              <p:cNvSpPr txBox="1">
                <a:spLocks noRot="1" noChangeAspect="1" noMove="1" noResize="1" noEditPoints="1" noAdjustHandles="1" noChangeArrowheads="1" noChangeShapeType="1" noTextEdit="1"/>
              </p:cNvSpPr>
              <p:nvPr/>
            </p:nvSpPr>
            <p:spPr>
              <a:xfrm>
                <a:off x="2059813" y="4965903"/>
                <a:ext cx="8792308" cy="952500"/>
              </a:xfrm>
              <a:prstGeom prst="rect">
                <a:avLst/>
              </a:prstGeom>
              <a:blipFill>
                <a:blip r:embed="rId6"/>
                <a:stretch>
                  <a:fillRect/>
                </a:stretch>
              </a:blipFill>
              <a:ln>
                <a:noFill/>
              </a:ln>
            </p:spPr>
            <p:txBody>
              <a:bodyPr/>
              <a:lstStyle/>
              <a:p>
                <a:r>
                  <a:rPr lang="en-US">
                    <a:noFill/>
                  </a:rPr>
                  <a:t> </a:t>
                </a:r>
              </a:p>
            </p:txBody>
          </p:sp>
        </mc:Fallback>
      </mc:AlternateContent>
      <p:sp>
        <p:nvSpPr>
          <p:cNvPr id="16" name="Rectangle 15">
            <a:extLst>
              <a:ext uri="{FF2B5EF4-FFF2-40B4-BE49-F238E27FC236}">
                <a16:creationId xmlns:a16="http://schemas.microsoft.com/office/drawing/2014/main" id="{CA676B96-F2BC-AFE9-01E1-5405915A2F03}"/>
              </a:ext>
            </a:extLst>
          </p:cNvPr>
          <p:cNvSpPr>
            <a:spLocks noGrp="1"/>
          </p:cNvSpPr>
          <p:nvPr/>
        </p:nvSpPr>
        <p:spPr>
          <a:xfrm>
            <a:off x="969567" y="5956503"/>
            <a:ext cx="10972800" cy="561975"/>
          </a:xfrm>
          <a:prstGeom prst="rect">
            <a:avLst/>
          </a:prstGeom>
          <a:noFill/>
          <a:ln w="0">
            <a:noFill/>
          </a:ln>
        </p:spPr>
        <p:txBody>
          <a:bodyPr lIns="0" tIns="0" rIns="0" bIns="0" anchor="ctr">
            <a:noAutofit/>
          </a:bodyPr>
          <a:lstStyle/>
          <a:p>
            <a:pPr>
              <a:defRPr sz="1350" b="0">
                <a:solidFill>
                  <a:srgbClr val="516B79"/>
                </a:solidFill>
                <a:latin typeface="DejaVu Sans"/>
                <a:ea typeface="DejaVu Sans"/>
                <a:cs typeface="DejaVu Sans"/>
              </a:defRPr>
            </a:pPr>
            <a:r>
              <a:rPr sz="1350" b="0" dirty="0">
                <a:solidFill>
                  <a:srgbClr val="516B79"/>
                </a:solidFill>
                <a:latin typeface="+mj-lt"/>
                <a:ea typeface="DejaVu Sans"/>
                <a:cs typeface="DejaVu Sans"/>
              </a:rPr>
              <a:t>m: crop mass   cₚ: specific heat   Tₚ: crop temperature   Tᵣ: room temperature</a:t>
            </a:r>
          </a:p>
          <a:p>
            <a:pPr>
              <a:defRPr sz="1350" b="0">
                <a:solidFill>
                  <a:srgbClr val="516B79"/>
                </a:solidFill>
                <a:latin typeface="DejaVu Sans"/>
                <a:ea typeface="DejaVu Sans"/>
                <a:cs typeface="DejaVu Sans"/>
              </a:defRPr>
            </a:pPr>
            <a:r>
              <a:rPr sz="1350" b="0" dirty="0">
                <a:solidFill>
                  <a:srgbClr val="516B79"/>
                </a:solidFill>
                <a:latin typeface="+mj-lt"/>
                <a:ea typeface="DejaVu Sans"/>
                <a:cs typeface="DejaVu Sans"/>
              </a:rPr>
              <a:t>UA: effective thermal conductance   qᵣₑₛₚ: respiration heat per kilogram</a:t>
            </a:r>
          </a:p>
        </p:txBody>
      </p:sp>
    </p:spTree>
    <p:extLst>
      <p:ext uri="{BB962C8B-B14F-4D97-AF65-F5344CB8AC3E}">
        <p14:creationId xmlns:p14="http://schemas.microsoft.com/office/powerpoint/2010/main" val="41220315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94">
          <a:extLst>
            <a:ext uri="{FF2B5EF4-FFF2-40B4-BE49-F238E27FC236}">
              <a16:creationId xmlns:a16="http://schemas.microsoft.com/office/drawing/2014/main" id="{59DE29C3-859D-FAC9-8E67-301C4ABA2F2C}"/>
            </a:ext>
          </a:extLst>
        </p:cNvPr>
        <p:cNvGrpSpPr/>
        <p:nvPr/>
      </p:nvGrpSpPr>
      <p:grpSpPr>
        <a:xfrm>
          <a:off x="0" y="0"/>
          <a:ext cx="0" cy="0"/>
          <a:chOff x="0" y="0"/>
          <a:chExt cx="0" cy="0"/>
        </a:xfrm>
      </p:grpSpPr>
      <p:pic>
        <p:nvPicPr>
          <p:cNvPr id="495" name="Google Shape;495;p45" descr="Une image contenant ciel, plein air, nuage, agriculture&#10;&#10;Description générée automatiquement">
            <a:extLst>
              <a:ext uri="{FF2B5EF4-FFF2-40B4-BE49-F238E27FC236}">
                <a16:creationId xmlns:a16="http://schemas.microsoft.com/office/drawing/2014/main" id="{5253A295-FC66-AA41-E620-C24E9551FD10}"/>
              </a:ext>
            </a:extLst>
          </p:cNvPr>
          <p:cNvPicPr preferRelativeResize="0"/>
          <p:nvPr/>
        </p:nvPicPr>
        <p:blipFill rotWithShape="1">
          <a:blip r:embed="rId3">
            <a:alphaModFix/>
          </a:blip>
          <a:srcRect l="5973" t="9105" b="15903"/>
          <a:stretch/>
        </p:blipFill>
        <p:spPr>
          <a:xfrm>
            <a:off x="719138" y="0"/>
            <a:ext cx="11472863" cy="6858000"/>
          </a:xfrm>
          <a:prstGeom prst="rect">
            <a:avLst/>
          </a:prstGeom>
          <a:noFill/>
          <a:ln>
            <a:noFill/>
          </a:ln>
        </p:spPr>
      </p:pic>
      <p:sp>
        <p:nvSpPr>
          <p:cNvPr id="496" name="Google Shape;496;p45">
            <a:extLst>
              <a:ext uri="{FF2B5EF4-FFF2-40B4-BE49-F238E27FC236}">
                <a16:creationId xmlns:a16="http://schemas.microsoft.com/office/drawing/2014/main" id="{EFA237AB-B5A9-7443-D1A3-000EFD4DB019}"/>
              </a:ext>
            </a:extLst>
          </p:cNvPr>
          <p:cNvSpPr/>
          <p:nvPr/>
        </p:nvSpPr>
        <p:spPr>
          <a:xfrm>
            <a:off x="664273" y="0"/>
            <a:ext cx="11527727" cy="6858000"/>
          </a:xfrm>
          <a:prstGeom prst="rect">
            <a:avLst/>
          </a:prstGeom>
          <a:solidFill>
            <a:schemeClr val="lt1">
              <a:alpha val="93725"/>
            </a:schemeClr>
          </a:solidFill>
          <a:ln>
            <a:noFill/>
          </a:ln>
          <a:effectLst>
            <a:outerShdw blurRad="876300" dist="393700" dir="5400000" algn="t" rotWithShape="0">
              <a:srgbClr val="000000">
                <a:alpha val="784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dirty="0">
              <a:solidFill>
                <a:srgbClr val="FF0000"/>
              </a:solidFill>
              <a:latin typeface="Calibri"/>
              <a:ea typeface="Calibri"/>
              <a:cs typeface="Calibri"/>
              <a:sym typeface="Calibri"/>
            </a:endParaRPr>
          </a:p>
        </p:txBody>
      </p:sp>
      <p:sp>
        <p:nvSpPr>
          <p:cNvPr id="497" name="Google Shape;497;p45">
            <a:extLst>
              <a:ext uri="{FF2B5EF4-FFF2-40B4-BE49-F238E27FC236}">
                <a16:creationId xmlns:a16="http://schemas.microsoft.com/office/drawing/2014/main" id="{301BF8D1-0BB9-0824-DEF1-1FFDBDB8A6FB}"/>
              </a:ext>
            </a:extLst>
          </p:cNvPr>
          <p:cNvSpPr txBox="1"/>
          <p:nvPr/>
        </p:nvSpPr>
        <p:spPr>
          <a:xfrm rot="-5400000">
            <a:off x="-797364" y="5204656"/>
            <a:ext cx="2251455" cy="38856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lt1"/>
                </a:solidFill>
                <a:latin typeface="Nunito Sans SemiBold"/>
                <a:ea typeface="Nunito Sans SemiBold"/>
                <a:cs typeface="Nunito Sans SemiBold"/>
                <a:sym typeface="Nunito Sans SemiBold"/>
              </a:rPr>
              <a:t>AGRICOOL</a:t>
            </a:r>
            <a:endParaRPr sz="1400" b="0" i="0" u="none" strike="noStrike" cap="none">
              <a:solidFill>
                <a:srgbClr val="000000"/>
              </a:solidFill>
              <a:latin typeface="Arial"/>
              <a:ea typeface="Arial"/>
              <a:cs typeface="Arial"/>
              <a:sym typeface="Arial"/>
            </a:endParaRPr>
          </a:p>
        </p:txBody>
      </p:sp>
      <p:pic>
        <p:nvPicPr>
          <p:cNvPr id="503" name="Google Shape;503;p45" descr="Une image contenant capture d’écran, Bleu électrique, Police, Bleu Majorelle&#10;&#10;Description générée automatiquement">
            <a:extLst>
              <a:ext uri="{FF2B5EF4-FFF2-40B4-BE49-F238E27FC236}">
                <a16:creationId xmlns:a16="http://schemas.microsoft.com/office/drawing/2014/main" id="{47F98BFC-443C-3C35-161F-DB9BEEFBFB4D}"/>
              </a:ext>
            </a:extLst>
          </p:cNvPr>
          <p:cNvPicPr preferRelativeResize="0"/>
          <p:nvPr/>
        </p:nvPicPr>
        <p:blipFill rotWithShape="1">
          <a:blip r:embed="rId4">
            <a:alphaModFix/>
          </a:blip>
          <a:srcRect/>
          <a:stretch/>
        </p:blipFill>
        <p:spPr>
          <a:xfrm>
            <a:off x="659183" y="6441981"/>
            <a:ext cx="1729633" cy="384363"/>
          </a:xfrm>
          <a:prstGeom prst="rect">
            <a:avLst/>
          </a:prstGeom>
          <a:noFill/>
          <a:ln>
            <a:noFill/>
          </a:ln>
        </p:spPr>
      </p:pic>
      <p:sp>
        <p:nvSpPr>
          <p:cNvPr id="504" name="Google Shape;504;p45">
            <a:extLst>
              <a:ext uri="{FF2B5EF4-FFF2-40B4-BE49-F238E27FC236}">
                <a16:creationId xmlns:a16="http://schemas.microsoft.com/office/drawing/2014/main" id="{2AC1278C-FC45-3C47-2A00-B168081E574F}"/>
              </a:ext>
            </a:extLst>
          </p:cNvPr>
          <p:cNvSpPr txBox="1">
            <a:spLocks noGrp="1"/>
          </p:cNvSpPr>
          <p:nvPr>
            <p:ph type="dt" idx="10"/>
          </p:nvPr>
        </p:nvSpPr>
        <p:spPr>
          <a:xfrm>
            <a:off x="9332517" y="64262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en-GB" dirty="0"/>
              <a:t>13 September 2026</a:t>
            </a:r>
            <a:endParaRPr dirty="0"/>
          </a:p>
        </p:txBody>
      </p:sp>
      <p:sp>
        <p:nvSpPr>
          <p:cNvPr id="505" name="Google Shape;505;p45">
            <a:extLst>
              <a:ext uri="{FF2B5EF4-FFF2-40B4-BE49-F238E27FC236}">
                <a16:creationId xmlns:a16="http://schemas.microsoft.com/office/drawing/2014/main" id="{EFE46CB5-C23F-BE89-9AAC-11BA2C137955}"/>
              </a:ext>
            </a:extLst>
          </p:cNvPr>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200"/>
              <a:buNone/>
            </a:pPr>
            <a:fld id="{00000000-1234-1234-1234-123412341234}" type="slidenum">
              <a:rPr lang="en-GB"/>
              <a:t>14</a:t>
            </a:fld>
            <a:endParaRPr dirty="0"/>
          </a:p>
        </p:txBody>
      </p:sp>
      <p:sp>
        <p:nvSpPr>
          <p:cNvPr id="27" name="Rectangle 26">
            <a:extLst>
              <a:ext uri="{FF2B5EF4-FFF2-40B4-BE49-F238E27FC236}">
                <a16:creationId xmlns:a16="http://schemas.microsoft.com/office/drawing/2014/main" id="{90F5B81E-1764-A56F-132A-1D06DC4A449A}"/>
              </a:ext>
            </a:extLst>
          </p:cNvPr>
          <p:cNvSpPr>
            <a:spLocks noGrp="1"/>
          </p:cNvSpPr>
          <p:nvPr/>
        </p:nvSpPr>
        <p:spPr>
          <a:xfrm>
            <a:off x="1936115" y="165194"/>
            <a:ext cx="11144250" cy="685800"/>
          </a:xfrm>
          <a:prstGeom prst="rect">
            <a:avLst/>
          </a:prstGeom>
          <a:noFill/>
          <a:ln w="0">
            <a:noFill/>
          </a:ln>
        </p:spPr>
        <p:txBody>
          <a:bodyPr lIns="0" tIns="0" rIns="0" bIns="0" anchor="ctr">
            <a:noAutofit/>
          </a:bodyPr>
          <a:lstStyle/>
          <a:p>
            <a:pPr>
              <a:defRPr sz="3000" b="1">
                <a:solidFill>
                  <a:srgbClr val="239BC2"/>
                </a:solidFill>
                <a:latin typeface="DejaVu Sans"/>
                <a:ea typeface="DejaVu Sans"/>
                <a:cs typeface="DejaVu Sans"/>
              </a:defRPr>
            </a:pPr>
            <a:r>
              <a:rPr sz="3000" b="1" dirty="0">
                <a:solidFill>
                  <a:srgbClr val="239BC2"/>
                </a:solidFill>
                <a:latin typeface="+mj-lt"/>
                <a:ea typeface="DejaVu Sans"/>
                <a:cs typeface="DejaVu Sans"/>
              </a:rPr>
              <a:t>Envelope: heat transmission and storage</a:t>
            </a:r>
          </a:p>
        </p:txBody>
      </p:sp>
      <p:pic>
        <p:nvPicPr>
          <p:cNvPr id="29" name="Picture 28">
            <a:extLst>
              <a:ext uri="{FF2B5EF4-FFF2-40B4-BE49-F238E27FC236}">
                <a16:creationId xmlns:a16="http://schemas.microsoft.com/office/drawing/2014/main" id="{5E1DEABA-BF10-4058-F502-744706AFEA85}"/>
              </a:ext>
            </a:extLst>
          </p:cNvPr>
          <p:cNvPicPr>
            <a:picLocks noChangeAspect="1"/>
          </p:cNvPicPr>
          <p:nvPr/>
        </p:nvPicPr>
        <p:blipFill>
          <a:blip r:embed="rId5"/>
          <a:stretch/>
        </p:blipFill>
        <p:spPr>
          <a:xfrm>
            <a:off x="1831975" y="924021"/>
            <a:ext cx="4673600" cy="3505200"/>
          </a:xfrm>
          <a:prstGeom prst="rect">
            <a:avLst/>
          </a:prstGeom>
        </p:spPr>
      </p:pic>
      <p:sp>
        <p:nvSpPr>
          <p:cNvPr id="31" name="Rectangle 30">
            <a:extLst>
              <a:ext uri="{FF2B5EF4-FFF2-40B4-BE49-F238E27FC236}">
                <a16:creationId xmlns:a16="http://schemas.microsoft.com/office/drawing/2014/main" id="{C86D717E-47D8-4169-0037-AEDE14CEEAE6}"/>
              </a:ext>
            </a:extLst>
          </p:cNvPr>
          <p:cNvSpPr>
            <a:spLocks noGrp="1"/>
          </p:cNvSpPr>
          <p:nvPr/>
        </p:nvSpPr>
        <p:spPr>
          <a:xfrm>
            <a:off x="7693660" y="1270094"/>
            <a:ext cx="4591050" cy="1085850"/>
          </a:xfrm>
          <a:prstGeom prst="rect">
            <a:avLst/>
          </a:prstGeom>
          <a:noFill/>
          <a:ln w="0">
            <a:noFill/>
          </a:ln>
        </p:spPr>
        <p:txBody>
          <a:bodyPr lIns="0" tIns="0" rIns="0" bIns="0" anchor="ctr">
            <a:noAutofit/>
          </a:bodyPr>
          <a:lstStyle/>
          <a:p>
            <a:pPr>
              <a:defRPr sz="2175" b="1">
                <a:solidFill>
                  <a:srgbClr val="173E50"/>
                </a:solidFill>
                <a:latin typeface="DejaVu Sans"/>
                <a:ea typeface="DejaVu Sans"/>
                <a:cs typeface="DejaVu Sans"/>
              </a:defRPr>
            </a:pPr>
            <a:r>
              <a:rPr sz="2175" b="1">
                <a:solidFill>
                  <a:srgbClr val="173E50"/>
                </a:solidFill>
                <a:latin typeface="+mj-lt"/>
                <a:ea typeface="DejaVu Sans"/>
                <a:cs typeface="DejaVu Sans"/>
              </a:rPr>
              <a:t>Insulation slows heat flow.</a:t>
            </a:r>
          </a:p>
          <a:p>
            <a:pPr>
              <a:defRPr sz="2175" b="1">
                <a:solidFill>
                  <a:srgbClr val="173E50"/>
                </a:solidFill>
                <a:latin typeface="DejaVu Sans"/>
                <a:ea typeface="DejaVu Sans"/>
                <a:cs typeface="DejaVu Sans"/>
              </a:defRPr>
            </a:pPr>
            <a:r>
              <a:rPr sz="2175" b="1">
                <a:solidFill>
                  <a:srgbClr val="173E50"/>
                </a:solidFill>
                <a:latin typeface="+mj-lt"/>
                <a:ea typeface="DejaVu Sans"/>
                <a:cs typeface="DejaVu Sans"/>
              </a:rPr>
              <a:t>The wall mass stores heat.</a:t>
            </a:r>
          </a:p>
        </p:txBody>
      </p:sp>
      <p:sp>
        <p:nvSpPr>
          <p:cNvPr id="481" name="Rectangle 480">
            <a:extLst>
              <a:ext uri="{FF2B5EF4-FFF2-40B4-BE49-F238E27FC236}">
                <a16:creationId xmlns:a16="http://schemas.microsoft.com/office/drawing/2014/main" id="{736EDB21-188C-4B49-1D91-59E102AD1824}"/>
              </a:ext>
            </a:extLst>
          </p:cNvPr>
          <p:cNvSpPr>
            <a:spLocks noGrp="1"/>
          </p:cNvSpPr>
          <p:nvPr/>
        </p:nvSpPr>
        <p:spPr>
          <a:xfrm>
            <a:off x="7693660" y="2784569"/>
            <a:ext cx="4514850" cy="857250"/>
          </a:xfrm>
          <a:prstGeom prst="rect">
            <a:avLst/>
          </a:prstGeom>
          <a:noFill/>
          <a:ln w="0">
            <a:noFill/>
          </a:ln>
        </p:spPr>
        <p:txBody>
          <a:bodyPr lIns="0" tIns="0" rIns="0" bIns="0" anchor="ctr">
            <a:noAutofit/>
          </a:bodyPr>
          <a:lstStyle/>
          <a:p>
            <a:pPr>
              <a:defRPr sz="1800" b="0">
                <a:solidFill>
                  <a:srgbClr val="516B79"/>
                </a:solidFill>
                <a:latin typeface="DejaVu Sans"/>
                <a:ea typeface="DejaVu Sans"/>
                <a:cs typeface="DejaVu Sans"/>
              </a:defRPr>
            </a:pPr>
            <a:r>
              <a:rPr sz="1800" b="0">
                <a:solidFill>
                  <a:srgbClr val="516B79"/>
                </a:solidFill>
                <a:latin typeface="+mj-lt"/>
                <a:ea typeface="DejaVu Sans"/>
                <a:cs typeface="DejaVu Sans"/>
              </a:rPr>
              <a:t>Model: one wall temperature,</a:t>
            </a:r>
          </a:p>
          <a:p>
            <a:pPr>
              <a:defRPr sz="1800" b="0">
                <a:solidFill>
                  <a:srgbClr val="516B79"/>
                </a:solidFill>
                <a:latin typeface="DejaVu Sans"/>
                <a:ea typeface="DejaVu Sans"/>
                <a:cs typeface="DejaVu Sans"/>
              </a:defRPr>
            </a:pPr>
            <a:r>
              <a:rPr sz="1800" b="0">
                <a:solidFill>
                  <a:srgbClr val="516B79"/>
                </a:solidFill>
                <a:latin typeface="+mj-lt"/>
                <a:ea typeface="DejaVu Sans"/>
                <a:cs typeface="DejaVu Sans"/>
              </a:rPr>
              <a:t>with a resistance on each side.</a:t>
            </a:r>
          </a:p>
        </p:txBody>
      </p:sp>
      <p:sp>
        <p:nvSpPr>
          <p:cNvPr id="483" name="Rectangle 482">
            <a:extLst>
              <a:ext uri="{FF2B5EF4-FFF2-40B4-BE49-F238E27FC236}">
                <a16:creationId xmlns:a16="http://schemas.microsoft.com/office/drawing/2014/main" id="{D8A2F1ED-099F-14CE-A40F-74B77569D156}"/>
              </a:ext>
            </a:extLst>
          </p:cNvPr>
          <p:cNvSpPr>
            <a:spLocks noGrp="1"/>
          </p:cNvSpPr>
          <p:nvPr/>
        </p:nvSpPr>
        <p:spPr>
          <a:xfrm>
            <a:off x="1169035" y="841469"/>
            <a:ext cx="2095500" cy="285750"/>
          </a:xfrm>
          <a:prstGeom prst="rect">
            <a:avLst/>
          </a:prstGeom>
          <a:noFill/>
          <a:ln w="0">
            <a:noFill/>
          </a:ln>
        </p:spPr>
        <p:txBody>
          <a:bodyPr lIns="0" tIns="0" rIns="0" bIns="0" anchor="ctr">
            <a:noAutofit/>
          </a:bodyPr>
          <a:lstStyle/>
          <a:p>
            <a:pPr>
              <a:defRPr sz="1500" b="1">
                <a:solidFill>
                  <a:srgbClr val="CE7738"/>
                </a:solidFill>
                <a:latin typeface="DejaVu Sans"/>
                <a:ea typeface="DejaVu Sans"/>
                <a:cs typeface="DejaVu Sans"/>
              </a:defRPr>
            </a:pPr>
            <a:r>
              <a:rPr sz="1500" b="1">
                <a:solidFill>
                  <a:srgbClr val="CE7738"/>
                </a:solidFill>
                <a:latin typeface="+mj-lt"/>
                <a:ea typeface="DejaVu Sans"/>
                <a:cs typeface="DejaVu Sans"/>
              </a:rPr>
              <a:t>Warm ambient</a:t>
            </a:r>
          </a:p>
        </p:txBody>
      </p:sp>
      <p:sp>
        <p:nvSpPr>
          <p:cNvPr id="485" name="Rectangle 484">
            <a:extLst>
              <a:ext uri="{FF2B5EF4-FFF2-40B4-BE49-F238E27FC236}">
                <a16:creationId xmlns:a16="http://schemas.microsoft.com/office/drawing/2014/main" id="{36E4E40D-6961-4C3D-826D-666AF71894F4}"/>
              </a:ext>
            </a:extLst>
          </p:cNvPr>
          <p:cNvSpPr>
            <a:spLocks noGrp="1"/>
          </p:cNvSpPr>
          <p:nvPr/>
        </p:nvSpPr>
        <p:spPr>
          <a:xfrm>
            <a:off x="5283835" y="841469"/>
            <a:ext cx="2047875" cy="285750"/>
          </a:xfrm>
          <a:prstGeom prst="rect">
            <a:avLst/>
          </a:prstGeom>
          <a:noFill/>
          <a:ln w="0">
            <a:noFill/>
          </a:ln>
        </p:spPr>
        <p:txBody>
          <a:bodyPr lIns="0" tIns="0" rIns="0" bIns="0" anchor="ctr">
            <a:noAutofit/>
          </a:bodyPr>
          <a:lstStyle/>
          <a:p>
            <a:pPr>
              <a:defRPr sz="1500" b="1">
                <a:solidFill>
                  <a:srgbClr val="239BC2"/>
                </a:solidFill>
                <a:latin typeface="DejaVu Sans"/>
                <a:ea typeface="DejaVu Sans"/>
                <a:cs typeface="DejaVu Sans"/>
              </a:defRPr>
            </a:pPr>
            <a:r>
              <a:rPr sz="1500" b="1">
                <a:solidFill>
                  <a:srgbClr val="239BC2"/>
                </a:solidFill>
                <a:latin typeface="+mj-lt"/>
                <a:ea typeface="DejaVu Sans"/>
                <a:cs typeface="DejaVu Sans"/>
              </a:rPr>
              <a:t>Cold room</a:t>
            </a:r>
          </a:p>
        </p:txBody>
      </p:sp>
      <p:sp>
        <p:nvSpPr>
          <p:cNvPr id="487" name="Rectangle 486">
            <a:extLst>
              <a:ext uri="{FF2B5EF4-FFF2-40B4-BE49-F238E27FC236}">
                <a16:creationId xmlns:a16="http://schemas.microsoft.com/office/drawing/2014/main" id="{8FAF1DBE-4AA0-4DCF-B901-8D6477434DD6}"/>
              </a:ext>
            </a:extLst>
          </p:cNvPr>
          <p:cNvSpPr>
            <a:spLocks noGrp="1"/>
          </p:cNvSpPr>
          <p:nvPr/>
        </p:nvSpPr>
        <p:spPr>
          <a:xfrm>
            <a:off x="1178560" y="4565744"/>
            <a:ext cx="10972800" cy="266700"/>
          </a:xfrm>
          <a:prstGeom prst="rect">
            <a:avLst/>
          </a:prstGeom>
          <a:noFill/>
          <a:ln w="0">
            <a:noFill/>
          </a:ln>
        </p:spPr>
        <p:txBody>
          <a:bodyPr lIns="0" tIns="0" rIns="0" bIns="0" anchor="ctr">
            <a:noAutofit/>
          </a:bodyPr>
          <a:lstStyle/>
          <a:p>
            <a:pPr>
              <a:defRPr sz="1350" b="1">
                <a:solidFill>
                  <a:srgbClr val="387E83"/>
                </a:solidFill>
                <a:latin typeface="DejaVu Sans"/>
                <a:ea typeface="DejaVu Sans"/>
                <a:cs typeface="DejaVu Sans"/>
              </a:defRPr>
            </a:pPr>
            <a:r>
              <a:rPr sz="1350" b="1">
                <a:solidFill>
                  <a:srgbClr val="387E83"/>
                </a:solidFill>
                <a:latin typeface="+mj-lt"/>
                <a:ea typeface="DejaVu Sans"/>
                <a:cs typeface="DejaVu Sans"/>
              </a:rPr>
              <a:t>WALL ENERGY BALANCE</a:t>
            </a:r>
          </a:p>
        </p:txBody>
      </p:sp>
      <mc:AlternateContent xmlns:mc="http://schemas.openxmlformats.org/markup-compatibility/2006" xmlns:a14="http://schemas.microsoft.com/office/drawing/2010/main">
        <mc:Choice Requires="a14">
          <p:sp>
            <p:nvSpPr>
              <p:cNvPr id="489" name="Editable equation 1">
                <a:extLst>
                  <a:ext uri="{FF2B5EF4-FFF2-40B4-BE49-F238E27FC236}">
                    <a16:creationId xmlns:a16="http://schemas.microsoft.com/office/drawing/2014/main" id="{B7D5559E-B30E-23D9-A81B-BE4FDB4D5C71}"/>
                  </a:ext>
                </a:extLst>
              </p:cNvPr>
              <p:cNvSpPr txBox="1"/>
              <p:nvPr/>
            </p:nvSpPr>
            <p:spPr>
              <a:xfrm>
                <a:off x="2268806" y="4841969"/>
                <a:ext cx="8792308" cy="952500"/>
              </a:xfrm>
              <a:prstGeom prst="rect">
                <a:avLst/>
              </a:prstGeom>
              <a:noFill/>
              <a:ln>
                <a:noFill/>
              </a:ln>
            </p:spPr>
            <p:txBody>
              <a:bodyPr lIns="0" tIns="0" rIns="0" bIns="0" anchor="ctr"/>
              <a:lstStyle/>
              <a:p>
                <a:pPr algn="ctr">
                  <a:defRPr sz="2800"/>
                </a:pPr>
                <a14:m>
                  <m:oMathPara xmlns:m="http://schemas.openxmlformats.org/officeDocument/2006/math">
                    <m:oMath>
                      <m:sSub>
                        <m:sSubPr>
                          <m:ctrlPr>
                            <a:rPr sz="2800">
                              <a:solidFill>
                                <a:srgbClr val="173E50"/>
                              </a:solidFill>
                              <a:latin typeface="Cambria Math" panose="02040503050406030204" pitchFamily="18" charset="0"/>
                            </a:rPr>
                          </m:ctrlPr>
                        </m:sSubPr>
                        <m:e>
                          <m:r>
                            <a:rPr sz="2800">
                              <a:solidFill>
                                <a:srgbClr val="173E50"/>
                              </a:solidFill>
                              <a:latin typeface="Cambria Math" panose="02040503050406030204" pitchFamily="18" charset="0"/>
                            </a:rPr>
                            <m:t>𝐶</m:t>
                          </m:r>
                        </m:e>
                        <m:sub>
                          <m:r>
                            <m:rPr>
                              <m:sty m:val="p"/>
                            </m:rPr>
                            <a:rPr sz="2800">
                              <a:solidFill>
                                <a:srgbClr val="173E50"/>
                              </a:solidFill>
                              <a:latin typeface="Cambria Math" panose="02040503050406030204" pitchFamily="18" charset="0"/>
                            </a:rPr>
                            <m:t>w</m:t>
                          </m:r>
                        </m:sub>
                      </m:sSub>
                      <m:f>
                        <m:fPr>
                          <m:ctrlPr>
                            <a:rPr sz="2800">
                              <a:solidFill>
                                <a:srgbClr val="173E50"/>
                              </a:solidFill>
                              <a:latin typeface="Cambria Math" panose="02040503050406030204" pitchFamily="18" charset="0"/>
                            </a:rPr>
                          </m:ctrlPr>
                        </m:fPr>
                        <m:num>
                          <m:r>
                            <m:rPr>
                              <m:sty m:val="p"/>
                            </m:rPr>
                            <a:rPr sz="2800">
                              <a:solidFill>
                                <a:srgbClr val="173E50"/>
                              </a:solidFill>
                              <a:latin typeface="Cambria Math" panose="02040503050406030204" pitchFamily="18" charset="0"/>
                            </a:rPr>
                            <m:t>d</m:t>
                          </m:r>
                          <m:sSub>
                            <m:sSubPr>
                              <m:ctrlPr>
                                <a:rPr sz="2800">
                                  <a:solidFill>
                                    <a:srgbClr val="173E50"/>
                                  </a:solidFill>
                                  <a:latin typeface="Cambria Math" panose="02040503050406030204" pitchFamily="18" charset="0"/>
                                </a:rPr>
                              </m:ctrlPr>
                            </m:sSubPr>
                            <m:e>
                              <m:r>
                                <a:rPr sz="2800">
                                  <a:solidFill>
                                    <a:srgbClr val="173E50"/>
                                  </a:solidFill>
                                  <a:latin typeface="Cambria Math" panose="02040503050406030204" pitchFamily="18" charset="0"/>
                                </a:rPr>
                                <m:t>𝑇</m:t>
                              </m:r>
                            </m:e>
                            <m:sub>
                              <m:r>
                                <m:rPr>
                                  <m:sty m:val="p"/>
                                </m:rPr>
                                <a:rPr sz="2800">
                                  <a:solidFill>
                                    <a:srgbClr val="173E50"/>
                                  </a:solidFill>
                                  <a:latin typeface="Cambria Math" panose="02040503050406030204" pitchFamily="18" charset="0"/>
                                </a:rPr>
                                <m:t>w</m:t>
                              </m:r>
                            </m:sub>
                          </m:sSub>
                        </m:num>
                        <m:den>
                          <m:r>
                            <m:rPr>
                              <m:sty m:val="p"/>
                            </m:rPr>
                            <a:rPr sz="2800">
                              <a:solidFill>
                                <a:srgbClr val="173E50"/>
                              </a:solidFill>
                              <a:latin typeface="Cambria Math" panose="02040503050406030204" pitchFamily="18" charset="0"/>
                            </a:rPr>
                            <m:t>dt</m:t>
                          </m:r>
                        </m:den>
                      </m:f>
                      <m:r>
                        <a:rPr sz="2800">
                          <a:solidFill>
                            <a:srgbClr val="173E50"/>
                          </a:solidFill>
                          <a:latin typeface="Cambria Math" panose="02040503050406030204" pitchFamily="18" charset="0"/>
                        </a:rPr>
                        <m:t>=</m:t>
                      </m:r>
                      <m:f>
                        <m:fPr>
                          <m:ctrlPr>
                            <a:rPr sz="2800" i="1">
                              <a:solidFill>
                                <a:srgbClr val="173E50"/>
                              </a:solidFill>
                              <a:latin typeface="Cambria Math" panose="02040503050406030204" pitchFamily="18" charset="0"/>
                            </a:rPr>
                          </m:ctrlPr>
                        </m:fPr>
                        <m:num>
                          <m:sSub>
                            <m:sSubPr>
                              <m:ctrlPr>
                                <a:rPr sz="2800">
                                  <a:solidFill>
                                    <a:srgbClr val="173E50"/>
                                  </a:solidFill>
                                  <a:latin typeface="Cambria Math" panose="02040503050406030204" pitchFamily="18" charset="0"/>
                                </a:rPr>
                              </m:ctrlPr>
                            </m:sSubPr>
                            <m:e>
                              <m:r>
                                <a:rPr sz="2800">
                                  <a:solidFill>
                                    <a:srgbClr val="173E50"/>
                                  </a:solidFill>
                                  <a:latin typeface="Cambria Math" panose="02040503050406030204" pitchFamily="18" charset="0"/>
                                </a:rPr>
                                <m:t>𝑇</m:t>
                              </m:r>
                            </m:e>
                            <m:sub>
                              <m:r>
                                <m:rPr>
                                  <m:sty m:val="p"/>
                                </m:rPr>
                                <a:rPr sz="2800">
                                  <a:solidFill>
                                    <a:srgbClr val="173E50"/>
                                  </a:solidFill>
                                  <a:latin typeface="Cambria Math" panose="02040503050406030204" pitchFamily="18" charset="0"/>
                                </a:rPr>
                                <m:t>a</m:t>
                              </m:r>
                            </m:sub>
                          </m:sSub>
                          <m:r>
                            <a:rPr sz="2800">
                              <a:solidFill>
                                <a:srgbClr val="173E50"/>
                              </a:solidFill>
                              <a:latin typeface="Cambria Math" panose="02040503050406030204" pitchFamily="18" charset="0"/>
                            </a:rPr>
                            <m:t>−</m:t>
                          </m:r>
                          <m:sSub>
                            <m:sSubPr>
                              <m:ctrlPr>
                                <a:rPr sz="2800">
                                  <a:solidFill>
                                    <a:srgbClr val="173E50"/>
                                  </a:solidFill>
                                  <a:latin typeface="Cambria Math" panose="02040503050406030204" pitchFamily="18" charset="0"/>
                                </a:rPr>
                              </m:ctrlPr>
                            </m:sSubPr>
                            <m:e>
                              <m:r>
                                <a:rPr sz="2800">
                                  <a:solidFill>
                                    <a:srgbClr val="173E50"/>
                                  </a:solidFill>
                                  <a:latin typeface="Cambria Math" panose="02040503050406030204" pitchFamily="18" charset="0"/>
                                </a:rPr>
                                <m:t>𝑇</m:t>
                              </m:r>
                            </m:e>
                            <m:sub>
                              <m:r>
                                <m:rPr>
                                  <m:sty m:val="p"/>
                                </m:rPr>
                                <a:rPr sz="2800">
                                  <a:solidFill>
                                    <a:srgbClr val="173E50"/>
                                  </a:solidFill>
                                  <a:latin typeface="Cambria Math" panose="02040503050406030204" pitchFamily="18" charset="0"/>
                                </a:rPr>
                                <m:t>w</m:t>
                              </m:r>
                            </m:sub>
                          </m:sSub>
                        </m:num>
                        <m:den>
                          <m:sSub>
                            <m:sSubPr>
                              <m:ctrlPr>
                                <a:rPr sz="2800">
                                  <a:solidFill>
                                    <a:srgbClr val="173E50"/>
                                  </a:solidFill>
                                  <a:latin typeface="Cambria Math" panose="02040503050406030204" pitchFamily="18" charset="0"/>
                                </a:rPr>
                              </m:ctrlPr>
                            </m:sSubPr>
                            <m:e>
                              <m:r>
                                <a:rPr sz="2800">
                                  <a:solidFill>
                                    <a:srgbClr val="173E50"/>
                                  </a:solidFill>
                                  <a:latin typeface="Cambria Math" panose="02040503050406030204" pitchFamily="18" charset="0"/>
                                </a:rPr>
                                <m:t>𝑅</m:t>
                              </m:r>
                            </m:e>
                            <m:sub>
                              <m:r>
                                <m:rPr>
                                  <m:sty m:val="p"/>
                                </m:rPr>
                                <a:rPr sz="2800">
                                  <a:solidFill>
                                    <a:srgbClr val="173E50"/>
                                  </a:solidFill>
                                  <a:latin typeface="Cambria Math" panose="02040503050406030204" pitchFamily="18" charset="0"/>
                                </a:rPr>
                                <m:t>o</m:t>
                              </m:r>
                            </m:sub>
                          </m:sSub>
                        </m:den>
                      </m:f>
                      <m:r>
                        <a:rPr sz="2800">
                          <a:solidFill>
                            <a:srgbClr val="173E50"/>
                          </a:solidFill>
                          <a:latin typeface="Cambria Math" panose="02040503050406030204" pitchFamily="18" charset="0"/>
                        </a:rPr>
                        <m:t>−</m:t>
                      </m:r>
                      <m:f>
                        <m:fPr>
                          <m:ctrlPr>
                            <a:rPr sz="2800" i="1">
                              <a:solidFill>
                                <a:srgbClr val="173E50"/>
                              </a:solidFill>
                              <a:latin typeface="Cambria Math" panose="02040503050406030204" pitchFamily="18" charset="0"/>
                            </a:rPr>
                          </m:ctrlPr>
                        </m:fPr>
                        <m:num>
                          <m:sSub>
                            <m:sSubPr>
                              <m:ctrlPr>
                                <a:rPr sz="2800">
                                  <a:solidFill>
                                    <a:srgbClr val="173E50"/>
                                  </a:solidFill>
                                  <a:latin typeface="Cambria Math" panose="02040503050406030204" pitchFamily="18" charset="0"/>
                                </a:rPr>
                              </m:ctrlPr>
                            </m:sSubPr>
                            <m:e>
                              <m:r>
                                <a:rPr sz="2800">
                                  <a:solidFill>
                                    <a:srgbClr val="173E50"/>
                                  </a:solidFill>
                                  <a:latin typeface="Cambria Math" panose="02040503050406030204" pitchFamily="18" charset="0"/>
                                </a:rPr>
                                <m:t>𝑇</m:t>
                              </m:r>
                            </m:e>
                            <m:sub>
                              <m:r>
                                <m:rPr>
                                  <m:sty m:val="p"/>
                                </m:rPr>
                                <a:rPr sz="2800">
                                  <a:solidFill>
                                    <a:srgbClr val="173E50"/>
                                  </a:solidFill>
                                  <a:latin typeface="Cambria Math" panose="02040503050406030204" pitchFamily="18" charset="0"/>
                                </a:rPr>
                                <m:t>w</m:t>
                              </m:r>
                            </m:sub>
                          </m:sSub>
                          <m:r>
                            <a:rPr sz="2800">
                              <a:solidFill>
                                <a:srgbClr val="173E50"/>
                              </a:solidFill>
                              <a:latin typeface="Cambria Math" panose="02040503050406030204" pitchFamily="18" charset="0"/>
                            </a:rPr>
                            <m:t>−</m:t>
                          </m:r>
                          <m:sSub>
                            <m:sSubPr>
                              <m:ctrlPr>
                                <a:rPr sz="2800">
                                  <a:solidFill>
                                    <a:srgbClr val="173E50"/>
                                  </a:solidFill>
                                  <a:latin typeface="Cambria Math" panose="02040503050406030204" pitchFamily="18" charset="0"/>
                                </a:rPr>
                              </m:ctrlPr>
                            </m:sSubPr>
                            <m:e>
                              <m:r>
                                <a:rPr sz="2800">
                                  <a:solidFill>
                                    <a:srgbClr val="173E50"/>
                                  </a:solidFill>
                                  <a:latin typeface="Cambria Math" panose="02040503050406030204" pitchFamily="18" charset="0"/>
                                </a:rPr>
                                <m:t>𝑇</m:t>
                              </m:r>
                            </m:e>
                            <m:sub>
                              <m:r>
                                <m:rPr>
                                  <m:sty m:val="p"/>
                                </m:rPr>
                                <a:rPr sz="2800">
                                  <a:solidFill>
                                    <a:srgbClr val="173E50"/>
                                  </a:solidFill>
                                  <a:latin typeface="Cambria Math" panose="02040503050406030204" pitchFamily="18" charset="0"/>
                                </a:rPr>
                                <m:t>r</m:t>
                              </m:r>
                            </m:sub>
                          </m:sSub>
                        </m:num>
                        <m:den>
                          <m:sSub>
                            <m:sSubPr>
                              <m:ctrlPr>
                                <a:rPr sz="2800">
                                  <a:solidFill>
                                    <a:srgbClr val="173E50"/>
                                  </a:solidFill>
                                  <a:latin typeface="Cambria Math" panose="02040503050406030204" pitchFamily="18" charset="0"/>
                                </a:rPr>
                              </m:ctrlPr>
                            </m:sSubPr>
                            <m:e>
                              <m:r>
                                <a:rPr sz="2800">
                                  <a:solidFill>
                                    <a:srgbClr val="173E50"/>
                                  </a:solidFill>
                                  <a:latin typeface="Cambria Math" panose="02040503050406030204" pitchFamily="18" charset="0"/>
                                </a:rPr>
                                <m:t>𝑅</m:t>
                              </m:r>
                            </m:e>
                            <m:sub>
                              <m:r>
                                <m:rPr>
                                  <m:sty m:val="p"/>
                                </m:rPr>
                                <a:rPr sz="2800">
                                  <a:solidFill>
                                    <a:srgbClr val="173E50"/>
                                  </a:solidFill>
                                  <a:latin typeface="Cambria Math" panose="02040503050406030204" pitchFamily="18" charset="0"/>
                                </a:rPr>
                                <m:t>i</m:t>
                              </m:r>
                            </m:sub>
                          </m:sSub>
                        </m:den>
                      </m:f>
                    </m:oMath>
                  </m:oMathPara>
                </a14:m>
                <a:endParaRPr lang="en-US" sz="2800" dirty="0">
                  <a:latin typeface="+mj-lt"/>
                </a:endParaRPr>
              </a:p>
            </p:txBody>
          </p:sp>
        </mc:Choice>
        <mc:Fallback xmlns="">
          <p:sp>
            <p:nvSpPr>
              <p:cNvPr id="489" name="Editable equation 1">
                <a:extLst>
                  <a:ext uri="{FF2B5EF4-FFF2-40B4-BE49-F238E27FC236}">
                    <a16:creationId xmlns:a16="http://schemas.microsoft.com/office/drawing/2014/main" id="{B7D5559E-B30E-23D9-A81B-BE4FDB4D5C71}"/>
                  </a:ext>
                </a:extLst>
              </p:cNvPr>
              <p:cNvSpPr txBox="1">
                <a:spLocks noRot="1" noChangeAspect="1" noMove="1" noResize="1" noEditPoints="1" noAdjustHandles="1" noChangeArrowheads="1" noChangeShapeType="1" noTextEdit="1"/>
              </p:cNvSpPr>
              <p:nvPr/>
            </p:nvSpPr>
            <p:spPr>
              <a:xfrm>
                <a:off x="2268806" y="4841969"/>
                <a:ext cx="8792308" cy="952500"/>
              </a:xfrm>
              <a:prstGeom prst="rect">
                <a:avLst/>
              </a:prstGeom>
              <a:blipFill>
                <a:blip r:embed="rId6"/>
                <a:stretch>
                  <a:fillRect/>
                </a:stretch>
              </a:blipFill>
              <a:ln>
                <a:noFill/>
              </a:ln>
            </p:spPr>
            <p:txBody>
              <a:bodyPr/>
              <a:lstStyle/>
              <a:p>
                <a:r>
                  <a:rPr lang="en-US">
                    <a:noFill/>
                  </a:rPr>
                  <a:t> </a:t>
                </a:r>
              </a:p>
            </p:txBody>
          </p:sp>
        </mc:Fallback>
      </mc:AlternateContent>
      <p:sp>
        <p:nvSpPr>
          <p:cNvPr id="491" name="Rectangle 490">
            <a:extLst>
              <a:ext uri="{FF2B5EF4-FFF2-40B4-BE49-F238E27FC236}">
                <a16:creationId xmlns:a16="http://schemas.microsoft.com/office/drawing/2014/main" id="{13E6D8C6-CB83-56BA-B642-ECA1345C0EE2}"/>
              </a:ext>
            </a:extLst>
          </p:cNvPr>
          <p:cNvSpPr>
            <a:spLocks noGrp="1"/>
          </p:cNvSpPr>
          <p:nvPr/>
        </p:nvSpPr>
        <p:spPr>
          <a:xfrm>
            <a:off x="1178560" y="5832569"/>
            <a:ext cx="10972800" cy="561975"/>
          </a:xfrm>
          <a:prstGeom prst="rect">
            <a:avLst/>
          </a:prstGeom>
          <a:noFill/>
          <a:ln w="0">
            <a:noFill/>
          </a:ln>
        </p:spPr>
        <p:txBody>
          <a:bodyPr lIns="0" tIns="0" rIns="0" bIns="0" anchor="ctr">
            <a:noAutofit/>
          </a:bodyPr>
          <a:lstStyle/>
          <a:p>
            <a:pPr>
              <a:defRPr sz="1500" b="0">
                <a:solidFill>
                  <a:srgbClr val="516B79"/>
                </a:solidFill>
                <a:latin typeface="DejaVu Sans"/>
                <a:ea typeface="DejaVu Sans"/>
                <a:cs typeface="DejaVu Sans"/>
              </a:defRPr>
            </a:pPr>
            <a:r>
              <a:rPr sz="1500" b="0">
                <a:solidFill>
                  <a:srgbClr val="516B79"/>
                </a:solidFill>
                <a:latin typeface="+mj-lt"/>
                <a:ea typeface="DejaVu Sans"/>
                <a:cs typeface="DejaVu Sans"/>
              </a:rPr>
              <a:t>Temperatures: ambient (a), wall (w), room (r)</a:t>
            </a:r>
          </a:p>
          <a:p>
            <a:pPr>
              <a:defRPr sz="1500" b="0">
                <a:solidFill>
                  <a:srgbClr val="516B79"/>
                </a:solidFill>
                <a:latin typeface="DejaVu Sans"/>
                <a:ea typeface="DejaVu Sans"/>
                <a:cs typeface="DejaVu Sans"/>
              </a:defRPr>
            </a:pPr>
            <a:r>
              <a:rPr sz="1500" b="0">
                <a:solidFill>
                  <a:srgbClr val="516B79"/>
                </a:solidFill>
                <a:latin typeface="+mj-lt"/>
                <a:ea typeface="DejaVu Sans"/>
                <a:cs typeface="DejaVu Sans"/>
              </a:rPr>
              <a:t>C: wall heat capacity   R: outer (o) and inner (i) thermal resistance</a:t>
            </a:r>
          </a:p>
        </p:txBody>
      </p:sp>
    </p:spTree>
    <p:extLst>
      <p:ext uri="{BB962C8B-B14F-4D97-AF65-F5344CB8AC3E}">
        <p14:creationId xmlns:p14="http://schemas.microsoft.com/office/powerpoint/2010/main" val="113996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94">
          <a:extLst>
            <a:ext uri="{FF2B5EF4-FFF2-40B4-BE49-F238E27FC236}">
              <a16:creationId xmlns:a16="http://schemas.microsoft.com/office/drawing/2014/main" id="{EC2D0F84-15C3-F131-5EFB-D0FC28F2259F}"/>
            </a:ext>
          </a:extLst>
        </p:cNvPr>
        <p:cNvGrpSpPr/>
        <p:nvPr/>
      </p:nvGrpSpPr>
      <p:grpSpPr>
        <a:xfrm>
          <a:off x="0" y="0"/>
          <a:ext cx="0" cy="0"/>
          <a:chOff x="0" y="0"/>
          <a:chExt cx="0" cy="0"/>
        </a:xfrm>
      </p:grpSpPr>
      <p:pic>
        <p:nvPicPr>
          <p:cNvPr id="495" name="Google Shape;495;p45" descr="Une image contenant ciel, plein air, nuage, agriculture&#10;&#10;Description générée automatiquement">
            <a:extLst>
              <a:ext uri="{FF2B5EF4-FFF2-40B4-BE49-F238E27FC236}">
                <a16:creationId xmlns:a16="http://schemas.microsoft.com/office/drawing/2014/main" id="{FCEC7330-9D61-764E-BF7B-14907447EBD7}"/>
              </a:ext>
            </a:extLst>
          </p:cNvPr>
          <p:cNvPicPr preferRelativeResize="0"/>
          <p:nvPr/>
        </p:nvPicPr>
        <p:blipFill rotWithShape="1">
          <a:blip r:embed="rId3">
            <a:alphaModFix/>
          </a:blip>
          <a:srcRect l="5973" t="9105" b="15903"/>
          <a:stretch/>
        </p:blipFill>
        <p:spPr>
          <a:xfrm>
            <a:off x="719138" y="0"/>
            <a:ext cx="11472863" cy="6858000"/>
          </a:xfrm>
          <a:prstGeom prst="rect">
            <a:avLst/>
          </a:prstGeom>
          <a:noFill/>
          <a:ln>
            <a:noFill/>
          </a:ln>
        </p:spPr>
      </p:pic>
      <p:sp>
        <p:nvSpPr>
          <p:cNvPr id="496" name="Google Shape;496;p45">
            <a:extLst>
              <a:ext uri="{FF2B5EF4-FFF2-40B4-BE49-F238E27FC236}">
                <a16:creationId xmlns:a16="http://schemas.microsoft.com/office/drawing/2014/main" id="{E59097A7-F752-16AA-D195-F5B79449E6D9}"/>
              </a:ext>
            </a:extLst>
          </p:cNvPr>
          <p:cNvSpPr/>
          <p:nvPr/>
        </p:nvSpPr>
        <p:spPr>
          <a:xfrm>
            <a:off x="664273" y="0"/>
            <a:ext cx="11527727" cy="6858000"/>
          </a:xfrm>
          <a:prstGeom prst="rect">
            <a:avLst/>
          </a:prstGeom>
          <a:solidFill>
            <a:schemeClr val="lt1">
              <a:alpha val="93725"/>
            </a:schemeClr>
          </a:solidFill>
          <a:ln>
            <a:noFill/>
          </a:ln>
          <a:effectLst>
            <a:outerShdw blurRad="876300" dist="393700" dir="5400000" algn="t" rotWithShape="0">
              <a:srgbClr val="000000">
                <a:alpha val="784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dirty="0">
              <a:solidFill>
                <a:srgbClr val="FF0000"/>
              </a:solidFill>
              <a:latin typeface="Calibri"/>
              <a:ea typeface="Calibri"/>
              <a:cs typeface="Calibri"/>
              <a:sym typeface="Calibri"/>
            </a:endParaRPr>
          </a:p>
        </p:txBody>
      </p:sp>
      <p:sp>
        <p:nvSpPr>
          <p:cNvPr id="497" name="Google Shape;497;p45">
            <a:extLst>
              <a:ext uri="{FF2B5EF4-FFF2-40B4-BE49-F238E27FC236}">
                <a16:creationId xmlns:a16="http://schemas.microsoft.com/office/drawing/2014/main" id="{C7B02511-A00F-CAA2-C806-9F07386F2132}"/>
              </a:ext>
            </a:extLst>
          </p:cNvPr>
          <p:cNvSpPr txBox="1"/>
          <p:nvPr/>
        </p:nvSpPr>
        <p:spPr>
          <a:xfrm rot="-5400000">
            <a:off x="-797364" y="5204656"/>
            <a:ext cx="2251455" cy="38856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lt1"/>
                </a:solidFill>
                <a:latin typeface="Nunito Sans SemiBold"/>
                <a:ea typeface="Nunito Sans SemiBold"/>
                <a:cs typeface="Nunito Sans SemiBold"/>
                <a:sym typeface="Nunito Sans SemiBold"/>
              </a:rPr>
              <a:t>AGRICOOL</a:t>
            </a:r>
            <a:endParaRPr sz="1400" b="0" i="0" u="none" strike="noStrike" cap="none">
              <a:solidFill>
                <a:srgbClr val="000000"/>
              </a:solidFill>
              <a:latin typeface="Arial"/>
              <a:ea typeface="Arial"/>
              <a:cs typeface="Arial"/>
              <a:sym typeface="Arial"/>
            </a:endParaRPr>
          </a:p>
        </p:txBody>
      </p:sp>
      <p:pic>
        <p:nvPicPr>
          <p:cNvPr id="503" name="Google Shape;503;p45" descr="Une image contenant capture d’écran, Bleu électrique, Police, Bleu Majorelle&#10;&#10;Description générée automatiquement">
            <a:extLst>
              <a:ext uri="{FF2B5EF4-FFF2-40B4-BE49-F238E27FC236}">
                <a16:creationId xmlns:a16="http://schemas.microsoft.com/office/drawing/2014/main" id="{60D245BD-AD19-7665-8435-E3A0B33AF952}"/>
              </a:ext>
            </a:extLst>
          </p:cNvPr>
          <p:cNvPicPr preferRelativeResize="0"/>
          <p:nvPr/>
        </p:nvPicPr>
        <p:blipFill rotWithShape="1">
          <a:blip r:embed="rId4">
            <a:alphaModFix/>
          </a:blip>
          <a:srcRect/>
          <a:stretch/>
        </p:blipFill>
        <p:spPr>
          <a:xfrm>
            <a:off x="659183" y="6441981"/>
            <a:ext cx="1729633" cy="384363"/>
          </a:xfrm>
          <a:prstGeom prst="rect">
            <a:avLst/>
          </a:prstGeom>
          <a:noFill/>
          <a:ln>
            <a:noFill/>
          </a:ln>
        </p:spPr>
      </p:pic>
      <p:sp>
        <p:nvSpPr>
          <p:cNvPr id="504" name="Google Shape;504;p45">
            <a:extLst>
              <a:ext uri="{FF2B5EF4-FFF2-40B4-BE49-F238E27FC236}">
                <a16:creationId xmlns:a16="http://schemas.microsoft.com/office/drawing/2014/main" id="{84F4ADB4-1BD8-879A-FA5D-3B562FFE6387}"/>
              </a:ext>
            </a:extLst>
          </p:cNvPr>
          <p:cNvSpPr txBox="1">
            <a:spLocks noGrp="1"/>
          </p:cNvSpPr>
          <p:nvPr>
            <p:ph type="dt" idx="10"/>
          </p:nvPr>
        </p:nvSpPr>
        <p:spPr>
          <a:xfrm>
            <a:off x="9332517" y="64262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en-GB" dirty="0"/>
              <a:t>13 September 2026</a:t>
            </a:r>
            <a:endParaRPr dirty="0"/>
          </a:p>
        </p:txBody>
      </p:sp>
      <p:sp>
        <p:nvSpPr>
          <p:cNvPr id="505" name="Google Shape;505;p45">
            <a:extLst>
              <a:ext uri="{FF2B5EF4-FFF2-40B4-BE49-F238E27FC236}">
                <a16:creationId xmlns:a16="http://schemas.microsoft.com/office/drawing/2014/main" id="{A4389BAA-B8C1-E01F-463A-5C9398055C42}"/>
              </a:ext>
            </a:extLst>
          </p:cNvPr>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200"/>
              <a:buNone/>
            </a:pPr>
            <a:fld id="{00000000-1234-1234-1234-123412341234}" type="slidenum">
              <a:rPr lang="en-GB"/>
              <a:t>15</a:t>
            </a:fld>
            <a:endParaRPr dirty="0"/>
          </a:p>
        </p:txBody>
      </p:sp>
      <p:sp>
        <p:nvSpPr>
          <p:cNvPr id="3" name="Rectangle 2">
            <a:extLst>
              <a:ext uri="{FF2B5EF4-FFF2-40B4-BE49-F238E27FC236}">
                <a16:creationId xmlns:a16="http://schemas.microsoft.com/office/drawing/2014/main" id="{97FEE340-215C-CBA6-0BD1-523992818EA0}"/>
              </a:ext>
            </a:extLst>
          </p:cNvPr>
          <p:cNvSpPr>
            <a:spLocks noGrp="1"/>
          </p:cNvSpPr>
          <p:nvPr/>
        </p:nvSpPr>
        <p:spPr>
          <a:xfrm>
            <a:off x="1141750" y="136523"/>
            <a:ext cx="11144250" cy="685800"/>
          </a:xfrm>
          <a:prstGeom prst="rect">
            <a:avLst/>
          </a:prstGeom>
          <a:noFill/>
          <a:ln w="0">
            <a:noFill/>
          </a:ln>
        </p:spPr>
        <p:txBody>
          <a:bodyPr lIns="0" tIns="0" rIns="0" bIns="0" anchor="ctr">
            <a:noAutofit/>
          </a:bodyPr>
          <a:lstStyle/>
          <a:p>
            <a:pPr>
              <a:defRPr sz="3000" b="1">
                <a:solidFill>
                  <a:srgbClr val="239BC2"/>
                </a:solidFill>
                <a:latin typeface="DejaVu Sans"/>
                <a:ea typeface="DejaVu Sans"/>
                <a:cs typeface="DejaVu Sans"/>
              </a:defRPr>
            </a:pPr>
            <a:r>
              <a:rPr sz="3000" b="1">
                <a:solidFill>
                  <a:srgbClr val="239BC2"/>
                </a:solidFill>
                <a:latin typeface="Arial" panose="020B0604020202020204" pitchFamily="34" charset="0"/>
                <a:ea typeface="DejaVu Sans"/>
                <a:cs typeface="Arial" panose="020B0604020202020204" pitchFamily="34" charset="0"/>
              </a:rPr>
              <a:t>Room air: one well-mixed volume</a:t>
            </a:r>
          </a:p>
        </p:txBody>
      </p:sp>
      <p:pic>
        <p:nvPicPr>
          <p:cNvPr id="6" name="Picture 5">
            <a:extLst>
              <a:ext uri="{FF2B5EF4-FFF2-40B4-BE49-F238E27FC236}">
                <a16:creationId xmlns:a16="http://schemas.microsoft.com/office/drawing/2014/main" id="{61DB6A84-791D-9391-D15C-483FB36B6C9E}"/>
              </a:ext>
            </a:extLst>
          </p:cNvPr>
          <p:cNvPicPr>
            <a:picLocks noChangeAspect="1"/>
          </p:cNvPicPr>
          <p:nvPr/>
        </p:nvPicPr>
        <p:blipFill>
          <a:blip r:embed="rId5"/>
          <a:stretch/>
        </p:blipFill>
        <p:spPr>
          <a:xfrm>
            <a:off x="1804290" y="646111"/>
            <a:ext cx="4673600" cy="3505200"/>
          </a:xfrm>
          <a:prstGeom prst="rect">
            <a:avLst/>
          </a:prstGeom>
        </p:spPr>
      </p:pic>
      <p:sp>
        <p:nvSpPr>
          <p:cNvPr id="8" name="Rectangle 7">
            <a:extLst>
              <a:ext uri="{FF2B5EF4-FFF2-40B4-BE49-F238E27FC236}">
                <a16:creationId xmlns:a16="http://schemas.microsoft.com/office/drawing/2014/main" id="{4EAAE0FB-D40A-C816-3A80-E6FDF0DEA093}"/>
              </a:ext>
            </a:extLst>
          </p:cNvPr>
          <p:cNvSpPr>
            <a:spLocks noGrp="1"/>
          </p:cNvSpPr>
          <p:nvPr/>
        </p:nvSpPr>
        <p:spPr>
          <a:xfrm>
            <a:off x="7655815" y="998536"/>
            <a:ext cx="4591050" cy="1085850"/>
          </a:xfrm>
          <a:prstGeom prst="rect">
            <a:avLst/>
          </a:prstGeom>
          <a:noFill/>
          <a:ln w="0">
            <a:noFill/>
          </a:ln>
        </p:spPr>
        <p:txBody>
          <a:bodyPr lIns="0" tIns="0" rIns="0" bIns="0" anchor="ctr">
            <a:noAutofit/>
          </a:bodyPr>
          <a:lstStyle/>
          <a:p>
            <a:pPr>
              <a:defRPr sz="2175" b="1">
                <a:solidFill>
                  <a:srgbClr val="173E50"/>
                </a:solidFill>
                <a:latin typeface="DejaVu Sans"/>
                <a:ea typeface="DejaVu Sans"/>
                <a:cs typeface="DejaVu Sans"/>
              </a:defRPr>
            </a:pPr>
            <a:r>
              <a:rPr sz="2175" b="1">
                <a:solidFill>
                  <a:srgbClr val="173E50"/>
                </a:solidFill>
                <a:latin typeface="Arial" panose="020B0604020202020204" pitchFamily="34" charset="0"/>
                <a:ea typeface="DejaVu Sans"/>
                <a:cs typeface="Arial" panose="020B0604020202020204" pitchFamily="34" charset="0"/>
              </a:rPr>
              <a:t>Heat gains warm the room.</a:t>
            </a:r>
          </a:p>
          <a:p>
            <a:pPr>
              <a:defRPr sz="2175" b="1">
                <a:solidFill>
                  <a:srgbClr val="173E50"/>
                </a:solidFill>
                <a:latin typeface="DejaVu Sans"/>
                <a:ea typeface="DejaVu Sans"/>
                <a:cs typeface="DejaVu Sans"/>
              </a:defRPr>
            </a:pPr>
            <a:r>
              <a:rPr sz="2175" b="1">
                <a:solidFill>
                  <a:srgbClr val="173E50"/>
                </a:solidFill>
                <a:latin typeface="Arial" panose="020B0604020202020204" pitchFamily="34" charset="0"/>
                <a:ea typeface="DejaVu Sans"/>
                <a:cs typeface="Arial" panose="020B0604020202020204" pitchFamily="34" charset="0"/>
              </a:rPr>
              <a:t>The fan coil removes heat.</a:t>
            </a:r>
          </a:p>
        </p:txBody>
      </p:sp>
      <p:sp>
        <p:nvSpPr>
          <p:cNvPr id="10" name="Rectangle 9">
            <a:extLst>
              <a:ext uri="{FF2B5EF4-FFF2-40B4-BE49-F238E27FC236}">
                <a16:creationId xmlns:a16="http://schemas.microsoft.com/office/drawing/2014/main" id="{DF1E9580-C253-7D0F-BD66-ACFE49AC33DE}"/>
              </a:ext>
            </a:extLst>
          </p:cNvPr>
          <p:cNvSpPr>
            <a:spLocks noGrp="1"/>
          </p:cNvSpPr>
          <p:nvPr/>
        </p:nvSpPr>
        <p:spPr>
          <a:xfrm>
            <a:off x="7655815" y="2513011"/>
            <a:ext cx="4514850" cy="857250"/>
          </a:xfrm>
          <a:prstGeom prst="rect">
            <a:avLst/>
          </a:prstGeom>
          <a:noFill/>
          <a:ln w="0">
            <a:noFill/>
          </a:ln>
        </p:spPr>
        <p:txBody>
          <a:bodyPr lIns="0" tIns="0" rIns="0" bIns="0" anchor="ctr">
            <a:noAutofit/>
          </a:bodyPr>
          <a:lstStyle/>
          <a:p>
            <a:pPr>
              <a:defRPr sz="1800" b="0">
                <a:solidFill>
                  <a:srgbClr val="516B79"/>
                </a:solidFill>
                <a:latin typeface="DejaVu Sans"/>
                <a:ea typeface="DejaVu Sans"/>
                <a:cs typeface="DejaVu Sans"/>
              </a:defRPr>
            </a:pPr>
            <a:r>
              <a:rPr sz="1800" b="0">
                <a:solidFill>
                  <a:srgbClr val="516B79"/>
                </a:solidFill>
                <a:latin typeface="Arial" panose="020B0604020202020204" pitchFamily="34" charset="0"/>
                <a:ea typeface="DejaVu Sans"/>
                <a:cs typeface="Arial" panose="020B0604020202020204" pitchFamily="34" charset="0"/>
              </a:rPr>
              <a:t>Model: one air temperature</a:t>
            </a:r>
          </a:p>
          <a:p>
            <a:pPr>
              <a:defRPr sz="1800" b="0">
                <a:solidFill>
                  <a:srgbClr val="516B79"/>
                </a:solidFill>
                <a:latin typeface="DejaVu Sans"/>
                <a:ea typeface="DejaVu Sans"/>
                <a:cs typeface="DejaVu Sans"/>
              </a:defRPr>
            </a:pPr>
            <a:r>
              <a:rPr sz="1800" b="0">
                <a:solidFill>
                  <a:srgbClr val="516B79"/>
                </a:solidFill>
                <a:latin typeface="Arial" panose="020B0604020202020204" pitchFamily="34" charset="0"/>
                <a:ea typeface="DejaVu Sans"/>
                <a:cs typeface="Arial" panose="020B0604020202020204" pitchFamily="34" charset="0"/>
              </a:rPr>
              <a:t>represents the whole room.</a:t>
            </a:r>
          </a:p>
        </p:txBody>
      </p:sp>
      <p:sp>
        <p:nvSpPr>
          <p:cNvPr id="12" name="Rectangle 11">
            <a:extLst>
              <a:ext uri="{FF2B5EF4-FFF2-40B4-BE49-F238E27FC236}">
                <a16:creationId xmlns:a16="http://schemas.microsoft.com/office/drawing/2014/main" id="{287C2209-B1F4-1E9B-4E2C-8FBFF85F9216}"/>
              </a:ext>
            </a:extLst>
          </p:cNvPr>
          <p:cNvSpPr>
            <a:spLocks noGrp="1"/>
          </p:cNvSpPr>
          <p:nvPr/>
        </p:nvSpPr>
        <p:spPr>
          <a:xfrm>
            <a:off x="1140715" y="4294186"/>
            <a:ext cx="10972800" cy="266700"/>
          </a:xfrm>
          <a:prstGeom prst="rect">
            <a:avLst/>
          </a:prstGeom>
          <a:noFill/>
          <a:ln w="0">
            <a:noFill/>
          </a:ln>
        </p:spPr>
        <p:txBody>
          <a:bodyPr lIns="0" tIns="0" rIns="0" bIns="0" anchor="ctr">
            <a:noAutofit/>
          </a:bodyPr>
          <a:lstStyle/>
          <a:p>
            <a:pPr>
              <a:defRPr sz="1350" b="1">
                <a:solidFill>
                  <a:srgbClr val="387E83"/>
                </a:solidFill>
                <a:latin typeface="DejaVu Sans"/>
                <a:ea typeface="DejaVu Sans"/>
                <a:cs typeface="DejaVu Sans"/>
              </a:defRPr>
            </a:pPr>
            <a:r>
              <a:rPr sz="1350" b="1">
                <a:solidFill>
                  <a:srgbClr val="387E83"/>
                </a:solidFill>
                <a:latin typeface="Arial" panose="020B0604020202020204" pitchFamily="34" charset="0"/>
                <a:ea typeface="DejaVu Sans"/>
                <a:cs typeface="Arial" panose="020B0604020202020204" pitchFamily="34" charset="0"/>
              </a:rPr>
              <a:t>ROOM ENERGY BALANCE</a:t>
            </a:r>
          </a:p>
        </p:txBody>
      </p:sp>
      <mc:AlternateContent xmlns:mc="http://schemas.openxmlformats.org/markup-compatibility/2006" xmlns:a14="http://schemas.microsoft.com/office/drawing/2010/main">
        <mc:Choice Requires="a14">
          <p:sp>
            <p:nvSpPr>
              <p:cNvPr id="14" name="Editable equation 2">
                <a:extLst>
                  <a:ext uri="{FF2B5EF4-FFF2-40B4-BE49-F238E27FC236}">
                    <a16:creationId xmlns:a16="http://schemas.microsoft.com/office/drawing/2014/main" id="{B176936B-5F46-4D98-1F5C-D3C56F3BD5E7}"/>
                  </a:ext>
                </a:extLst>
              </p:cNvPr>
              <p:cNvSpPr txBox="1"/>
              <p:nvPr/>
            </p:nvSpPr>
            <p:spPr>
              <a:xfrm>
                <a:off x="2230961" y="4570411"/>
                <a:ext cx="8792308" cy="952500"/>
              </a:xfrm>
              <a:prstGeom prst="rect">
                <a:avLst/>
              </a:prstGeom>
              <a:noFill/>
              <a:ln>
                <a:noFill/>
              </a:ln>
            </p:spPr>
            <p:txBody>
              <a:bodyPr lIns="0" tIns="0" rIns="0" bIns="0" anchor="ctr"/>
              <a:lstStyle/>
              <a:p>
                <a:pPr algn="ctr">
                  <a:defRPr sz="2800"/>
                </a:pPr>
                <a14:m>
                  <m:oMathPara xmlns:m="http://schemas.openxmlformats.org/officeDocument/2006/math">
                    <m:oMath>
                      <m:f>
                        <m:fPr>
                          <m:ctrlPr>
                            <a:rPr sz="2800">
                              <a:solidFill>
                                <a:srgbClr val="173E50"/>
                              </a:solidFill>
                              <a:latin typeface="Cambria Math"/>
                            </a:rPr>
                          </m:ctrlPr>
                        </m:fPr>
                        <m:num>
                          <m:r>
                            <m:rPr>
                              <m:sty m:val="p"/>
                            </m:rPr>
                            <a:rPr sz="2800">
                              <a:solidFill>
                                <a:srgbClr val="173E50"/>
                              </a:solidFill>
                              <a:latin typeface="Cambria Math"/>
                            </a:rPr>
                            <m:t>d</m:t>
                          </m:r>
                          <m:sSub>
                            <m:sSubPr>
                              <m:ctrlPr>
                                <a:rPr sz="2800">
                                  <a:solidFill>
                                    <a:srgbClr val="173E50"/>
                                  </a:solidFill>
                                  <a:latin typeface="Cambria Math"/>
                                </a:rPr>
                              </m:ctrlPr>
                            </m:sSubPr>
                            <m:e>
                              <m:r>
                                <a:rPr sz="2800">
                                  <a:solidFill>
                                    <a:srgbClr val="173E50"/>
                                  </a:solidFill>
                                  <a:latin typeface="Cambria Math"/>
                                </a:rPr>
                                <m:t>𝑈</m:t>
                              </m:r>
                            </m:e>
                            <m:sub>
                              <m:r>
                                <m:rPr>
                                  <m:sty m:val="p"/>
                                </m:rPr>
                                <a:rPr sz="2800">
                                  <a:solidFill>
                                    <a:srgbClr val="173E50"/>
                                  </a:solidFill>
                                  <a:latin typeface="Cambria Math"/>
                                </a:rPr>
                                <m:t>room</m:t>
                              </m:r>
                            </m:sub>
                          </m:sSub>
                        </m:num>
                        <m:den>
                          <m:r>
                            <m:rPr>
                              <m:sty m:val="p"/>
                            </m:rPr>
                            <a:rPr sz="2800">
                              <a:solidFill>
                                <a:srgbClr val="173E50"/>
                              </a:solidFill>
                              <a:latin typeface="Cambria Math"/>
                            </a:rPr>
                            <m:t>dt</m:t>
                          </m:r>
                        </m:den>
                      </m:f>
                      <m:r>
                        <a:rPr sz="2800">
                          <a:solidFill>
                            <a:srgbClr val="173E50"/>
                          </a:solidFill>
                          <a:latin typeface="Cambria Math"/>
                        </a:rPr>
                        <m:t>=</m:t>
                      </m:r>
                      <m:sSub>
                        <m:sSubPr>
                          <m:ctrlPr>
                            <a:rPr sz="2800" i="1">
                              <a:solidFill>
                                <a:srgbClr val="173E50"/>
                              </a:solidFill>
                              <a:latin typeface="Cambria Math" panose="02040503050406030204" pitchFamily="18" charset="0"/>
                            </a:rPr>
                          </m:ctrlPr>
                        </m:sSubPr>
                        <m:e>
                          <m:acc>
                            <m:accPr>
                              <m:chr m:val="̇"/>
                              <m:ctrlPr>
                                <a:rPr sz="2800">
                                  <a:solidFill>
                                    <a:srgbClr val="173E50"/>
                                  </a:solidFill>
                                  <a:latin typeface="Cambria Math"/>
                                </a:rPr>
                              </m:ctrlPr>
                            </m:accPr>
                            <m:e>
                              <m:r>
                                <a:rPr sz="2800">
                                  <a:solidFill>
                                    <a:srgbClr val="173E50"/>
                                  </a:solidFill>
                                  <a:latin typeface="Cambria Math"/>
                                </a:rPr>
                                <m:t>𝑄</m:t>
                              </m:r>
                            </m:e>
                          </m:acc>
                        </m:e>
                        <m:sub>
                          <m:r>
                            <m:rPr>
                              <m:sty m:val="p"/>
                            </m:rPr>
                            <a:rPr sz="2800">
                              <a:solidFill>
                                <a:srgbClr val="173E50"/>
                              </a:solidFill>
                              <a:latin typeface="Cambria Math"/>
                            </a:rPr>
                            <m:t>wall</m:t>
                          </m:r>
                        </m:sub>
                      </m:sSub>
                      <m:r>
                        <a:rPr sz="2800">
                          <a:solidFill>
                            <a:srgbClr val="173E50"/>
                          </a:solidFill>
                          <a:latin typeface="Cambria Math"/>
                        </a:rPr>
                        <m:t>+</m:t>
                      </m:r>
                      <m:sSub>
                        <m:sSubPr>
                          <m:ctrlPr>
                            <a:rPr sz="2800" i="1">
                              <a:solidFill>
                                <a:srgbClr val="173E50"/>
                              </a:solidFill>
                              <a:latin typeface="Cambria Math" panose="02040503050406030204" pitchFamily="18" charset="0"/>
                            </a:rPr>
                          </m:ctrlPr>
                        </m:sSubPr>
                        <m:e>
                          <m:acc>
                            <m:accPr>
                              <m:chr m:val="̇"/>
                              <m:ctrlPr>
                                <a:rPr sz="2800">
                                  <a:solidFill>
                                    <a:srgbClr val="173E50"/>
                                  </a:solidFill>
                                  <a:latin typeface="Cambria Math"/>
                                </a:rPr>
                              </m:ctrlPr>
                            </m:accPr>
                            <m:e>
                              <m:r>
                                <a:rPr sz="2800">
                                  <a:solidFill>
                                    <a:srgbClr val="173E50"/>
                                  </a:solidFill>
                                  <a:latin typeface="Cambria Math"/>
                                </a:rPr>
                                <m:t>𝑄</m:t>
                              </m:r>
                            </m:e>
                          </m:acc>
                        </m:e>
                        <m:sub>
                          <m:r>
                            <m:rPr>
                              <m:sty m:val="p"/>
                            </m:rPr>
                            <a:rPr sz="2800">
                              <a:solidFill>
                                <a:srgbClr val="173E50"/>
                              </a:solidFill>
                              <a:latin typeface="Cambria Math"/>
                            </a:rPr>
                            <m:t>crop</m:t>
                          </m:r>
                        </m:sub>
                      </m:sSub>
                      <m:r>
                        <a:rPr sz="2800">
                          <a:solidFill>
                            <a:srgbClr val="173E50"/>
                          </a:solidFill>
                          <a:latin typeface="Cambria Math"/>
                        </a:rPr>
                        <m:t>+</m:t>
                      </m:r>
                      <m:sSub>
                        <m:sSubPr>
                          <m:ctrlPr>
                            <a:rPr sz="2800" i="1">
                              <a:solidFill>
                                <a:srgbClr val="173E50"/>
                              </a:solidFill>
                              <a:latin typeface="Cambria Math" panose="02040503050406030204" pitchFamily="18" charset="0"/>
                            </a:rPr>
                          </m:ctrlPr>
                        </m:sSubPr>
                        <m:e>
                          <m:acc>
                            <m:accPr>
                              <m:chr m:val="̇"/>
                              <m:ctrlPr>
                                <a:rPr sz="2800">
                                  <a:solidFill>
                                    <a:srgbClr val="173E50"/>
                                  </a:solidFill>
                                  <a:latin typeface="Cambria Math"/>
                                </a:rPr>
                              </m:ctrlPr>
                            </m:accPr>
                            <m:e>
                              <m:r>
                                <a:rPr sz="2800">
                                  <a:solidFill>
                                    <a:srgbClr val="173E50"/>
                                  </a:solidFill>
                                  <a:latin typeface="Cambria Math"/>
                                </a:rPr>
                                <m:t>𝑄</m:t>
                              </m:r>
                            </m:e>
                          </m:acc>
                        </m:e>
                        <m:sub>
                          <m:r>
                            <m:rPr>
                              <m:sty m:val="p"/>
                            </m:rPr>
                            <a:rPr sz="2800">
                              <a:solidFill>
                                <a:srgbClr val="173E50"/>
                              </a:solidFill>
                              <a:latin typeface="Cambria Math"/>
                            </a:rPr>
                            <m:t>other</m:t>
                          </m:r>
                        </m:sub>
                      </m:sSub>
                      <m:r>
                        <a:rPr sz="2800">
                          <a:solidFill>
                            <a:srgbClr val="173E50"/>
                          </a:solidFill>
                          <a:latin typeface="Cambria Math"/>
                        </a:rPr>
                        <m:t>−</m:t>
                      </m:r>
                      <m:sSub>
                        <m:sSubPr>
                          <m:ctrlPr>
                            <a:rPr sz="2800" i="1">
                              <a:solidFill>
                                <a:srgbClr val="173E50"/>
                              </a:solidFill>
                              <a:latin typeface="Cambria Math" panose="02040503050406030204" pitchFamily="18" charset="0"/>
                            </a:rPr>
                          </m:ctrlPr>
                        </m:sSubPr>
                        <m:e>
                          <m:acc>
                            <m:accPr>
                              <m:chr m:val="̇"/>
                              <m:ctrlPr>
                                <a:rPr sz="2800">
                                  <a:solidFill>
                                    <a:srgbClr val="173E50"/>
                                  </a:solidFill>
                                  <a:latin typeface="Cambria Math"/>
                                </a:rPr>
                              </m:ctrlPr>
                            </m:accPr>
                            <m:e>
                              <m:r>
                                <a:rPr sz="2800">
                                  <a:solidFill>
                                    <a:srgbClr val="173E50"/>
                                  </a:solidFill>
                                  <a:latin typeface="Cambria Math"/>
                                </a:rPr>
                                <m:t>𝑄</m:t>
                              </m:r>
                            </m:e>
                          </m:acc>
                        </m:e>
                        <m:sub>
                          <m:r>
                            <m:rPr>
                              <m:sty m:val="p"/>
                            </m:rPr>
                            <a:rPr sz="2800">
                              <a:solidFill>
                                <a:srgbClr val="173E50"/>
                              </a:solidFill>
                              <a:latin typeface="Cambria Math"/>
                            </a:rPr>
                            <m:t>cool</m:t>
                          </m:r>
                        </m:sub>
                      </m:sSub>
                    </m:oMath>
                  </m:oMathPara>
                </a14:m>
                <a:endParaRPr lang="en-US" sz="2800">
                  <a:latin typeface="Arial" panose="020B0604020202020204" pitchFamily="34" charset="0"/>
                  <a:cs typeface="Arial" panose="020B0604020202020204" pitchFamily="34" charset="0"/>
                </a:endParaRPr>
              </a:p>
            </p:txBody>
          </p:sp>
        </mc:Choice>
        <mc:Fallback xmlns="">
          <p:sp>
            <p:nvSpPr>
              <p:cNvPr id="14" name="Editable equation 2">
                <a:extLst>
                  <a:ext uri="{FF2B5EF4-FFF2-40B4-BE49-F238E27FC236}">
                    <a16:creationId xmlns:a16="http://schemas.microsoft.com/office/drawing/2014/main" id="{B176936B-5F46-4D98-1F5C-D3C56F3BD5E7}"/>
                  </a:ext>
                </a:extLst>
              </p:cNvPr>
              <p:cNvSpPr txBox="1">
                <a:spLocks noRot="1" noChangeAspect="1" noMove="1" noResize="1" noEditPoints="1" noAdjustHandles="1" noChangeArrowheads="1" noChangeShapeType="1" noTextEdit="1"/>
              </p:cNvSpPr>
              <p:nvPr/>
            </p:nvSpPr>
            <p:spPr>
              <a:xfrm>
                <a:off x="2230961" y="4570411"/>
                <a:ext cx="8792308" cy="952500"/>
              </a:xfrm>
              <a:prstGeom prst="rect">
                <a:avLst/>
              </a:prstGeom>
              <a:blipFill>
                <a:blip r:embed="rId6"/>
                <a:stretch>
                  <a:fillRect/>
                </a:stretch>
              </a:blipFill>
              <a:ln>
                <a:noFill/>
              </a:ln>
            </p:spPr>
            <p:txBody>
              <a:bodyPr/>
              <a:lstStyle/>
              <a:p>
                <a:r>
                  <a:rPr lang="en-US">
                    <a:noFill/>
                  </a:rPr>
                  <a:t> </a:t>
                </a:r>
              </a:p>
            </p:txBody>
          </p:sp>
        </mc:Fallback>
      </mc:AlternateContent>
      <p:sp>
        <p:nvSpPr>
          <p:cNvPr id="16" name="Rectangle 15">
            <a:extLst>
              <a:ext uri="{FF2B5EF4-FFF2-40B4-BE49-F238E27FC236}">
                <a16:creationId xmlns:a16="http://schemas.microsoft.com/office/drawing/2014/main" id="{29C00C4D-A97E-1C57-8A8B-D7B5E4BC5A5D}"/>
              </a:ext>
            </a:extLst>
          </p:cNvPr>
          <p:cNvSpPr>
            <a:spLocks noGrp="1"/>
          </p:cNvSpPr>
          <p:nvPr/>
        </p:nvSpPr>
        <p:spPr>
          <a:xfrm>
            <a:off x="1140715" y="5658644"/>
            <a:ext cx="10972800" cy="561975"/>
          </a:xfrm>
          <a:prstGeom prst="rect">
            <a:avLst/>
          </a:prstGeom>
          <a:noFill/>
          <a:ln w="0">
            <a:noFill/>
          </a:ln>
        </p:spPr>
        <p:txBody>
          <a:bodyPr lIns="0" tIns="0" rIns="0" bIns="0" anchor="ctr">
            <a:noAutofit/>
          </a:bodyPr>
          <a:lstStyle/>
          <a:p>
            <a:pPr>
              <a:defRPr sz="1500" b="0">
                <a:solidFill>
                  <a:srgbClr val="516B79"/>
                </a:solidFill>
                <a:latin typeface="DejaVu Sans"/>
                <a:ea typeface="DejaVu Sans"/>
                <a:cs typeface="DejaVu Sans"/>
              </a:defRPr>
            </a:pPr>
            <a:r>
              <a:rPr sz="1500" b="0" dirty="0">
                <a:solidFill>
                  <a:srgbClr val="516B79"/>
                </a:solidFill>
                <a:latin typeface="Arial" panose="020B0604020202020204" pitchFamily="34" charset="0"/>
                <a:ea typeface="DejaVu Sans"/>
                <a:cs typeface="Arial" panose="020B0604020202020204" pitchFamily="34" charset="0"/>
              </a:rPr>
              <a:t>U: room-air internal energy   Q̇: heat-transfer rate</a:t>
            </a:r>
          </a:p>
          <a:p>
            <a:pPr>
              <a:defRPr sz="1500" b="0">
                <a:solidFill>
                  <a:srgbClr val="516B79"/>
                </a:solidFill>
                <a:latin typeface="DejaVu Sans"/>
                <a:ea typeface="DejaVu Sans"/>
                <a:cs typeface="DejaVu Sans"/>
              </a:defRPr>
            </a:pPr>
            <a:r>
              <a:rPr sz="1500" b="0" dirty="0">
                <a:solidFill>
                  <a:srgbClr val="516B79"/>
                </a:solidFill>
                <a:latin typeface="Arial" panose="020B0604020202020204" pitchFamily="34" charset="0"/>
                <a:ea typeface="DejaVu Sans"/>
                <a:cs typeface="Arial" panose="020B0604020202020204" pitchFamily="34" charset="0"/>
              </a:rPr>
              <a:t>Other gains: infiltration, lighting and people</a:t>
            </a:r>
          </a:p>
        </p:txBody>
      </p:sp>
    </p:spTree>
    <p:extLst>
      <p:ext uri="{BB962C8B-B14F-4D97-AF65-F5344CB8AC3E}">
        <p14:creationId xmlns:p14="http://schemas.microsoft.com/office/powerpoint/2010/main" val="34018994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94">
          <a:extLst>
            <a:ext uri="{FF2B5EF4-FFF2-40B4-BE49-F238E27FC236}">
              <a16:creationId xmlns:a16="http://schemas.microsoft.com/office/drawing/2014/main" id="{7EE0263A-FB11-3632-4B36-C7C5FB842E2A}"/>
            </a:ext>
          </a:extLst>
        </p:cNvPr>
        <p:cNvGrpSpPr/>
        <p:nvPr/>
      </p:nvGrpSpPr>
      <p:grpSpPr>
        <a:xfrm>
          <a:off x="0" y="0"/>
          <a:ext cx="0" cy="0"/>
          <a:chOff x="0" y="0"/>
          <a:chExt cx="0" cy="0"/>
        </a:xfrm>
      </p:grpSpPr>
      <p:pic>
        <p:nvPicPr>
          <p:cNvPr id="495" name="Google Shape;495;p45" descr="Une image contenant ciel, plein air, nuage, agriculture&#10;&#10;Description générée automatiquement">
            <a:extLst>
              <a:ext uri="{FF2B5EF4-FFF2-40B4-BE49-F238E27FC236}">
                <a16:creationId xmlns:a16="http://schemas.microsoft.com/office/drawing/2014/main" id="{4FFA3B07-70EB-92E5-955A-E9543DEEA7C1}"/>
              </a:ext>
            </a:extLst>
          </p:cNvPr>
          <p:cNvPicPr preferRelativeResize="0"/>
          <p:nvPr/>
        </p:nvPicPr>
        <p:blipFill rotWithShape="1">
          <a:blip r:embed="rId3">
            <a:alphaModFix/>
          </a:blip>
          <a:srcRect l="5973" t="9105" b="15903"/>
          <a:stretch/>
        </p:blipFill>
        <p:spPr>
          <a:xfrm>
            <a:off x="719138" y="0"/>
            <a:ext cx="11472863" cy="6858000"/>
          </a:xfrm>
          <a:prstGeom prst="rect">
            <a:avLst/>
          </a:prstGeom>
          <a:noFill/>
          <a:ln>
            <a:noFill/>
          </a:ln>
        </p:spPr>
      </p:pic>
      <p:sp>
        <p:nvSpPr>
          <p:cNvPr id="496" name="Google Shape;496;p45">
            <a:extLst>
              <a:ext uri="{FF2B5EF4-FFF2-40B4-BE49-F238E27FC236}">
                <a16:creationId xmlns:a16="http://schemas.microsoft.com/office/drawing/2014/main" id="{DE1AB54F-E7C6-9168-F929-057FCA901D2F}"/>
              </a:ext>
            </a:extLst>
          </p:cNvPr>
          <p:cNvSpPr/>
          <p:nvPr/>
        </p:nvSpPr>
        <p:spPr>
          <a:xfrm>
            <a:off x="664273" y="0"/>
            <a:ext cx="11527727" cy="6858000"/>
          </a:xfrm>
          <a:prstGeom prst="rect">
            <a:avLst/>
          </a:prstGeom>
          <a:solidFill>
            <a:schemeClr val="lt1">
              <a:alpha val="93725"/>
            </a:schemeClr>
          </a:solidFill>
          <a:ln>
            <a:noFill/>
          </a:ln>
          <a:effectLst>
            <a:outerShdw blurRad="876300" dist="393700" dir="5400000" algn="t" rotWithShape="0">
              <a:srgbClr val="000000">
                <a:alpha val="784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dirty="0">
              <a:solidFill>
                <a:srgbClr val="FF0000"/>
              </a:solidFill>
              <a:latin typeface="Calibri"/>
              <a:ea typeface="Calibri"/>
              <a:cs typeface="Calibri"/>
              <a:sym typeface="Calibri"/>
            </a:endParaRPr>
          </a:p>
        </p:txBody>
      </p:sp>
      <p:sp>
        <p:nvSpPr>
          <p:cNvPr id="497" name="Google Shape;497;p45">
            <a:extLst>
              <a:ext uri="{FF2B5EF4-FFF2-40B4-BE49-F238E27FC236}">
                <a16:creationId xmlns:a16="http://schemas.microsoft.com/office/drawing/2014/main" id="{F4B5C38F-10D5-71CA-563F-3366AC010C95}"/>
              </a:ext>
            </a:extLst>
          </p:cNvPr>
          <p:cNvSpPr txBox="1"/>
          <p:nvPr/>
        </p:nvSpPr>
        <p:spPr>
          <a:xfrm rot="-5400000">
            <a:off x="-797364" y="5204656"/>
            <a:ext cx="2251455" cy="38856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lt1"/>
                </a:solidFill>
                <a:latin typeface="Nunito Sans SemiBold"/>
                <a:ea typeface="Nunito Sans SemiBold"/>
                <a:cs typeface="Nunito Sans SemiBold"/>
                <a:sym typeface="Nunito Sans SemiBold"/>
              </a:rPr>
              <a:t>AGRICOOL</a:t>
            </a:r>
            <a:endParaRPr sz="1400" b="0" i="0" u="none" strike="noStrike" cap="none">
              <a:solidFill>
                <a:srgbClr val="000000"/>
              </a:solidFill>
              <a:latin typeface="Arial"/>
              <a:ea typeface="Arial"/>
              <a:cs typeface="Arial"/>
              <a:sym typeface="Arial"/>
            </a:endParaRPr>
          </a:p>
        </p:txBody>
      </p:sp>
      <p:pic>
        <p:nvPicPr>
          <p:cNvPr id="503" name="Google Shape;503;p45" descr="Une image contenant capture d’écran, Bleu électrique, Police, Bleu Majorelle&#10;&#10;Description générée automatiquement">
            <a:extLst>
              <a:ext uri="{FF2B5EF4-FFF2-40B4-BE49-F238E27FC236}">
                <a16:creationId xmlns:a16="http://schemas.microsoft.com/office/drawing/2014/main" id="{A0B660ED-C3E1-8462-A06D-3A191DE4A21F}"/>
              </a:ext>
            </a:extLst>
          </p:cNvPr>
          <p:cNvPicPr preferRelativeResize="0"/>
          <p:nvPr/>
        </p:nvPicPr>
        <p:blipFill rotWithShape="1">
          <a:blip r:embed="rId4">
            <a:alphaModFix/>
          </a:blip>
          <a:srcRect/>
          <a:stretch/>
        </p:blipFill>
        <p:spPr>
          <a:xfrm>
            <a:off x="659183" y="6441981"/>
            <a:ext cx="1729633" cy="384363"/>
          </a:xfrm>
          <a:prstGeom prst="rect">
            <a:avLst/>
          </a:prstGeom>
          <a:noFill/>
          <a:ln>
            <a:noFill/>
          </a:ln>
        </p:spPr>
      </p:pic>
      <p:sp>
        <p:nvSpPr>
          <p:cNvPr id="504" name="Google Shape;504;p45">
            <a:extLst>
              <a:ext uri="{FF2B5EF4-FFF2-40B4-BE49-F238E27FC236}">
                <a16:creationId xmlns:a16="http://schemas.microsoft.com/office/drawing/2014/main" id="{2A3DA813-BB6E-4A50-1FEF-64DA32D267E1}"/>
              </a:ext>
            </a:extLst>
          </p:cNvPr>
          <p:cNvSpPr txBox="1">
            <a:spLocks noGrp="1"/>
          </p:cNvSpPr>
          <p:nvPr>
            <p:ph type="dt" idx="10"/>
          </p:nvPr>
        </p:nvSpPr>
        <p:spPr>
          <a:xfrm>
            <a:off x="9332517" y="64262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en-GB" dirty="0"/>
              <a:t>13 September 2026</a:t>
            </a:r>
            <a:endParaRPr dirty="0"/>
          </a:p>
        </p:txBody>
      </p:sp>
      <p:sp>
        <p:nvSpPr>
          <p:cNvPr id="505" name="Google Shape;505;p45">
            <a:extLst>
              <a:ext uri="{FF2B5EF4-FFF2-40B4-BE49-F238E27FC236}">
                <a16:creationId xmlns:a16="http://schemas.microsoft.com/office/drawing/2014/main" id="{FBC5BAB2-8CA5-38EE-ADAB-3031899CA105}"/>
              </a:ext>
            </a:extLst>
          </p:cNvPr>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200"/>
              <a:buNone/>
            </a:pPr>
            <a:fld id="{00000000-1234-1234-1234-123412341234}" type="slidenum">
              <a:rPr lang="en-GB"/>
              <a:t>16</a:t>
            </a:fld>
            <a:endParaRPr dirty="0"/>
          </a:p>
        </p:txBody>
      </p:sp>
      <p:sp>
        <p:nvSpPr>
          <p:cNvPr id="5" name="Title">
            <a:extLst>
              <a:ext uri="{FF2B5EF4-FFF2-40B4-BE49-F238E27FC236}">
                <a16:creationId xmlns:a16="http://schemas.microsoft.com/office/drawing/2014/main" id="{47390E6E-1BD7-BA9E-FCAC-A3A07A6D46F2}"/>
              </a:ext>
            </a:extLst>
          </p:cNvPr>
          <p:cNvSpPr>
            <a:spLocks noGrp="1"/>
          </p:cNvSpPr>
          <p:nvPr/>
        </p:nvSpPr>
        <p:spPr>
          <a:xfrm>
            <a:off x="1207017" y="2790877"/>
            <a:ext cx="9806424" cy="1097811"/>
          </a:xfrm>
          <a:prstGeom prst="rect">
            <a:avLst/>
          </a:prstGeom>
          <a:noFill/>
          <a:ln w="0">
            <a:noFill/>
          </a:ln>
        </p:spPr>
        <p:txBody>
          <a:bodyPr lIns="0" tIns="0" rIns="0" bIns="0" anchor="ctr">
            <a:noAutofit/>
          </a:bodyPr>
          <a:lstStyle/>
          <a:p>
            <a:pPr algn="l">
              <a:defRPr sz="3300" b="1">
                <a:solidFill>
                  <a:srgbClr val="14354E"/>
                </a:solidFill>
                <a:latin typeface="Bitstream Charter"/>
                <a:ea typeface="Bitstream Charter"/>
                <a:cs typeface="Bitstream Charter"/>
              </a:defRPr>
            </a:pPr>
            <a:r>
              <a:rPr lang="en-US" sz="4400" b="1" dirty="0">
                <a:solidFill>
                  <a:srgbClr val="30A4CF"/>
                </a:solidFill>
                <a:latin typeface="Nunito"/>
              </a:rPr>
              <a:t>Producing, transferring and storing cooling</a:t>
            </a:r>
          </a:p>
        </p:txBody>
      </p:sp>
    </p:spTree>
    <p:extLst>
      <p:ext uri="{BB962C8B-B14F-4D97-AF65-F5344CB8AC3E}">
        <p14:creationId xmlns:p14="http://schemas.microsoft.com/office/powerpoint/2010/main" val="476751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94">
          <a:extLst>
            <a:ext uri="{FF2B5EF4-FFF2-40B4-BE49-F238E27FC236}">
              <a16:creationId xmlns:a16="http://schemas.microsoft.com/office/drawing/2014/main" id="{C2C38FFB-F2F7-1DE5-E854-5401A2AEC05D}"/>
            </a:ext>
          </a:extLst>
        </p:cNvPr>
        <p:cNvGrpSpPr/>
        <p:nvPr/>
      </p:nvGrpSpPr>
      <p:grpSpPr>
        <a:xfrm>
          <a:off x="0" y="0"/>
          <a:ext cx="0" cy="0"/>
          <a:chOff x="0" y="0"/>
          <a:chExt cx="0" cy="0"/>
        </a:xfrm>
      </p:grpSpPr>
      <p:pic>
        <p:nvPicPr>
          <p:cNvPr id="495" name="Google Shape;495;p45" descr="Une image contenant ciel, plein air, nuage, agriculture&#10;&#10;Description générée automatiquement">
            <a:extLst>
              <a:ext uri="{FF2B5EF4-FFF2-40B4-BE49-F238E27FC236}">
                <a16:creationId xmlns:a16="http://schemas.microsoft.com/office/drawing/2014/main" id="{243799C5-1EA1-CAC0-D15A-A8334A8C5F29}"/>
              </a:ext>
            </a:extLst>
          </p:cNvPr>
          <p:cNvPicPr preferRelativeResize="0"/>
          <p:nvPr/>
        </p:nvPicPr>
        <p:blipFill rotWithShape="1">
          <a:blip r:embed="rId3">
            <a:alphaModFix/>
          </a:blip>
          <a:srcRect l="5973" t="9105" b="15903"/>
          <a:stretch/>
        </p:blipFill>
        <p:spPr>
          <a:xfrm>
            <a:off x="719138" y="0"/>
            <a:ext cx="11472863" cy="6858000"/>
          </a:xfrm>
          <a:prstGeom prst="rect">
            <a:avLst/>
          </a:prstGeom>
          <a:noFill/>
          <a:ln>
            <a:noFill/>
          </a:ln>
        </p:spPr>
      </p:pic>
      <p:sp>
        <p:nvSpPr>
          <p:cNvPr id="496" name="Google Shape;496;p45">
            <a:extLst>
              <a:ext uri="{FF2B5EF4-FFF2-40B4-BE49-F238E27FC236}">
                <a16:creationId xmlns:a16="http://schemas.microsoft.com/office/drawing/2014/main" id="{454ACAC5-B3F7-7F4B-C78B-EFF65856B220}"/>
              </a:ext>
            </a:extLst>
          </p:cNvPr>
          <p:cNvSpPr/>
          <p:nvPr/>
        </p:nvSpPr>
        <p:spPr>
          <a:xfrm>
            <a:off x="664273" y="0"/>
            <a:ext cx="11527727" cy="6858000"/>
          </a:xfrm>
          <a:prstGeom prst="rect">
            <a:avLst/>
          </a:prstGeom>
          <a:solidFill>
            <a:schemeClr val="lt1">
              <a:alpha val="93725"/>
            </a:schemeClr>
          </a:solidFill>
          <a:ln>
            <a:noFill/>
          </a:ln>
          <a:effectLst>
            <a:outerShdw blurRad="876300" dist="393700" dir="5400000" algn="t" rotWithShape="0">
              <a:srgbClr val="000000">
                <a:alpha val="784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dirty="0">
              <a:solidFill>
                <a:srgbClr val="FF0000"/>
              </a:solidFill>
              <a:latin typeface="Calibri"/>
              <a:ea typeface="Calibri"/>
              <a:cs typeface="Calibri"/>
              <a:sym typeface="Calibri"/>
            </a:endParaRPr>
          </a:p>
        </p:txBody>
      </p:sp>
      <p:sp>
        <p:nvSpPr>
          <p:cNvPr id="497" name="Google Shape;497;p45">
            <a:extLst>
              <a:ext uri="{FF2B5EF4-FFF2-40B4-BE49-F238E27FC236}">
                <a16:creationId xmlns:a16="http://schemas.microsoft.com/office/drawing/2014/main" id="{3380380C-30D6-02F6-1048-A40F1A3E6B52}"/>
              </a:ext>
            </a:extLst>
          </p:cNvPr>
          <p:cNvSpPr txBox="1"/>
          <p:nvPr/>
        </p:nvSpPr>
        <p:spPr>
          <a:xfrm rot="-5400000">
            <a:off x="-797364" y="5204656"/>
            <a:ext cx="2251455" cy="38856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lt1"/>
                </a:solidFill>
                <a:latin typeface="Nunito Sans SemiBold"/>
                <a:ea typeface="Nunito Sans SemiBold"/>
                <a:cs typeface="Nunito Sans SemiBold"/>
                <a:sym typeface="Nunito Sans SemiBold"/>
              </a:rPr>
              <a:t>AGRICOOL</a:t>
            </a:r>
            <a:endParaRPr sz="1400" b="0" i="0" u="none" strike="noStrike" cap="none">
              <a:solidFill>
                <a:srgbClr val="000000"/>
              </a:solidFill>
              <a:latin typeface="Arial"/>
              <a:ea typeface="Arial"/>
              <a:cs typeface="Arial"/>
              <a:sym typeface="Arial"/>
            </a:endParaRPr>
          </a:p>
        </p:txBody>
      </p:sp>
      <p:pic>
        <p:nvPicPr>
          <p:cNvPr id="503" name="Google Shape;503;p45" descr="Une image contenant capture d’écran, Bleu électrique, Police, Bleu Majorelle&#10;&#10;Description générée automatiquement">
            <a:extLst>
              <a:ext uri="{FF2B5EF4-FFF2-40B4-BE49-F238E27FC236}">
                <a16:creationId xmlns:a16="http://schemas.microsoft.com/office/drawing/2014/main" id="{DB62C596-2AC4-89E9-2341-303A0D81DE7C}"/>
              </a:ext>
            </a:extLst>
          </p:cNvPr>
          <p:cNvPicPr preferRelativeResize="0"/>
          <p:nvPr/>
        </p:nvPicPr>
        <p:blipFill rotWithShape="1">
          <a:blip r:embed="rId4">
            <a:alphaModFix/>
          </a:blip>
          <a:srcRect/>
          <a:stretch/>
        </p:blipFill>
        <p:spPr>
          <a:xfrm>
            <a:off x="659183" y="6441981"/>
            <a:ext cx="1729633" cy="384363"/>
          </a:xfrm>
          <a:prstGeom prst="rect">
            <a:avLst/>
          </a:prstGeom>
          <a:noFill/>
          <a:ln>
            <a:noFill/>
          </a:ln>
        </p:spPr>
      </p:pic>
      <p:sp>
        <p:nvSpPr>
          <p:cNvPr id="504" name="Google Shape;504;p45">
            <a:extLst>
              <a:ext uri="{FF2B5EF4-FFF2-40B4-BE49-F238E27FC236}">
                <a16:creationId xmlns:a16="http://schemas.microsoft.com/office/drawing/2014/main" id="{E7E4E9AE-5847-E736-04E7-0A3787A080A7}"/>
              </a:ext>
            </a:extLst>
          </p:cNvPr>
          <p:cNvSpPr txBox="1">
            <a:spLocks noGrp="1"/>
          </p:cNvSpPr>
          <p:nvPr>
            <p:ph type="dt" idx="10"/>
          </p:nvPr>
        </p:nvSpPr>
        <p:spPr>
          <a:xfrm>
            <a:off x="9332517" y="64262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en-GB" dirty="0"/>
              <a:t>13 September 2026</a:t>
            </a:r>
            <a:endParaRPr dirty="0"/>
          </a:p>
        </p:txBody>
      </p:sp>
      <p:sp>
        <p:nvSpPr>
          <p:cNvPr id="505" name="Google Shape;505;p45">
            <a:extLst>
              <a:ext uri="{FF2B5EF4-FFF2-40B4-BE49-F238E27FC236}">
                <a16:creationId xmlns:a16="http://schemas.microsoft.com/office/drawing/2014/main" id="{8D3FE432-9E02-6029-768C-1E457984AEAF}"/>
              </a:ext>
            </a:extLst>
          </p:cNvPr>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200"/>
              <a:buNone/>
            </a:pPr>
            <a:fld id="{00000000-1234-1234-1234-123412341234}" type="slidenum">
              <a:rPr lang="en-GB"/>
              <a:t>17</a:t>
            </a:fld>
            <a:endParaRPr dirty="0"/>
          </a:p>
        </p:txBody>
      </p:sp>
      <p:sp>
        <p:nvSpPr>
          <p:cNvPr id="523" name="Rectangle 522">
            <a:extLst>
              <a:ext uri="{FF2B5EF4-FFF2-40B4-BE49-F238E27FC236}">
                <a16:creationId xmlns:a16="http://schemas.microsoft.com/office/drawing/2014/main" id="{4424A4E9-2376-BEEC-918A-BCD71F740292}"/>
              </a:ext>
            </a:extLst>
          </p:cNvPr>
          <p:cNvSpPr>
            <a:spLocks noGrp="1"/>
          </p:cNvSpPr>
          <p:nvPr/>
        </p:nvSpPr>
        <p:spPr>
          <a:xfrm>
            <a:off x="880110" y="33020"/>
            <a:ext cx="11191875" cy="609600"/>
          </a:xfrm>
          <a:prstGeom prst="rect">
            <a:avLst/>
          </a:prstGeom>
          <a:noFill/>
          <a:ln w="0">
            <a:noFill/>
          </a:ln>
        </p:spPr>
        <p:txBody>
          <a:bodyPr lIns="0" tIns="0" rIns="0" bIns="0" anchor="ctr">
            <a:noAutofit/>
          </a:bodyPr>
          <a:lstStyle/>
          <a:p>
            <a:pPr algn="l">
              <a:defRPr sz="3000" b="1">
                <a:solidFill>
                  <a:srgbClr val="239BC2"/>
                </a:solidFill>
                <a:latin typeface="DejaVu Sans"/>
                <a:ea typeface="DejaVu Sans"/>
                <a:cs typeface="DejaVu Sans"/>
              </a:defRPr>
            </a:pPr>
            <a:r>
              <a:rPr sz="3000" b="1">
                <a:solidFill>
                  <a:srgbClr val="239BC2"/>
                </a:solidFill>
                <a:latin typeface="Arial" panose="020B0604020202020204" pitchFamily="34" charset="0"/>
                <a:ea typeface="DejaVu Sans"/>
                <a:cs typeface="Arial" panose="020B0604020202020204" pitchFamily="34" charset="0"/>
              </a:rPr>
              <a:t>Chiller: producing cooling</a:t>
            </a:r>
          </a:p>
        </p:txBody>
      </p:sp>
      <p:sp>
        <p:nvSpPr>
          <p:cNvPr id="524" name="Rectangle 523">
            <a:extLst>
              <a:ext uri="{FF2B5EF4-FFF2-40B4-BE49-F238E27FC236}">
                <a16:creationId xmlns:a16="http://schemas.microsoft.com/office/drawing/2014/main" id="{4388F182-182F-1192-A8E0-75B82DAFE259}"/>
              </a:ext>
            </a:extLst>
          </p:cNvPr>
          <p:cNvSpPr>
            <a:spLocks noGrp="1"/>
          </p:cNvSpPr>
          <p:nvPr/>
        </p:nvSpPr>
        <p:spPr>
          <a:xfrm>
            <a:off x="918210" y="737870"/>
            <a:ext cx="11144250" cy="342900"/>
          </a:xfrm>
          <a:prstGeom prst="rect">
            <a:avLst/>
          </a:prstGeom>
          <a:noFill/>
          <a:ln w="0">
            <a:noFill/>
          </a:ln>
        </p:spPr>
        <p:txBody>
          <a:bodyPr lIns="0" tIns="0" rIns="0" bIns="0" anchor="ctr">
            <a:noAutofit/>
          </a:bodyPr>
          <a:lstStyle/>
          <a:p>
            <a:pPr algn="l">
              <a:defRPr sz="1575" b="0">
                <a:solidFill>
                  <a:srgbClr val="5A7582"/>
                </a:solidFill>
                <a:latin typeface="DejaVu Sans"/>
                <a:ea typeface="DejaVu Sans"/>
                <a:cs typeface="DejaVu Sans"/>
              </a:defRPr>
            </a:pPr>
            <a:r>
              <a:rPr sz="1575" b="0">
                <a:solidFill>
                  <a:srgbClr val="5A7582"/>
                </a:solidFill>
                <a:latin typeface="Arial" panose="020B0604020202020204" pitchFamily="34" charset="0"/>
                <a:ea typeface="DejaVu Sans"/>
                <a:cs typeface="Arial" panose="020B0604020202020204" pitchFamily="34" charset="0"/>
              </a:rPr>
              <a:t>Buildings.Fluid.Chillers.Carnot_y</a:t>
            </a:r>
          </a:p>
        </p:txBody>
      </p:sp>
      <p:sp>
        <p:nvSpPr>
          <p:cNvPr id="525" name="Rectangle 524">
            <a:extLst>
              <a:ext uri="{FF2B5EF4-FFF2-40B4-BE49-F238E27FC236}">
                <a16:creationId xmlns:a16="http://schemas.microsoft.com/office/drawing/2014/main" id="{87D7761B-3EBF-2EE3-870A-46833DEF9DA3}"/>
              </a:ext>
            </a:extLst>
          </p:cNvPr>
          <p:cNvSpPr>
            <a:spLocks noGrp="1"/>
          </p:cNvSpPr>
          <p:nvPr/>
        </p:nvSpPr>
        <p:spPr>
          <a:xfrm>
            <a:off x="8614410" y="1718945"/>
            <a:ext cx="3381375" cy="1028700"/>
          </a:xfrm>
          <a:prstGeom prst="rect">
            <a:avLst/>
          </a:prstGeom>
          <a:noFill/>
          <a:ln w="0">
            <a:noFill/>
          </a:ln>
        </p:spPr>
        <p:txBody>
          <a:bodyPr lIns="0" tIns="0" rIns="0" bIns="0" anchor="ctr">
            <a:noAutofit/>
          </a:bodyPr>
          <a:lstStyle/>
          <a:p>
            <a:pPr algn="l">
              <a:defRPr sz="1875" b="1">
                <a:solidFill>
                  <a:srgbClr val="173E50"/>
                </a:solidFill>
                <a:latin typeface="DejaVu Sans"/>
                <a:ea typeface="DejaVu Sans"/>
                <a:cs typeface="DejaVu Sans"/>
              </a:defRPr>
            </a:pPr>
            <a:r>
              <a:rPr sz="1875" b="1">
                <a:solidFill>
                  <a:srgbClr val="173E50"/>
                </a:solidFill>
                <a:latin typeface="Arial" panose="020B0604020202020204" pitchFamily="34" charset="0"/>
                <a:ea typeface="DejaVu Sans"/>
                <a:cs typeface="Arial" panose="020B0604020202020204" pitchFamily="34" charset="0"/>
              </a:rPr>
              <a:t>Electrical power drives</a:t>
            </a:r>
          </a:p>
          <a:p>
            <a:pPr algn="l">
              <a:defRPr sz="1875" b="1">
                <a:solidFill>
                  <a:srgbClr val="173E50"/>
                </a:solidFill>
                <a:latin typeface="DejaVu Sans"/>
                <a:ea typeface="DejaVu Sans"/>
                <a:cs typeface="DejaVu Sans"/>
              </a:defRPr>
            </a:pPr>
            <a:r>
              <a:rPr sz="1875" b="1">
                <a:solidFill>
                  <a:srgbClr val="173E50"/>
                </a:solidFill>
                <a:latin typeface="Arial" panose="020B0604020202020204" pitchFamily="34" charset="0"/>
                <a:ea typeface="DejaVu Sans"/>
                <a:cs typeface="Arial" panose="020B0604020202020204" pitchFamily="34" charset="0"/>
              </a:rPr>
              <a:t>heat removal from brine.</a:t>
            </a:r>
          </a:p>
        </p:txBody>
      </p:sp>
      <p:sp>
        <p:nvSpPr>
          <p:cNvPr id="526" name="Rectangle 525">
            <a:extLst>
              <a:ext uri="{FF2B5EF4-FFF2-40B4-BE49-F238E27FC236}">
                <a16:creationId xmlns:a16="http://schemas.microsoft.com/office/drawing/2014/main" id="{309FA2E8-965F-ED13-593E-90AA150F3253}"/>
              </a:ext>
            </a:extLst>
          </p:cNvPr>
          <p:cNvSpPr>
            <a:spLocks noGrp="1"/>
          </p:cNvSpPr>
          <p:nvPr/>
        </p:nvSpPr>
        <p:spPr>
          <a:xfrm>
            <a:off x="8614410" y="3014345"/>
            <a:ext cx="3381375" cy="914400"/>
          </a:xfrm>
          <a:prstGeom prst="rect">
            <a:avLst/>
          </a:prstGeom>
          <a:noFill/>
          <a:ln w="0">
            <a:noFill/>
          </a:ln>
        </p:spPr>
        <p:txBody>
          <a:bodyPr lIns="0" tIns="0" rIns="0" bIns="0" anchor="ctr">
            <a:noAutofit/>
          </a:bodyPr>
          <a:lstStyle/>
          <a:p>
            <a:pPr algn="l">
              <a:defRPr sz="1725" b="0">
                <a:solidFill>
                  <a:srgbClr val="516B79"/>
                </a:solidFill>
                <a:latin typeface="DejaVu Sans"/>
                <a:ea typeface="DejaVu Sans"/>
                <a:cs typeface="DejaVu Sans"/>
              </a:defRPr>
            </a:pPr>
            <a:r>
              <a:rPr sz="1725" b="0">
                <a:solidFill>
                  <a:srgbClr val="516B79"/>
                </a:solidFill>
                <a:latin typeface="Arial" panose="020B0604020202020204" pitchFamily="34" charset="0"/>
                <a:ea typeface="DejaVu Sans"/>
                <a:cs typeface="Arial" panose="020B0604020202020204" pitchFamily="34" charset="0"/>
              </a:rPr>
              <a:t>COP depends on operating</a:t>
            </a:r>
          </a:p>
          <a:p>
            <a:pPr algn="l">
              <a:defRPr sz="1725" b="0">
                <a:solidFill>
                  <a:srgbClr val="516B79"/>
                </a:solidFill>
                <a:latin typeface="DejaVu Sans"/>
                <a:ea typeface="DejaVu Sans"/>
                <a:cs typeface="DejaVu Sans"/>
              </a:defRPr>
            </a:pPr>
            <a:r>
              <a:rPr sz="1725" b="0">
                <a:solidFill>
                  <a:srgbClr val="516B79"/>
                </a:solidFill>
                <a:latin typeface="Arial" panose="020B0604020202020204" pitchFamily="34" charset="0"/>
                <a:ea typeface="DejaVu Sans"/>
                <a:cs typeface="Arial" panose="020B0604020202020204" pitchFamily="34" charset="0"/>
              </a:rPr>
              <a:t>temperatures and part load.</a:t>
            </a:r>
          </a:p>
        </p:txBody>
      </p:sp>
      <p:sp>
        <p:nvSpPr>
          <p:cNvPr id="527" name="Rectangle 526">
            <a:extLst>
              <a:ext uri="{FF2B5EF4-FFF2-40B4-BE49-F238E27FC236}">
                <a16:creationId xmlns:a16="http://schemas.microsoft.com/office/drawing/2014/main" id="{370ACECA-51B1-040F-AAFC-0D71510D8DE7}"/>
              </a:ext>
            </a:extLst>
          </p:cNvPr>
          <p:cNvSpPr>
            <a:spLocks noGrp="1"/>
          </p:cNvSpPr>
          <p:nvPr/>
        </p:nvSpPr>
        <p:spPr>
          <a:xfrm>
            <a:off x="3413760" y="2014220"/>
            <a:ext cx="2571750" cy="1828800"/>
          </a:xfrm>
          <a:prstGeom prst="rect">
            <a:avLst/>
          </a:prstGeom>
          <a:solidFill>
            <a:srgbClr val="F1F7F8"/>
          </a:solidFill>
          <a:ln w="19050">
            <a:solidFill>
              <a:srgbClr val="173E50"/>
            </a:solidFill>
          </a:ln>
        </p:spPr>
        <p:txBody>
          <a:bodyPr/>
          <a:lstStyle/>
          <a:p>
            <a:endParaRPr lang="en-US">
              <a:latin typeface="Arial" panose="020B0604020202020204" pitchFamily="34" charset="0"/>
              <a:cs typeface="Arial" panose="020B0604020202020204" pitchFamily="34" charset="0"/>
            </a:endParaRPr>
          </a:p>
        </p:txBody>
      </p:sp>
      <p:sp>
        <p:nvSpPr>
          <p:cNvPr id="528" name="Oval 527">
            <a:extLst>
              <a:ext uri="{FF2B5EF4-FFF2-40B4-BE49-F238E27FC236}">
                <a16:creationId xmlns:a16="http://schemas.microsoft.com/office/drawing/2014/main" id="{C02C5083-B3C9-A961-DBD3-FB70228FD754}"/>
              </a:ext>
            </a:extLst>
          </p:cNvPr>
          <p:cNvSpPr>
            <a:spLocks noGrp="1"/>
          </p:cNvSpPr>
          <p:nvPr/>
        </p:nvSpPr>
        <p:spPr>
          <a:xfrm>
            <a:off x="3408998" y="292385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529" name="Oval 528">
            <a:extLst>
              <a:ext uri="{FF2B5EF4-FFF2-40B4-BE49-F238E27FC236}">
                <a16:creationId xmlns:a16="http://schemas.microsoft.com/office/drawing/2014/main" id="{6534A73E-6971-9BDD-280F-47011C6AEF54}"/>
              </a:ext>
            </a:extLst>
          </p:cNvPr>
          <p:cNvSpPr>
            <a:spLocks noGrp="1"/>
          </p:cNvSpPr>
          <p:nvPr/>
        </p:nvSpPr>
        <p:spPr>
          <a:xfrm>
            <a:off x="5980748" y="292385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cxnSp>
        <p:nvCxnSpPr>
          <p:cNvPr id="530" name="Straight Arrow Connector 529">
            <a:extLst>
              <a:ext uri="{FF2B5EF4-FFF2-40B4-BE49-F238E27FC236}">
                <a16:creationId xmlns:a16="http://schemas.microsoft.com/office/drawing/2014/main" id="{2107ADB0-3102-E792-5036-2FE327A653A0}"/>
              </a:ext>
            </a:extLst>
          </p:cNvPr>
          <p:cNvCxnSpPr>
            <a:stCxn id="528" idx="6"/>
            <a:endCxn id="529" idx="2"/>
          </p:cNvCxnSpPr>
          <p:nvPr/>
        </p:nvCxnSpPr>
        <p:spPr>
          <a:xfrm>
            <a:off x="3418523" y="2928621"/>
            <a:ext cx="2562225" cy="0"/>
          </a:xfrm>
          <a:prstGeom prst="straightConnector1">
            <a:avLst/>
          </a:prstGeom>
          <a:ln w="9525">
            <a:solidFill>
              <a:srgbClr val="A6BDC5"/>
            </a:solidFill>
          </a:ln>
        </p:spPr>
      </p:cxnSp>
      <p:sp>
        <p:nvSpPr>
          <p:cNvPr id="531" name="Rectangle 530">
            <a:extLst>
              <a:ext uri="{FF2B5EF4-FFF2-40B4-BE49-F238E27FC236}">
                <a16:creationId xmlns:a16="http://schemas.microsoft.com/office/drawing/2014/main" id="{7E31BEBF-1C5F-7A04-3B2A-9428059F138D}"/>
              </a:ext>
            </a:extLst>
          </p:cNvPr>
          <p:cNvSpPr>
            <a:spLocks noGrp="1"/>
          </p:cNvSpPr>
          <p:nvPr/>
        </p:nvSpPr>
        <p:spPr>
          <a:xfrm>
            <a:off x="3575685" y="2290445"/>
            <a:ext cx="2247900" cy="400050"/>
          </a:xfrm>
          <a:prstGeom prst="rect">
            <a:avLst/>
          </a:prstGeom>
          <a:noFill/>
          <a:ln w="0">
            <a:noFill/>
          </a:ln>
        </p:spPr>
        <p:txBody>
          <a:bodyPr lIns="0" tIns="0" rIns="0" bIns="0" anchor="ctr">
            <a:noAutofit/>
          </a:bodyPr>
          <a:lstStyle/>
          <a:p>
            <a:pPr algn="ctr">
              <a:defRPr sz="1800" b="1">
                <a:solidFill>
                  <a:srgbClr val="239BC2"/>
                </a:solidFill>
                <a:latin typeface="DejaVu Sans"/>
                <a:ea typeface="DejaVu Sans"/>
                <a:cs typeface="DejaVu Sans"/>
              </a:defRPr>
            </a:pPr>
            <a:r>
              <a:rPr sz="1800" b="1">
                <a:solidFill>
                  <a:srgbClr val="239BC2"/>
                </a:solidFill>
                <a:latin typeface="Arial" panose="020B0604020202020204" pitchFamily="34" charset="0"/>
                <a:ea typeface="DejaVu Sans"/>
                <a:cs typeface="Arial" panose="020B0604020202020204" pitchFamily="34" charset="0"/>
              </a:rPr>
              <a:t>Evaporator</a:t>
            </a:r>
          </a:p>
        </p:txBody>
      </p:sp>
      <p:sp>
        <p:nvSpPr>
          <p:cNvPr id="532" name="Rectangle 531">
            <a:extLst>
              <a:ext uri="{FF2B5EF4-FFF2-40B4-BE49-F238E27FC236}">
                <a16:creationId xmlns:a16="http://schemas.microsoft.com/office/drawing/2014/main" id="{7382F440-F5EF-35EE-DE55-A8DC3A88C3A9}"/>
              </a:ext>
            </a:extLst>
          </p:cNvPr>
          <p:cNvSpPr>
            <a:spLocks noGrp="1"/>
          </p:cNvSpPr>
          <p:nvPr/>
        </p:nvSpPr>
        <p:spPr>
          <a:xfrm>
            <a:off x="3575685" y="3233420"/>
            <a:ext cx="2247900" cy="381000"/>
          </a:xfrm>
          <a:prstGeom prst="rect">
            <a:avLst/>
          </a:prstGeom>
          <a:noFill/>
          <a:ln w="0">
            <a:noFill/>
          </a:ln>
        </p:spPr>
        <p:txBody>
          <a:bodyPr lIns="0" tIns="0" rIns="0" bIns="0" anchor="ctr">
            <a:noAutofit/>
          </a:bodyPr>
          <a:lstStyle/>
          <a:p>
            <a:pPr algn="ctr">
              <a:defRPr sz="1800" b="1">
                <a:solidFill>
                  <a:srgbClr val="D78032"/>
                </a:solidFill>
                <a:latin typeface="DejaVu Sans"/>
                <a:ea typeface="DejaVu Sans"/>
                <a:cs typeface="DejaVu Sans"/>
              </a:defRPr>
            </a:pPr>
            <a:r>
              <a:rPr sz="1800" b="1">
                <a:solidFill>
                  <a:srgbClr val="D78032"/>
                </a:solidFill>
                <a:latin typeface="Arial" panose="020B0604020202020204" pitchFamily="34" charset="0"/>
                <a:ea typeface="DejaVu Sans"/>
                <a:cs typeface="Arial" panose="020B0604020202020204" pitchFamily="34" charset="0"/>
              </a:rPr>
              <a:t>Condenser</a:t>
            </a:r>
          </a:p>
        </p:txBody>
      </p:sp>
      <p:sp>
        <p:nvSpPr>
          <p:cNvPr id="533" name="Oval 532">
            <a:extLst>
              <a:ext uri="{FF2B5EF4-FFF2-40B4-BE49-F238E27FC236}">
                <a16:creationId xmlns:a16="http://schemas.microsoft.com/office/drawing/2014/main" id="{9D599574-C591-4D0A-4BE8-82C7121F4275}"/>
              </a:ext>
            </a:extLst>
          </p:cNvPr>
          <p:cNvSpPr>
            <a:spLocks noGrp="1"/>
          </p:cNvSpPr>
          <p:nvPr/>
        </p:nvSpPr>
        <p:spPr>
          <a:xfrm>
            <a:off x="4694873" y="1409383"/>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534" name="Oval 533">
            <a:extLst>
              <a:ext uri="{FF2B5EF4-FFF2-40B4-BE49-F238E27FC236}">
                <a16:creationId xmlns:a16="http://schemas.microsoft.com/office/drawing/2014/main" id="{8BE46156-7605-F8E1-45D2-E76CE0B9A48B}"/>
              </a:ext>
            </a:extLst>
          </p:cNvPr>
          <p:cNvSpPr>
            <a:spLocks noGrp="1"/>
          </p:cNvSpPr>
          <p:nvPr/>
        </p:nvSpPr>
        <p:spPr>
          <a:xfrm>
            <a:off x="4694873" y="1999933"/>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cxnSp>
        <p:nvCxnSpPr>
          <p:cNvPr id="535" name="Straight Arrow Connector 534">
            <a:extLst>
              <a:ext uri="{FF2B5EF4-FFF2-40B4-BE49-F238E27FC236}">
                <a16:creationId xmlns:a16="http://schemas.microsoft.com/office/drawing/2014/main" id="{63878CD1-28A8-4384-C50E-FD027C70A662}"/>
              </a:ext>
            </a:extLst>
          </p:cNvPr>
          <p:cNvCxnSpPr>
            <a:stCxn id="533" idx="4"/>
            <a:endCxn id="534" idx="0"/>
          </p:cNvCxnSpPr>
          <p:nvPr/>
        </p:nvCxnSpPr>
        <p:spPr>
          <a:xfrm>
            <a:off x="4699636" y="1418908"/>
            <a:ext cx="0" cy="581025"/>
          </a:xfrm>
          <a:prstGeom prst="straightConnector1">
            <a:avLst/>
          </a:prstGeom>
          <a:ln w="28575">
            <a:solidFill>
              <a:srgbClr val="D78032"/>
            </a:solidFill>
            <a:tailEnd type="triangle" w="med" len="med"/>
          </a:ln>
        </p:spPr>
      </p:cxnSp>
      <p:sp>
        <p:nvSpPr>
          <p:cNvPr id="536" name="Rectangle 535">
            <a:extLst>
              <a:ext uri="{FF2B5EF4-FFF2-40B4-BE49-F238E27FC236}">
                <a16:creationId xmlns:a16="http://schemas.microsoft.com/office/drawing/2014/main" id="{0A8601E5-A8D6-5F7C-C129-1F5F214CD31D}"/>
              </a:ext>
            </a:extLst>
          </p:cNvPr>
          <p:cNvSpPr>
            <a:spLocks noGrp="1"/>
          </p:cNvSpPr>
          <p:nvPr/>
        </p:nvSpPr>
        <p:spPr>
          <a:xfrm>
            <a:off x="4861560" y="1442720"/>
            <a:ext cx="1476375" cy="333375"/>
          </a:xfrm>
          <a:prstGeom prst="rect">
            <a:avLst/>
          </a:prstGeom>
          <a:noFill/>
          <a:ln w="0">
            <a:noFill/>
          </a:ln>
        </p:spPr>
        <p:txBody>
          <a:bodyPr lIns="0" tIns="0" rIns="0" bIns="0" anchor="ctr">
            <a:noAutofit/>
          </a:bodyPr>
          <a:lstStyle/>
          <a:p>
            <a:pPr algn="l">
              <a:defRPr sz="1725" b="1">
                <a:solidFill>
                  <a:srgbClr val="D78032"/>
                </a:solidFill>
                <a:latin typeface="DejaVu Sans"/>
                <a:ea typeface="DejaVu Sans"/>
                <a:cs typeface="DejaVu Sans"/>
              </a:defRPr>
            </a:pPr>
            <a:r>
              <a:rPr sz="1725" b="1">
                <a:solidFill>
                  <a:srgbClr val="D78032"/>
                </a:solidFill>
                <a:latin typeface="Arial" panose="020B0604020202020204" pitchFamily="34" charset="0"/>
                <a:ea typeface="DejaVu Sans"/>
                <a:cs typeface="Arial" panose="020B0604020202020204" pitchFamily="34" charset="0"/>
              </a:rPr>
              <a:t>P_comp</a:t>
            </a:r>
          </a:p>
        </p:txBody>
      </p:sp>
      <p:sp>
        <p:nvSpPr>
          <p:cNvPr id="537" name="Oval 536">
            <a:extLst>
              <a:ext uri="{FF2B5EF4-FFF2-40B4-BE49-F238E27FC236}">
                <a16:creationId xmlns:a16="http://schemas.microsoft.com/office/drawing/2014/main" id="{1E3E5C3C-7E80-348F-0F16-B534D76882CC}"/>
              </a:ext>
            </a:extLst>
          </p:cNvPr>
          <p:cNvSpPr>
            <a:spLocks noGrp="1"/>
          </p:cNvSpPr>
          <p:nvPr/>
        </p:nvSpPr>
        <p:spPr>
          <a:xfrm>
            <a:off x="1408748" y="242855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538" name="Oval 537">
            <a:extLst>
              <a:ext uri="{FF2B5EF4-FFF2-40B4-BE49-F238E27FC236}">
                <a16:creationId xmlns:a16="http://schemas.microsoft.com/office/drawing/2014/main" id="{8CC23F9A-58E4-4B71-74E6-DB5F117238A3}"/>
              </a:ext>
            </a:extLst>
          </p:cNvPr>
          <p:cNvSpPr>
            <a:spLocks noGrp="1"/>
          </p:cNvSpPr>
          <p:nvPr/>
        </p:nvSpPr>
        <p:spPr>
          <a:xfrm>
            <a:off x="3408998" y="242855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cxnSp>
        <p:nvCxnSpPr>
          <p:cNvPr id="539" name="Straight Arrow Connector 538">
            <a:extLst>
              <a:ext uri="{FF2B5EF4-FFF2-40B4-BE49-F238E27FC236}">
                <a16:creationId xmlns:a16="http://schemas.microsoft.com/office/drawing/2014/main" id="{82F1A030-666B-91D6-34F0-F58A48167ECF}"/>
              </a:ext>
            </a:extLst>
          </p:cNvPr>
          <p:cNvCxnSpPr>
            <a:stCxn id="537" idx="6"/>
            <a:endCxn id="538" idx="2"/>
          </p:cNvCxnSpPr>
          <p:nvPr/>
        </p:nvCxnSpPr>
        <p:spPr>
          <a:xfrm>
            <a:off x="1418273" y="2433321"/>
            <a:ext cx="1990725" cy="0"/>
          </a:xfrm>
          <a:prstGeom prst="straightConnector1">
            <a:avLst/>
          </a:prstGeom>
          <a:ln w="38100">
            <a:solidFill>
              <a:srgbClr val="239BC2"/>
            </a:solidFill>
            <a:tailEnd type="triangle" w="med" len="med"/>
          </a:ln>
        </p:spPr>
      </p:cxnSp>
      <p:sp>
        <p:nvSpPr>
          <p:cNvPr id="540" name="Oval 539">
            <a:extLst>
              <a:ext uri="{FF2B5EF4-FFF2-40B4-BE49-F238E27FC236}">
                <a16:creationId xmlns:a16="http://schemas.microsoft.com/office/drawing/2014/main" id="{20981051-F7E8-E926-EF9A-9858D1F9022E}"/>
              </a:ext>
            </a:extLst>
          </p:cNvPr>
          <p:cNvSpPr>
            <a:spLocks noGrp="1"/>
          </p:cNvSpPr>
          <p:nvPr/>
        </p:nvSpPr>
        <p:spPr>
          <a:xfrm>
            <a:off x="5980748" y="242855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541" name="Oval 540">
            <a:extLst>
              <a:ext uri="{FF2B5EF4-FFF2-40B4-BE49-F238E27FC236}">
                <a16:creationId xmlns:a16="http://schemas.microsoft.com/office/drawing/2014/main" id="{1395D9DE-FF97-FFF6-2F25-A083D4812872}"/>
              </a:ext>
            </a:extLst>
          </p:cNvPr>
          <p:cNvSpPr>
            <a:spLocks noGrp="1"/>
          </p:cNvSpPr>
          <p:nvPr/>
        </p:nvSpPr>
        <p:spPr>
          <a:xfrm>
            <a:off x="8047673" y="242855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cxnSp>
        <p:nvCxnSpPr>
          <p:cNvPr id="542" name="Straight Arrow Connector 541">
            <a:extLst>
              <a:ext uri="{FF2B5EF4-FFF2-40B4-BE49-F238E27FC236}">
                <a16:creationId xmlns:a16="http://schemas.microsoft.com/office/drawing/2014/main" id="{B9B9CE99-AC95-4A15-E3BC-CD5DB6DED4FB}"/>
              </a:ext>
            </a:extLst>
          </p:cNvPr>
          <p:cNvCxnSpPr>
            <a:stCxn id="540" idx="6"/>
            <a:endCxn id="541" idx="2"/>
          </p:cNvCxnSpPr>
          <p:nvPr/>
        </p:nvCxnSpPr>
        <p:spPr>
          <a:xfrm>
            <a:off x="5990273" y="2433321"/>
            <a:ext cx="2057400" cy="0"/>
          </a:xfrm>
          <a:prstGeom prst="straightConnector1">
            <a:avLst/>
          </a:prstGeom>
          <a:ln w="38100">
            <a:solidFill>
              <a:srgbClr val="239BC2"/>
            </a:solidFill>
            <a:tailEnd type="triangle" w="med" len="med"/>
          </a:ln>
        </p:spPr>
      </p:cxnSp>
      <p:sp>
        <p:nvSpPr>
          <p:cNvPr id="543" name="Rectangle 542">
            <a:extLst>
              <a:ext uri="{FF2B5EF4-FFF2-40B4-BE49-F238E27FC236}">
                <a16:creationId xmlns:a16="http://schemas.microsoft.com/office/drawing/2014/main" id="{29EA77EA-338E-D4B9-6B25-1975A1AE7B7A}"/>
              </a:ext>
            </a:extLst>
          </p:cNvPr>
          <p:cNvSpPr>
            <a:spLocks noGrp="1"/>
          </p:cNvSpPr>
          <p:nvPr/>
        </p:nvSpPr>
        <p:spPr>
          <a:xfrm>
            <a:off x="1146810" y="1766570"/>
            <a:ext cx="2028825" cy="600075"/>
          </a:xfrm>
          <a:prstGeom prst="rect">
            <a:avLst/>
          </a:prstGeom>
          <a:noFill/>
          <a:ln w="0">
            <a:noFill/>
          </a:ln>
        </p:spPr>
        <p:txBody>
          <a:bodyPr lIns="0" tIns="0" rIns="0" bIns="0" anchor="ctr">
            <a:noAutofit/>
          </a:bodyPr>
          <a:lstStyle/>
          <a:p>
            <a:pPr algn="l">
              <a:defRPr sz="1725" b="0">
                <a:solidFill>
                  <a:srgbClr val="173E50"/>
                </a:solidFill>
                <a:latin typeface="DejaVu Sans"/>
                <a:ea typeface="DejaVu Sans"/>
                <a:cs typeface="DejaVu Sans"/>
              </a:defRPr>
            </a:pPr>
            <a:r>
              <a:rPr sz="1725" b="0">
                <a:solidFill>
                  <a:srgbClr val="173E50"/>
                </a:solidFill>
                <a:latin typeface="Arial" panose="020B0604020202020204" pitchFamily="34" charset="0"/>
                <a:ea typeface="DejaVu Sans"/>
                <a:cs typeface="Arial" panose="020B0604020202020204" pitchFamily="34" charset="0"/>
              </a:rPr>
              <a:t>Brine inlet</a:t>
            </a:r>
          </a:p>
          <a:p>
            <a:pPr algn="l">
              <a:defRPr sz="1725" b="0">
                <a:solidFill>
                  <a:srgbClr val="173E50"/>
                </a:solidFill>
                <a:latin typeface="DejaVu Sans"/>
                <a:ea typeface="DejaVu Sans"/>
                <a:cs typeface="DejaVu Sans"/>
              </a:defRPr>
            </a:pPr>
            <a:r>
              <a:rPr sz="1725" b="0">
                <a:solidFill>
                  <a:srgbClr val="173E50"/>
                </a:solidFill>
                <a:latin typeface="Arial" panose="020B0604020202020204" pitchFamily="34" charset="0"/>
                <a:ea typeface="DejaVu Sans"/>
                <a:cs typeface="Arial" panose="020B0604020202020204" pitchFamily="34" charset="0"/>
              </a:rPr>
              <a:t>T_in, ṁ, cₚ</a:t>
            </a:r>
          </a:p>
        </p:txBody>
      </p:sp>
      <p:sp>
        <p:nvSpPr>
          <p:cNvPr id="544" name="Rectangle 543">
            <a:extLst>
              <a:ext uri="{FF2B5EF4-FFF2-40B4-BE49-F238E27FC236}">
                <a16:creationId xmlns:a16="http://schemas.microsoft.com/office/drawing/2014/main" id="{CF7E062C-34A6-2EEB-8D89-C98723B35F88}"/>
              </a:ext>
            </a:extLst>
          </p:cNvPr>
          <p:cNvSpPr>
            <a:spLocks noGrp="1"/>
          </p:cNvSpPr>
          <p:nvPr/>
        </p:nvSpPr>
        <p:spPr>
          <a:xfrm>
            <a:off x="6271260" y="1766570"/>
            <a:ext cx="2009775" cy="600075"/>
          </a:xfrm>
          <a:prstGeom prst="rect">
            <a:avLst/>
          </a:prstGeom>
          <a:noFill/>
          <a:ln w="0">
            <a:noFill/>
          </a:ln>
        </p:spPr>
        <p:txBody>
          <a:bodyPr lIns="0" tIns="0" rIns="0" bIns="0" anchor="ctr">
            <a:noAutofit/>
          </a:bodyPr>
          <a:lstStyle/>
          <a:p>
            <a:pPr algn="l">
              <a:defRPr sz="1725" b="0">
                <a:solidFill>
                  <a:srgbClr val="173E50"/>
                </a:solidFill>
                <a:latin typeface="DejaVu Sans"/>
                <a:ea typeface="DejaVu Sans"/>
                <a:cs typeface="DejaVu Sans"/>
              </a:defRPr>
            </a:pPr>
            <a:r>
              <a:rPr sz="1725" b="0">
                <a:solidFill>
                  <a:srgbClr val="173E50"/>
                </a:solidFill>
                <a:latin typeface="Arial" panose="020B0604020202020204" pitchFamily="34" charset="0"/>
                <a:ea typeface="DejaVu Sans"/>
                <a:cs typeface="Arial" panose="020B0604020202020204" pitchFamily="34" charset="0"/>
              </a:rPr>
              <a:t>Brine outlet</a:t>
            </a:r>
          </a:p>
          <a:p>
            <a:pPr algn="l">
              <a:defRPr sz="1725" b="0">
                <a:solidFill>
                  <a:srgbClr val="173E50"/>
                </a:solidFill>
                <a:latin typeface="DejaVu Sans"/>
                <a:ea typeface="DejaVu Sans"/>
                <a:cs typeface="DejaVu Sans"/>
              </a:defRPr>
            </a:pPr>
            <a:r>
              <a:rPr sz="1725" b="0">
                <a:solidFill>
                  <a:srgbClr val="173E50"/>
                </a:solidFill>
                <a:latin typeface="Arial" panose="020B0604020202020204" pitchFamily="34" charset="0"/>
                <a:ea typeface="DejaVu Sans"/>
                <a:cs typeface="Arial" panose="020B0604020202020204" pitchFamily="34" charset="0"/>
              </a:rPr>
              <a:t>T_out</a:t>
            </a:r>
          </a:p>
        </p:txBody>
      </p:sp>
      <p:sp>
        <p:nvSpPr>
          <p:cNvPr id="545" name="Oval 544">
            <a:extLst>
              <a:ext uri="{FF2B5EF4-FFF2-40B4-BE49-F238E27FC236}">
                <a16:creationId xmlns:a16="http://schemas.microsoft.com/office/drawing/2014/main" id="{B12CF40E-6F1E-2C33-E94D-DAC088AFD742}"/>
              </a:ext>
            </a:extLst>
          </p:cNvPr>
          <p:cNvSpPr>
            <a:spLocks noGrp="1"/>
          </p:cNvSpPr>
          <p:nvPr/>
        </p:nvSpPr>
        <p:spPr>
          <a:xfrm>
            <a:off x="1389698" y="338105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546" name="Oval 545">
            <a:extLst>
              <a:ext uri="{FF2B5EF4-FFF2-40B4-BE49-F238E27FC236}">
                <a16:creationId xmlns:a16="http://schemas.microsoft.com/office/drawing/2014/main" id="{6C6CB2D8-9A13-B3F4-636D-656906ED08D6}"/>
              </a:ext>
            </a:extLst>
          </p:cNvPr>
          <p:cNvSpPr>
            <a:spLocks noGrp="1"/>
          </p:cNvSpPr>
          <p:nvPr/>
        </p:nvSpPr>
        <p:spPr>
          <a:xfrm>
            <a:off x="3408998" y="338105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cxnSp>
        <p:nvCxnSpPr>
          <p:cNvPr id="547" name="Straight Arrow Connector 546">
            <a:extLst>
              <a:ext uri="{FF2B5EF4-FFF2-40B4-BE49-F238E27FC236}">
                <a16:creationId xmlns:a16="http://schemas.microsoft.com/office/drawing/2014/main" id="{60626450-FBD4-DEC1-FE35-8793BC85F58E}"/>
              </a:ext>
            </a:extLst>
          </p:cNvPr>
          <p:cNvCxnSpPr>
            <a:stCxn id="545" idx="6"/>
            <a:endCxn id="546" idx="2"/>
          </p:cNvCxnSpPr>
          <p:nvPr/>
        </p:nvCxnSpPr>
        <p:spPr>
          <a:xfrm>
            <a:off x="1399223" y="3385821"/>
            <a:ext cx="2009775" cy="0"/>
          </a:xfrm>
          <a:prstGeom prst="straightConnector1">
            <a:avLst/>
          </a:prstGeom>
          <a:ln w="28575">
            <a:solidFill>
              <a:srgbClr val="D78032"/>
            </a:solidFill>
            <a:tailEnd type="triangle" w="med" len="med"/>
          </a:ln>
        </p:spPr>
      </p:cxnSp>
      <p:sp>
        <p:nvSpPr>
          <p:cNvPr id="548" name="Oval 547">
            <a:extLst>
              <a:ext uri="{FF2B5EF4-FFF2-40B4-BE49-F238E27FC236}">
                <a16:creationId xmlns:a16="http://schemas.microsoft.com/office/drawing/2014/main" id="{73CD0A0C-C8AA-B5EF-BA03-08BA4BC2D66C}"/>
              </a:ext>
            </a:extLst>
          </p:cNvPr>
          <p:cNvSpPr>
            <a:spLocks noGrp="1"/>
          </p:cNvSpPr>
          <p:nvPr/>
        </p:nvSpPr>
        <p:spPr>
          <a:xfrm>
            <a:off x="5980748" y="338105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549" name="Oval 548">
            <a:extLst>
              <a:ext uri="{FF2B5EF4-FFF2-40B4-BE49-F238E27FC236}">
                <a16:creationId xmlns:a16="http://schemas.microsoft.com/office/drawing/2014/main" id="{2363EA8A-099C-A922-73FC-CCA70EE966C2}"/>
              </a:ext>
            </a:extLst>
          </p:cNvPr>
          <p:cNvSpPr>
            <a:spLocks noGrp="1"/>
          </p:cNvSpPr>
          <p:nvPr/>
        </p:nvSpPr>
        <p:spPr>
          <a:xfrm>
            <a:off x="8047673" y="338105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cxnSp>
        <p:nvCxnSpPr>
          <p:cNvPr id="550" name="Straight Arrow Connector 549">
            <a:extLst>
              <a:ext uri="{FF2B5EF4-FFF2-40B4-BE49-F238E27FC236}">
                <a16:creationId xmlns:a16="http://schemas.microsoft.com/office/drawing/2014/main" id="{C60B58D3-DF84-2B90-8D66-F5322F29D0F0}"/>
              </a:ext>
            </a:extLst>
          </p:cNvPr>
          <p:cNvCxnSpPr>
            <a:stCxn id="548" idx="6"/>
            <a:endCxn id="549" idx="2"/>
          </p:cNvCxnSpPr>
          <p:nvPr/>
        </p:nvCxnSpPr>
        <p:spPr>
          <a:xfrm>
            <a:off x="5990273" y="3385821"/>
            <a:ext cx="2057400" cy="0"/>
          </a:xfrm>
          <a:prstGeom prst="straightConnector1">
            <a:avLst/>
          </a:prstGeom>
          <a:ln w="28575">
            <a:solidFill>
              <a:srgbClr val="D78032"/>
            </a:solidFill>
            <a:tailEnd type="triangle" w="med" len="med"/>
          </a:ln>
        </p:spPr>
      </p:cxnSp>
      <p:sp>
        <p:nvSpPr>
          <p:cNvPr id="551" name="Rectangle 550">
            <a:extLst>
              <a:ext uri="{FF2B5EF4-FFF2-40B4-BE49-F238E27FC236}">
                <a16:creationId xmlns:a16="http://schemas.microsoft.com/office/drawing/2014/main" id="{8010F438-D182-80EE-0969-EE576EC71FC7}"/>
              </a:ext>
            </a:extLst>
          </p:cNvPr>
          <p:cNvSpPr>
            <a:spLocks noGrp="1"/>
          </p:cNvSpPr>
          <p:nvPr/>
        </p:nvSpPr>
        <p:spPr>
          <a:xfrm>
            <a:off x="1127760" y="3519170"/>
            <a:ext cx="2085975" cy="628650"/>
          </a:xfrm>
          <a:prstGeom prst="rect">
            <a:avLst/>
          </a:prstGeom>
          <a:noFill/>
          <a:ln w="0">
            <a:noFill/>
          </a:ln>
        </p:spPr>
        <p:txBody>
          <a:bodyPr lIns="0" tIns="0" rIns="0" bIns="0" anchor="ctr">
            <a:noAutofit/>
          </a:bodyPr>
          <a:lstStyle/>
          <a:p>
            <a:pPr algn="l">
              <a:defRPr sz="1575" b="0">
                <a:solidFill>
                  <a:srgbClr val="173E50"/>
                </a:solidFill>
                <a:latin typeface="DejaVu Sans"/>
                <a:ea typeface="DejaVu Sans"/>
                <a:cs typeface="DejaVu Sans"/>
              </a:defRPr>
            </a:pPr>
            <a:r>
              <a:rPr sz="1575" b="0">
                <a:solidFill>
                  <a:srgbClr val="173E50"/>
                </a:solidFill>
                <a:latin typeface="Arial" panose="020B0604020202020204" pitchFamily="34" charset="0"/>
                <a:ea typeface="DejaVu Sans"/>
                <a:cs typeface="Arial" panose="020B0604020202020204" pitchFamily="34" charset="0"/>
              </a:rPr>
              <a:t>Heat-rejection</a:t>
            </a:r>
          </a:p>
          <a:p>
            <a:pPr algn="l">
              <a:defRPr sz="1575" b="0">
                <a:solidFill>
                  <a:srgbClr val="173E50"/>
                </a:solidFill>
                <a:latin typeface="DejaVu Sans"/>
                <a:ea typeface="DejaVu Sans"/>
                <a:cs typeface="DejaVu Sans"/>
              </a:defRPr>
            </a:pPr>
            <a:r>
              <a:rPr sz="1575" b="0">
                <a:solidFill>
                  <a:srgbClr val="173E50"/>
                </a:solidFill>
                <a:latin typeface="Arial" panose="020B0604020202020204" pitchFamily="34" charset="0"/>
                <a:ea typeface="DejaVu Sans"/>
                <a:cs typeface="Arial" panose="020B0604020202020204" pitchFamily="34" charset="0"/>
              </a:rPr>
              <a:t>fluid inlet</a:t>
            </a:r>
          </a:p>
        </p:txBody>
      </p:sp>
      <p:sp>
        <p:nvSpPr>
          <p:cNvPr id="552" name="Rectangle 551">
            <a:extLst>
              <a:ext uri="{FF2B5EF4-FFF2-40B4-BE49-F238E27FC236}">
                <a16:creationId xmlns:a16="http://schemas.microsoft.com/office/drawing/2014/main" id="{1F3D8280-8863-8652-ED38-33287F5BAEB5}"/>
              </a:ext>
            </a:extLst>
          </p:cNvPr>
          <p:cNvSpPr>
            <a:spLocks noGrp="1"/>
          </p:cNvSpPr>
          <p:nvPr/>
        </p:nvSpPr>
        <p:spPr>
          <a:xfrm>
            <a:off x="6271260" y="3519170"/>
            <a:ext cx="2028825" cy="628650"/>
          </a:xfrm>
          <a:prstGeom prst="rect">
            <a:avLst/>
          </a:prstGeom>
          <a:noFill/>
          <a:ln w="0">
            <a:noFill/>
          </a:ln>
        </p:spPr>
        <p:txBody>
          <a:bodyPr lIns="0" tIns="0" rIns="0" bIns="0" anchor="ctr">
            <a:noAutofit/>
          </a:bodyPr>
          <a:lstStyle/>
          <a:p>
            <a:pPr algn="l">
              <a:defRPr sz="1575" b="0">
                <a:solidFill>
                  <a:srgbClr val="173E50"/>
                </a:solidFill>
                <a:latin typeface="DejaVu Sans"/>
                <a:ea typeface="DejaVu Sans"/>
                <a:cs typeface="DejaVu Sans"/>
              </a:defRPr>
            </a:pPr>
            <a:r>
              <a:rPr sz="1575" b="0">
                <a:solidFill>
                  <a:srgbClr val="173E50"/>
                </a:solidFill>
                <a:latin typeface="Arial" panose="020B0604020202020204" pitchFamily="34" charset="0"/>
                <a:ea typeface="DejaVu Sans"/>
                <a:cs typeface="Arial" panose="020B0604020202020204" pitchFamily="34" charset="0"/>
              </a:rPr>
              <a:t>Heat-rejection</a:t>
            </a:r>
          </a:p>
          <a:p>
            <a:pPr algn="l">
              <a:defRPr sz="1575" b="0">
                <a:solidFill>
                  <a:srgbClr val="173E50"/>
                </a:solidFill>
                <a:latin typeface="DejaVu Sans"/>
                <a:ea typeface="DejaVu Sans"/>
                <a:cs typeface="DejaVu Sans"/>
              </a:defRPr>
            </a:pPr>
            <a:r>
              <a:rPr sz="1575" b="0">
                <a:solidFill>
                  <a:srgbClr val="173E50"/>
                </a:solidFill>
                <a:latin typeface="Arial" panose="020B0604020202020204" pitchFamily="34" charset="0"/>
                <a:ea typeface="DejaVu Sans"/>
                <a:cs typeface="Arial" panose="020B0604020202020204" pitchFamily="34" charset="0"/>
              </a:rPr>
              <a:t>fluid outlet</a:t>
            </a:r>
          </a:p>
        </p:txBody>
      </p:sp>
      <mc:AlternateContent xmlns:mc="http://schemas.openxmlformats.org/markup-compatibility/2006" xmlns:a14="http://schemas.microsoft.com/office/drawing/2010/main">
        <mc:Choice Requires="a14">
          <p:sp>
            <p:nvSpPr>
              <p:cNvPr id="553" name="Editable equation 1">
                <a:extLst>
                  <a:ext uri="{FF2B5EF4-FFF2-40B4-BE49-F238E27FC236}">
                    <a16:creationId xmlns:a16="http://schemas.microsoft.com/office/drawing/2014/main" id="{5270CB56-E9B6-DAE6-38D2-DE22FFE07B7E}"/>
                  </a:ext>
                </a:extLst>
              </p:cNvPr>
              <p:cNvSpPr txBox="1"/>
              <p:nvPr/>
            </p:nvSpPr>
            <p:spPr>
              <a:xfrm>
                <a:off x="984885" y="4544695"/>
                <a:ext cx="10953750" cy="730250"/>
              </a:xfrm>
              <a:prstGeom prst="rect">
                <a:avLst/>
              </a:prstGeom>
              <a:noFill/>
              <a:ln>
                <a:noFill/>
              </a:ln>
            </p:spPr>
            <p:txBody>
              <a:bodyPr lIns="0" tIns="0" rIns="0" bIns="0" anchor="ctr"/>
              <a:lstStyle/>
              <a:p>
                <a:pPr algn="ctr">
                  <a:defRPr sz="2600"/>
                </a:pPr>
                <a14:m>
                  <m:oMathPara xmlns:m="http://schemas.openxmlformats.org/officeDocument/2006/math">
                    <m:oMath>
                      <m:sSub>
                        <m:sSubPr>
                          <m:ctrlPr>
                            <a:rPr lang="fa-IR" sz="2600">
                              <a:solidFill>
                                <a:srgbClr val="173E50"/>
                              </a:solidFill>
                              <a:latin typeface="Cambria Math"/>
                            </a:rPr>
                          </m:ctrlPr>
                        </m:sSubPr>
                        <m:e>
                          <m:r>
                            <a:rPr lang="fa-IR" sz="2600">
                              <a:solidFill>
                                <a:srgbClr val="173E50"/>
                              </a:solidFill>
                              <a:latin typeface="Cambria Math"/>
                            </a:rPr>
                            <m:t>𝑄</m:t>
                          </m:r>
                          <m:r>
                            <a:rPr lang="fa-IR" sz="2600">
                              <a:solidFill>
                                <a:srgbClr val="173E50"/>
                              </a:solidFill>
                              <a:latin typeface="Cambria Math"/>
                            </a:rPr>
                            <m:t>̇</m:t>
                          </m:r>
                        </m:e>
                        <m:sub>
                          <m:r>
                            <m:rPr>
                              <m:sty m:val="p"/>
                            </m:rPr>
                            <a:rPr lang="en-US" sz="2600">
                              <a:solidFill>
                                <a:srgbClr val="173E50"/>
                              </a:solidFill>
                              <a:latin typeface="Cambria Math"/>
                            </a:rPr>
                            <m:t>cool</m:t>
                          </m:r>
                        </m:sub>
                      </m:sSub>
                      <m:r>
                        <a:rPr lang="fa-IR" sz="2600">
                          <a:solidFill>
                            <a:srgbClr val="173E50"/>
                          </a:solidFill>
                          <a:latin typeface="Cambria Math"/>
                        </a:rPr>
                        <m:t>=</m:t>
                      </m:r>
                      <m:r>
                        <m:rPr>
                          <m:sty m:val="p"/>
                        </m:rPr>
                        <a:rPr lang="en-US" sz="2600">
                          <a:solidFill>
                            <a:srgbClr val="173E50"/>
                          </a:solidFill>
                          <a:latin typeface="Cambria Math"/>
                        </a:rPr>
                        <m:t>COP</m:t>
                      </m:r>
                      <m:r>
                        <a:rPr lang="en-US" sz="2600" b="0" i="0" smtClean="0">
                          <a:solidFill>
                            <a:srgbClr val="173E50"/>
                          </a:solidFill>
                          <a:latin typeface="Cambria Math" panose="02040503050406030204" pitchFamily="18" charset="0"/>
                        </a:rPr>
                        <m:t>.</m:t>
                      </m:r>
                      <m:sSub>
                        <m:sSubPr>
                          <m:ctrlPr>
                            <a:rPr lang="fa-IR" sz="2600">
                              <a:solidFill>
                                <a:srgbClr val="173E50"/>
                              </a:solidFill>
                              <a:latin typeface="Cambria Math"/>
                            </a:rPr>
                          </m:ctrlPr>
                        </m:sSubPr>
                        <m:e>
                          <m:r>
                            <a:rPr lang="fa-IR" sz="2600">
                              <a:solidFill>
                                <a:srgbClr val="173E50"/>
                              </a:solidFill>
                              <a:latin typeface="Cambria Math"/>
                            </a:rPr>
                            <m:t>𝑃</m:t>
                          </m:r>
                        </m:e>
                        <m:sub>
                          <m:r>
                            <m:rPr>
                              <m:sty m:val="p"/>
                            </m:rPr>
                            <a:rPr lang="en-US" sz="2600">
                              <a:solidFill>
                                <a:srgbClr val="173E50"/>
                              </a:solidFill>
                              <a:latin typeface="Cambria Math"/>
                            </a:rPr>
                            <m:t>comp</m:t>
                          </m:r>
                        </m:sub>
                      </m:sSub>
                    </m:oMath>
                  </m:oMathPara>
                </a14:m>
                <a:endParaRPr lang="en-US" sz="2600" dirty="0">
                  <a:latin typeface="Arial" panose="020B0604020202020204" pitchFamily="34" charset="0"/>
                  <a:cs typeface="Arial" panose="020B0604020202020204" pitchFamily="34" charset="0"/>
                </a:endParaRPr>
              </a:p>
            </p:txBody>
          </p:sp>
        </mc:Choice>
        <mc:Fallback xmlns="">
          <p:sp>
            <p:nvSpPr>
              <p:cNvPr id="553" name="Editable equation 1">
                <a:extLst>
                  <a:ext uri="{FF2B5EF4-FFF2-40B4-BE49-F238E27FC236}">
                    <a16:creationId xmlns:a16="http://schemas.microsoft.com/office/drawing/2014/main" id="{5270CB56-E9B6-DAE6-38D2-DE22FFE07B7E}"/>
                  </a:ext>
                </a:extLst>
              </p:cNvPr>
              <p:cNvSpPr txBox="1">
                <a:spLocks noRot="1" noChangeAspect="1" noMove="1" noResize="1" noEditPoints="1" noAdjustHandles="1" noChangeArrowheads="1" noChangeShapeType="1" noTextEdit="1"/>
              </p:cNvSpPr>
              <p:nvPr/>
            </p:nvSpPr>
            <p:spPr>
              <a:xfrm>
                <a:off x="984885" y="4544695"/>
                <a:ext cx="10953750" cy="730250"/>
              </a:xfrm>
              <a:prstGeom prst="rect">
                <a:avLst/>
              </a:prstGeom>
              <a:blipFill>
                <a:blip r:embed="rId5"/>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4" name="Editable equation 1">
                <a:extLst>
                  <a:ext uri="{FF2B5EF4-FFF2-40B4-BE49-F238E27FC236}">
                    <a16:creationId xmlns:a16="http://schemas.microsoft.com/office/drawing/2014/main" id="{1F888B5D-4307-D84E-5292-4BC05E289E0B}"/>
                  </a:ext>
                </a:extLst>
              </p:cNvPr>
              <p:cNvSpPr txBox="1"/>
              <p:nvPr/>
            </p:nvSpPr>
            <p:spPr>
              <a:xfrm>
                <a:off x="984885" y="5344795"/>
                <a:ext cx="10953750" cy="730250"/>
              </a:xfrm>
              <a:prstGeom prst="rect">
                <a:avLst/>
              </a:prstGeom>
              <a:noFill/>
              <a:ln>
                <a:noFill/>
              </a:ln>
            </p:spPr>
            <p:txBody>
              <a:bodyPr lIns="0" tIns="0" rIns="0" bIns="0" anchor="ctr"/>
              <a:lstStyle/>
              <a:p>
                <a:pPr algn="ctr">
                  <a:defRPr sz="2600"/>
                </a:pPr>
                <a14:m>
                  <m:oMathPara xmlns:m="http://schemas.openxmlformats.org/officeDocument/2006/math">
                    <m:oMath>
                      <m:sSub>
                        <m:sSubPr>
                          <m:ctrlPr>
                            <a:rPr sz="2600">
                              <a:solidFill>
                                <a:srgbClr val="173E50"/>
                              </a:solidFill>
                              <a:latin typeface="Cambria Math"/>
                            </a:rPr>
                          </m:ctrlPr>
                        </m:sSubPr>
                        <m:e>
                          <m:r>
                            <a:rPr sz="2600">
                              <a:solidFill>
                                <a:srgbClr val="173E50"/>
                              </a:solidFill>
                              <a:latin typeface="Cambria Math"/>
                            </a:rPr>
                            <m:t>𝑄</m:t>
                          </m:r>
                          <m:r>
                            <a:rPr sz="2600">
                              <a:solidFill>
                                <a:srgbClr val="173E50"/>
                              </a:solidFill>
                              <a:latin typeface="Cambria Math"/>
                            </a:rPr>
                            <m:t>̇</m:t>
                          </m:r>
                        </m:e>
                        <m:sub>
                          <m:r>
                            <m:rPr>
                              <m:sty m:val="p"/>
                            </m:rPr>
                            <a:rPr sz="2600">
                              <a:solidFill>
                                <a:srgbClr val="173E50"/>
                              </a:solidFill>
                              <a:latin typeface="Cambria Math"/>
                            </a:rPr>
                            <m:t>cool</m:t>
                          </m:r>
                        </m:sub>
                      </m:sSub>
                      <m:r>
                        <a:rPr sz="2600">
                          <a:solidFill>
                            <a:srgbClr val="173E50"/>
                          </a:solidFill>
                          <a:latin typeface="Cambria Math"/>
                        </a:rPr>
                        <m:t>≈</m:t>
                      </m:r>
                      <m:r>
                        <a:rPr sz="2600">
                          <a:solidFill>
                            <a:srgbClr val="173E50"/>
                          </a:solidFill>
                          <a:latin typeface="Cambria Math"/>
                        </a:rPr>
                        <m:t>𝑚</m:t>
                      </m:r>
                      <m:r>
                        <a:rPr sz="2600">
                          <a:solidFill>
                            <a:srgbClr val="173E50"/>
                          </a:solidFill>
                          <a:latin typeface="Cambria Math"/>
                        </a:rPr>
                        <m:t>̇</m:t>
                      </m:r>
                      <m:sSub>
                        <m:sSubPr>
                          <m:ctrlPr>
                            <a:rPr sz="2600">
                              <a:solidFill>
                                <a:srgbClr val="173E50"/>
                              </a:solidFill>
                              <a:latin typeface="Cambria Math"/>
                            </a:rPr>
                          </m:ctrlPr>
                        </m:sSubPr>
                        <m:e>
                          <m:r>
                            <a:rPr sz="2600">
                              <a:solidFill>
                                <a:srgbClr val="173E50"/>
                              </a:solidFill>
                              <a:latin typeface="Cambria Math"/>
                            </a:rPr>
                            <m:t>𝑐</m:t>
                          </m:r>
                        </m:e>
                        <m:sub>
                          <m:r>
                            <m:rPr>
                              <m:sty m:val="p"/>
                            </m:rPr>
                            <a:rPr sz="2600">
                              <a:solidFill>
                                <a:srgbClr val="173E50"/>
                              </a:solidFill>
                              <a:latin typeface="Cambria Math"/>
                            </a:rPr>
                            <m:t>p</m:t>
                          </m:r>
                        </m:sub>
                      </m:sSub>
                      <m:r>
                        <a:rPr sz="2600">
                          <a:solidFill>
                            <a:srgbClr val="173E50"/>
                          </a:solidFill>
                          <a:latin typeface="Cambria Math"/>
                        </a:rPr>
                        <m:t>(</m:t>
                      </m:r>
                      <m:sSub>
                        <m:sSubPr>
                          <m:ctrlPr>
                            <a:rPr sz="2600">
                              <a:solidFill>
                                <a:srgbClr val="173E50"/>
                              </a:solidFill>
                              <a:latin typeface="Cambria Math"/>
                            </a:rPr>
                          </m:ctrlPr>
                        </m:sSubPr>
                        <m:e>
                          <m:r>
                            <a:rPr sz="2600">
                              <a:solidFill>
                                <a:srgbClr val="173E50"/>
                              </a:solidFill>
                              <a:latin typeface="Cambria Math"/>
                            </a:rPr>
                            <m:t>𝑇</m:t>
                          </m:r>
                        </m:e>
                        <m:sub>
                          <m:r>
                            <m:rPr>
                              <m:sty m:val="p"/>
                            </m:rPr>
                            <a:rPr sz="2600">
                              <a:solidFill>
                                <a:srgbClr val="173E50"/>
                              </a:solidFill>
                              <a:latin typeface="Cambria Math"/>
                            </a:rPr>
                            <m:t>in</m:t>
                          </m:r>
                        </m:sub>
                      </m:sSub>
                      <m:r>
                        <a:rPr sz="2600">
                          <a:solidFill>
                            <a:srgbClr val="173E50"/>
                          </a:solidFill>
                          <a:latin typeface="Cambria Math"/>
                        </a:rPr>
                        <m:t>−</m:t>
                      </m:r>
                      <m:sSub>
                        <m:sSubPr>
                          <m:ctrlPr>
                            <a:rPr sz="2600">
                              <a:solidFill>
                                <a:srgbClr val="173E50"/>
                              </a:solidFill>
                              <a:latin typeface="Cambria Math"/>
                            </a:rPr>
                          </m:ctrlPr>
                        </m:sSubPr>
                        <m:e>
                          <m:r>
                            <a:rPr sz="2600">
                              <a:solidFill>
                                <a:srgbClr val="173E50"/>
                              </a:solidFill>
                              <a:latin typeface="Cambria Math"/>
                            </a:rPr>
                            <m:t>𝑇</m:t>
                          </m:r>
                        </m:e>
                        <m:sub>
                          <m:r>
                            <m:rPr>
                              <m:sty m:val="p"/>
                            </m:rPr>
                            <a:rPr sz="2600">
                              <a:solidFill>
                                <a:srgbClr val="173E50"/>
                              </a:solidFill>
                              <a:latin typeface="Cambria Math"/>
                            </a:rPr>
                            <m:t>out</m:t>
                          </m:r>
                        </m:sub>
                      </m:sSub>
                      <m:r>
                        <a:rPr sz="2600">
                          <a:solidFill>
                            <a:srgbClr val="173E50"/>
                          </a:solidFill>
                          <a:latin typeface="Cambria Math"/>
                        </a:rPr>
                        <m:t>)</m:t>
                      </m:r>
                    </m:oMath>
                  </m:oMathPara>
                </a14:m>
                <a:endParaRPr lang="en-US" sz="2600">
                  <a:latin typeface="Arial" panose="020B0604020202020204" pitchFamily="34" charset="0"/>
                  <a:cs typeface="Arial" panose="020B0604020202020204" pitchFamily="34" charset="0"/>
                </a:endParaRPr>
              </a:p>
            </p:txBody>
          </p:sp>
        </mc:Choice>
        <mc:Fallback xmlns="">
          <p:sp>
            <p:nvSpPr>
              <p:cNvPr id="554" name="Editable equation 1">
                <a:extLst>
                  <a:ext uri="{FF2B5EF4-FFF2-40B4-BE49-F238E27FC236}">
                    <a16:creationId xmlns:a16="http://schemas.microsoft.com/office/drawing/2014/main" id="{1F888B5D-4307-D84E-5292-4BC05E289E0B}"/>
                  </a:ext>
                </a:extLst>
              </p:cNvPr>
              <p:cNvSpPr txBox="1">
                <a:spLocks noRot="1" noChangeAspect="1" noMove="1" noResize="1" noEditPoints="1" noAdjustHandles="1" noChangeArrowheads="1" noChangeShapeType="1" noTextEdit="1"/>
              </p:cNvSpPr>
              <p:nvPr/>
            </p:nvSpPr>
            <p:spPr>
              <a:xfrm>
                <a:off x="984885" y="5344795"/>
                <a:ext cx="10953750" cy="730250"/>
              </a:xfrm>
              <a:prstGeom prst="rect">
                <a:avLst/>
              </a:prstGeom>
              <a:blipFill>
                <a:blip r:embed="rId6"/>
                <a:stretch>
                  <a:fillRect/>
                </a:stretch>
              </a:blipFill>
              <a:ln>
                <a:noFill/>
              </a:ln>
            </p:spPr>
            <p:txBody>
              <a:bodyPr/>
              <a:lstStyle/>
              <a:p>
                <a:r>
                  <a:rPr lang="en-US">
                    <a:noFill/>
                  </a:rPr>
                  <a:t> </a:t>
                </a:r>
              </a:p>
            </p:txBody>
          </p:sp>
        </mc:Fallback>
      </mc:AlternateContent>
      <p:sp>
        <p:nvSpPr>
          <p:cNvPr id="555" name="Rectangle 554">
            <a:extLst>
              <a:ext uri="{FF2B5EF4-FFF2-40B4-BE49-F238E27FC236}">
                <a16:creationId xmlns:a16="http://schemas.microsoft.com/office/drawing/2014/main" id="{D1B6346B-15F1-CCAB-7C71-5D1FCA834103}"/>
              </a:ext>
            </a:extLst>
          </p:cNvPr>
          <p:cNvSpPr>
            <a:spLocks noGrp="1"/>
          </p:cNvSpPr>
          <p:nvPr/>
        </p:nvSpPr>
        <p:spPr>
          <a:xfrm>
            <a:off x="931069" y="6108610"/>
            <a:ext cx="11049000" cy="285750"/>
          </a:xfrm>
          <a:prstGeom prst="rect">
            <a:avLst/>
          </a:prstGeom>
          <a:noFill/>
          <a:ln w="0">
            <a:noFill/>
          </a:ln>
        </p:spPr>
        <p:txBody>
          <a:bodyPr lIns="0" tIns="0" rIns="0" bIns="0" anchor="ctr">
            <a:noAutofit/>
          </a:bodyPr>
          <a:lstStyle/>
          <a:p>
            <a:pPr algn="l">
              <a:defRPr sz="1275" b="0">
                <a:solidFill>
                  <a:srgbClr val="516B79"/>
                </a:solidFill>
                <a:latin typeface="DejaVu Sans"/>
                <a:ea typeface="DejaVu Sans"/>
                <a:cs typeface="DejaVu Sans"/>
              </a:defRPr>
            </a:pPr>
            <a:r>
              <a:rPr sz="1275" b="0" dirty="0">
                <a:solidFill>
                  <a:srgbClr val="516B79"/>
                </a:solidFill>
                <a:latin typeface="Arial" panose="020B0604020202020204" pitchFamily="34" charset="0"/>
                <a:ea typeface="DejaVu Sans"/>
                <a:cs typeface="Arial" panose="020B0604020202020204" pitchFamily="34" charset="0"/>
              </a:rPr>
              <a:t>Cooling is positive here. The brine temperature balance assumes negligible fluid energy storage.</a:t>
            </a:r>
          </a:p>
        </p:txBody>
      </p:sp>
      <p:pic>
        <p:nvPicPr>
          <p:cNvPr id="557" name="Picture 556">
            <a:extLst>
              <a:ext uri="{FF2B5EF4-FFF2-40B4-BE49-F238E27FC236}">
                <a16:creationId xmlns:a16="http://schemas.microsoft.com/office/drawing/2014/main" id="{72B9E4CA-4555-56D6-A547-36489B8E0E47}"/>
              </a:ext>
            </a:extLst>
          </p:cNvPr>
          <p:cNvPicPr>
            <a:picLocks noChangeAspect="1"/>
          </p:cNvPicPr>
          <p:nvPr/>
        </p:nvPicPr>
        <p:blipFill>
          <a:blip r:embed="rId7"/>
          <a:stretch>
            <a:fillRect/>
          </a:stretch>
        </p:blipFill>
        <p:spPr>
          <a:xfrm>
            <a:off x="9120962" y="233469"/>
            <a:ext cx="1784210" cy="1563263"/>
          </a:xfrm>
          <a:prstGeom prst="rect">
            <a:avLst/>
          </a:prstGeom>
        </p:spPr>
      </p:pic>
    </p:spTree>
    <p:extLst>
      <p:ext uri="{BB962C8B-B14F-4D97-AF65-F5344CB8AC3E}">
        <p14:creationId xmlns:p14="http://schemas.microsoft.com/office/powerpoint/2010/main" val="3158937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94">
          <a:extLst>
            <a:ext uri="{FF2B5EF4-FFF2-40B4-BE49-F238E27FC236}">
              <a16:creationId xmlns:a16="http://schemas.microsoft.com/office/drawing/2014/main" id="{BA1EE3E6-4DC7-B1F0-D01B-2BF6CBF003CB}"/>
            </a:ext>
          </a:extLst>
        </p:cNvPr>
        <p:cNvGrpSpPr/>
        <p:nvPr/>
      </p:nvGrpSpPr>
      <p:grpSpPr>
        <a:xfrm>
          <a:off x="0" y="0"/>
          <a:ext cx="0" cy="0"/>
          <a:chOff x="0" y="0"/>
          <a:chExt cx="0" cy="0"/>
        </a:xfrm>
      </p:grpSpPr>
      <p:pic>
        <p:nvPicPr>
          <p:cNvPr id="495" name="Google Shape;495;p45" descr="Une image contenant ciel, plein air, nuage, agriculture&#10;&#10;Description générée automatiquement">
            <a:extLst>
              <a:ext uri="{FF2B5EF4-FFF2-40B4-BE49-F238E27FC236}">
                <a16:creationId xmlns:a16="http://schemas.microsoft.com/office/drawing/2014/main" id="{74B3A827-D522-42B9-3E73-04D767ED9039}"/>
              </a:ext>
            </a:extLst>
          </p:cNvPr>
          <p:cNvPicPr preferRelativeResize="0"/>
          <p:nvPr/>
        </p:nvPicPr>
        <p:blipFill rotWithShape="1">
          <a:blip r:embed="rId3">
            <a:alphaModFix/>
          </a:blip>
          <a:srcRect l="5973" t="9105" b="15903"/>
          <a:stretch/>
        </p:blipFill>
        <p:spPr>
          <a:xfrm>
            <a:off x="719138" y="0"/>
            <a:ext cx="11472863" cy="6858000"/>
          </a:xfrm>
          <a:prstGeom prst="rect">
            <a:avLst/>
          </a:prstGeom>
          <a:noFill/>
          <a:ln>
            <a:noFill/>
          </a:ln>
        </p:spPr>
      </p:pic>
      <p:sp>
        <p:nvSpPr>
          <p:cNvPr id="496" name="Google Shape;496;p45">
            <a:extLst>
              <a:ext uri="{FF2B5EF4-FFF2-40B4-BE49-F238E27FC236}">
                <a16:creationId xmlns:a16="http://schemas.microsoft.com/office/drawing/2014/main" id="{CDACABA3-8634-C390-1F8B-41BA3B5C1AB9}"/>
              </a:ext>
            </a:extLst>
          </p:cNvPr>
          <p:cNvSpPr/>
          <p:nvPr/>
        </p:nvSpPr>
        <p:spPr>
          <a:xfrm>
            <a:off x="664273" y="0"/>
            <a:ext cx="11527727" cy="6858000"/>
          </a:xfrm>
          <a:prstGeom prst="rect">
            <a:avLst/>
          </a:prstGeom>
          <a:solidFill>
            <a:schemeClr val="lt1">
              <a:alpha val="93725"/>
            </a:schemeClr>
          </a:solidFill>
          <a:ln>
            <a:noFill/>
          </a:ln>
          <a:effectLst>
            <a:outerShdw blurRad="876300" dist="393700" dir="5400000" algn="t" rotWithShape="0">
              <a:srgbClr val="000000">
                <a:alpha val="784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dirty="0">
              <a:solidFill>
                <a:srgbClr val="FF0000"/>
              </a:solidFill>
              <a:latin typeface="Calibri"/>
              <a:ea typeface="Calibri"/>
              <a:cs typeface="Calibri"/>
              <a:sym typeface="Calibri"/>
            </a:endParaRPr>
          </a:p>
        </p:txBody>
      </p:sp>
      <p:sp>
        <p:nvSpPr>
          <p:cNvPr id="497" name="Google Shape;497;p45">
            <a:extLst>
              <a:ext uri="{FF2B5EF4-FFF2-40B4-BE49-F238E27FC236}">
                <a16:creationId xmlns:a16="http://schemas.microsoft.com/office/drawing/2014/main" id="{298227F1-59CB-2C88-4358-DF01D97F85CC}"/>
              </a:ext>
            </a:extLst>
          </p:cNvPr>
          <p:cNvSpPr txBox="1"/>
          <p:nvPr/>
        </p:nvSpPr>
        <p:spPr>
          <a:xfrm rot="-5400000">
            <a:off x="-797364" y="5204656"/>
            <a:ext cx="2251455" cy="38856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lt1"/>
                </a:solidFill>
                <a:latin typeface="Nunito Sans SemiBold"/>
                <a:ea typeface="Nunito Sans SemiBold"/>
                <a:cs typeface="Nunito Sans SemiBold"/>
                <a:sym typeface="Nunito Sans SemiBold"/>
              </a:rPr>
              <a:t>AGRICOOL</a:t>
            </a:r>
            <a:endParaRPr sz="1400" b="0" i="0" u="none" strike="noStrike" cap="none">
              <a:solidFill>
                <a:srgbClr val="000000"/>
              </a:solidFill>
              <a:latin typeface="Arial"/>
              <a:ea typeface="Arial"/>
              <a:cs typeface="Arial"/>
              <a:sym typeface="Arial"/>
            </a:endParaRPr>
          </a:p>
        </p:txBody>
      </p:sp>
      <p:pic>
        <p:nvPicPr>
          <p:cNvPr id="503" name="Google Shape;503;p45" descr="Une image contenant capture d’écran, Bleu électrique, Police, Bleu Majorelle&#10;&#10;Description générée automatiquement">
            <a:extLst>
              <a:ext uri="{FF2B5EF4-FFF2-40B4-BE49-F238E27FC236}">
                <a16:creationId xmlns:a16="http://schemas.microsoft.com/office/drawing/2014/main" id="{BDB5CBFD-2BCF-3E12-4BE7-883D3904CCB1}"/>
              </a:ext>
            </a:extLst>
          </p:cNvPr>
          <p:cNvPicPr preferRelativeResize="0"/>
          <p:nvPr/>
        </p:nvPicPr>
        <p:blipFill rotWithShape="1">
          <a:blip r:embed="rId4">
            <a:alphaModFix/>
          </a:blip>
          <a:srcRect/>
          <a:stretch/>
        </p:blipFill>
        <p:spPr>
          <a:xfrm>
            <a:off x="659183" y="6441981"/>
            <a:ext cx="1729633" cy="384363"/>
          </a:xfrm>
          <a:prstGeom prst="rect">
            <a:avLst/>
          </a:prstGeom>
          <a:noFill/>
          <a:ln>
            <a:noFill/>
          </a:ln>
        </p:spPr>
      </p:pic>
      <p:sp>
        <p:nvSpPr>
          <p:cNvPr id="504" name="Google Shape;504;p45">
            <a:extLst>
              <a:ext uri="{FF2B5EF4-FFF2-40B4-BE49-F238E27FC236}">
                <a16:creationId xmlns:a16="http://schemas.microsoft.com/office/drawing/2014/main" id="{7B8C9CF8-FE2F-8076-7AAD-76A3EB7DABD3}"/>
              </a:ext>
            </a:extLst>
          </p:cNvPr>
          <p:cNvSpPr txBox="1">
            <a:spLocks noGrp="1"/>
          </p:cNvSpPr>
          <p:nvPr>
            <p:ph type="dt" idx="10"/>
          </p:nvPr>
        </p:nvSpPr>
        <p:spPr>
          <a:xfrm>
            <a:off x="9332517" y="64262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en-GB" dirty="0"/>
              <a:t>13 September 2026</a:t>
            </a:r>
            <a:endParaRPr dirty="0"/>
          </a:p>
        </p:txBody>
      </p:sp>
      <p:sp>
        <p:nvSpPr>
          <p:cNvPr id="505" name="Google Shape;505;p45">
            <a:extLst>
              <a:ext uri="{FF2B5EF4-FFF2-40B4-BE49-F238E27FC236}">
                <a16:creationId xmlns:a16="http://schemas.microsoft.com/office/drawing/2014/main" id="{E8755AF1-657C-E0A6-7F6A-E853E0E4D42F}"/>
              </a:ext>
            </a:extLst>
          </p:cNvPr>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200"/>
              <a:buNone/>
            </a:pPr>
            <a:fld id="{00000000-1234-1234-1234-123412341234}" type="slidenum">
              <a:rPr lang="en-GB"/>
              <a:t>18</a:t>
            </a:fld>
            <a:endParaRPr dirty="0"/>
          </a:p>
        </p:txBody>
      </p:sp>
      <p:sp>
        <p:nvSpPr>
          <p:cNvPr id="2" name="Rectangle 1">
            <a:extLst>
              <a:ext uri="{FF2B5EF4-FFF2-40B4-BE49-F238E27FC236}">
                <a16:creationId xmlns:a16="http://schemas.microsoft.com/office/drawing/2014/main" id="{81550E75-5F56-6512-E8C1-2E1F3A726659}"/>
              </a:ext>
            </a:extLst>
          </p:cNvPr>
          <p:cNvSpPr>
            <a:spLocks noGrp="1"/>
          </p:cNvSpPr>
          <p:nvPr/>
        </p:nvSpPr>
        <p:spPr>
          <a:xfrm>
            <a:off x="798830" y="12700"/>
            <a:ext cx="11191875" cy="609600"/>
          </a:xfrm>
          <a:prstGeom prst="rect">
            <a:avLst/>
          </a:prstGeom>
          <a:noFill/>
          <a:ln w="0">
            <a:noFill/>
          </a:ln>
        </p:spPr>
        <p:txBody>
          <a:bodyPr lIns="0" tIns="0" rIns="0" bIns="0" anchor="ctr">
            <a:noAutofit/>
          </a:bodyPr>
          <a:lstStyle/>
          <a:p>
            <a:pPr algn="l">
              <a:defRPr sz="3000" b="1">
                <a:solidFill>
                  <a:srgbClr val="239BC2"/>
                </a:solidFill>
                <a:latin typeface="DejaVu Sans"/>
                <a:ea typeface="DejaVu Sans"/>
                <a:cs typeface="DejaVu Sans"/>
              </a:defRPr>
            </a:pPr>
            <a:r>
              <a:rPr sz="3000" b="1">
                <a:solidFill>
                  <a:srgbClr val="239BC2"/>
                </a:solidFill>
                <a:latin typeface="Arial" panose="020B0604020202020204" pitchFamily="34" charset="0"/>
                <a:ea typeface="DejaVu Sans"/>
                <a:cs typeface="Arial" panose="020B0604020202020204" pitchFamily="34" charset="0"/>
              </a:rPr>
              <a:t>Air cooler: transferring heat</a:t>
            </a:r>
          </a:p>
        </p:txBody>
      </p:sp>
      <p:sp>
        <p:nvSpPr>
          <p:cNvPr id="3" name="Rectangle 2">
            <a:extLst>
              <a:ext uri="{FF2B5EF4-FFF2-40B4-BE49-F238E27FC236}">
                <a16:creationId xmlns:a16="http://schemas.microsoft.com/office/drawing/2014/main" id="{E5D45DCE-5BC1-4274-5AC6-C8E4A003218F}"/>
              </a:ext>
            </a:extLst>
          </p:cNvPr>
          <p:cNvSpPr>
            <a:spLocks noGrp="1"/>
          </p:cNvSpPr>
          <p:nvPr/>
        </p:nvSpPr>
        <p:spPr>
          <a:xfrm>
            <a:off x="836930" y="717550"/>
            <a:ext cx="11144250" cy="342900"/>
          </a:xfrm>
          <a:prstGeom prst="rect">
            <a:avLst/>
          </a:prstGeom>
          <a:noFill/>
          <a:ln w="0">
            <a:noFill/>
          </a:ln>
        </p:spPr>
        <p:txBody>
          <a:bodyPr lIns="0" tIns="0" rIns="0" bIns="0" anchor="ctr">
            <a:noAutofit/>
          </a:bodyPr>
          <a:lstStyle/>
          <a:p>
            <a:pPr algn="l">
              <a:defRPr sz="1575" b="0">
                <a:solidFill>
                  <a:srgbClr val="5A7582"/>
                </a:solidFill>
                <a:latin typeface="DejaVu Sans"/>
                <a:ea typeface="DejaVu Sans"/>
                <a:cs typeface="DejaVu Sans"/>
              </a:defRPr>
            </a:pPr>
            <a:r>
              <a:rPr sz="1575" b="0">
                <a:solidFill>
                  <a:srgbClr val="5A7582"/>
                </a:solidFill>
                <a:latin typeface="Arial" panose="020B0604020202020204" pitchFamily="34" charset="0"/>
                <a:ea typeface="DejaVu Sans"/>
                <a:cs typeface="Arial" panose="020B0604020202020204" pitchFamily="34" charset="0"/>
              </a:rPr>
              <a:t>Buildings.Fluid.HeatExchangers.ConstantEffectiveness</a:t>
            </a:r>
          </a:p>
        </p:txBody>
      </p:sp>
      <p:sp>
        <p:nvSpPr>
          <p:cNvPr id="4" name="Rectangle 3">
            <a:extLst>
              <a:ext uri="{FF2B5EF4-FFF2-40B4-BE49-F238E27FC236}">
                <a16:creationId xmlns:a16="http://schemas.microsoft.com/office/drawing/2014/main" id="{C70B6302-7BB4-D58C-90BC-55F5C7DA919D}"/>
              </a:ext>
            </a:extLst>
          </p:cNvPr>
          <p:cNvSpPr>
            <a:spLocks noGrp="1"/>
          </p:cNvSpPr>
          <p:nvPr/>
        </p:nvSpPr>
        <p:spPr>
          <a:xfrm>
            <a:off x="8533130" y="1698625"/>
            <a:ext cx="3381375" cy="1028700"/>
          </a:xfrm>
          <a:prstGeom prst="rect">
            <a:avLst/>
          </a:prstGeom>
          <a:noFill/>
          <a:ln w="0">
            <a:noFill/>
          </a:ln>
        </p:spPr>
        <p:txBody>
          <a:bodyPr lIns="0" tIns="0" rIns="0" bIns="0" anchor="ctr">
            <a:noAutofit/>
          </a:bodyPr>
          <a:lstStyle/>
          <a:p>
            <a:pPr algn="l">
              <a:defRPr sz="1875" b="1">
                <a:solidFill>
                  <a:srgbClr val="173E50"/>
                </a:solidFill>
                <a:latin typeface="DejaVu Sans"/>
                <a:ea typeface="DejaVu Sans"/>
                <a:cs typeface="DejaVu Sans"/>
              </a:defRPr>
            </a:pPr>
            <a:r>
              <a:rPr sz="1875" b="1">
                <a:solidFill>
                  <a:srgbClr val="173E50"/>
                </a:solidFill>
                <a:latin typeface="Arial" panose="020B0604020202020204" pitchFamily="34" charset="0"/>
                <a:ea typeface="DejaVu Sans"/>
                <a:cs typeface="Arial" panose="020B0604020202020204" pitchFamily="34" charset="0"/>
              </a:rPr>
              <a:t>Heat moves from room air</a:t>
            </a:r>
          </a:p>
          <a:p>
            <a:pPr algn="l">
              <a:defRPr sz="1875" b="1">
                <a:solidFill>
                  <a:srgbClr val="173E50"/>
                </a:solidFill>
                <a:latin typeface="DejaVu Sans"/>
                <a:ea typeface="DejaVu Sans"/>
                <a:cs typeface="DejaVu Sans"/>
              </a:defRPr>
            </a:pPr>
            <a:r>
              <a:rPr sz="1875" b="1">
                <a:solidFill>
                  <a:srgbClr val="173E50"/>
                </a:solidFill>
                <a:latin typeface="Arial" panose="020B0604020202020204" pitchFamily="34" charset="0"/>
                <a:ea typeface="DejaVu Sans"/>
                <a:cs typeface="Arial" panose="020B0604020202020204" pitchFamily="34" charset="0"/>
              </a:rPr>
              <a:t>to the colder brine.</a:t>
            </a:r>
          </a:p>
        </p:txBody>
      </p:sp>
      <p:sp>
        <p:nvSpPr>
          <p:cNvPr id="6" name="Rectangle 5">
            <a:extLst>
              <a:ext uri="{FF2B5EF4-FFF2-40B4-BE49-F238E27FC236}">
                <a16:creationId xmlns:a16="http://schemas.microsoft.com/office/drawing/2014/main" id="{17624132-E7CF-B788-51B6-F0A2621112D9}"/>
              </a:ext>
            </a:extLst>
          </p:cNvPr>
          <p:cNvSpPr>
            <a:spLocks noGrp="1"/>
          </p:cNvSpPr>
          <p:nvPr/>
        </p:nvSpPr>
        <p:spPr>
          <a:xfrm>
            <a:off x="8533130" y="2994025"/>
            <a:ext cx="3381375" cy="914400"/>
          </a:xfrm>
          <a:prstGeom prst="rect">
            <a:avLst/>
          </a:prstGeom>
          <a:noFill/>
          <a:ln w="0">
            <a:noFill/>
          </a:ln>
        </p:spPr>
        <p:txBody>
          <a:bodyPr lIns="0" tIns="0" rIns="0" bIns="0" anchor="ctr">
            <a:noAutofit/>
          </a:bodyPr>
          <a:lstStyle/>
          <a:p>
            <a:pPr algn="l">
              <a:defRPr sz="1725" b="0">
                <a:solidFill>
                  <a:srgbClr val="516B79"/>
                </a:solidFill>
                <a:latin typeface="DejaVu Sans"/>
                <a:ea typeface="DejaVu Sans"/>
                <a:cs typeface="DejaVu Sans"/>
              </a:defRPr>
            </a:pPr>
            <a:r>
              <a:rPr sz="1725" b="0">
                <a:solidFill>
                  <a:srgbClr val="516B79"/>
                </a:solidFill>
                <a:latin typeface="Arial" panose="020B0604020202020204" pitchFamily="34" charset="0"/>
                <a:ea typeface="DejaVu Sans"/>
                <a:cs typeface="Arial" panose="020B0604020202020204" pitchFamily="34" charset="0"/>
              </a:rPr>
              <a:t>Effectiveness and fluid flows</a:t>
            </a:r>
          </a:p>
          <a:p>
            <a:pPr algn="l">
              <a:defRPr sz="1725" b="0">
                <a:solidFill>
                  <a:srgbClr val="516B79"/>
                </a:solidFill>
                <a:latin typeface="DejaVu Sans"/>
                <a:ea typeface="DejaVu Sans"/>
                <a:cs typeface="DejaVu Sans"/>
              </a:defRPr>
            </a:pPr>
            <a:r>
              <a:rPr sz="1725" b="0">
                <a:solidFill>
                  <a:srgbClr val="516B79"/>
                </a:solidFill>
                <a:latin typeface="Arial" panose="020B0604020202020204" pitchFamily="34" charset="0"/>
                <a:ea typeface="DejaVu Sans"/>
                <a:cs typeface="Arial" panose="020B0604020202020204" pitchFamily="34" charset="0"/>
              </a:rPr>
              <a:t>determine the heat transfer.</a:t>
            </a:r>
          </a:p>
        </p:txBody>
      </p:sp>
      <p:sp>
        <p:nvSpPr>
          <p:cNvPr id="7" name="Rectangle 6">
            <a:extLst>
              <a:ext uri="{FF2B5EF4-FFF2-40B4-BE49-F238E27FC236}">
                <a16:creationId xmlns:a16="http://schemas.microsoft.com/office/drawing/2014/main" id="{9C74F9E2-8826-DA7B-46DF-836493D6FC24}"/>
              </a:ext>
            </a:extLst>
          </p:cNvPr>
          <p:cNvSpPr>
            <a:spLocks noGrp="1"/>
          </p:cNvSpPr>
          <p:nvPr/>
        </p:nvSpPr>
        <p:spPr>
          <a:xfrm>
            <a:off x="3313430" y="1936750"/>
            <a:ext cx="2609850" cy="2076450"/>
          </a:xfrm>
          <a:prstGeom prst="rect">
            <a:avLst/>
          </a:prstGeom>
          <a:solidFill>
            <a:srgbClr val="F1F7F8"/>
          </a:solidFill>
          <a:ln w="19050">
            <a:solidFill>
              <a:srgbClr val="173E50"/>
            </a:solidFill>
          </a:ln>
        </p:spPr>
        <p:txBody>
          <a:bodyPr/>
          <a:lstStyle/>
          <a:p>
            <a:endParaRPr lang="en-US">
              <a:latin typeface="Arial" panose="020B0604020202020204" pitchFamily="34" charset="0"/>
              <a:cs typeface="Arial" panose="020B0604020202020204" pitchFamily="34" charset="0"/>
            </a:endParaRPr>
          </a:p>
        </p:txBody>
      </p:sp>
      <p:sp>
        <p:nvSpPr>
          <p:cNvPr id="8" name="Oval 7">
            <a:extLst>
              <a:ext uri="{FF2B5EF4-FFF2-40B4-BE49-F238E27FC236}">
                <a16:creationId xmlns:a16="http://schemas.microsoft.com/office/drawing/2014/main" id="{FA0CDD83-79BA-A00B-DA65-77B9C24DE36B}"/>
              </a:ext>
            </a:extLst>
          </p:cNvPr>
          <p:cNvSpPr>
            <a:spLocks noGrp="1"/>
          </p:cNvSpPr>
          <p:nvPr/>
        </p:nvSpPr>
        <p:spPr>
          <a:xfrm>
            <a:off x="3584893" y="204628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9" name="Oval 8">
            <a:extLst>
              <a:ext uri="{FF2B5EF4-FFF2-40B4-BE49-F238E27FC236}">
                <a16:creationId xmlns:a16="http://schemas.microsoft.com/office/drawing/2014/main" id="{CB03E98D-F914-A65B-80D2-17C2DFAC2D84}"/>
              </a:ext>
            </a:extLst>
          </p:cNvPr>
          <p:cNvSpPr>
            <a:spLocks noGrp="1"/>
          </p:cNvSpPr>
          <p:nvPr/>
        </p:nvSpPr>
        <p:spPr>
          <a:xfrm>
            <a:off x="3584893" y="387508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cxnSp>
        <p:nvCxnSpPr>
          <p:cNvPr id="10" name="Straight Arrow Connector 9">
            <a:extLst>
              <a:ext uri="{FF2B5EF4-FFF2-40B4-BE49-F238E27FC236}">
                <a16:creationId xmlns:a16="http://schemas.microsoft.com/office/drawing/2014/main" id="{EF2836C6-165A-CED6-B142-D06A0DDF065E}"/>
              </a:ext>
            </a:extLst>
          </p:cNvPr>
          <p:cNvCxnSpPr>
            <a:stCxn id="8" idx="4"/>
            <a:endCxn id="9" idx="0"/>
          </p:cNvCxnSpPr>
          <p:nvPr/>
        </p:nvCxnSpPr>
        <p:spPr>
          <a:xfrm>
            <a:off x="3589656" y="2055813"/>
            <a:ext cx="0" cy="1819275"/>
          </a:xfrm>
          <a:prstGeom prst="straightConnector1">
            <a:avLst/>
          </a:prstGeom>
          <a:ln w="19050">
            <a:solidFill>
              <a:srgbClr val="A9BEC7"/>
            </a:solidFill>
          </a:ln>
        </p:spPr>
      </p:cxnSp>
      <p:sp>
        <p:nvSpPr>
          <p:cNvPr id="11" name="Oval 10">
            <a:extLst>
              <a:ext uri="{FF2B5EF4-FFF2-40B4-BE49-F238E27FC236}">
                <a16:creationId xmlns:a16="http://schemas.microsoft.com/office/drawing/2014/main" id="{D4B2CE3D-0D6A-43EF-8732-A241AB960EA9}"/>
              </a:ext>
            </a:extLst>
          </p:cNvPr>
          <p:cNvSpPr>
            <a:spLocks noGrp="1"/>
          </p:cNvSpPr>
          <p:nvPr/>
        </p:nvSpPr>
        <p:spPr>
          <a:xfrm>
            <a:off x="3870643" y="204628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12" name="Oval 11">
            <a:extLst>
              <a:ext uri="{FF2B5EF4-FFF2-40B4-BE49-F238E27FC236}">
                <a16:creationId xmlns:a16="http://schemas.microsoft.com/office/drawing/2014/main" id="{FB160B4B-0256-0698-10C3-88B11A8007B6}"/>
              </a:ext>
            </a:extLst>
          </p:cNvPr>
          <p:cNvSpPr>
            <a:spLocks noGrp="1"/>
          </p:cNvSpPr>
          <p:nvPr/>
        </p:nvSpPr>
        <p:spPr>
          <a:xfrm>
            <a:off x="3870643" y="387508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cxnSp>
        <p:nvCxnSpPr>
          <p:cNvPr id="13" name="Straight Arrow Connector 12">
            <a:extLst>
              <a:ext uri="{FF2B5EF4-FFF2-40B4-BE49-F238E27FC236}">
                <a16:creationId xmlns:a16="http://schemas.microsoft.com/office/drawing/2014/main" id="{546E0151-04F2-70D3-EC63-5D74C8CC807A}"/>
              </a:ext>
            </a:extLst>
          </p:cNvPr>
          <p:cNvCxnSpPr>
            <a:stCxn id="11" idx="4"/>
            <a:endCxn id="12" idx="0"/>
          </p:cNvCxnSpPr>
          <p:nvPr/>
        </p:nvCxnSpPr>
        <p:spPr>
          <a:xfrm>
            <a:off x="3875406" y="2055813"/>
            <a:ext cx="0" cy="1819275"/>
          </a:xfrm>
          <a:prstGeom prst="straightConnector1">
            <a:avLst/>
          </a:prstGeom>
          <a:ln w="19050">
            <a:solidFill>
              <a:srgbClr val="A9BEC7"/>
            </a:solidFill>
          </a:ln>
        </p:spPr>
      </p:cxnSp>
      <p:sp>
        <p:nvSpPr>
          <p:cNvPr id="14" name="Oval 13">
            <a:extLst>
              <a:ext uri="{FF2B5EF4-FFF2-40B4-BE49-F238E27FC236}">
                <a16:creationId xmlns:a16="http://schemas.microsoft.com/office/drawing/2014/main" id="{FB04A042-1A6B-E74C-F431-D88B80E7BC4B}"/>
              </a:ext>
            </a:extLst>
          </p:cNvPr>
          <p:cNvSpPr>
            <a:spLocks noGrp="1"/>
          </p:cNvSpPr>
          <p:nvPr/>
        </p:nvSpPr>
        <p:spPr>
          <a:xfrm>
            <a:off x="4156393" y="204628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15" name="Oval 14">
            <a:extLst>
              <a:ext uri="{FF2B5EF4-FFF2-40B4-BE49-F238E27FC236}">
                <a16:creationId xmlns:a16="http://schemas.microsoft.com/office/drawing/2014/main" id="{7C0CE920-5EDC-A575-40BC-8F88F291CC42}"/>
              </a:ext>
            </a:extLst>
          </p:cNvPr>
          <p:cNvSpPr>
            <a:spLocks noGrp="1"/>
          </p:cNvSpPr>
          <p:nvPr/>
        </p:nvSpPr>
        <p:spPr>
          <a:xfrm>
            <a:off x="4156393" y="387508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cxnSp>
        <p:nvCxnSpPr>
          <p:cNvPr id="16" name="Straight Arrow Connector 15">
            <a:extLst>
              <a:ext uri="{FF2B5EF4-FFF2-40B4-BE49-F238E27FC236}">
                <a16:creationId xmlns:a16="http://schemas.microsoft.com/office/drawing/2014/main" id="{58A5BA74-7922-CD6A-3CA3-1B818FC2E4DC}"/>
              </a:ext>
            </a:extLst>
          </p:cNvPr>
          <p:cNvCxnSpPr>
            <a:stCxn id="14" idx="4"/>
            <a:endCxn id="15" idx="0"/>
          </p:cNvCxnSpPr>
          <p:nvPr/>
        </p:nvCxnSpPr>
        <p:spPr>
          <a:xfrm>
            <a:off x="4161156" y="2055813"/>
            <a:ext cx="0" cy="1819275"/>
          </a:xfrm>
          <a:prstGeom prst="straightConnector1">
            <a:avLst/>
          </a:prstGeom>
          <a:ln w="19050">
            <a:solidFill>
              <a:srgbClr val="A9BEC7"/>
            </a:solidFill>
          </a:ln>
        </p:spPr>
      </p:cxnSp>
      <p:sp>
        <p:nvSpPr>
          <p:cNvPr id="17" name="Oval 16">
            <a:extLst>
              <a:ext uri="{FF2B5EF4-FFF2-40B4-BE49-F238E27FC236}">
                <a16:creationId xmlns:a16="http://schemas.microsoft.com/office/drawing/2014/main" id="{1DB3B83B-EECF-7AA4-561A-AC27B1ABDF68}"/>
              </a:ext>
            </a:extLst>
          </p:cNvPr>
          <p:cNvSpPr>
            <a:spLocks noGrp="1"/>
          </p:cNvSpPr>
          <p:nvPr/>
        </p:nvSpPr>
        <p:spPr>
          <a:xfrm>
            <a:off x="4442143" y="204628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18" name="Oval 17">
            <a:extLst>
              <a:ext uri="{FF2B5EF4-FFF2-40B4-BE49-F238E27FC236}">
                <a16:creationId xmlns:a16="http://schemas.microsoft.com/office/drawing/2014/main" id="{0A4D69B7-4317-0123-ABE5-2E1691541DF2}"/>
              </a:ext>
            </a:extLst>
          </p:cNvPr>
          <p:cNvSpPr>
            <a:spLocks noGrp="1"/>
          </p:cNvSpPr>
          <p:nvPr/>
        </p:nvSpPr>
        <p:spPr>
          <a:xfrm>
            <a:off x="4442143" y="387508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cxnSp>
        <p:nvCxnSpPr>
          <p:cNvPr id="19" name="Straight Arrow Connector 18">
            <a:extLst>
              <a:ext uri="{FF2B5EF4-FFF2-40B4-BE49-F238E27FC236}">
                <a16:creationId xmlns:a16="http://schemas.microsoft.com/office/drawing/2014/main" id="{F2F6AE43-9E60-7F3A-38E3-C449906F0F63}"/>
              </a:ext>
            </a:extLst>
          </p:cNvPr>
          <p:cNvCxnSpPr>
            <a:stCxn id="17" idx="4"/>
            <a:endCxn id="18" idx="0"/>
          </p:cNvCxnSpPr>
          <p:nvPr/>
        </p:nvCxnSpPr>
        <p:spPr>
          <a:xfrm>
            <a:off x="4446906" y="2055813"/>
            <a:ext cx="0" cy="1819275"/>
          </a:xfrm>
          <a:prstGeom prst="straightConnector1">
            <a:avLst/>
          </a:prstGeom>
          <a:ln w="19050">
            <a:solidFill>
              <a:srgbClr val="A9BEC7"/>
            </a:solidFill>
          </a:ln>
        </p:spPr>
      </p:cxnSp>
      <p:sp>
        <p:nvSpPr>
          <p:cNvPr id="20" name="Oval 19">
            <a:extLst>
              <a:ext uri="{FF2B5EF4-FFF2-40B4-BE49-F238E27FC236}">
                <a16:creationId xmlns:a16="http://schemas.microsoft.com/office/drawing/2014/main" id="{496F7FEE-EC04-DC8E-A79B-3C43948BB654}"/>
              </a:ext>
            </a:extLst>
          </p:cNvPr>
          <p:cNvSpPr>
            <a:spLocks noGrp="1"/>
          </p:cNvSpPr>
          <p:nvPr/>
        </p:nvSpPr>
        <p:spPr>
          <a:xfrm>
            <a:off x="4727893" y="204628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21" name="Oval 20">
            <a:extLst>
              <a:ext uri="{FF2B5EF4-FFF2-40B4-BE49-F238E27FC236}">
                <a16:creationId xmlns:a16="http://schemas.microsoft.com/office/drawing/2014/main" id="{A1A2F248-C2B2-BF4D-36E7-048AC64BFAAD}"/>
              </a:ext>
            </a:extLst>
          </p:cNvPr>
          <p:cNvSpPr>
            <a:spLocks noGrp="1"/>
          </p:cNvSpPr>
          <p:nvPr/>
        </p:nvSpPr>
        <p:spPr>
          <a:xfrm>
            <a:off x="4727893" y="387508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cxnSp>
        <p:nvCxnSpPr>
          <p:cNvPr id="22" name="Straight Arrow Connector 21">
            <a:extLst>
              <a:ext uri="{FF2B5EF4-FFF2-40B4-BE49-F238E27FC236}">
                <a16:creationId xmlns:a16="http://schemas.microsoft.com/office/drawing/2014/main" id="{CDC3E9C6-A1DB-9007-22B6-1BB9FD469671}"/>
              </a:ext>
            </a:extLst>
          </p:cNvPr>
          <p:cNvCxnSpPr>
            <a:stCxn id="20" idx="4"/>
            <a:endCxn id="21" idx="0"/>
          </p:cNvCxnSpPr>
          <p:nvPr/>
        </p:nvCxnSpPr>
        <p:spPr>
          <a:xfrm>
            <a:off x="4732656" y="2055813"/>
            <a:ext cx="0" cy="1819275"/>
          </a:xfrm>
          <a:prstGeom prst="straightConnector1">
            <a:avLst/>
          </a:prstGeom>
          <a:ln w="19050">
            <a:solidFill>
              <a:srgbClr val="A9BEC7"/>
            </a:solidFill>
          </a:ln>
        </p:spPr>
      </p:cxnSp>
      <p:sp>
        <p:nvSpPr>
          <p:cNvPr id="23" name="Oval 22">
            <a:extLst>
              <a:ext uri="{FF2B5EF4-FFF2-40B4-BE49-F238E27FC236}">
                <a16:creationId xmlns:a16="http://schemas.microsoft.com/office/drawing/2014/main" id="{F4F9FC14-CB33-F7CB-C6E6-D5CBF2A21073}"/>
              </a:ext>
            </a:extLst>
          </p:cNvPr>
          <p:cNvSpPr>
            <a:spLocks noGrp="1"/>
          </p:cNvSpPr>
          <p:nvPr/>
        </p:nvSpPr>
        <p:spPr>
          <a:xfrm>
            <a:off x="5013643" y="204628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24" name="Oval 23">
            <a:extLst>
              <a:ext uri="{FF2B5EF4-FFF2-40B4-BE49-F238E27FC236}">
                <a16:creationId xmlns:a16="http://schemas.microsoft.com/office/drawing/2014/main" id="{1768D625-72EB-73DC-CD60-469177A2F275}"/>
              </a:ext>
            </a:extLst>
          </p:cNvPr>
          <p:cNvSpPr>
            <a:spLocks noGrp="1"/>
          </p:cNvSpPr>
          <p:nvPr/>
        </p:nvSpPr>
        <p:spPr>
          <a:xfrm>
            <a:off x="5013643" y="387508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cxnSp>
        <p:nvCxnSpPr>
          <p:cNvPr id="25" name="Straight Arrow Connector 24">
            <a:extLst>
              <a:ext uri="{FF2B5EF4-FFF2-40B4-BE49-F238E27FC236}">
                <a16:creationId xmlns:a16="http://schemas.microsoft.com/office/drawing/2014/main" id="{416CC2C9-8E86-9AF4-E1A6-233C4F81D017}"/>
              </a:ext>
            </a:extLst>
          </p:cNvPr>
          <p:cNvCxnSpPr>
            <a:stCxn id="23" idx="4"/>
            <a:endCxn id="24" idx="0"/>
          </p:cNvCxnSpPr>
          <p:nvPr/>
        </p:nvCxnSpPr>
        <p:spPr>
          <a:xfrm>
            <a:off x="5018406" y="2055813"/>
            <a:ext cx="0" cy="1819275"/>
          </a:xfrm>
          <a:prstGeom prst="straightConnector1">
            <a:avLst/>
          </a:prstGeom>
          <a:ln w="19050">
            <a:solidFill>
              <a:srgbClr val="A9BEC7"/>
            </a:solidFill>
          </a:ln>
        </p:spPr>
      </p:cxnSp>
      <p:sp>
        <p:nvSpPr>
          <p:cNvPr id="26" name="Oval 25">
            <a:extLst>
              <a:ext uri="{FF2B5EF4-FFF2-40B4-BE49-F238E27FC236}">
                <a16:creationId xmlns:a16="http://schemas.microsoft.com/office/drawing/2014/main" id="{ACE12C14-3263-5390-622F-550EDBC03042}"/>
              </a:ext>
            </a:extLst>
          </p:cNvPr>
          <p:cNvSpPr>
            <a:spLocks noGrp="1"/>
          </p:cNvSpPr>
          <p:nvPr/>
        </p:nvSpPr>
        <p:spPr>
          <a:xfrm>
            <a:off x="5299393" y="204628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27" name="Oval 26">
            <a:extLst>
              <a:ext uri="{FF2B5EF4-FFF2-40B4-BE49-F238E27FC236}">
                <a16:creationId xmlns:a16="http://schemas.microsoft.com/office/drawing/2014/main" id="{8680FF6B-15B2-E393-6689-8E1C9F6675B2}"/>
              </a:ext>
            </a:extLst>
          </p:cNvPr>
          <p:cNvSpPr>
            <a:spLocks noGrp="1"/>
          </p:cNvSpPr>
          <p:nvPr/>
        </p:nvSpPr>
        <p:spPr>
          <a:xfrm>
            <a:off x="5299393" y="387508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cxnSp>
        <p:nvCxnSpPr>
          <p:cNvPr id="28" name="Straight Arrow Connector 27">
            <a:extLst>
              <a:ext uri="{FF2B5EF4-FFF2-40B4-BE49-F238E27FC236}">
                <a16:creationId xmlns:a16="http://schemas.microsoft.com/office/drawing/2014/main" id="{69F4C80C-2C2E-7ADA-0886-C91FF04B1871}"/>
              </a:ext>
            </a:extLst>
          </p:cNvPr>
          <p:cNvCxnSpPr>
            <a:stCxn id="26" idx="4"/>
            <a:endCxn id="27" idx="0"/>
          </p:cNvCxnSpPr>
          <p:nvPr/>
        </p:nvCxnSpPr>
        <p:spPr>
          <a:xfrm>
            <a:off x="5304156" y="2055813"/>
            <a:ext cx="0" cy="1819275"/>
          </a:xfrm>
          <a:prstGeom prst="straightConnector1">
            <a:avLst/>
          </a:prstGeom>
          <a:ln w="19050">
            <a:solidFill>
              <a:srgbClr val="A9BEC7"/>
            </a:solidFill>
          </a:ln>
        </p:spPr>
      </p:cxnSp>
      <p:sp>
        <p:nvSpPr>
          <p:cNvPr id="29" name="Oval 28">
            <a:extLst>
              <a:ext uri="{FF2B5EF4-FFF2-40B4-BE49-F238E27FC236}">
                <a16:creationId xmlns:a16="http://schemas.microsoft.com/office/drawing/2014/main" id="{C4A41D7A-6140-0F58-47F6-215C8C7BD1B2}"/>
              </a:ext>
            </a:extLst>
          </p:cNvPr>
          <p:cNvSpPr>
            <a:spLocks noGrp="1"/>
          </p:cNvSpPr>
          <p:nvPr/>
        </p:nvSpPr>
        <p:spPr>
          <a:xfrm>
            <a:off x="5585143" y="204628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30" name="Oval 29">
            <a:extLst>
              <a:ext uri="{FF2B5EF4-FFF2-40B4-BE49-F238E27FC236}">
                <a16:creationId xmlns:a16="http://schemas.microsoft.com/office/drawing/2014/main" id="{8FFFD867-09CB-2D77-17CD-E915C52691F6}"/>
              </a:ext>
            </a:extLst>
          </p:cNvPr>
          <p:cNvSpPr>
            <a:spLocks noGrp="1"/>
          </p:cNvSpPr>
          <p:nvPr/>
        </p:nvSpPr>
        <p:spPr>
          <a:xfrm>
            <a:off x="5585143" y="387508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cxnSp>
        <p:nvCxnSpPr>
          <p:cNvPr id="31" name="Straight Arrow Connector 30">
            <a:extLst>
              <a:ext uri="{FF2B5EF4-FFF2-40B4-BE49-F238E27FC236}">
                <a16:creationId xmlns:a16="http://schemas.microsoft.com/office/drawing/2014/main" id="{927E44AF-2B8E-5E54-2CE6-51877A975504}"/>
              </a:ext>
            </a:extLst>
          </p:cNvPr>
          <p:cNvCxnSpPr>
            <a:stCxn id="29" idx="4"/>
            <a:endCxn id="30" idx="0"/>
          </p:cNvCxnSpPr>
          <p:nvPr/>
        </p:nvCxnSpPr>
        <p:spPr>
          <a:xfrm>
            <a:off x="5589906" y="2055813"/>
            <a:ext cx="0" cy="1819275"/>
          </a:xfrm>
          <a:prstGeom prst="straightConnector1">
            <a:avLst/>
          </a:prstGeom>
          <a:ln w="19050">
            <a:solidFill>
              <a:srgbClr val="A9BEC7"/>
            </a:solidFill>
          </a:ln>
        </p:spPr>
      </p:cxnSp>
      <p:sp>
        <p:nvSpPr>
          <p:cNvPr id="480" name="Oval 479">
            <a:extLst>
              <a:ext uri="{FF2B5EF4-FFF2-40B4-BE49-F238E27FC236}">
                <a16:creationId xmlns:a16="http://schemas.microsoft.com/office/drawing/2014/main" id="{6CBF70D6-6AD0-CC26-4C61-88A6E32941F5}"/>
              </a:ext>
            </a:extLst>
          </p:cNvPr>
          <p:cNvSpPr>
            <a:spLocks noGrp="1"/>
          </p:cNvSpPr>
          <p:nvPr/>
        </p:nvSpPr>
        <p:spPr>
          <a:xfrm>
            <a:off x="1213168" y="233203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481" name="Oval 480">
            <a:extLst>
              <a:ext uri="{FF2B5EF4-FFF2-40B4-BE49-F238E27FC236}">
                <a16:creationId xmlns:a16="http://schemas.microsoft.com/office/drawing/2014/main" id="{04A80472-F254-7F8F-3497-1831244A5E5F}"/>
              </a:ext>
            </a:extLst>
          </p:cNvPr>
          <p:cNvSpPr>
            <a:spLocks noGrp="1"/>
          </p:cNvSpPr>
          <p:nvPr/>
        </p:nvSpPr>
        <p:spPr>
          <a:xfrm>
            <a:off x="7937818" y="233203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cxnSp>
        <p:nvCxnSpPr>
          <p:cNvPr id="482" name="Straight Arrow Connector 481">
            <a:extLst>
              <a:ext uri="{FF2B5EF4-FFF2-40B4-BE49-F238E27FC236}">
                <a16:creationId xmlns:a16="http://schemas.microsoft.com/office/drawing/2014/main" id="{9F7D4616-AA91-FE42-2E9E-71C0D0B09EBD}"/>
              </a:ext>
            </a:extLst>
          </p:cNvPr>
          <p:cNvCxnSpPr>
            <a:stCxn id="480" idx="6"/>
            <a:endCxn id="481" idx="2"/>
          </p:cNvCxnSpPr>
          <p:nvPr/>
        </p:nvCxnSpPr>
        <p:spPr>
          <a:xfrm>
            <a:off x="1222693" y="2336801"/>
            <a:ext cx="6715125" cy="0"/>
          </a:xfrm>
          <a:prstGeom prst="straightConnector1">
            <a:avLst/>
          </a:prstGeom>
          <a:ln w="28575">
            <a:solidFill>
              <a:srgbClr val="D78032"/>
            </a:solidFill>
            <a:tailEnd type="triangle" w="med" len="med"/>
          </a:ln>
        </p:spPr>
      </p:cxnSp>
      <p:sp>
        <p:nvSpPr>
          <p:cNvPr id="483" name="Oval 482">
            <a:extLst>
              <a:ext uri="{FF2B5EF4-FFF2-40B4-BE49-F238E27FC236}">
                <a16:creationId xmlns:a16="http://schemas.microsoft.com/office/drawing/2014/main" id="{D07B267D-4F26-9C7D-790A-673DA70E3F64}"/>
              </a:ext>
            </a:extLst>
          </p:cNvPr>
          <p:cNvSpPr>
            <a:spLocks noGrp="1"/>
          </p:cNvSpPr>
          <p:nvPr/>
        </p:nvSpPr>
        <p:spPr>
          <a:xfrm>
            <a:off x="7937818" y="362743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484" name="Oval 483">
            <a:extLst>
              <a:ext uri="{FF2B5EF4-FFF2-40B4-BE49-F238E27FC236}">
                <a16:creationId xmlns:a16="http://schemas.microsoft.com/office/drawing/2014/main" id="{CEE65971-6E11-1CA3-B6B6-4C51FD00FE22}"/>
              </a:ext>
            </a:extLst>
          </p:cNvPr>
          <p:cNvSpPr>
            <a:spLocks noGrp="1"/>
          </p:cNvSpPr>
          <p:nvPr/>
        </p:nvSpPr>
        <p:spPr>
          <a:xfrm>
            <a:off x="1213168" y="362743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cxnSp>
        <p:nvCxnSpPr>
          <p:cNvPr id="485" name="Straight Arrow Connector 484">
            <a:extLst>
              <a:ext uri="{FF2B5EF4-FFF2-40B4-BE49-F238E27FC236}">
                <a16:creationId xmlns:a16="http://schemas.microsoft.com/office/drawing/2014/main" id="{8309486F-3C70-FA97-AF0D-FF38887CD8B1}"/>
              </a:ext>
            </a:extLst>
          </p:cNvPr>
          <p:cNvCxnSpPr>
            <a:stCxn id="483" idx="2"/>
            <a:endCxn id="484" idx="6"/>
          </p:cNvCxnSpPr>
          <p:nvPr/>
        </p:nvCxnSpPr>
        <p:spPr>
          <a:xfrm flipH="1">
            <a:off x="1222693" y="3632201"/>
            <a:ext cx="6715125" cy="0"/>
          </a:xfrm>
          <a:prstGeom prst="straightConnector1">
            <a:avLst/>
          </a:prstGeom>
          <a:ln w="28575">
            <a:solidFill>
              <a:srgbClr val="239BC2"/>
            </a:solidFill>
            <a:tailEnd type="triangle" w="med" len="med"/>
          </a:ln>
        </p:spPr>
      </p:cxnSp>
      <p:sp>
        <p:nvSpPr>
          <p:cNvPr id="486" name="Rectangle 485">
            <a:extLst>
              <a:ext uri="{FF2B5EF4-FFF2-40B4-BE49-F238E27FC236}">
                <a16:creationId xmlns:a16="http://schemas.microsoft.com/office/drawing/2014/main" id="{B9D58587-02DC-78BB-84D8-811EC0B94181}"/>
              </a:ext>
            </a:extLst>
          </p:cNvPr>
          <p:cNvSpPr>
            <a:spLocks noGrp="1"/>
          </p:cNvSpPr>
          <p:nvPr/>
        </p:nvSpPr>
        <p:spPr>
          <a:xfrm>
            <a:off x="903605" y="1574800"/>
            <a:ext cx="2381250" cy="647700"/>
          </a:xfrm>
          <a:prstGeom prst="rect">
            <a:avLst/>
          </a:prstGeom>
          <a:noFill/>
          <a:ln w="0">
            <a:noFill/>
          </a:ln>
        </p:spPr>
        <p:txBody>
          <a:bodyPr lIns="0" tIns="0" rIns="0" bIns="0" anchor="ctr">
            <a:noAutofit/>
          </a:bodyPr>
          <a:lstStyle/>
          <a:p>
            <a:pPr algn="l">
              <a:defRPr sz="1725" b="0">
                <a:solidFill>
                  <a:srgbClr val="173E50"/>
                </a:solidFill>
                <a:latin typeface="DejaVu Sans"/>
                <a:ea typeface="DejaVu Sans"/>
                <a:cs typeface="DejaVu Sans"/>
              </a:defRPr>
            </a:pPr>
            <a:r>
              <a:rPr sz="1725" b="0">
                <a:solidFill>
                  <a:srgbClr val="173E50"/>
                </a:solidFill>
                <a:latin typeface="Arial" panose="020B0604020202020204" pitchFamily="34" charset="0"/>
                <a:ea typeface="DejaVu Sans"/>
                <a:cs typeface="Arial" panose="020B0604020202020204" pitchFamily="34" charset="0"/>
              </a:rPr>
              <a:t>Air inlet</a:t>
            </a:r>
          </a:p>
          <a:p>
            <a:pPr algn="l">
              <a:defRPr sz="1725" b="0">
                <a:solidFill>
                  <a:srgbClr val="173E50"/>
                </a:solidFill>
                <a:latin typeface="DejaVu Sans"/>
                <a:ea typeface="DejaVu Sans"/>
                <a:cs typeface="DejaVu Sans"/>
              </a:defRPr>
            </a:pPr>
            <a:r>
              <a:rPr sz="1725" b="0">
                <a:solidFill>
                  <a:srgbClr val="173E50"/>
                </a:solidFill>
                <a:latin typeface="Arial" panose="020B0604020202020204" pitchFamily="34" charset="0"/>
                <a:ea typeface="DejaVu Sans"/>
                <a:cs typeface="Arial" panose="020B0604020202020204" pitchFamily="34" charset="0"/>
              </a:rPr>
              <a:t>T_air,in, ṁ_air</a:t>
            </a:r>
          </a:p>
        </p:txBody>
      </p:sp>
      <p:sp>
        <p:nvSpPr>
          <p:cNvPr id="487" name="Rectangle 486">
            <a:extLst>
              <a:ext uri="{FF2B5EF4-FFF2-40B4-BE49-F238E27FC236}">
                <a16:creationId xmlns:a16="http://schemas.microsoft.com/office/drawing/2014/main" id="{FFDB9835-B26B-D453-D1F2-3B95241C0B4F}"/>
              </a:ext>
            </a:extLst>
          </p:cNvPr>
          <p:cNvSpPr>
            <a:spLocks noGrp="1"/>
          </p:cNvSpPr>
          <p:nvPr/>
        </p:nvSpPr>
        <p:spPr>
          <a:xfrm>
            <a:off x="6189980" y="1574800"/>
            <a:ext cx="2047875" cy="647700"/>
          </a:xfrm>
          <a:prstGeom prst="rect">
            <a:avLst/>
          </a:prstGeom>
          <a:noFill/>
          <a:ln w="0">
            <a:noFill/>
          </a:ln>
        </p:spPr>
        <p:txBody>
          <a:bodyPr lIns="0" tIns="0" rIns="0" bIns="0" anchor="ctr">
            <a:noAutofit/>
          </a:bodyPr>
          <a:lstStyle/>
          <a:p>
            <a:pPr algn="l">
              <a:defRPr sz="1725" b="0">
                <a:solidFill>
                  <a:srgbClr val="173E50"/>
                </a:solidFill>
                <a:latin typeface="DejaVu Sans"/>
                <a:ea typeface="DejaVu Sans"/>
                <a:cs typeface="DejaVu Sans"/>
              </a:defRPr>
            </a:pPr>
            <a:r>
              <a:rPr sz="1725" b="0">
                <a:solidFill>
                  <a:srgbClr val="173E50"/>
                </a:solidFill>
                <a:latin typeface="Arial" panose="020B0604020202020204" pitchFamily="34" charset="0"/>
                <a:ea typeface="DejaVu Sans"/>
                <a:cs typeface="Arial" panose="020B0604020202020204" pitchFamily="34" charset="0"/>
              </a:rPr>
              <a:t>Air outlet</a:t>
            </a:r>
          </a:p>
          <a:p>
            <a:pPr algn="l">
              <a:defRPr sz="1725" b="0">
                <a:solidFill>
                  <a:srgbClr val="173E50"/>
                </a:solidFill>
                <a:latin typeface="DejaVu Sans"/>
                <a:ea typeface="DejaVu Sans"/>
                <a:cs typeface="DejaVu Sans"/>
              </a:defRPr>
            </a:pPr>
            <a:r>
              <a:rPr sz="1725" b="0">
                <a:solidFill>
                  <a:srgbClr val="173E50"/>
                </a:solidFill>
                <a:latin typeface="Arial" panose="020B0604020202020204" pitchFamily="34" charset="0"/>
                <a:ea typeface="DejaVu Sans"/>
                <a:cs typeface="Arial" panose="020B0604020202020204" pitchFamily="34" charset="0"/>
              </a:rPr>
              <a:t>T_air,out</a:t>
            </a:r>
          </a:p>
        </p:txBody>
      </p:sp>
      <p:sp>
        <p:nvSpPr>
          <p:cNvPr id="488" name="Rectangle 487">
            <a:extLst>
              <a:ext uri="{FF2B5EF4-FFF2-40B4-BE49-F238E27FC236}">
                <a16:creationId xmlns:a16="http://schemas.microsoft.com/office/drawing/2014/main" id="{B56A5DFE-DA9E-03DD-B64E-2E2BBCCB66CF}"/>
              </a:ext>
            </a:extLst>
          </p:cNvPr>
          <p:cNvSpPr>
            <a:spLocks noGrp="1"/>
          </p:cNvSpPr>
          <p:nvPr/>
        </p:nvSpPr>
        <p:spPr>
          <a:xfrm>
            <a:off x="903605" y="3736975"/>
            <a:ext cx="2343150" cy="609600"/>
          </a:xfrm>
          <a:prstGeom prst="rect">
            <a:avLst/>
          </a:prstGeom>
          <a:noFill/>
          <a:ln w="0">
            <a:noFill/>
          </a:ln>
        </p:spPr>
        <p:txBody>
          <a:bodyPr lIns="0" tIns="0" rIns="0" bIns="0" anchor="ctr">
            <a:noAutofit/>
          </a:bodyPr>
          <a:lstStyle/>
          <a:p>
            <a:pPr algn="l">
              <a:defRPr sz="1725" b="0">
                <a:solidFill>
                  <a:srgbClr val="173E50"/>
                </a:solidFill>
                <a:latin typeface="DejaVu Sans"/>
                <a:ea typeface="DejaVu Sans"/>
                <a:cs typeface="DejaVu Sans"/>
              </a:defRPr>
            </a:pPr>
            <a:r>
              <a:rPr sz="1725" b="0">
                <a:solidFill>
                  <a:srgbClr val="173E50"/>
                </a:solidFill>
                <a:latin typeface="Arial" panose="020B0604020202020204" pitchFamily="34" charset="0"/>
                <a:ea typeface="DejaVu Sans"/>
                <a:cs typeface="Arial" panose="020B0604020202020204" pitchFamily="34" charset="0"/>
              </a:rPr>
              <a:t>Brine outlet</a:t>
            </a:r>
          </a:p>
          <a:p>
            <a:pPr algn="l">
              <a:defRPr sz="1725" b="0">
                <a:solidFill>
                  <a:srgbClr val="173E50"/>
                </a:solidFill>
                <a:latin typeface="DejaVu Sans"/>
                <a:ea typeface="DejaVu Sans"/>
                <a:cs typeface="DejaVu Sans"/>
              </a:defRPr>
            </a:pPr>
            <a:r>
              <a:rPr sz="1725" b="0">
                <a:solidFill>
                  <a:srgbClr val="173E50"/>
                </a:solidFill>
                <a:latin typeface="Arial" panose="020B0604020202020204" pitchFamily="34" charset="0"/>
                <a:ea typeface="DejaVu Sans"/>
                <a:cs typeface="Arial" panose="020B0604020202020204" pitchFamily="34" charset="0"/>
              </a:rPr>
              <a:t>T_brine,out</a:t>
            </a:r>
          </a:p>
        </p:txBody>
      </p:sp>
      <p:sp>
        <p:nvSpPr>
          <p:cNvPr id="489" name="Rectangle 488">
            <a:extLst>
              <a:ext uri="{FF2B5EF4-FFF2-40B4-BE49-F238E27FC236}">
                <a16:creationId xmlns:a16="http://schemas.microsoft.com/office/drawing/2014/main" id="{BBF3B538-5A66-1B6F-9CB7-6C01C6615EE9}"/>
              </a:ext>
            </a:extLst>
          </p:cNvPr>
          <p:cNvSpPr>
            <a:spLocks noGrp="1"/>
          </p:cNvSpPr>
          <p:nvPr/>
        </p:nvSpPr>
        <p:spPr>
          <a:xfrm>
            <a:off x="6123305" y="3736975"/>
            <a:ext cx="2276475" cy="609600"/>
          </a:xfrm>
          <a:prstGeom prst="rect">
            <a:avLst/>
          </a:prstGeom>
          <a:noFill/>
          <a:ln w="0">
            <a:noFill/>
          </a:ln>
        </p:spPr>
        <p:txBody>
          <a:bodyPr lIns="0" tIns="0" rIns="0" bIns="0" anchor="ctr">
            <a:noAutofit/>
          </a:bodyPr>
          <a:lstStyle/>
          <a:p>
            <a:pPr algn="l">
              <a:defRPr sz="1575" b="0">
                <a:solidFill>
                  <a:srgbClr val="173E50"/>
                </a:solidFill>
                <a:latin typeface="DejaVu Sans"/>
                <a:ea typeface="DejaVu Sans"/>
                <a:cs typeface="DejaVu Sans"/>
              </a:defRPr>
            </a:pPr>
            <a:r>
              <a:rPr sz="1575" b="0">
                <a:solidFill>
                  <a:srgbClr val="173E50"/>
                </a:solidFill>
                <a:latin typeface="Arial" panose="020B0604020202020204" pitchFamily="34" charset="0"/>
                <a:ea typeface="DejaVu Sans"/>
                <a:cs typeface="Arial" panose="020B0604020202020204" pitchFamily="34" charset="0"/>
              </a:rPr>
              <a:t>Brine inlet</a:t>
            </a:r>
          </a:p>
          <a:p>
            <a:pPr algn="l">
              <a:defRPr sz="1575" b="0">
                <a:solidFill>
                  <a:srgbClr val="173E50"/>
                </a:solidFill>
                <a:latin typeface="DejaVu Sans"/>
                <a:ea typeface="DejaVu Sans"/>
                <a:cs typeface="DejaVu Sans"/>
              </a:defRPr>
            </a:pPr>
            <a:r>
              <a:rPr sz="1575" b="0">
                <a:solidFill>
                  <a:srgbClr val="173E50"/>
                </a:solidFill>
                <a:latin typeface="Arial" panose="020B0604020202020204" pitchFamily="34" charset="0"/>
                <a:ea typeface="DejaVu Sans"/>
                <a:cs typeface="Arial" panose="020B0604020202020204" pitchFamily="34" charset="0"/>
              </a:rPr>
              <a:t>T_brine,in, ṁ_brine</a:t>
            </a:r>
          </a:p>
        </p:txBody>
      </p:sp>
      <p:sp>
        <p:nvSpPr>
          <p:cNvPr id="490" name="Oval 489">
            <a:extLst>
              <a:ext uri="{FF2B5EF4-FFF2-40B4-BE49-F238E27FC236}">
                <a16:creationId xmlns:a16="http://schemas.microsoft.com/office/drawing/2014/main" id="{369DFE07-11BD-3489-4408-05F282402EC4}"/>
              </a:ext>
            </a:extLst>
          </p:cNvPr>
          <p:cNvSpPr>
            <a:spLocks noGrp="1"/>
          </p:cNvSpPr>
          <p:nvPr/>
        </p:nvSpPr>
        <p:spPr>
          <a:xfrm>
            <a:off x="4556443" y="250348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491" name="Oval 490">
            <a:extLst>
              <a:ext uri="{FF2B5EF4-FFF2-40B4-BE49-F238E27FC236}">
                <a16:creationId xmlns:a16="http://schemas.microsoft.com/office/drawing/2014/main" id="{802219C9-39F4-5A93-845B-A9D8055F9898}"/>
              </a:ext>
            </a:extLst>
          </p:cNvPr>
          <p:cNvSpPr>
            <a:spLocks noGrp="1"/>
          </p:cNvSpPr>
          <p:nvPr/>
        </p:nvSpPr>
        <p:spPr>
          <a:xfrm>
            <a:off x="4556443" y="3389313"/>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cxnSp>
        <p:nvCxnSpPr>
          <p:cNvPr id="492" name="Straight Arrow Connector 491">
            <a:extLst>
              <a:ext uri="{FF2B5EF4-FFF2-40B4-BE49-F238E27FC236}">
                <a16:creationId xmlns:a16="http://schemas.microsoft.com/office/drawing/2014/main" id="{33073E96-17C8-A092-3985-8133A87304FD}"/>
              </a:ext>
            </a:extLst>
          </p:cNvPr>
          <p:cNvCxnSpPr>
            <a:stCxn id="490" idx="4"/>
            <a:endCxn id="491" idx="0"/>
          </p:cNvCxnSpPr>
          <p:nvPr/>
        </p:nvCxnSpPr>
        <p:spPr>
          <a:xfrm>
            <a:off x="4561206" y="2513013"/>
            <a:ext cx="0" cy="876300"/>
          </a:xfrm>
          <a:prstGeom prst="straightConnector1">
            <a:avLst/>
          </a:prstGeom>
          <a:ln w="28575">
            <a:solidFill>
              <a:srgbClr val="D78032"/>
            </a:solidFill>
            <a:tailEnd type="triangle" w="med" len="med"/>
          </a:ln>
        </p:spPr>
      </p:cxnSp>
      <p:sp>
        <p:nvSpPr>
          <p:cNvPr id="493" name="Rectangle 492">
            <a:extLst>
              <a:ext uri="{FF2B5EF4-FFF2-40B4-BE49-F238E27FC236}">
                <a16:creationId xmlns:a16="http://schemas.microsoft.com/office/drawing/2014/main" id="{71EF03A6-8D02-FF5E-15AC-44A00D83AEA1}"/>
              </a:ext>
            </a:extLst>
          </p:cNvPr>
          <p:cNvSpPr>
            <a:spLocks noGrp="1"/>
          </p:cNvSpPr>
          <p:nvPr/>
        </p:nvSpPr>
        <p:spPr>
          <a:xfrm>
            <a:off x="4770755" y="2755900"/>
            <a:ext cx="1238250" cy="371475"/>
          </a:xfrm>
          <a:prstGeom prst="rect">
            <a:avLst/>
          </a:prstGeom>
          <a:noFill/>
          <a:ln w="0">
            <a:noFill/>
          </a:ln>
        </p:spPr>
        <p:txBody>
          <a:bodyPr lIns="0" tIns="0" rIns="0" bIns="0" anchor="ctr">
            <a:noAutofit/>
          </a:bodyPr>
          <a:lstStyle/>
          <a:p>
            <a:pPr algn="l">
              <a:defRPr sz="1725" b="1">
                <a:solidFill>
                  <a:srgbClr val="D78032"/>
                </a:solidFill>
                <a:latin typeface="DejaVu Sans"/>
                <a:ea typeface="DejaVu Sans"/>
                <a:cs typeface="DejaVu Sans"/>
              </a:defRPr>
            </a:pPr>
            <a:r>
              <a:rPr sz="1725" b="1">
                <a:solidFill>
                  <a:srgbClr val="D78032"/>
                </a:solidFill>
                <a:latin typeface="Arial" panose="020B0604020202020204" pitchFamily="34" charset="0"/>
                <a:ea typeface="DejaVu Sans"/>
                <a:cs typeface="Arial" panose="020B0604020202020204" pitchFamily="34" charset="0"/>
              </a:rPr>
              <a:t>Q̇_cool</a:t>
            </a:r>
          </a:p>
        </p:txBody>
      </p:sp>
      <mc:AlternateContent xmlns:mc="http://schemas.openxmlformats.org/markup-compatibility/2006" xmlns:a14="http://schemas.microsoft.com/office/drawing/2010/main">
        <mc:Choice Requires="a14">
          <p:sp>
            <p:nvSpPr>
              <p:cNvPr id="494" name="Editable equation 2">
                <a:extLst>
                  <a:ext uri="{FF2B5EF4-FFF2-40B4-BE49-F238E27FC236}">
                    <a16:creationId xmlns:a16="http://schemas.microsoft.com/office/drawing/2014/main" id="{E4344450-68B2-77E1-69F6-5A402C54D183}"/>
                  </a:ext>
                </a:extLst>
              </p:cNvPr>
              <p:cNvSpPr txBox="1"/>
              <p:nvPr/>
            </p:nvSpPr>
            <p:spPr>
              <a:xfrm>
                <a:off x="903605" y="4524375"/>
                <a:ext cx="10953750" cy="730250"/>
              </a:xfrm>
              <a:prstGeom prst="rect">
                <a:avLst/>
              </a:prstGeom>
              <a:noFill/>
              <a:ln>
                <a:noFill/>
              </a:ln>
            </p:spPr>
            <p:txBody>
              <a:bodyPr lIns="0" tIns="0" rIns="0" bIns="0" anchor="ctr"/>
              <a:lstStyle/>
              <a:p>
                <a:pPr algn="ctr">
                  <a:defRPr sz="2600"/>
                </a:pPr>
                <a14:m>
                  <m:oMathPara xmlns:m="http://schemas.openxmlformats.org/officeDocument/2006/math">
                    <m:oMath>
                      <m:sSub>
                        <m:sSubPr>
                          <m:ctrlPr>
                            <a:rPr sz="2600">
                              <a:solidFill>
                                <a:srgbClr val="173E50"/>
                              </a:solidFill>
                              <a:latin typeface="Cambria Math"/>
                            </a:rPr>
                          </m:ctrlPr>
                        </m:sSubPr>
                        <m:e>
                          <m:r>
                            <a:rPr sz="2600">
                              <a:solidFill>
                                <a:srgbClr val="173E50"/>
                              </a:solidFill>
                              <a:latin typeface="Cambria Math"/>
                            </a:rPr>
                            <m:t>𝑄</m:t>
                          </m:r>
                          <m:r>
                            <a:rPr sz="2600">
                              <a:solidFill>
                                <a:srgbClr val="173E50"/>
                              </a:solidFill>
                              <a:latin typeface="Cambria Math"/>
                            </a:rPr>
                            <m:t>̇</m:t>
                          </m:r>
                        </m:e>
                        <m:sub>
                          <m:r>
                            <m:rPr>
                              <m:sty m:val="p"/>
                            </m:rPr>
                            <a:rPr sz="2600">
                              <a:solidFill>
                                <a:srgbClr val="173E50"/>
                              </a:solidFill>
                              <a:latin typeface="Cambria Math"/>
                            </a:rPr>
                            <m:t>cool</m:t>
                          </m:r>
                        </m:sub>
                      </m:sSub>
                      <m:r>
                        <a:rPr sz="2600">
                          <a:solidFill>
                            <a:srgbClr val="173E50"/>
                          </a:solidFill>
                          <a:latin typeface="Cambria Math"/>
                        </a:rPr>
                        <m:t>=</m:t>
                      </m:r>
                      <m:r>
                        <a:rPr sz="2600">
                          <a:solidFill>
                            <a:srgbClr val="173E50"/>
                          </a:solidFill>
                          <a:latin typeface="Cambria Math"/>
                        </a:rPr>
                        <m:t>𝜀</m:t>
                      </m:r>
                      <m:sSub>
                        <m:sSubPr>
                          <m:ctrlPr>
                            <a:rPr sz="2600">
                              <a:solidFill>
                                <a:srgbClr val="173E50"/>
                              </a:solidFill>
                              <a:latin typeface="Cambria Math"/>
                            </a:rPr>
                          </m:ctrlPr>
                        </m:sSubPr>
                        <m:e>
                          <m:r>
                            <a:rPr sz="2600">
                              <a:solidFill>
                                <a:srgbClr val="173E50"/>
                              </a:solidFill>
                              <a:latin typeface="Cambria Math"/>
                            </a:rPr>
                            <m:t>𝐶</m:t>
                          </m:r>
                        </m:e>
                        <m:sub>
                          <m:r>
                            <m:rPr>
                              <m:sty m:val="p"/>
                            </m:rPr>
                            <a:rPr sz="2600">
                              <a:solidFill>
                                <a:srgbClr val="173E50"/>
                              </a:solidFill>
                              <a:latin typeface="Cambria Math"/>
                            </a:rPr>
                            <m:t>min</m:t>
                          </m:r>
                        </m:sub>
                      </m:sSub>
                      <m:r>
                        <a:rPr sz="2600">
                          <a:solidFill>
                            <a:srgbClr val="173E50"/>
                          </a:solidFill>
                          <a:latin typeface="Cambria Math"/>
                        </a:rPr>
                        <m:t>(</m:t>
                      </m:r>
                      <m:sSub>
                        <m:sSubPr>
                          <m:ctrlPr>
                            <a:rPr sz="2600">
                              <a:solidFill>
                                <a:srgbClr val="173E50"/>
                              </a:solidFill>
                              <a:latin typeface="Cambria Math"/>
                            </a:rPr>
                          </m:ctrlPr>
                        </m:sSubPr>
                        <m:e>
                          <m:r>
                            <a:rPr sz="2600">
                              <a:solidFill>
                                <a:srgbClr val="173E50"/>
                              </a:solidFill>
                              <a:latin typeface="Cambria Math"/>
                            </a:rPr>
                            <m:t>𝑇</m:t>
                          </m:r>
                        </m:e>
                        <m:sub>
                          <m:r>
                            <m:rPr>
                              <m:sty m:val="p"/>
                            </m:rPr>
                            <a:rPr sz="2600">
                              <a:solidFill>
                                <a:srgbClr val="173E50"/>
                              </a:solidFill>
                              <a:latin typeface="Cambria Math"/>
                            </a:rPr>
                            <m:t>air</m:t>
                          </m:r>
                          <m:r>
                            <a:rPr sz="2600">
                              <a:solidFill>
                                <a:srgbClr val="173E50"/>
                              </a:solidFill>
                              <a:latin typeface="Cambria Math"/>
                            </a:rPr>
                            <m:t>,</m:t>
                          </m:r>
                          <m:r>
                            <m:rPr>
                              <m:sty m:val="p"/>
                            </m:rPr>
                            <a:rPr sz="2600">
                              <a:solidFill>
                                <a:srgbClr val="173E50"/>
                              </a:solidFill>
                              <a:latin typeface="Cambria Math"/>
                            </a:rPr>
                            <m:t>in</m:t>
                          </m:r>
                        </m:sub>
                      </m:sSub>
                      <m:r>
                        <a:rPr sz="2600">
                          <a:solidFill>
                            <a:srgbClr val="173E50"/>
                          </a:solidFill>
                          <a:latin typeface="Cambria Math"/>
                        </a:rPr>
                        <m:t>−</m:t>
                      </m:r>
                      <m:sSub>
                        <m:sSubPr>
                          <m:ctrlPr>
                            <a:rPr sz="2600">
                              <a:solidFill>
                                <a:srgbClr val="173E50"/>
                              </a:solidFill>
                              <a:latin typeface="Cambria Math"/>
                            </a:rPr>
                          </m:ctrlPr>
                        </m:sSubPr>
                        <m:e>
                          <m:r>
                            <a:rPr sz="2600">
                              <a:solidFill>
                                <a:srgbClr val="173E50"/>
                              </a:solidFill>
                              <a:latin typeface="Cambria Math"/>
                            </a:rPr>
                            <m:t>𝑇</m:t>
                          </m:r>
                        </m:e>
                        <m:sub>
                          <m:r>
                            <m:rPr>
                              <m:sty m:val="p"/>
                            </m:rPr>
                            <a:rPr sz="2600">
                              <a:solidFill>
                                <a:srgbClr val="173E50"/>
                              </a:solidFill>
                              <a:latin typeface="Cambria Math"/>
                            </a:rPr>
                            <m:t>brine</m:t>
                          </m:r>
                          <m:r>
                            <a:rPr sz="2600">
                              <a:solidFill>
                                <a:srgbClr val="173E50"/>
                              </a:solidFill>
                              <a:latin typeface="Cambria Math"/>
                            </a:rPr>
                            <m:t>,</m:t>
                          </m:r>
                          <m:r>
                            <m:rPr>
                              <m:sty m:val="p"/>
                            </m:rPr>
                            <a:rPr sz="2600">
                              <a:solidFill>
                                <a:srgbClr val="173E50"/>
                              </a:solidFill>
                              <a:latin typeface="Cambria Math"/>
                            </a:rPr>
                            <m:t>in</m:t>
                          </m:r>
                        </m:sub>
                      </m:sSub>
                      <m:r>
                        <a:rPr sz="2600">
                          <a:solidFill>
                            <a:srgbClr val="173E50"/>
                          </a:solidFill>
                          <a:latin typeface="Cambria Math"/>
                        </a:rPr>
                        <m:t>)</m:t>
                      </m:r>
                    </m:oMath>
                  </m:oMathPara>
                </a14:m>
                <a:endParaRPr lang="en-US" sz="2600">
                  <a:latin typeface="Arial" panose="020B0604020202020204" pitchFamily="34" charset="0"/>
                  <a:cs typeface="Arial" panose="020B0604020202020204" pitchFamily="34" charset="0"/>
                </a:endParaRPr>
              </a:p>
            </p:txBody>
          </p:sp>
        </mc:Choice>
        <mc:Fallback xmlns="">
          <p:sp>
            <p:nvSpPr>
              <p:cNvPr id="494" name="Editable equation 2">
                <a:extLst>
                  <a:ext uri="{FF2B5EF4-FFF2-40B4-BE49-F238E27FC236}">
                    <a16:creationId xmlns:a16="http://schemas.microsoft.com/office/drawing/2014/main" id="{E4344450-68B2-77E1-69F6-5A402C54D183}"/>
                  </a:ext>
                </a:extLst>
              </p:cNvPr>
              <p:cNvSpPr txBox="1">
                <a:spLocks noRot="1" noChangeAspect="1" noMove="1" noResize="1" noEditPoints="1" noAdjustHandles="1" noChangeArrowheads="1" noChangeShapeType="1" noTextEdit="1"/>
              </p:cNvSpPr>
              <p:nvPr/>
            </p:nvSpPr>
            <p:spPr>
              <a:xfrm>
                <a:off x="903605" y="4524375"/>
                <a:ext cx="10953750" cy="730250"/>
              </a:xfrm>
              <a:prstGeom prst="rect">
                <a:avLst/>
              </a:prstGeom>
              <a:blipFill>
                <a:blip r:embed="rId5"/>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8" name="Editable equation 2">
                <a:extLst>
                  <a:ext uri="{FF2B5EF4-FFF2-40B4-BE49-F238E27FC236}">
                    <a16:creationId xmlns:a16="http://schemas.microsoft.com/office/drawing/2014/main" id="{677CB7EE-0CC5-349A-5994-F8C1BEFA2EBE}"/>
                  </a:ext>
                </a:extLst>
              </p:cNvPr>
              <p:cNvSpPr txBox="1"/>
              <p:nvPr/>
            </p:nvSpPr>
            <p:spPr>
              <a:xfrm>
                <a:off x="903605" y="5324475"/>
                <a:ext cx="10953750" cy="730250"/>
              </a:xfrm>
              <a:prstGeom prst="rect">
                <a:avLst/>
              </a:prstGeom>
              <a:noFill/>
              <a:ln>
                <a:noFill/>
              </a:ln>
            </p:spPr>
            <p:txBody>
              <a:bodyPr lIns="0" tIns="0" rIns="0" bIns="0" anchor="ctr"/>
              <a:lstStyle/>
              <a:p>
                <a:pPr algn="ctr">
                  <a:defRPr sz="2600"/>
                </a:pPr>
                <a14:m>
                  <m:oMathPara xmlns:m="http://schemas.openxmlformats.org/officeDocument/2006/math">
                    <m:oMath>
                      <m:sSub>
                        <m:sSubPr>
                          <m:ctrlPr>
                            <a:rPr sz="2600">
                              <a:solidFill>
                                <a:srgbClr val="173E50"/>
                              </a:solidFill>
                              <a:latin typeface="Cambria Math"/>
                            </a:rPr>
                          </m:ctrlPr>
                        </m:sSubPr>
                        <m:e>
                          <m:r>
                            <a:rPr sz="2600">
                              <a:solidFill>
                                <a:srgbClr val="173E50"/>
                              </a:solidFill>
                              <a:latin typeface="Cambria Math"/>
                            </a:rPr>
                            <m:t>𝐶</m:t>
                          </m:r>
                        </m:e>
                        <m:sub>
                          <m:r>
                            <m:rPr>
                              <m:sty m:val="p"/>
                            </m:rPr>
                            <a:rPr sz="2600">
                              <a:solidFill>
                                <a:srgbClr val="173E50"/>
                              </a:solidFill>
                              <a:latin typeface="Cambria Math"/>
                            </a:rPr>
                            <m:t>min</m:t>
                          </m:r>
                        </m:sub>
                      </m:sSub>
                      <m:r>
                        <a:rPr sz="2600">
                          <a:solidFill>
                            <a:srgbClr val="173E50"/>
                          </a:solidFill>
                          <a:latin typeface="Cambria Math"/>
                        </a:rPr>
                        <m:t>=</m:t>
                      </m:r>
                      <m:r>
                        <m:rPr>
                          <m:sty m:val="p"/>
                        </m:rPr>
                        <a:rPr sz="2600">
                          <a:solidFill>
                            <a:srgbClr val="173E50"/>
                          </a:solidFill>
                          <a:latin typeface="Cambria Math"/>
                        </a:rPr>
                        <m:t>min</m:t>
                      </m:r>
                      <m:r>
                        <a:rPr sz="2600">
                          <a:solidFill>
                            <a:srgbClr val="173E50"/>
                          </a:solidFill>
                          <a:latin typeface="Cambria Math"/>
                        </a:rPr>
                        <m:t>(</m:t>
                      </m:r>
                      <m:sSub>
                        <m:sSubPr>
                          <m:ctrlPr>
                            <a:rPr sz="2600">
                              <a:solidFill>
                                <a:srgbClr val="173E50"/>
                              </a:solidFill>
                              <a:latin typeface="Cambria Math"/>
                            </a:rPr>
                          </m:ctrlPr>
                        </m:sSubPr>
                        <m:e>
                          <m:r>
                            <a:rPr sz="2600">
                              <a:solidFill>
                                <a:srgbClr val="173E50"/>
                              </a:solidFill>
                              <a:latin typeface="Cambria Math"/>
                            </a:rPr>
                            <m:t>𝑚</m:t>
                          </m:r>
                          <m:r>
                            <a:rPr sz="2600">
                              <a:solidFill>
                                <a:srgbClr val="173E50"/>
                              </a:solidFill>
                              <a:latin typeface="Cambria Math"/>
                            </a:rPr>
                            <m:t>̇</m:t>
                          </m:r>
                        </m:e>
                        <m:sub>
                          <m:r>
                            <m:rPr>
                              <m:sty m:val="p"/>
                            </m:rPr>
                            <a:rPr sz="2600">
                              <a:solidFill>
                                <a:srgbClr val="173E50"/>
                              </a:solidFill>
                              <a:latin typeface="Cambria Math"/>
                            </a:rPr>
                            <m:t>air</m:t>
                          </m:r>
                        </m:sub>
                      </m:sSub>
                      <m:sSub>
                        <m:sSubPr>
                          <m:ctrlPr>
                            <a:rPr sz="2600">
                              <a:solidFill>
                                <a:srgbClr val="173E50"/>
                              </a:solidFill>
                              <a:latin typeface="Cambria Math"/>
                            </a:rPr>
                          </m:ctrlPr>
                        </m:sSubPr>
                        <m:e>
                          <m:r>
                            <a:rPr sz="2600">
                              <a:solidFill>
                                <a:srgbClr val="173E50"/>
                              </a:solidFill>
                              <a:latin typeface="Cambria Math"/>
                            </a:rPr>
                            <m:t>𝑐</m:t>
                          </m:r>
                        </m:e>
                        <m:sub>
                          <m:r>
                            <m:rPr>
                              <m:sty m:val="p"/>
                            </m:rPr>
                            <a:rPr sz="2600">
                              <a:solidFill>
                                <a:srgbClr val="173E50"/>
                              </a:solidFill>
                              <a:latin typeface="Cambria Math"/>
                            </a:rPr>
                            <m:t>p</m:t>
                          </m:r>
                          <m:r>
                            <a:rPr sz="2600">
                              <a:solidFill>
                                <a:srgbClr val="173E50"/>
                              </a:solidFill>
                              <a:latin typeface="Cambria Math"/>
                            </a:rPr>
                            <m:t>,</m:t>
                          </m:r>
                          <m:r>
                            <m:rPr>
                              <m:sty m:val="p"/>
                            </m:rPr>
                            <a:rPr sz="2600">
                              <a:solidFill>
                                <a:srgbClr val="173E50"/>
                              </a:solidFill>
                              <a:latin typeface="Cambria Math"/>
                            </a:rPr>
                            <m:t>air</m:t>
                          </m:r>
                        </m:sub>
                      </m:sSub>
                      <m:r>
                        <a:rPr sz="2600">
                          <a:solidFill>
                            <a:srgbClr val="173E50"/>
                          </a:solidFill>
                          <a:latin typeface="Cambria Math"/>
                        </a:rPr>
                        <m:t>,</m:t>
                      </m:r>
                      <m:sSub>
                        <m:sSubPr>
                          <m:ctrlPr>
                            <a:rPr sz="2600">
                              <a:solidFill>
                                <a:srgbClr val="173E50"/>
                              </a:solidFill>
                              <a:latin typeface="Cambria Math"/>
                            </a:rPr>
                          </m:ctrlPr>
                        </m:sSubPr>
                        <m:e>
                          <m:r>
                            <a:rPr sz="2600">
                              <a:solidFill>
                                <a:srgbClr val="173E50"/>
                              </a:solidFill>
                              <a:latin typeface="Cambria Math"/>
                            </a:rPr>
                            <m:t>𝑚</m:t>
                          </m:r>
                          <m:r>
                            <a:rPr sz="2600">
                              <a:solidFill>
                                <a:srgbClr val="173E50"/>
                              </a:solidFill>
                              <a:latin typeface="Cambria Math"/>
                            </a:rPr>
                            <m:t>̇</m:t>
                          </m:r>
                        </m:e>
                        <m:sub>
                          <m:r>
                            <m:rPr>
                              <m:sty m:val="p"/>
                            </m:rPr>
                            <a:rPr sz="2600">
                              <a:solidFill>
                                <a:srgbClr val="173E50"/>
                              </a:solidFill>
                              <a:latin typeface="Cambria Math"/>
                            </a:rPr>
                            <m:t>brine</m:t>
                          </m:r>
                        </m:sub>
                      </m:sSub>
                      <m:sSub>
                        <m:sSubPr>
                          <m:ctrlPr>
                            <a:rPr sz="2600">
                              <a:solidFill>
                                <a:srgbClr val="173E50"/>
                              </a:solidFill>
                              <a:latin typeface="Cambria Math"/>
                            </a:rPr>
                          </m:ctrlPr>
                        </m:sSubPr>
                        <m:e>
                          <m:r>
                            <a:rPr sz="2600">
                              <a:solidFill>
                                <a:srgbClr val="173E50"/>
                              </a:solidFill>
                              <a:latin typeface="Cambria Math"/>
                            </a:rPr>
                            <m:t>𝑐</m:t>
                          </m:r>
                        </m:e>
                        <m:sub>
                          <m:r>
                            <m:rPr>
                              <m:sty m:val="p"/>
                            </m:rPr>
                            <a:rPr sz="2600">
                              <a:solidFill>
                                <a:srgbClr val="173E50"/>
                              </a:solidFill>
                              <a:latin typeface="Cambria Math"/>
                            </a:rPr>
                            <m:t>p</m:t>
                          </m:r>
                          <m:r>
                            <a:rPr sz="2600">
                              <a:solidFill>
                                <a:srgbClr val="173E50"/>
                              </a:solidFill>
                              <a:latin typeface="Cambria Math"/>
                            </a:rPr>
                            <m:t>,</m:t>
                          </m:r>
                          <m:r>
                            <m:rPr>
                              <m:sty m:val="p"/>
                            </m:rPr>
                            <a:rPr sz="2600">
                              <a:solidFill>
                                <a:srgbClr val="173E50"/>
                              </a:solidFill>
                              <a:latin typeface="Cambria Math"/>
                            </a:rPr>
                            <m:t>brine</m:t>
                          </m:r>
                        </m:sub>
                      </m:sSub>
                      <m:r>
                        <a:rPr sz="2600">
                          <a:solidFill>
                            <a:srgbClr val="173E50"/>
                          </a:solidFill>
                          <a:latin typeface="Cambria Math"/>
                        </a:rPr>
                        <m:t>)</m:t>
                      </m:r>
                    </m:oMath>
                  </m:oMathPara>
                </a14:m>
                <a:endParaRPr lang="en-US" sz="2600">
                  <a:latin typeface="Arial" panose="020B0604020202020204" pitchFamily="34" charset="0"/>
                  <a:cs typeface="Arial" panose="020B0604020202020204" pitchFamily="34" charset="0"/>
                </a:endParaRPr>
              </a:p>
            </p:txBody>
          </p:sp>
        </mc:Choice>
        <mc:Fallback xmlns="">
          <p:sp>
            <p:nvSpPr>
              <p:cNvPr id="498" name="Editable equation 2">
                <a:extLst>
                  <a:ext uri="{FF2B5EF4-FFF2-40B4-BE49-F238E27FC236}">
                    <a16:creationId xmlns:a16="http://schemas.microsoft.com/office/drawing/2014/main" id="{677CB7EE-0CC5-349A-5994-F8C1BEFA2EBE}"/>
                  </a:ext>
                </a:extLst>
              </p:cNvPr>
              <p:cNvSpPr txBox="1">
                <a:spLocks noRot="1" noChangeAspect="1" noMove="1" noResize="1" noEditPoints="1" noAdjustHandles="1" noChangeArrowheads="1" noChangeShapeType="1" noTextEdit="1"/>
              </p:cNvSpPr>
              <p:nvPr/>
            </p:nvSpPr>
            <p:spPr>
              <a:xfrm>
                <a:off x="903605" y="5324475"/>
                <a:ext cx="10953750" cy="730250"/>
              </a:xfrm>
              <a:prstGeom prst="rect">
                <a:avLst/>
              </a:prstGeom>
              <a:blipFill>
                <a:blip r:embed="rId6"/>
                <a:stretch>
                  <a:fillRect/>
                </a:stretch>
              </a:blipFill>
              <a:ln>
                <a:noFill/>
              </a:ln>
            </p:spPr>
            <p:txBody>
              <a:bodyPr/>
              <a:lstStyle/>
              <a:p>
                <a:r>
                  <a:rPr lang="en-US">
                    <a:noFill/>
                  </a:rPr>
                  <a:t> </a:t>
                </a:r>
              </a:p>
            </p:txBody>
          </p:sp>
        </mc:Fallback>
      </mc:AlternateContent>
      <p:sp>
        <p:nvSpPr>
          <p:cNvPr id="499" name="Rectangle 498">
            <a:extLst>
              <a:ext uri="{FF2B5EF4-FFF2-40B4-BE49-F238E27FC236}">
                <a16:creationId xmlns:a16="http://schemas.microsoft.com/office/drawing/2014/main" id="{FB68686B-8EB3-7598-DA8E-A664B03718CD}"/>
              </a:ext>
            </a:extLst>
          </p:cNvPr>
          <p:cNvSpPr>
            <a:spLocks noGrp="1"/>
          </p:cNvSpPr>
          <p:nvPr/>
        </p:nvSpPr>
        <p:spPr>
          <a:xfrm>
            <a:off x="855980" y="6124575"/>
            <a:ext cx="11049000" cy="285750"/>
          </a:xfrm>
          <a:prstGeom prst="rect">
            <a:avLst/>
          </a:prstGeom>
          <a:noFill/>
          <a:ln w="0">
            <a:noFill/>
          </a:ln>
        </p:spPr>
        <p:txBody>
          <a:bodyPr lIns="0" tIns="0" rIns="0" bIns="0" anchor="ctr">
            <a:noAutofit/>
          </a:bodyPr>
          <a:lstStyle/>
          <a:p>
            <a:pPr algn="l">
              <a:defRPr sz="1275" b="0">
                <a:solidFill>
                  <a:srgbClr val="516B79"/>
                </a:solidFill>
                <a:latin typeface="DejaVu Sans"/>
                <a:ea typeface="DejaVu Sans"/>
                <a:cs typeface="DejaVu Sans"/>
              </a:defRPr>
            </a:pPr>
            <a:r>
              <a:rPr sz="1275" b="0" dirty="0">
                <a:solidFill>
                  <a:srgbClr val="516B79"/>
                </a:solidFill>
                <a:latin typeface="Arial" panose="020B0604020202020204" pitchFamily="34" charset="0"/>
                <a:ea typeface="DejaVu Sans"/>
                <a:cs typeface="Arial" panose="020B0604020202020204" pitchFamily="34" charset="0"/>
              </a:rPr>
              <a:t>ε: effectiveness   C: heat-capacity rate [W/K]   Dry, sensible heat transfer only.</a:t>
            </a:r>
          </a:p>
        </p:txBody>
      </p:sp>
      <p:pic>
        <p:nvPicPr>
          <p:cNvPr id="501" name="Picture 500">
            <a:extLst>
              <a:ext uri="{FF2B5EF4-FFF2-40B4-BE49-F238E27FC236}">
                <a16:creationId xmlns:a16="http://schemas.microsoft.com/office/drawing/2014/main" id="{D5DC68D1-6C2E-5F0B-D50B-5A536AC6C9F9}"/>
              </a:ext>
            </a:extLst>
          </p:cNvPr>
          <p:cNvPicPr>
            <a:picLocks noChangeAspect="1"/>
          </p:cNvPicPr>
          <p:nvPr/>
        </p:nvPicPr>
        <p:blipFill>
          <a:blip r:embed="rId7"/>
          <a:stretch>
            <a:fillRect/>
          </a:stretch>
        </p:blipFill>
        <p:spPr>
          <a:xfrm>
            <a:off x="9955600" y="116905"/>
            <a:ext cx="1784210" cy="1626741"/>
          </a:xfrm>
          <a:prstGeom prst="rect">
            <a:avLst/>
          </a:prstGeom>
        </p:spPr>
      </p:pic>
    </p:spTree>
    <p:extLst>
      <p:ext uri="{BB962C8B-B14F-4D97-AF65-F5344CB8AC3E}">
        <p14:creationId xmlns:p14="http://schemas.microsoft.com/office/powerpoint/2010/main" val="11475498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94">
          <a:extLst>
            <a:ext uri="{FF2B5EF4-FFF2-40B4-BE49-F238E27FC236}">
              <a16:creationId xmlns:a16="http://schemas.microsoft.com/office/drawing/2014/main" id="{8EBC0103-227C-84D3-EE3A-17A4F5CEEF14}"/>
            </a:ext>
          </a:extLst>
        </p:cNvPr>
        <p:cNvGrpSpPr/>
        <p:nvPr/>
      </p:nvGrpSpPr>
      <p:grpSpPr>
        <a:xfrm>
          <a:off x="0" y="0"/>
          <a:ext cx="0" cy="0"/>
          <a:chOff x="0" y="0"/>
          <a:chExt cx="0" cy="0"/>
        </a:xfrm>
      </p:grpSpPr>
      <p:pic>
        <p:nvPicPr>
          <p:cNvPr id="495" name="Google Shape;495;p45" descr="Une image contenant ciel, plein air, nuage, agriculture&#10;&#10;Description générée automatiquement">
            <a:extLst>
              <a:ext uri="{FF2B5EF4-FFF2-40B4-BE49-F238E27FC236}">
                <a16:creationId xmlns:a16="http://schemas.microsoft.com/office/drawing/2014/main" id="{A7DFA77D-16A6-8E2F-5291-1EA753893646}"/>
              </a:ext>
            </a:extLst>
          </p:cNvPr>
          <p:cNvPicPr preferRelativeResize="0"/>
          <p:nvPr/>
        </p:nvPicPr>
        <p:blipFill rotWithShape="1">
          <a:blip r:embed="rId3">
            <a:alphaModFix/>
          </a:blip>
          <a:srcRect l="5973" t="9105" b="15903"/>
          <a:stretch/>
        </p:blipFill>
        <p:spPr>
          <a:xfrm>
            <a:off x="719138" y="0"/>
            <a:ext cx="11472863" cy="6858000"/>
          </a:xfrm>
          <a:prstGeom prst="rect">
            <a:avLst/>
          </a:prstGeom>
          <a:noFill/>
          <a:ln>
            <a:noFill/>
          </a:ln>
        </p:spPr>
      </p:pic>
      <p:sp>
        <p:nvSpPr>
          <p:cNvPr id="496" name="Google Shape;496;p45">
            <a:extLst>
              <a:ext uri="{FF2B5EF4-FFF2-40B4-BE49-F238E27FC236}">
                <a16:creationId xmlns:a16="http://schemas.microsoft.com/office/drawing/2014/main" id="{7F26059E-552B-B789-BA00-A0577324CA01}"/>
              </a:ext>
            </a:extLst>
          </p:cNvPr>
          <p:cNvSpPr/>
          <p:nvPr/>
        </p:nvSpPr>
        <p:spPr>
          <a:xfrm>
            <a:off x="664273" y="0"/>
            <a:ext cx="11527727" cy="6858000"/>
          </a:xfrm>
          <a:prstGeom prst="rect">
            <a:avLst/>
          </a:prstGeom>
          <a:solidFill>
            <a:schemeClr val="lt1">
              <a:alpha val="93725"/>
            </a:schemeClr>
          </a:solidFill>
          <a:ln>
            <a:noFill/>
          </a:ln>
          <a:effectLst>
            <a:outerShdw blurRad="876300" dist="393700" dir="5400000" algn="t" rotWithShape="0">
              <a:srgbClr val="000000">
                <a:alpha val="784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dirty="0">
              <a:solidFill>
                <a:srgbClr val="FF0000"/>
              </a:solidFill>
              <a:latin typeface="Calibri"/>
              <a:ea typeface="Calibri"/>
              <a:cs typeface="Calibri"/>
              <a:sym typeface="Calibri"/>
            </a:endParaRPr>
          </a:p>
        </p:txBody>
      </p:sp>
      <p:sp>
        <p:nvSpPr>
          <p:cNvPr id="497" name="Google Shape;497;p45">
            <a:extLst>
              <a:ext uri="{FF2B5EF4-FFF2-40B4-BE49-F238E27FC236}">
                <a16:creationId xmlns:a16="http://schemas.microsoft.com/office/drawing/2014/main" id="{5B075A7E-2C5F-D5A3-5D04-A211A3E4C07C}"/>
              </a:ext>
            </a:extLst>
          </p:cNvPr>
          <p:cNvSpPr txBox="1"/>
          <p:nvPr/>
        </p:nvSpPr>
        <p:spPr>
          <a:xfrm rot="-5400000">
            <a:off x="-797364" y="5204656"/>
            <a:ext cx="2251455" cy="38856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lt1"/>
                </a:solidFill>
                <a:latin typeface="Nunito Sans SemiBold"/>
                <a:ea typeface="Nunito Sans SemiBold"/>
                <a:cs typeface="Nunito Sans SemiBold"/>
                <a:sym typeface="Nunito Sans SemiBold"/>
              </a:rPr>
              <a:t>AGRICOOL</a:t>
            </a:r>
            <a:endParaRPr sz="1400" b="0" i="0" u="none" strike="noStrike" cap="none">
              <a:solidFill>
                <a:srgbClr val="000000"/>
              </a:solidFill>
              <a:latin typeface="Arial"/>
              <a:ea typeface="Arial"/>
              <a:cs typeface="Arial"/>
              <a:sym typeface="Arial"/>
            </a:endParaRPr>
          </a:p>
        </p:txBody>
      </p:sp>
      <p:pic>
        <p:nvPicPr>
          <p:cNvPr id="503" name="Google Shape;503;p45" descr="Une image contenant capture d’écran, Bleu électrique, Police, Bleu Majorelle&#10;&#10;Description générée automatiquement">
            <a:extLst>
              <a:ext uri="{FF2B5EF4-FFF2-40B4-BE49-F238E27FC236}">
                <a16:creationId xmlns:a16="http://schemas.microsoft.com/office/drawing/2014/main" id="{23506A05-7F8A-3A08-FF35-5EEEEA80CEB3}"/>
              </a:ext>
            </a:extLst>
          </p:cNvPr>
          <p:cNvPicPr preferRelativeResize="0"/>
          <p:nvPr/>
        </p:nvPicPr>
        <p:blipFill rotWithShape="1">
          <a:blip r:embed="rId4">
            <a:alphaModFix/>
          </a:blip>
          <a:srcRect/>
          <a:stretch/>
        </p:blipFill>
        <p:spPr>
          <a:xfrm>
            <a:off x="659183" y="6441981"/>
            <a:ext cx="1729633" cy="384363"/>
          </a:xfrm>
          <a:prstGeom prst="rect">
            <a:avLst/>
          </a:prstGeom>
          <a:noFill/>
          <a:ln>
            <a:noFill/>
          </a:ln>
        </p:spPr>
      </p:pic>
      <p:sp>
        <p:nvSpPr>
          <p:cNvPr id="504" name="Google Shape;504;p45">
            <a:extLst>
              <a:ext uri="{FF2B5EF4-FFF2-40B4-BE49-F238E27FC236}">
                <a16:creationId xmlns:a16="http://schemas.microsoft.com/office/drawing/2014/main" id="{98B42A9C-4BF8-2E52-9EBA-24B1DD37AFE4}"/>
              </a:ext>
            </a:extLst>
          </p:cNvPr>
          <p:cNvSpPr txBox="1">
            <a:spLocks noGrp="1"/>
          </p:cNvSpPr>
          <p:nvPr>
            <p:ph type="dt" idx="10"/>
          </p:nvPr>
        </p:nvSpPr>
        <p:spPr>
          <a:xfrm>
            <a:off x="9332517" y="64262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en-GB" dirty="0"/>
              <a:t>13 September 2026</a:t>
            </a:r>
            <a:endParaRPr dirty="0"/>
          </a:p>
        </p:txBody>
      </p:sp>
      <p:sp>
        <p:nvSpPr>
          <p:cNvPr id="505" name="Google Shape;505;p45">
            <a:extLst>
              <a:ext uri="{FF2B5EF4-FFF2-40B4-BE49-F238E27FC236}">
                <a16:creationId xmlns:a16="http://schemas.microsoft.com/office/drawing/2014/main" id="{967E446A-06C8-3509-BC53-EF95D8B7DB07}"/>
              </a:ext>
            </a:extLst>
          </p:cNvPr>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200"/>
              <a:buNone/>
            </a:pPr>
            <a:fld id="{00000000-1234-1234-1234-123412341234}" type="slidenum">
              <a:rPr lang="en-GB"/>
              <a:t>19</a:t>
            </a:fld>
            <a:endParaRPr dirty="0"/>
          </a:p>
        </p:txBody>
      </p:sp>
      <p:sp>
        <p:nvSpPr>
          <p:cNvPr id="2" name="Rectangle 1">
            <a:extLst>
              <a:ext uri="{FF2B5EF4-FFF2-40B4-BE49-F238E27FC236}">
                <a16:creationId xmlns:a16="http://schemas.microsoft.com/office/drawing/2014/main" id="{BDA5E03F-783B-C842-8B3C-261C98F0BBCE}"/>
              </a:ext>
            </a:extLst>
          </p:cNvPr>
          <p:cNvSpPr>
            <a:spLocks noGrp="1"/>
          </p:cNvSpPr>
          <p:nvPr/>
        </p:nvSpPr>
        <p:spPr>
          <a:xfrm>
            <a:off x="737870" y="-27940"/>
            <a:ext cx="11191875" cy="609600"/>
          </a:xfrm>
          <a:prstGeom prst="rect">
            <a:avLst/>
          </a:prstGeom>
          <a:noFill/>
          <a:ln w="0">
            <a:noFill/>
          </a:ln>
        </p:spPr>
        <p:txBody>
          <a:bodyPr lIns="0" tIns="0" rIns="0" bIns="0" anchor="ctr">
            <a:noAutofit/>
          </a:bodyPr>
          <a:lstStyle/>
          <a:p>
            <a:pPr algn="l">
              <a:defRPr sz="3000" b="1">
                <a:solidFill>
                  <a:srgbClr val="239BC2"/>
                </a:solidFill>
                <a:latin typeface="DejaVu Sans"/>
                <a:ea typeface="DejaVu Sans"/>
                <a:cs typeface="DejaVu Sans"/>
              </a:defRPr>
            </a:pPr>
            <a:r>
              <a:rPr sz="3000" b="1">
                <a:solidFill>
                  <a:srgbClr val="239BC2"/>
                </a:solidFill>
                <a:latin typeface="Arial" panose="020B0604020202020204" pitchFamily="34" charset="0"/>
                <a:ea typeface="DejaVu Sans"/>
                <a:cs typeface="Arial" panose="020B0604020202020204" pitchFamily="34" charset="0"/>
              </a:rPr>
              <a:t>Ice tank: storing cooling</a:t>
            </a:r>
          </a:p>
        </p:txBody>
      </p:sp>
      <p:sp>
        <p:nvSpPr>
          <p:cNvPr id="3" name="Rectangle 2">
            <a:extLst>
              <a:ext uri="{FF2B5EF4-FFF2-40B4-BE49-F238E27FC236}">
                <a16:creationId xmlns:a16="http://schemas.microsoft.com/office/drawing/2014/main" id="{9C697D42-D60B-02AB-16A1-D8A238D10BBA}"/>
              </a:ext>
            </a:extLst>
          </p:cNvPr>
          <p:cNvSpPr>
            <a:spLocks noGrp="1"/>
          </p:cNvSpPr>
          <p:nvPr/>
        </p:nvSpPr>
        <p:spPr>
          <a:xfrm>
            <a:off x="775970" y="676910"/>
            <a:ext cx="11144250" cy="342900"/>
          </a:xfrm>
          <a:prstGeom prst="rect">
            <a:avLst/>
          </a:prstGeom>
          <a:noFill/>
          <a:ln w="0">
            <a:noFill/>
          </a:ln>
        </p:spPr>
        <p:txBody>
          <a:bodyPr lIns="0" tIns="0" rIns="0" bIns="0" anchor="ctr">
            <a:noAutofit/>
          </a:bodyPr>
          <a:lstStyle/>
          <a:p>
            <a:pPr algn="l">
              <a:defRPr sz="1575" b="0">
                <a:solidFill>
                  <a:srgbClr val="5A7582"/>
                </a:solidFill>
                <a:latin typeface="DejaVu Sans"/>
                <a:ea typeface="DejaVu Sans"/>
                <a:cs typeface="DejaVu Sans"/>
              </a:defRPr>
            </a:pPr>
            <a:r>
              <a:rPr sz="1575" b="0">
                <a:solidFill>
                  <a:srgbClr val="5A7582"/>
                </a:solidFill>
                <a:latin typeface="Arial" panose="020B0604020202020204" pitchFamily="34" charset="0"/>
                <a:ea typeface="DejaVu Sans"/>
                <a:cs typeface="Arial" panose="020B0604020202020204" pitchFamily="34" charset="0"/>
              </a:rPr>
              <a:t>Buildings.Fluid.Storage.Ice.Tank</a:t>
            </a:r>
          </a:p>
        </p:txBody>
      </p:sp>
      <p:sp>
        <p:nvSpPr>
          <p:cNvPr id="4" name="Rectangle 3">
            <a:extLst>
              <a:ext uri="{FF2B5EF4-FFF2-40B4-BE49-F238E27FC236}">
                <a16:creationId xmlns:a16="http://schemas.microsoft.com/office/drawing/2014/main" id="{DE3DEB66-9CB8-200E-1B09-29657489CCD4}"/>
              </a:ext>
            </a:extLst>
          </p:cNvPr>
          <p:cNvSpPr>
            <a:spLocks noGrp="1"/>
          </p:cNvSpPr>
          <p:nvPr/>
        </p:nvSpPr>
        <p:spPr>
          <a:xfrm>
            <a:off x="8472170" y="1657985"/>
            <a:ext cx="3381375" cy="1028700"/>
          </a:xfrm>
          <a:prstGeom prst="rect">
            <a:avLst/>
          </a:prstGeom>
          <a:noFill/>
          <a:ln w="0">
            <a:noFill/>
          </a:ln>
        </p:spPr>
        <p:txBody>
          <a:bodyPr lIns="0" tIns="0" rIns="0" bIns="0" anchor="ctr">
            <a:noAutofit/>
          </a:bodyPr>
          <a:lstStyle/>
          <a:p>
            <a:pPr algn="l">
              <a:defRPr sz="1875" b="1">
                <a:solidFill>
                  <a:srgbClr val="173E50"/>
                </a:solidFill>
                <a:latin typeface="DejaVu Sans"/>
                <a:ea typeface="DejaVu Sans"/>
                <a:cs typeface="DejaVu Sans"/>
              </a:defRPr>
            </a:pPr>
            <a:r>
              <a:rPr sz="1875" b="1" dirty="0">
                <a:solidFill>
                  <a:srgbClr val="173E50"/>
                </a:solidFill>
                <a:latin typeface="Arial" panose="020B0604020202020204" pitchFamily="34" charset="0"/>
                <a:ea typeface="DejaVu Sans"/>
                <a:cs typeface="Arial" panose="020B0604020202020204" pitchFamily="34" charset="0"/>
              </a:rPr>
              <a:t>Freezing stores cooling.</a:t>
            </a:r>
          </a:p>
          <a:p>
            <a:pPr algn="l">
              <a:defRPr sz="1875" b="1">
                <a:solidFill>
                  <a:srgbClr val="173E50"/>
                </a:solidFill>
                <a:latin typeface="DejaVu Sans"/>
                <a:ea typeface="DejaVu Sans"/>
                <a:cs typeface="DejaVu Sans"/>
              </a:defRPr>
            </a:pPr>
            <a:r>
              <a:rPr sz="1875" b="1" dirty="0">
                <a:solidFill>
                  <a:srgbClr val="173E50"/>
                </a:solidFill>
                <a:latin typeface="Arial" panose="020B0604020202020204" pitchFamily="34" charset="0"/>
                <a:ea typeface="DejaVu Sans"/>
                <a:cs typeface="Arial" panose="020B0604020202020204" pitchFamily="34" charset="0"/>
              </a:rPr>
              <a:t>Melting </a:t>
            </a:r>
            <a:r>
              <a:rPr lang="en-US" sz="1875" b="1" dirty="0">
                <a:solidFill>
                  <a:srgbClr val="173E50"/>
                </a:solidFill>
                <a:latin typeface="Arial" panose="020B0604020202020204" pitchFamily="34" charset="0"/>
                <a:ea typeface="DejaVu Sans"/>
                <a:cs typeface="Arial" panose="020B0604020202020204" pitchFamily="34" charset="0"/>
              </a:rPr>
              <a:t>releases</a:t>
            </a:r>
            <a:r>
              <a:rPr sz="1875" b="1" dirty="0">
                <a:solidFill>
                  <a:srgbClr val="173E50"/>
                </a:solidFill>
                <a:latin typeface="Arial" panose="020B0604020202020204" pitchFamily="34" charset="0"/>
                <a:ea typeface="DejaVu Sans"/>
                <a:cs typeface="Arial" panose="020B0604020202020204" pitchFamily="34" charset="0"/>
              </a:rPr>
              <a:t> it.</a:t>
            </a:r>
          </a:p>
        </p:txBody>
      </p:sp>
      <p:sp>
        <p:nvSpPr>
          <p:cNvPr id="6" name="Rectangle 5">
            <a:extLst>
              <a:ext uri="{FF2B5EF4-FFF2-40B4-BE49-F238E27FC236}">
                <a16:creationId xmlns:a16="http://schemas.microsoft.com/office/drawing/2014/main" id="{39B8094B-2B7C-6F35-ADD1-492626A731DC}"/>
              </a:ext>
            </a:extLst>
          </p:cNvPr>
          <p:cNvSpPr>
            <a:spLocks noGrp="1"/>
          </p:cNvSpPr>
          <p:nvPr/>
        </p:nvSpPr>
        <p:spPr>
          <a:xfrm>
            <a:off x="8472170" y="2953385"/>
            <a:ext cx="3381375" cy="914400"/>
          </a:xfrm>
          <a:prstGeom prst="rect">
            <a:avLst/>
          </a:prstGeom>
          <a:noFill/>
          <a:ln w="0">
            <a:noFill/>
          </a:ln>
        </p:spPr>
        <p:txBody>
          <a:bodyPr lIns="0" tIns="0" rIns="0" bIns="0" anchor="ctr">
            <a:noAutofit/>
          </a:bodyPr>
          <a:lstStyle/>
          <a:p>
            <a:pPr algn="l">
              <a:defRPr sz="1725" b="0">
                <a:solidFill>
                  <a:srgbClr val="516B79"/>
                </a:solidFill>
                <a:latin typeface="DejaVu Sans"/>
                <a:ea typeface="DejaVu Sans"/>
                <a:cs typeface="DejaVu Sans"/>
              </a:defRPr>
            </a:pPr>
            <a:r>
              <a:rPr sz="1725" b="0">
                <a:solidFill>
                  <a:srgbClr val="516B79"/>
                </a:solidFill>
                <a:latin typeface="Arial" panose="020B0604020202020204" pitchFamily="34" charset="0"/>
                <a:ea typeface="DejaVu Sans"/>
                <a:cs typeface="Arial" panose="020B0604020202020204" pitchFamily="34" charset="0"/>
              </a:rPr>
              <a:t>Charging: T_out &gt; T_in</a:t>
            </a:r>
          </a:p>
          <a:p>
            <a:pPr algn="l">
              <a:defRPr sz="1725" b="0">
                <a:solidFill>
                  <a:srgbClr val="516B79"/>
                </a:solidFill>
                <a:latin typeface="DejaVu Sans"/>
                <a:ea typeface="DejaVu Sans"/>
                <a:cs typeface="DejaVu Sans"/>
              </a:defRPr>
            </a:pPr>
            <a:r>
              <a:rPr sz="1725" b="0">
                <a:solidFill>
                  <a:srgbClr val="516B79"/>
                </a:solidFill>
                <a:latin typeface="Arial" panose="020B0604020202020204" pitchFamily="34" charset="0"/>
                <a:ea typeface="DejaVu Sans"/>
                <a:cs typeface="Arial" panose="020B0604020202020204" pitchFamily="34" charset="0"/>
              </a:rPr>
              <a:t>Discharging: T_out &lt; T_in</a:t>
            </a:r>
          </a:p>
        </p:txBody>
      </p:sp>
      <p:sp>
        <p:nvSpPr>
          <p:cNvPr id="7" name="Rectangle 6">
            <a:extLst>
              <a:ext uri="{FF2B5EF4-FFF2-40B4-BE49-F238E27FC236}">
                <a16:creationId xmlns:a16="http://schemas.microsoft.com/office/drawing/2014/main" id="{64A6009A-1908-BE0B-B106-D52BA449CDD1}"/>
              </a:ext>
            </a:extLst>
          </p:cNvPr>
          <p:cNvSpPr>
            <a:spLocks noGrp="1"/>
          </p:cNvSpPr>
          <p:nvPr/>
        </p:nvSpPr>
        <p:spPr>
          <a:xfrm>
            <a:off x="3185795" y="1524635"/>
            <a:ext cx="2714625" cy="2676525"/>
          </a:xfrm>
          <a:prstGeom prst="rect">
            <a:avLst/>
          </a:prstGeom>
          <a:solidFill>
            <a:srgbClr val="F0F8FB"/>
          </a:solidFill>
          <a:ln w="28575">
            <a:solidFill>
              <a:srgbClr val="173E50"/>
            </a:solidFill>
          </a:ln>
        </p:spPr>
        <p:txBody>
          <a:bodyPr/>
          <a:lstStyle/>
          <a:p>
            <a:endParaRPr lang="en-US">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BD7B565F-7D1D-733C-BD40-220900BFA699}"/>
              </a:ext>
            </a:extLst>
          </p:cNvPr>
          <p:cNvSpPr>
            <a:spLocks noGrp="1"/>
          </p:cNvSpPr>
          <p:nvPr/>
        </p:nvSpPr>
        <p:spPr>
          <a:xfrm>
            <a:off x="3404870" y="1667510"/>
            <a:ext cx="2286000" cy="342900"/>
          </a:xfrm>
          <a:prstGeom prst="rect">
            <a:avLst/>
          </a:prstGeom>
          <a:noFill/>
          <a:ln w="0">
            <a:noFill/>
          </a:ln>
        </p:spPr>
        <p:txBody>
          <a:bodyPr lIns="0" tIns="0" rIns="0" bIns="0" anchor="ctr">
            <a:noAutofit/>
          </a:bodyPr>
          <a:lstStyle/>
          <a:p>
            <a:pPr algn="ctr">
              <a:defRPr sz="1725" b="1">
                <a:solidFill>
                  <a:srgbClr val="173E50"/>
                </a:solidFill>
                <a:latin typeface="DejaVu Sans"/>
                <a:ea typeface="DejaVu Sans"/>
                <a:cs typeface="DejaVu Sans"/>
              </a:defRPr>
            </a:pPr>
            <a:r>
              <a:rPr sz="1725" b="1">
                <a:solidFill>
                  <a:srgbClr val="173E50"/>
                </a:solidFill>
                <a:latin typeface="Arial" panose="020B0604020202020204" pitchFamily="34" charset="0"/>
                <a:ea typeface="DejaVu Sans"/>
                <a:cs typeface="Arial" panose="020B0604020202020204" pitchFamily="34" charset="0"/>
              </a:rPr>
              <a:t>Water + ice</a:t>
            </a:r>
          </a:p>
        </p:txBody>
      </p:sp>
      <p:sp>
        <p:nvSpPr>
          <p:cNvPr id="9" name="Rectangle 8">
            <a:extLst>
              <a:ext uri="{FF2B5EF4-FFF2-40B4-BE49-F238E27FC236}">
                <a16:creationId xmlns:a16="http://schemas.microsoft.com/office/drawing/2014/main" id="{AED5165F-3C60-719E-5004-901E7CE2ACE6}"/>
              </a:ext>
            </a:extLst>
          </p:cNvPr>
          <p:cNvSpPr>
            <a:spLocks noGrp="1"/>
          </p:cNvSpPr>
          <p:nvPr/>
        </p:nvSpPr>
        <p:spPr>
          <a:xfrm>
            <a:off x="3442970" y="2067560"/>
            <a:ext cx="2190750" cy="323850"/>
          </a:xfrm>
          <a:prstGeom prst="rect">
            <a:avLst/>
          </a:prstGeom>
          <a:noFill/>
          <a:ln w="0">
            <a:noFill/>
          </a:ln>
        </p:spPr>
        <p:txBody>
          <a:bodyPr lIns="0" tIns="0" rIns="0" bIns="0" anchor="ctr">
            <a:noAutofit/>
          </a:bodyPr>
          <a:lstStyle/>
          <a:p>
            <a:pPr algn="ctr">
              <a:defRPr sz="1650" b="0">
                <a:solidFill>
                  <a:srgbClr val="173E50"/>
                </a:solidFill>
                <a:latin typeface="DejaVu Sans"/>
                <a:ea typeface="DejaVu Sans"/>
                <a:cs typeface="DejaVu Sans"/>
              </a:defRPr>
            </a:pPr>
            <a:r>
              <a:rPr sz="1650" b="0">
                <a:solidFill>
                  <a:srgbClr val="173E50"/>
                </a:solidFill>
                <a:latin typeface="Arial" panose="020B0604020202020204" pitchFamily="34" charset="0"/>
                <a:ea typeface="DejaVu Sans"/>
                <a:cs typeface="Arial" panose="020B0604020202020204" pitchFamily="34" charset="0"/>
              </a:rPr>
              <a:t>m_PCM, SOC</a:t>
            </a:r>
          </a:p>
        </p:txBody>
      </p:sp>
      <p:sp>
        <p:nvSpPr>
          <p:cNvPr id="10" name="Rectangle 9">
            <a:extLst>
              <a:ext uri="{FF2B5EF4-FFF2-40B4-BE49-F238E27FC236}">
                <a16:creationId xmlns:a16="http://schemas.microsoft.com/office/drawing/2014/main" id="{8700B684-BC80-6718-AA29-82D9E70AD00F}"/>
              </a:ext>
            </a:extLst>
          </p:cNvPr>
          <p:cNvSpPr>
            <a:spLocks noGrp="1"/>
          </p:cNvSpPr>
          <p:nvPr/>
        </p:nvSpPr>
        <p:spPr>
          <a:xfrm>
            <a:off x="3462020" y="2448560"/>
            <a:ext cx="400050" cy="304800"/>
          </a:xfrm>
          <a:prstGeom prst="rect">
            <a:avLst/>
          </a:prstGeom>
          <a:solidFill>
            <a:srgbClr val="FFFFFF"/>
          </a:solidFill>
          <a:ln w="14288">
            <a:solidFill>
              <a:srgbClr val="76B7D1"/>
            </a:solidFill>
          </a:ln>
        </p:spPr>
        <p:txBody>
          <a:bodyPr/>
          <a:lstStyle/>
          <a:p>
            <a:endParaRPr lang="en-US">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B8C56C26-7BC4-F6F6-1B40-945419D0F24B}"/>
              </a:ext>
            </a:extLst>
          </p:cNvPr>
          <p:cNvSpPr>
            <a:spLocks noGrp="1"/>
          </p:cNvSpPr>
          <p:nvPr/>
        </p:nvSpPr>
        <p:spPr>
          <a:xfrm>
            <a:off x="4185920" y="2419985"/>
            <a:ext cx="400050" cy="304800"/>
          </a:xfrm>
          <a:prstGeom prst="rect">
            <a:avLst/>
          </a:prstGeom>
          <a:solidFill>
            <a:srgbClr val="FFFFFF"/>
          </a:solidFill>
          <a:ln w="14288">
            <a:solidFill>
              <a:srgbClr val="76B7D1"/>
            </a:solidFill>
          </a:ln>
        </p:spPr>
        <p:txBody>
          <a:bodyPr/>
          <a:lstStyle/>
          <a:p>
            <a:endParaRPr lang="en-US">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4956A48B-454B-D988-0730-69AF96AEAEAC}"/>
              </a:ext>
            </a:extLst>
          </p:cNvPr>
          <p:cNvSpPr>
            <a:spLocks noGrp="1"/>
          </p:cNvSpPr>
          <p:nvPr/>
        </p:nvSpPr>
        <p:spPr>
          <a:xfrm>
            <a:off x="5005070" y="2477135"/>
            <a:ext cx="400050" cy="304800"/>
          </a:xfrm>
          <a:prstGeom prst="rect">
            <a:avLst/>
          </a:prstGeom>
          <a:solidFill>
            <a:srgbClr val="FFFFFF"/>
          </a:solidFill>
          <a:ln w="14288">
            <a:solidFill>
              <a:srgbClr val="76B7D1"/>
            </a:solidFill>
          </a:ln>
        </p:spPr>
        <p:txBody>
          <a:bodyPr/>
          <a:lstStyle/>
          <a:p>
            <a:endParaRPr lang="en-US">
              <a:latin typeface="Arial" panose="020B0604020202020204" pitchFamily="34" charset="0"/>
              <a:cs typeface="Arial" panose="020B0604020202020204" pitchFamily="34" charset="0"/>
            </a:endParaRPr>
          </a:p>
        </p:txBody>
      </p:sp>
      <p:sp>
        <p:nvSpPr>
          <p:cNvPr id="13" name="Oval 12">
            <a:extLst>
              <a:ext uri="{FF2B5EF4-FFF2-40B4-BE49-F238E27FC236}">
                <a16:creationId xmlns:a16="http://schemas.microsoft.com/office/drawing/2014/main" id="{166DCFAF-4DE3-9FDF-3B4F-E40BBEA4C83C}"/>
              </a:ext>
            </a:extLst>
          </p:cNvPr>
          <p:cNvSpPr>
            <a:spLocks noGrp="1"/>
          </p:cNvSpPr>
          <p:nvPr/>
        </p:nvSpPr>
        <p:spPr>
          <a:xfrm>
            <a:off x="1171258" y="3005773"/>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14" name="Oval 13">
            <a:extLst>
              <a:ext uri="{FF2B5EF4-FFF2-40B4-BE49-F238E27FC236}">
                <a16:creationId xmlns:a16="http://schemas.microsoft.com/office/drawing/2014/main" id="{62B23E12-A276-D605-3CD6-1D7F6978056B}"/>
              </a:ext>
            </a:extLst>
          </p:cNvPr>
          <p:cNvSpPr>
            <a:spLocks noGrp="1"/>
          </p:cNvSpPr>
          <p:nvPr/>
        </p:nvSpPr>
        <p:spPr>
          <a:xfrm>
            <a:off x="3562033" y="3005773"/>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cxnSp>
        <p:nvCxnSpPr>
          <p:cNvPr id="15" name="Straight Arrow Connector 14">
            <a:extLst>
              <a:ext uri="{FF2B5EF4-FFF2-40B4-BE49-F238E27FC236}">
                <a16:creationId xmlns:a16="http://schemas.microsoft.com/office/drawing/2014/main" id="{A85E3832-2D97-A27A-E58D-F8A9E32C22E4}"/>
              </a:ext>
            </a:extLst>
          </p:cNvPr>
          <p:cNvCxnSpPr>
            <a:stCxn id="13" idx="6"/>
            <a:endCxn id="14" idx="2"/>
          </p:cNvCxnSpPr>
          <p:nvPr/>
        </p:nvCxnSpPr>
        <p:spPr>
          <a:xfrm>
            <a:off x="1180783" y="3010536"/>
            <a:ext cx="2381250" cy="0"/>
          </a:xfrm>
          <a:prstGeom prst="straightConnector1">
            <a:avLst/>
          </a:prstGeom>
          <a:ln w="38100">
            <a:solidFill>
              <a:srgbClr val="239BC2"/>
            </a:solidFill>
          </a:ln>
        </p:spPr>
      </p:cxnSp>
      <p:sp>
        <p:nvSpPr>
          <p:cNvPr id="16" name="Oval 15">
            <a:extLst>
              <a:ext uri="{FF2B5EF4-FFF2-40B4-BE49-F238E27FC236}">
                <a16:creationId xmlns:a16="http://schemas.microsoft.com/office/drawing/2014/main" id="{C500B284-EFF6-25B8-B221-EF4499BA1951}"/>
              </a:ext>
            </a:extLst>
          </p:cNvPr>
          <p:cNvSpPr>
            <a:spLocks noGrp="1"/>
          </p:cNvSpPr>
          <p:nvPr/>
        </p:nvSpPr>
        <p:spPr>
          <a:xfrm>
            <a:off x="3562033" y="3005773"/>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17" name="Oval 16">
            <a:extLst>
              <a:ext uri="{FF2B5EF4-FFF2-40B4-BE49-F238E27FC236}">
                <a16:creationId xmlns:a16="http://schemas.microsoft.com/office/drawing/2014/main" id="{E7B734EA-B2BE-0F15-9A0D-5B1EA4FD7C91}"/>
              </a:ext>
            </a:extLst>
          </p:cNvPr>
          <p:cNvSpPr>
            <a:spLocks noGrp="1"/>
          </p:cNvSpPr>
          <p:nvPr/>
        </p:nvSpPr>
        <p:spPr>
          <a:xfrm>
            <a:off x="3562033" y="339629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cxnSp>
        <p:nvCxnSpPr>
          <p:cNvPr id="18" name="Straight Arrow Connector 17">
            <a:extLst>
              <a:ext uri="{FF2B5EF4-FFF2-40B4-BE49-F238E27FC236}">
                <a16:creationId xmlns:a16="http://schemas.microsoft.com/office/drawing/2014/main" id="{D2C72456-D160-8630-CA77-A859022F51F0}"/>
              </a:ext>
            </a:extLst>
          </p:cNvPr>
          <p:cNvCxnSpPr>
            <a:stCxn id="16" idx="4"/>
            <a:endCxn id="17" idx="0"/>
          </p:cNvCxnSpPr>
          <p:nvPr/>
        </p:nvCxnSpPr>
        <p:spPr>
          <a:xfrm>
            <a:off x="3566796" y="3015298"/>
            <a:ext cx="0" cy="381000"/>
          </a:xfrm>
          <a:prstGeom prst="straightConnector1">
            <a:avLst/>
          </a:prstGeom>
          <a:ln w="38100">
            <a:solidFill>
              <a:srgbClr val="239BC2"/>
            </a:solidFill>
          </a:ln>
        </p:spPr>
      </p:cxnSp>
      <p:sp>
        <p:nvSpPr>
          <p:cNvPr id="19" name="Oval 18">
            <a:extLst>
              <a:ext uri="{FF2B5EF4-FFF2-40B4-BE49-F238E27FC236}">
                <a16:creationId xmlns:a16="http://schemas.microsoft.com/office/drawing/2014/main" id="{672C3E6F-7A1C-BDEC-93F1-3C4D0E9A0F88}"/>
              </a:ext>
            </a:extLst>
          </p:cNvPr>
          <p:cNvSpPr>
            <a:spLocks noGrp="1"/>
          </p:cNvSpPr>
          <p:nvPr/>
        </p:nvSpPr>
        <p:spPr>
          <a:xfrm>
            <a:off x="3562033" y="339629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20" name="Oval 19">
            <a:extLst>
              <a:ext uri="{FF2B5EF4-FFF2-40B4-BE49-F238E27FC236}">
                <a16:creationId xmlns:a16="http://schemas.microsoft.com/office/drawing/2014/main" id="{E4DE2471-5682-8B7A-F33C-A778DBA62E17}"/>
              </a:ext>
            </a:extLst>
          </p:cNvPr>
          <p:cNvSpPr>
            <a:spLocks noGrp="1"/>
          </p:cNvSpPr>
          <p:nvPr/>
        </p:nvSpPr>
        <p:spPr>
          <a:xfrm>
            <a:off x="5495608" y="339629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cxnSp>
        <p:nvCxnSpPr>
          <p:cNvPr id="21" name="Straight Arrow Connector 20">
            <a:extLst>
              <a:ext uri="{FF2B5EF4-FFF2-40B4-BE49-F238E27FC236}">
                <a16:creationId xmlns:a16="http://schemas.microsoft.com/office/drawing/2014/main" id="{68F21BED-BECF-AC42-30A9-919D6A7856A2}"/>
              </a:ext>
            </a:extLst>
          </p:cNvPr>
          <p:cNvCxnSpPr>
            <a:stCxn id="19" idx="6"/>
            <a:endCxn id="20" idx="2"/>
          </p:cNvCxnSpPr>
          <p:nvPr/>
        </p:nvCxnSpPr>
        <p:spPr>
          <a:xfrm>
            <a:off x="3571558" y="3401061"/>
            <a:ext cx="1924050" cy="0"/>
          </a:xfrm>
          <a:prstGeom prst="straightConnector1">
            <a:avLst/>
          </a:prstGeom>
          <a:ln w="38100">
            <a:solidFill>
              <a:srgbClr val="239BC2"/>
            </a:solidFill>
          </a:ln>
        </p:spPr>
      </p:cxnSp>
      <p:sp>
        <p:nvSpPr>
          <p:cNvPr id="22" name="Oval 21">
            <a:extLst>
              <a:ext uri="{FF2B5EF4-FFF2-40B4-BE49-F238E27FC236}">
                <a16:creationId xmlns:a16="http://schemas.microsoft.com/office/drawing/2014/main" id="{5B64FFFA-A62B-87C9-36AD-835BEC04F468}"/>
              </a:ext>
            </a:extLst>
          </p:cNvPr>
          <p:cNvSpPr>
            <a:spLocks noGrp="1"/>
          </p:cNvSpPr>
          <p:nvPr/>
        </p:nvSpPr>
        <p:spPr>
          <a:xfrm>
            <a:off x="5495608" y="339629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23" name="Oval 22">
            <a:extLst>
              <a:ext uri="{FF2B5EF4-FFF2-40B4-BE49-F238E27FC236}">
                <a16:creationId xmlns:a16="http://schemas.microsoft.com/office/drawing/2014/main" id="{269415A5-D4AB-A5E1-5435-D9CE9FEEE36C}"/>
              </a:ext>
            </a:extLst>
          </p:cNvPr>
          <p:cNvSpPr>
            <a:spLocks noGrp="1"/>
          </p:cNvSpPr>
          <p:nvPr/>
        </p:nvSpPr>
        <p:spPr>
          <a:xfrm>
            <a:off x="5495608" y="381539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cxnSp>
        <p:nvCxnSpPr>
          <p:cNvPr id="24" name="Straight Arrow Connector 23">
            <a:extLst>
              <a:ext uri="{FF2B5EF4-FFF2-40B4-BE49-F238E27FC236}">
                <a16:creationId xmlns:a16="http://schemas.microsoft.com/office/drawing/2014/main" id="{D0D0546E-0753-56C2-A4A2-5AACE71BD07C}"/>
              </a:ext>
            </a:extLst>
          </p:cNvPr>
          <p:cNvCxnSpPr>
            <a:stCxn id="22" idx="4"/>
            <a:endCxn id="23" idx="0"/>
          </p:cNvCxnSpPr>
          <p:nvPr/>
        </p:nvCxnSpPr>
        <p:spPr>
          <a:xfrm>
            <a:off x="5500371" y="3405823"/>
            <a:ext cx="0" cy="409575"/>
          </a:xfrm>
          <a:prstGeom prst="straightConnector1">
            <a:avLst/>
          </a:prstGeom>
          <a:ln w="38100">
            <a:solidFill>
              <a:srgbClr val="239BC2"/>
            </a:solidFill>
          </a:ln>
        </p:spPr>
      </p:cxnSp>
      <p:sp>
        <p:nvSpPr>
          <p:cNvPr id="25" name="Oval 24">
            <a:extLst>
              <a:ext uri="{FF2B5EF4-FFF2-40B4-BE49-F238E27FC236}">
                <a16:creationId xmlns:a16="http://schemas.microsoft.com/office/drawing/2014/main" id="{D529FA24-B6AE-2E48-BBD1-4B25FFA33D49}"/>
              </a:ext>
            </a:extLst>
          </p:cNvPr>
          <p:cNvSpPr>
            <a:spLocks noGrp="1"/>
          </p:cNvSpPr>
          <p:nvPr/>
        </p:nvSpPr>
        <p:spPr>
          <a:xfrm>
            <a:off x="5495608" y="381539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26" name="Oval 25">
            <a:extLst>
              <a:ext uri="{FF2B5EF4-FFF2-40B4-BE49-F238E27FC236}">
                <a16:creationId xmlns:a16="http://schemas.microsoft.com/office/drawing/2014/main" id="{CDB36278-818A-3013-E594-63647D4DA19A}"/>
              </a:ext>
            </a:extLst>
          </p:cNvPr>
          <p:cNvSpPr>
            <a:spLocks noGrp="1"/>
          </p:cNvSpPr>
          <p:nvPr/>
        </p:nvSpPr>
        <p:spPr>
          <a:xfrm>
            <a:off x="7867333" y="381539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cxnSp>
        <p:nvCxnSpPr>
          <p:cNvPr id="27" name="Straight Arrow Connector 26">
            <a:extLst>
              <a:ext uri="{FF2B5EF4-FFF2-40B4-BE49-F238E27FC236}">
                <a16:creationId xmlns:a16="http://schemas.microsoft.com/office/drawing/2014/main" id="{5BEE5332-4808-9F83-3E64-57B77BD9DC33}"/>
              </a:ext>
            </a:extLst>
          </p:cNvPr>
          <p:cNvCxnSpPr>
            <a:stCxn id="25" idx="6"/>
            <a:endCxn id="26" idx="2"/>
          </p:cNvCxnSpPr>
          <p:nvPr/>
        </p:nvCxnSpPr>
        <p:spPr>
          <a:xfrm>
            <a:off x="5505133" y="3820161"/>
            <a:ext cx="2362200" cy="0"/>
          </a:xfrm>
          <a:prstGeom prst="straightConnector1">
            <a:avLst/>
          </a:prstGeom>
          <a:ln w="38100">
            <a:solidFill>
              <a:srgbClr val="239BC2"/>
            </a:solidFill>
          </a:ln>
        </p:spPr>
      </p:cxnSp>
      <p:sp>
        <p:nvSpPr>
          <p:cNvPr id="28" name="Oval 27">
            <a:extLst>
              <a:ext uri="{FF2B5EF4-FFF2-40B4-BE49-F238E27FC236}">
                <a16:creationId xmlns:a16="http://schemas.microsoft.com/office/drawing/2014/main" id="{47CCEB00-1798-D03E-9F4D-846D33829283}"/>
              </a:ext>
            </a:extLst>
          </p:cNvPr>
          <p:cNvSpPr>
            <a:spLocks noGrp="1"/>
          </p:cNvSpPr>
          <p:nvPr/>
        </p:nvSpPr>
        <p:spPr>
          <a:xfrm>
            <a:off x="1171258" y="3005773"/>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29" name="Oval 28">
            <a:extLst>
              <a:ext uri="{FF2B5EF4-FFF2-40B4-BE49-F238E27FC236}">
                <a16:creationId xmlns:a16="http://schemas.microsoft.com/office/drawing/2014/main" id="{39E2BFB3-1BB0-8683-4CDF-475E6A686197}"/>
              </a:ext>
            </a:extLst>
          </p:cNvPr>
          <p:cNvSpPr>
            <a:spLocks noGrp="1"/>
          </p:cNvSpPr>
          <p:nvPr/>
        </p:nvSpPr>
        <p:spPr>
          <a:xfrm>
            <a:off x="2971483" y="3005773"/>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cxnSp>
        <p:nvCxnSpPr>
          <p:cNvPr id="30" name="Straight Arrow Connector 29">
            <a:extLst>
              <a:ext uri="{FF2B5EF4-FFF2-40B4-BE49-F238E27FC236}">
                <a16:creationId xmlns:a16="http://schemas.microsoft.com/office/drawing/2014/main" id="{FA90A88D-6E1F-60AA-545A-DCBB92A9EF75}"/>
              </a:ext>
            </a:extLst>
          </p:cNvPr>
          <p:cNvCxnSpPr>
            <a:stCxn id="28" idx="6"/>
            <a:endCxn id="29" idx="2"/>
          </p:cNvCxnSpPr>
          <p:nvPr/>
        </p:nvCxnSpPr>
        <p:spPr>
          <a:xfrm>
            <a:off x="1180783" y="3010536"/>
            <a:ext cx="1790700" cy="0"/>
          </a:xfrm>
          <a:prstGeom prst="straightConnector1">
            <a:avLst/>
          </a:prstGeom>
          <a:ln w="38100">
            <a:solidFill>
              <a:srgbClr val="239BC2"/>
            </a:solidFill>
            <a:tailEnd type="triangle" w="med" len="med"/>
          </a:ln>
        </p:spPr>
      </p:cxnSp>
      <p:sp>
        <p:nvSpPr>
          <p:cNvPr id="31" name="Oval 30">
            <a:extLst>
              <a:ext uri="{FF2B5EF4-FFF2-40B4-BE49-F238E27FC236}">
                <a16:creationId xmlns:a16="http://schemas.microsoft.com/office/drawing/2014/main" id="{573D9E62-BB3F-FBBE-3221-0B068A36C338}"/>
              </a:ext>
            </a:extLst>
          </p:cNvPr>
          <p:cNvSpPr>
            <a:spLocks noGrp="1"/>
          </p:cNvSpPr>
          <p:nvPr/>
        </p:nvSpPr>
        <p:spPr>
          <a:xfrm>
            <a:off x="6124258" y="381539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480" name="Oval 479">
            <a:extLst>
              <a:ext uri="{FF2B5EF4-FFF2-40B4-BE49-F238E27FC236}">
                <a16:creationId xmlns:a16="http://schemas.microsoft.com/office/drawing/2014/main" id="{78FEB592-B4A9-6A5E-463E-E210ECC74041}"/>
              </a:ext>
            </a:extLst>
          </p:cNvPr>
          <p:cNvSpPr>
            <a:spLocks noGrp="1"/>
          </p:cNvSpPr>
          <p:nvPr/>
        </p:nvSpPr>
        <p:spPr>
          <a:xfrm>
            <a:off x="7867333" y="381539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cxnSp>
        <p:nvCxnSpPr>
          <p:cNvPr id="481" name="Straight Arrow Connector 480">
            <a:extLst>
              <a:ext uri="{FF2B5EF4-FFF2-40B4-BE49-F238E27FC236}">
                <a16:creationId xmlns:a16="http://schemas.microsoft.com/office/drawing/2014/main" id="{CA25DFEB-2149-4BAD-53A9-75663B32769D}"/>
              </a:ext>
            </a:extLst>
          </p:cNvPr>
          <p:cNvCxnSpPr>
            <a:stCxn id="31" idx="6"/>
            <a:endCxn id="480" idx="2"/>
          </p:cNvCxnSpPr>
          <p:nvPr/>
        </p:nvCxnSpPr>
        <p:spPr>
          <a:xfrm>
            <a:off x="6133783" y="3820161"/>
            <a:ext cx="1733550" cy="0"/>
          </a:xfrm>
          <a:prstGeom prst="straightConnector1">
            <a:avLst/>
          </a:prstGeom>
          <a:ln w="38100">
            <a:solidFill>
              <a:srgbClr val="239BC2"/>
            </a:solidFill>
            <a:tailEnd type="triangle" w="med" len="med"/>
          </a:ln>
        </p:spPr>
      </p:cxnSp>
      <p:sp>
        <p:nvSpPr>
          <p:cNvPr id="482" name="Rectangle 481">
            <a:extLst>
              <a:ext uri="{FF2B5EF4-FFF2-40B4-BE49-F238E27FC236}">
                <a16:creationId xmlns:a16="http://schemas.microsoft.com/office/drawing/2014/main" id="{6BEA40F0-9F27-51EB-D6D8-8BDC561A6EED}"/>
              </a:ext>
            </a:extLst>
          </p:cNvPr>
          <p:cNvSpPr>
            <a:spLocks noGrp="1"/>
          </p:cNvSpPr>
          <p:nvPr/>
        </p:nvSpPr>
        <p:spPr>
          <a:xfrm>
            <a:off x="928370" y="2286635"/>
            <a:ext cx="2057400" cy="628650"/>
          </a:xfrm>
          <a:prstGeom prst="rect">
            <a:avLst/>
          </a:prstGeom>
          <a:noFill/>
          <a:ln w="0">
            <a:noFill/>
          </a:ln>
        </p:spPr>
        <p:txBody>
          <a:bodyPr lIns="0" tIns="0" rIns="0" bIns="0" anchor="ctr">
            <a:noAutofit/>
          </a:bodyPr>
          <a:lstStyle/>
          <a:p>
            <a:pPr algn="l">
              <a:defRPr sz="1725" b="0">
                <a:solidFill>
                  <a:srgbClr val="173E50"/>
                </a:solidFill>
                <a:latin typeface="DejaVu Sans"/>
                <a:ea typeface="DejaVu Sans"/>
                <a:cs typeface="DejaVu Sans"/>
              </a:defRPr>
            </a:pPr>
            <a:r>
              <a:rPr sz="1725" b="0">
                <a:solidFill>
                  <a:srgbClr val="173E50"/>
                </a:solidFill>
                <a:latin typeface="Arial" panose="020B0604020202020204" pitchFamily="34" charset="0"/>
                <a:ea typeface="DejaVu Sans"/>
                <a:cs typeface="Arial" panose="020B0604020202020204" pitchFamily="34" charset="0"/>
              </a:rPr>
              <a:t>Brine inlet</a:t>
            </a:r>
          </a:p>
          <a:p>
            <a:pPr algn="l">
              <a:defRPr sz="1725" b="0">
                <a:solidFill>
                  <a:srgbClr val="173E50"/>
                </a:solidFill>
                <a:latin typeface="DejaVu Sans"/>
                <a:ea typeface="DejaVu Sans"/>
                <a:cs typeface="DejaVu Sans"/>
              </a:defRPr>
            </a:pPr>
            <a:r>
              <a:rPr sz="1725" b="0">
                <a:solidFill>
                  <a:srgbClr val="173E50"/>
                </a:solidFill>
                <a:latin typeface="Arial" panose="020B0604020202020204" pitchFamily="34" charset="0"/>
                <a:ea typeface="DejaVu Sans"/>
                <a:cs typeface="Arial" panose="020B0604020202020204" pitchFamily="34" charset="0"/>
              </a:rPr>
              <a:t>T_in, ṁ, cₚ</a:t>
            </a:r>
          </a:p>
        </p:txBody>
      </p:sp>
      <p:sp>
        <p:nvSpPr>
          <p:cNvPr id="483" name="Rectangle 482">
            <a:extLst>
              <a:ext uri="{FF2B5EF4-FFF2-40B4-BE49-F238E27FC236}">
                <a16:creationId xmlns:a16="http://schemas.microsoft.com/office/drawing/2014/main" id="{BF1C560F-4C1A-8AA4-D28D-4B65DBC62967}"/>
              </a:ext>
            </a:extLst>
          </p:cNvPr>
          <p:cNvSpPr>
            <a:spLocks noGrp="1"/>
          </p:cNvSpPr>
          <p:nvPr/>
        </p:nvSpPr>
        <p:spPr>
          <a:xfrm>
            <a:off x="6129020" y="3086735"/>
            <a:ext cx="2095500" cy="638175"/>
          </a:xfrm>
          <a:prstGeom prst="rect">
            <a:avLst/>
          </a:prstGeom>
          <a:noFill/>
          <a:ln w="0">
            <a:noFill/>
          </a:ln>
        </p:spPr>
        <p:txBody>
          <a:bodyPr lIns="0" tIns="0" rIns="0" bIns="0" anchor="ctr">
            <a:noAutofit/>
          </a:bodyPr>
          <a:lstStyle/>
          <a:p>
            <a:pPr algn="l">
              <a:defRPr sz="1725" b="0">
                <a:solidFill>
                  <a:srgbClr val="173E50"/>
                </a:solidFill>
                <a:latin typeface="DejaVu Sans"/>
                <a:ea typeface="DejaVu Sans"/>
                <a:cs typeface="DejaVu Sans"/>
              </a:defRPr>
            </a:pPr>
            <a:r>
              <a:rPr sz="1725" b="0">
                <a:solidFill>
                  <a:srgbClr val="173E50"/>
                </a:solidFill>
                <a:latin typeface="Arial" panose="020B0604020202020204" pitchFamily="34" charset="0"/>
                <a:ea typeface="DejaVu Sans"/>
                <a:cs typeface="Arial" panose="020B0604020202020204" pitchFamily="34" charset="0"/>
              </a:rPr>
              <a:t>Brine outlet</a:t>
            </a:r>
          </a:p>
          <a:p>
            <a:pPr algn="l">
              <a:defRPr sz="1725" b="0">
                <a:solidFill>
                  <a:srgbClr val="173E50"/>
                </a:solidFill>
                <a:latin typeface="DejaVu Sans"/>
                <a:ea typeface="DejaVu Sans"/>
                <a:cs typeface="DejaVu Sans"/>
              </a:defRPr>
            </a:pPr>
            <a:r>
              <a:rPr sz="1725" b="0">
                <a:solidFill>
                  <a:srgbClr val="173E50"/>
                </a:solidFill>
                <a:latin typeface="Arial" panose="020B0604020202020204" pitchFamily="34" charset="0"/>
                <a:ea typeface="DejaVu Sans"/>
                <a:cs typeface="Arial" panose="020B0604020202020204" pitchFamily="34" charset="0"/>
              </a:rPr>
              <a:t>T_out</a:t>
            </a:r>
          </a:p>
        </p:txBody>
      </p:sp>
      <p:sp>
        <p:nvSpPr>
          <p:cNvPr id="484" name="Rectangle 483">
            <a:extLst>
              <a:ext uri="{FF2B5EF4-FFF2-40B4-BE49-F238E27FC236}">
                <a16:creationId xmlns:a16="http://schemas.microsoft.com/office/drawing/2014/main" id="{61A6A2D3-24A3-DDC3-57DE-0C5FD15FEC10}"/>
              </a:ext>
            </a:extLst>
          </p:cNvPr>
          <p:cNvSpPr>
            <a:spLocks noGrp="1"/>
          </p:cNvSpPr>
          <p:nvPr/>
        </p:nvSpPr>
        <p:spPr>
          <a:xfrm>
            <a:off x="3366770" y="3810635"/>
            <a:ext cx="2247900" cy="285750"/>
          </a:xfrm>
          <a:prstGeom prst="rect">
            <a:avLst/>
          </a:prstGeom>
          <a:noFill/>
          <a:ln w="0">
            <a:noFill/>
          </a:ln>
        </p:spPr>
        <p:txBody>
          <a:bodyPr lIns="0" tIns="0" rIns="0" bIns="0" anchor="ctr">
            <a:noAutofit/>
          </a:bodyPr>
          <a:lstStyle/>
          <a:p>
            <a:pPr algn="ctr">
              <a:defRPr sz="1425" b="0">
                <a:solidFill>
                  <a:srgbClr val="173E50"/>
                </a:solidFill>
                <a:latin typeface="DejaVu Sans"/>
                <a:ea typeface="DejaVu Sans"/>
                <a:cs typeface="DejaVu Sans"/>
              </a:defRPr>
            </a:pPr>
            <a:r>
              <a:rPr sz="1425" b="0">
                <a:solidFill>
                  <a:srgbClr val="173E50"/>
                </a:solidFill>
                <a:latin typeface="Arial" panose="020B0604020202020204" pitchFamily="34" charset="0"/>
                <a:ea typeface="DejaVu Sans"/>
                <a:cs typeface="Arial" panose="020B0604020202020204" pitchFamily="34" charset="0"/>
              </a:rPr>
              <a:t>Embedded coil</a:t>
            </a:r>
          </a:p>
        </p:txBody>
      </p:sp>
      <mc:AlternateContent xmlns:mc="http://schemas.openxmlformats.org/markup-compatibility/2006">
        <mc:Choice xmlns:a14="http://schemas.microsoft.com/office/drawing/2010/main" Requires="a14">
          <p:sp>
            <p:nvSpPr>
              <p:cNvPr id="485" name="Editable equation 3">
                <a:extLst>
                  <a:ext uri="{FF2B5EF4-FFF2-40B4-BE49-F238E27FC236}">
                    <a16:creationId xmlns:a16="http://schemas.microsoft.com/office/drawing/2014/main" id="{D7E8377D-9A29-D753-B47C-C9D3F99EFF2E}"/>
                  </a:ext>
                </a:extLst>
              </p:cNvPr>
              <p:cNvSpPr txBox="1"/>
              <p:nvPr/>
            </p:nvSpPr>
            <p:spPr>
              <a:xfrm>
                <a:off x="795020" y="4394835"/>
                <a:ext cx="3790950" cy="730250"/>
              </a:xfrm>
              <a:prstGeom prst="rect">
                <a:avLst/>
              </a:prstGeom>
              <a:noFill/>
              <a:ln>
                <a:noFill/>
              </a:ln>
            </p:spPr>
            <p:txBody>
              <a:bodyPr lIns="0" tIns="0" rIns="0" bIns="0" anchor="ctr"/>
              <a:lstStyle/>
              <a:p>
                <a:pPr algn="ctr">
                  <a:defRPr sz="2600"/>
                </a:pPr>
                <a14:m>
                  <m:oMathPara xmlns:m="http://schemas.openxmlformats.org/officeDocument/2006/math">
                    <m:oMath>
                      <m:sSub>
                        <m:sSubPr>
                          <m:ctrlPr>
                            <a:rPr sz="2600">
                              <a:solidFill>
                                <a:srgbClr val="173E50"/>
                              </a:solidFill>
                              <a:latin typeface="Cambria Math"/>
                            </a:rPr>
                          </m:ctrlPr>
                        </m:sSubPr>
                        <m:e>
                          <m:r>
                            <a:rPr sz="2600">
                              <a:solidFill>
                                <a:srgbClr val="173E50"/>
                              </a:solidFill>
                              <a:latin typeface="Cambria Math"/>
                            </a:rPr>
                            <m:t>𝐸</m:t>
                          </m:r>
                        </m:e>
                        <m:sub>
                          <m:r>
                            <m:rPr>
                              <m:sty m:val="p"/>
                            </m:rPr>
                            <a:rPr sz="2600">
                              <a:solidFill>
                                <a:srgbClr val="173E50"/>
                              </a:solidFill>
                              <a:latin typeface="Cambria Math"/>
                            </a:rPr>
                            <m:t>max</m:t>
                          </m:r>
                        </m:sub>
                      </m:sSub>
                      <m:r>
                        <a:rPr sz="2600">
                          <a:solidFill>
                            <a:srgbClr val="173E50"/>
                          </a:solidFill>
                          <a:latin typeface="Cambria Math"/>
                        </a:rPr>
                        <m:t>=</m:t>
                      </m:r>
                      <m:sSub>
                        <m:sSubPr>
                          <m:ctrlPr>
                            <a:rPr sz="2600">
                              <a:solidFill>
                                <a:srgbClr val="173E50"/>
                              </a:solidFill>
                              <a:latin typeface="Cambria Math"/>
                            </a:rPr>
                          </m:ctrlPr>
                        </m:sSubPr>
                        <m:e>
                          <m:r>
                            <a:rPr sz="2600">
                              <a:solidFill>
                                <a:srgbClr val="173E50"/>
                              </a:solidFill>
                              <a:latin typeface="Cambria Math"/>
                            </a:rPr>
                            <m:t>𝑚</m:t>
                          </m:r>
                        </m:e>
                        <m:sub>
                          <m:r>
                            <m:rPr>
                              <m:sty m:val="p"/>
                            </m:rPr>
                            <a:rPr sz="2600">
                              <a:solidFill>
                                <a:srgbClr val="173E50"/>
                              </a:solidFill>
                              <a:latin typeface="Cambria Math"/>
                            </a:rPr>
                            <m:t>PCM</m:t>
                          </m:r>
                        </m:sub>
                      </m:sSub>
                      <m:r>
                        <a:rPr sz="2600">
                          <a:solidFill>
                            <a:srgbClr val="173E50"/>
                          </a:solidFill>
                          <a:latin typeface="Cambria Math"/>
                        </a:rPr>
                        <m:t>𝐿</m:t>
                      </m:r>
                    </m:oMath>
                  </m:oMathPara>
                </a14:m>
                <a:endParaRPr lang="en-US" sz="2600" dirty="0">
                  <a:latin typeface="Arial" panose="020B0604020202020204" pitchFamily="34" charset="0"/>
                  <a:cs typeface="Arial" panose="020B0604020202020204" pitchFamily="34" charset="0"/>
                </a:endParaRPr>
              </a:p>
            </p:txBody>
          </p:sp>
        </mc:Choice>
        <mc:Fallback>
          <p:sp>
            <p:nvSpPr>
              <p:cNvPr id="485" name="Editable equation 3">
                <a:extLst>
                  <a:ext uri="{FF2B5EF4-FFF2-40B4-BE49-F238E27FC236}">
                    <a16:creationId xmlns:a16="http://schemas.microsoft.com/office/drawing/2014/main" id="{D7E8377D-9A29-D753-B47C-C9D3F99EFF2E}"/>
                  </a:ext>
                </a:extLst>
              </p:cNvPr>
              <p:cNvSpPr txBox="1">
                <a:spLocks noRot="1" noChangeAspect="1" noMove="1" noResize="1" noEditPoints="1" noAdjustHandles="1" noChangeArrowheads="1" noChangeShapeType="1" noTextEdit="1"/>
              </p:cNvSpPr>
              <p:nvPr/>
            </p:nvSpPr>
            <p:spPr>
              <a:xfrm>
                <a:off x="795020" y="4394835"/>
                <a:ext cx="3790950" cy="730250"/>
              </a:xfrm>
              <a:prstGeom prst="rect">
                <a:avLst/>
              </a:prstGeom>
              <a:blipFill>
                <a:blip r:embed="rId5"/>
                <a:stretch>
                  <a:fillRect/>
                </a:stretch>
              </a:blipFill>
              <a:ln>
                <a:no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86" name="Editable equation 3">
                <a:extLst>
                  <a:ext uri="{FF2B5EF4-FFF2-40B4-BE49-F238E27FC236}">
                    <a16:creationId xmlns:a16="http://schemas.microsoft.com/office/drawing/2014/main" id="{8161ED47-4F0A-0223-CC23-AC60B0B56E52}"/>
                  </a:ext>
                </a:extLst>
              </p:cNvPr>
              <p:cNvSpPr txBox="1"/>
              <p:nvPr/>
            </p:nvSpPr>
            <p:spPr>
              <a:xfrm>
                <a:off x="5051231" y="4394835"/>
                <a:ext cx="7140770" cy="730250"/>
              </a:xfrm>
              <a:prstGeom prst="rect">
                <a:avLst/>
              </a:prstGeom>
              <a:noFill/>
              <a:ln>
                <a:noFill/>
              </a:ln>
            </p:spPr>
            <p:txBody>
              <a:bodyPr lIns="0" tIns="0" rIns="0" bIns="0" anchor="ctr"/>
              <a:lstStyle/>
              <a:p>
                <a:pPr algn="ctr">
                  <a:defRPr sz="2600"/>
                </a:pPr>
                <a14:m>
                  <m:oMathPara xmlns:m="http://schemas.openxmlformats.org/officeDocument/2006/math">
                    <m:oMath>
                      <m:sSub>
                        <m:sSubPr>
                          <m:ctrlPr>
                            <a:rPr sz="2600">
                              <a:solidFill>
                                <a:srgbClr val="173E50"/>
                              </a:solidFill>
                              <a:latin typeface="Cambria Math"/>
                            </a:rPr>
                          </m:ctrlPr>
                        </m:sSubPr>
                        <m:e>
                          <m:r>
                            <a:rPr sz="2600">
                              <a:solidFill>
                                <a:srgbClr val="173E50"/>
                              </a:solidFill>
                              <a:latin typeface="Cambria Math"/>
                            </a:rPr>
                            <m:t>𝐸</m:t>
                          </m:r>
                        </m:e>
                        <m:sub>
                          <m:r>
                            <m:rPr>
                              <m:sty m:val="p"/>
                            </m:rPr>
                            <a:rPr sz="2600">
                              <a:solidFill>
                                <a:srgbClr val="173E50"/>
                              </a:solidFill>
                              <a:latin typeface="Cambria Math"/>
                            </a:rPr>
                            <m:t>max</m:t>
                          </m:r>
                        </m:sub>
                      </m:sSub>
                      <m:f>
                        <m:fPr>
                          <m:ctrlPr>
                            <a:rPr sz="2600">
                              <a:solidFill>
                                <a:srgbClr val="173E50"/>
                              </a:solidFill>
                              <a:latin typeface="Cambria Math"/>
                            </a:rPr>
                          </m:ctrlPr>
                        </m:fPr>
                        <m:num>
                          <m:r>
                            <m:rPr>
                              <m:sty m:val="p"/>
                            </m:rPr>
                            <a:rPr sz="2600">
                              <a:solidFill>
                                <a:srgbClr val="173E50"/>
                              </a:solidFill>
                              <a:latin typeface="Cambria Math"/>
                            </a:rPr>
                            <m:t>dSOC</m:t>
                          </m:r>
                        </m:num>
                        <m:den>
                          <m:r>
                            <m:rPr>
                              <m:sty m:val="p"/>
                            </m:rPr>
                            <a:rPr sz="2600">
                              <a:solidFill>
                                <a:srgbClr val="173E50"/>
                              </a:solidFill>
                              <a:latin typeface="Cambria Math"/>
                            </a:rPr>
                            <m:t>dt</m:t>
                          </m:r>
                        </m:den>
                      </m:f>
                      <m:r>
                        <a:rPr sz="2600">
                          <a:solidFill>
                            <a:srgbClr val="173E50"/>
                          </a:solidFill>
                          <a:latin typeface="Cambria Math"/>
                        </a:rPr>
                        <m:t>=</m:t>
                      </m:r>
                      <m:sSub>
                        <m:sSubPr>
                          <m:ctrlPr>
                            <a:rPr sz="2600">
                              <a:solidFill>
                                <a:srgbClr val="173E50"/>
                              </a:solidFill>
                              <a:latin typeface="Cambria Math"/>
                            </a:rPr>
                          </m:ctrlPr>
                        </m:sSubPr>
                        <m:e>
                          <m:r>
                            <a:rPr sz="2600">
                              <a:solidFill>
                                <a:srgbClr val="173E50"/>
                              </a:solidFill>
                              <a:latin typeface="Cambria Math"/>
                            </a:rPr>
                            <m:t>𝑄</m:t>
                          </m:r>
                          <m:r>
                            <a:rPr sz="2600">
                              <a:solidFill>
                                <a:srgbClr val="173E50"/>
                              </a:solidFill>
                              <a:latin typeface="Cambria Math"/>
                            </a:rPr>
                            <m:t>̇</m:t>
                          </m:r>
                        </m:e>
                        <m:sub>
                          <m:r>
                            <m:rPr>
                              <m:sty m:val="p"/>
                            </m:rPr>
                            <a:rPr sz="2600">
                              <a:solidFill>
                                <a:srgbClr val="173E50"/>
                              </a:solidFill>
                              <a:latin typeface="Cambria Math"/>
                            </a:rPr>
                            <m:t>charge</m:t>
                          </m:r>
                        </m:sub>
                      </m:sSub>
                      <m:r>
                        <a:rPr sz="2600">
                          <a:solidFill>
                            <a:srgbClr val="173E50"/>
                          </a:solidFill>
                          <a:latin typeface="Cambria Math"/>
                        </a:rPr>
                        <m:t>=</m:t>
                      </m:r>
                      <m:r>
                        <a:rPr sz="2600">
                          <a:solidFill>
                            <a:srgbClr val="173E50"/>
                          </a:solidFill>
                          <a:latin typeface="Cambria Math"/>
                        </a:rPr>
                        <m:t>𝑚</m:t>
                      </m:r>
                      <m:r>
                        <a:rPr sz="2600">
                          <a:solidFill>
                            <a:srgbClr val="173E50"/>
                          </a:solidFill>
                          <a:latin typeface="Cambria Math"/>
                        </a:rPr>
                        <m:t>̇</m:t>
                      </m:r>
                      <m:sSub>
                        <m:sSubPr>
                          <m:ctrlPr>
                            <a:rPr sz="2600">
                              <a:solidFill>
                                <a:srgbClr val="173E50"/>
                              </a:solidFill>
                              <a:latin typeface="Cambria Math"/>
                            </a:rPr>
                          </m:ctrlPr>
                        </m:sSubPr>
                        <m:e>
                          <m:r>
                            <a:rPr sz="2600">
                              <a:solidFill>
                                <a:srgbClr val="173E50"/>
                              </a:solidFill>
                              <a:latin typeface="Cambria Math"/>
                            </a:rPr>
                            <m:t>𝑐</m:t>
                          </m:r>
                        </m:e>
                        <m:sub>
                          <m:r>
                            <m:rPr>
                              <m:sty m:val="p"/>
                            </m:rPr>
                            <a:rPr sz="2600">
                              <a:solidFill>
                                <a:srgbClr val="173E50"/>
                              </a:solidFill>
                              <a:latin typeface="Cambria Math"/>
                            </a:rPr>
                            <m:t>p</m:t>
                          </m:r>
                        </m:sub>
                      </m:sSub>
                      <m:r>
                        <a:rPr sz="2600">
                          <a:solidFill>
                            <a:srgbClr val="173E50"/>
                          </a:solidFill>
                          <a:latin typeface="Cambria Math"/>
                        </a:rPr>
                        <m:t>(</m:t>
                      </m:r>
                      <m:sSub>
                        <m:sSubPr>
                          <m:ctrlPr>
                            <a:rPr sz="2600">
                              <a:solidFill>
                                <a:srgbClr val="173E50"/>
                              </a:solidFill>
                              <a:latin typeface="Cambria Math"/>
                            </a:rPr>
                          </m:ctrlPr>
                        </m:sSubPr>
                        <m:e>
                          <m:r>
                            <a:rPr sz="2600">
                              <a:solidFill>
                                <a:srgbClr val="173E50"/>
                              </a:solidFill>
                              <a:latin typeface="Cambria Math"/>
                            </a:rPr>
                            <m:t>𝑇</m:t>
                          </m:r>
                        </m:e>
                        <m:sub>
                          <m:r>
                            <m:rPr>
                              <m:sty m:val="p"/>
                            </m:rPr>
                            <a:rPr sz="2600">
                              <a:solidFill>
                                <a:srgbClr val="173E50"/>
                              </a:solidFill>
                              <a:latin typeface="Cambria Math"/>
                            </a:rPr>
                            <m:t>out</m:t>
                          </m:r>
                        </m:sub>
                      </m:sSub>
                      <m:r>
                        <a:rPr sz="2600">
                          <a:solidFill>
                            <a:srgbClr val="173E50"/>
                          </a:solidFill>
                          <a:latin typeface="Cambria Math"/>
                        </a:rPr>
                        <m:t>−</m:t>
                      </m:r>
                      <m:sSub>
                        <m:sSubPr>
                          <m:ctrlPr>
                            <a:rPr sz="2600">
                              <a:solidFill>
                                <a:srgbClr val="173E50"/>
                              </a:solidFill>
                              <a:latin typeface="Cambria Math"/>
                            </a:rPr>
                          </m:ctrlPr>
                        </m:sSubPr>
                        <m:e>
                          <m:r>
                            <a:rPr sz="2600">
                              <a:solidFill>
                                <a:srgbClr val="173E50"/>
                              </a:solidFill>
                              <a:latin typeface="Cambria Math"/>
                            </a:rPr>
                            <m:t>𝑇</m:t>
                          </m:r>
                        </m:e>
                        <m:sub>
                          <m:r>
                            <m:rPr>
                              <m:sty m:val="p"/>
                            </m:rPr>
                            <a:rPr sz="2600">
                              <a:solidFill>
                                <a:srgbClr val="173E50"/>
                              </a:solidFill>
                              <a:latin typeface="Cambria Math"/>
                            </a:rPr>
                            <m:t>in</m:t>
                          </m:r>
                        </m:sub>
                      </m:sSub>
                      <m:r>
                        <a:rPr sz="2600">
                          <a:solidFill>
                            <a:srgbClr val="173E50"/>
                          </a:solidFill>
                          <a:latin typeface="Cambria Math"/>
                        </a:rPr>
                        <m:t>)</m:t>
                      </m:r>
                    </m:oMath>
                  </m:oMathPara>
                </a14:m>
                <a:endParaRPr lang="en-US" sz="2600" dirty="0">
                  <a:latin typeface="Arial" panose="020B0604020202020204" pitchFamily="34" charset="0"/>
                  <a:cs typeface="Arial" panose="020B0604020202020204" pitchFamily="34" charset="0"/>
                </a:endParaRPr>
              </a:p>
            </p:txBody>
          </p:sp>
        </mc:Choice>
        <mc:Fallback>
          <p:sp>
            <p:nvSpPr>
              <p:cNvPr id="486" name="Editable equation 3">
                <a:extLst>
                  <a:ext uri="{FF2B5EF4-FFF2-40B4-BE49-F238E27FC236}">
                    <a16:creationId xmlns:a16="http://schemas.microsoft.com/office/drawing/2014/main" id="{8161ED47-4F0A-0223-CC23-AC60B0B56E52}"/>
                  </a:ext>
                </a:extLst>
              </p:cNvPr>
              <p:cNvSpPr txBox="1">
                <a:spLocks noRot="1" noChangeAspect="1" noMove="1" noResize="1" noEditPoints="1" noAdjustHandles="1" noChangeArrowheads="1" noChangeShapeType="1" noTextEdit="1"/>
              </p:cNvSpPr>
              <p:nvPr/>
            </p:nvSpPr>
            <p:spPr>
              <a:xfrm>
                <a:off x="5051231" y="4394835"/>
                <a:ext cx="7140770" cy="730250"/>
              </a:xfrm>
              <a:prstGeom prst="rect">
                <a:avLst/>
              </a:prstGeom>
              <a:blipFill>
                <a:blip r:embed="rId6"/>
                <a:stretch>
                  <a:fillRect b="-1667"/>
                </a:stretch>
              </a:blipFill>
              <a:ln>
                <a:noFill/>
              </a:ln>
            </p:spPr>
            <p:txBody>
              <a:bodyPr/>
              <a:lstStyle/>
              <a:p>
                <a:r>
                  <a:rPr lang="en-US">
                    <a:noFill/>
                  </a:rPr>
                  <a:t> </a:t>
                </a:r>
              </a:p>
            </p:txBody>
          </p:sp>
        </mc:Fallback>
      </mc:AlternateContent>
      <p:sp>
        <p:nvSpPr>
          <p:cNvPr id="487" name="Rectangle 486">
            <a:extLst>
              <a:ext uri="{FF2B5EF4-FFF2-40B4-BE49-F238E27FC236}">
                <a16:creationId xmlns:a16="http://schemas.microsoft.com/office/drawing/2014/main" id="{066DEE43-DBD8-F2FF-07D0-6A8DB019E0F7}"/>
              </a:ext>
            </a:extLst>
          </p:cNvPr>
          <p:cNvSpPr>
            <a:spLocks noGrp="1"/>
          </p:cNvSpPr>
          <p:nvPr/>
        </p:nvSpPr>
        <p:spPr>
          <a:xfrm>
            <a:off x="795020" y="6172835"/>
            <a:ext cx="11049000" cy="285750"/>
          </a:xfrm>
          <a:prstGeom prst="rect">
            <a:avLst/>
          </a:prstGeom>
          <a:noFill/>
          <a:ln w="0">
            <a:noFill/>
          </a:ln>
        </p:spPr>
        <p:txBody>
          <a:bodyPr lIns="0" tIns="0" rIns="0" bIns="0" anchor="ctr">
            <a:noAutofit/>
          </a:bodyPr>
          <a:lstStyle/>
          <a:p>
            <a:pPr algn="l">
              <a:defRPr sz="1275" b="0">
                <a:solidFill>
                  <a:srgbClr val="516B79"/>
                </a:solidFill>
                <a:latin typeface="DejaVu Sans"/>
                <a:ea typeface="DejaVu Sans"/>
                <a:cs typeface="DejaVu Sans"/>
              </a:defRPr>
            </a:pPr>
            <a:r>
              <a:rPr sz="1275" b="0">
                <a:solidFill>
                  <a:srgbClr val="516B79"/>
                </a:solidFill>
                <a:latin typeface="Arial" panose="020B0604020202020204" pitchFamily="34" charset="0"/>
                <a:ea typeface="DejaVu Sans"/>
                <a:cs typeface="Arial" panose="020B0604020202020204" pitchFamily="34" charset="0"/>
              </a:rPr>
              <a:t>m_PCM: total water/ice mass   L: latent heat   SOC: ice fraction   Q̇_charge: signed charging rate.</a:t>
            </a:r>
          </a:p>
        </p:txBody>
      </p:sp>
      <p:pic>
        <p:nvPicPr>
          <p:cNvPr id="489" name="Picture 488">
            <a:extLst>
              <a:ext uri="{FF2B5EF4-FFF2-40B4-BE49-F238E27FC236}">
                <a16:creationId xmlns:a16="http://schemas.microsoft.com/office/drawing/2014/main" id="{707EA8B5-02D7-25AA-B0C6-295A88B96221}"/>
              </a:ext>
            </a:extLst>
          </p:cNvPr>
          <p:cNvPicPr>
            <a:picLocks noChangeAspect="1"/>
          </p:cNvPicPr>
          <p:nvPr/>
        </p:nvPicPr>
        <p:blipFill>
          <a:blip r:embed="rId7"/>
          <a:stretch>
            <a:fillRect/>
          </a:stretch>
        </p:blipFill>
        <p:spPr>
          <a:xfrm>
            <a:off x="9621256" y="203903"/>
            <a:ext cx="1788442" cy="1327399"/>
          </a:xfrm>
          <a:prstGeom prst="rect">
            <a:avLst/>
          </a:prstGeom>
        </p:spPr>
      </p:pic>
      <mc:AlternateContent xmlns:mc="http://schemas.openxmlformats.org/markup-compatibility/2006">
        <mc:Choice xmlns:a14="http://schemas.microsoft.com/office/drawing/2010/main" Requires="a14">
          <p:sp>
            <p:nvSpPr>
              <p:cNvPr id="5" name="Editable equation 3">
                <a:extLst>
                  <a:ext uri="{FF2B5EF4-FFF2-40B4-BE49-F238E27FC236}">
                    <a16:creationId xmlns:a16="http://schemas.microsoft.com/office/drawing/2014/main" id="{4EBF6507-F8B3-D4E6-B908-458843B75CF0}"/>
                  </a:ext>
                </a:extLst>
              </p:cNvPr>
              <p:cNvSpPr txBox="1"/>
              <p:nvPr/>
            </p:nvSpPr>
            <p:spPr>
              <a:xfrm>
                <a:off x="2388816" y="5280661"/>
                <a:ext cx="7140770" cy="730250"/>
              </a:xfrm>
              <a:prstGeom prst="rect">
                <a:avLst/>
              </a:prstGeom>
              <a:noFill/>
              <a:ln>
                <a:noFill/>
              </a:ln>
            </p:spPr>
            <p:txBody>
              <a:bodyPr lIns="0" tIns="0" rIns="0" bIns="0" anchor="ctr"/>
              <a:lstStyle/>
              <a:p>
                <a:pPr algn="ctr">
                  <a:defRPr sz="2600"/>
                </a:pPr>
                <a14:m>
                  <m:oMathPara xmlns:m="http://schemas.openxmlformats.org/officeDocument/2006/math">
                    <m:oMath>
                      <m:sSub>
                        <m:sSubPr>
                          <m:ctrlPr>
                            <a:rPr lang="fa-IR" sz="2600">
                              <a:solidFill>
                                <a:srgbClr val="173E50"/>
                              </a:solidFill>
                              <a:latin typeface="Cambria Math"/>
                            </a:rPr>
                          </m:ctrlPr>
                        </m:sSubPr>
                        <m:e>
                          <m:r>
                            <a:rPr lang="fa-IR" sz="2600">
                              <a:solidFill>
                                <a:srgbClr val="173E50"/>
                              </a:solidFill>
                              <a:latin typeface="Cambria Math"/>
                            </a:rPr>
                            <m:t>𝑄</m:t>
                          </m:r>
                          <m:r>
                            <a:rPr lang="fa-IR" sz="2600">
                              <a:solidFill>
                                <a:srgbClr val="173E50"/>
                              </a:solidFill>
                              <a:latin typeface="Cambria Math"/>
                            </a:rPr>
                            <m:t>̇</m:t>
                          </m:r>
                        </m:e>
                        <m:sub>
                          <m:r>
                            <m:rPr>
                              <m:sty m:val="p"/>
                            </m:rPr>
                            <a:rPr lang="en-US" sz="2600">
                              <a:solidFill>
                                <a:srgbClr val="173E50"/>
                              </a:solidFill>
                              <a:latin typeface="Cambria Math"/>
                            </a:rPr>
                            <m:t>charge</m:t>
                          </m:r>
                        </m:sub>
                      </m:sSub>
                      <m:r>
                        <a:rPr lang="fa-IR" sz="2600">
                          <a:solidFill>
                            <a:srgbClr val="173E50"/>
                          </a:solidFill>
                          <a:latin typeface="Cambria Math"/>
                        </a:rPr>
                        <m:t>=</m:t>
                      </m:r>
                      <m:sSub>
                        <m:sSubPr>
                          <m:ctrlPr>
                            <a:rPr lang="fa-IR" sz="2600">
                              <a:solidFill>
                                <a:srgbClr val="173E50"/>
                              </a:solidFill>
                              <a:latin typeface="Cambria Math"/>
                            </a:rPr>
                          </m:ctrlPr>
                        </m:sSubPr>
                        <m:e>
                          <m:r>
                            <a:rPr lang="fa-IR" sz="2600">
                              <a:solidFill>
                                <a:srgbClr val="173E50"/>
                              </a:solidFill>
                              <a:latin typeface="Cambria Math"/>
                            </a:rPr>
                            <m:t>𝐸</m:t>
                          </m:r>
                        </m:e>
                        <m:sub>
                          <m:r>
                            <m:rPr>
                              <m:sty m:val="p"/>
                            </m:rPr>
                            <a:rPr lang="en-US" sz="2600">
                              <a:solidFill>
                                <a:srgbClr val="173E50"/>
                              </a:solidFill>
                              <a:latin typeface="Cambria Math"/>
                            </a:rPr>
                            <m:t>max</m:t>
                          </m:r>
                          <m:r>
                            <a:rPr lang="fa-IR" sz="2600" b="0" i="1" smtClean="0">
                              <a:solidFill>
                                <a:srgbClr val="173E50"/>
                              </a:solidFill>
                              <a:latin typeface="Cambria Math" panose="02040503050406030204" pitchFamily="18" charset="0"/>
                            </a:rPr>
                            <m:t> </m:t>
                          </m:r>
                        </m:sub>
                      </m:sSub>
                      <m:r>
                        <a:rPr lang="en-US" sz="2600" b="0" i="1" smtClean="0">
                          <a:solidFill>
                            <a:srgbClr val="173E50"/>
                          </a:solidFill>
                          <a:latin typeface="Cambria Math" panose="02040503050406030204" pitchFamily="18" charset="0"/>
                        </a:rPr>
                        <m:t>.</m:t>
                      </m:r>
                      <m:sSup>
                        <m:sSupPr>
                          <m:ctrlPr>
                            <a:rPr lang="en-US" sz="2600" b="0" i="1" smtClean="0">
                              <a:solidFill>
                                <a:srgbClr val="173E50"/>
                              </a:solidFill>
                              <a:latin typeface="Cambria Math" panose="02040503050406030204" pitchFamily="18" charset="0"/>
                            </a:rPr>
                          </m:ctrlPr>
                        </m:sSupPr>
                        <m:e>
                          <m:r>
                            <a:rPr lang="en-US" sz="2600" b="0" i="1" smtClean="0">
                              <a:solidFill>
                                <a:srgbClr val="173E50"/>
                              </a:solidFill>
                              <a:latin typeface="Cambria Math" panose="02040503050406030204" pitchFamily="18" charset="0"/>
                            </a:rPr>
                            <m:t>𝑞</m:t>
                          </m:r>
                        </m:e>
                        <m:sup>
                          <m:r>
                            <a:rPr lang="en-US" sz="2600" b="0" i="1" smtClean="0">
                              <a:solidFill>
                                <a:srgbClr val="173E50"/>
                              </a:solidFill>
                              <a:latin typeface="Cambria Math" panose="02040503050406030204" pitchFamily="18" charset="0"/>
                            </a:rPr>
                            <m:t>∗</m:t>
                          </m:r>
                        </m:sup>
                      </m:sSup>
                      <m:r>
                        <a:rPr lang="en-US" sz="2600" b="0" i="1" smtClean="0">
                          <a:solidFill>
                            <a:srgbClr val="173E50"/>
                          </a:solidFill>
                          <a:latin typeface="Cambria Math" panose="02040503050406030204" pitchFamily="18" charset="0"/>
                        </a:rPr>
                        <m:t>(</m:t>
                      </m:r>
                      <m:r>
                        <a:rPr lang="en-US" sz="2600" b="0" i="1" smtClean="0">
                          <a:solidFill>
                            <a:srgbClr val="173E50"/>
                          </a:solidFill>
                          <a:latin typeface="Cambria Math" panose="02040503050406030204" pitchFamily="18" charset="0"/>
                        </a:rPr>
                        <m:t>𝑆𝑂𝐶</m:t>
                      </m:r>
                      <m:r>
                        <a:rPr lang="en-US" sz="2600" b="0" i="1" smtClean="0">
                          <a:solidFill>
                            <a:srgbClr val="173E50"/>
                          </a:solidFill>
                          <a:latin typeface="Cambria Math" panose="02040503050406030204" pitchFamily="18" charset="0"/>
                        </a:rPr>
                        <m:t>,∆</m:t>
                      </m:r>
                      <m:r>
                        <a:rPr lang="en-US" sz="2600" b="0" i="1" smtClean="0">
                          <a:solidFill>
                            <a:srgbClr val="173E50"/>
                          </a:solidFill>
                          <a:latin typeface="Cambria Math" panose="02040503050406030204" pitchFamily="18" charset="0"/>
                          <a:ea typeface="Cambria Math" panose="02040503050406030204" pitchFamily="18" charset="0"/>
                        </a:rPr>
                        <m:t>𝑇</m:t>
                      </m:r>
                      <m:r>
                        <a:rPr lang="en-US" sz="2600" b="0" i="1" smtClean="0">
                          <a:solidFill>
                            <a:srgbClr val="173E50"/>
                          </a:solidFill>
                          <a:latin typeface="Cambria Math" panose="02040503050406030204" pitchFamily="18" charset="0"/>
                        </a:rPr>
                        <m:t>)</m:t>
                      </m:r>
                    </m:oMath>
                  </m:oMathPara>
                </a14:m>
                <a:endParaRPr lang="en-US" sz="2600" dirty="0">
                  <a:latin typeface="Arial" panose="020B0604020202020204" pitchFamily="34" charset="0"/>
                  <a:cs typeface="Arial" panose="020B0604020202020204" pitchFamily="34" charset="0"/>
                </a:endParaRPr>
              </a:p>
            </p:txBody>
          </p:sp>
        </mc:Choice>
        <mc:Fallback>
          <p:sp>
            <p:nvSpPr>
              <p:cNvPr id="5" name="Editable equation 3">
                <a:extLst>
                  <a:ext uri="{FF2B5EF4-FFF2-40B4-BE49-F238E27FC236}">
                    <a16:creationId xmlns:a16="http://schemas.microsoft.com/office/drawing/2014/main" id="{4EBF6507-F8B3-D4E6-B908-458843B75CF0}"/>
                  </a:ext>
                </a:extLst>
              </p:cNvPr>
              <p:cNvSpPr txBox="1">
                <a:spLocks noRot="1" noChangeAspect="1" noMove="1" noResize="1" noEditPoints="1" noAdjustHandles="1" noChangeArrowheads="1" noChangeShapeType="1" noTextEdit="1"/>
              </p:cNvSpPr>
              <p:nvPr/>
            </p:nvSpPr>
            <p:spPr>
              <a:xfrm>
                <a:off x="2388816" y="5280661"/>
                <a:ext cx="7140770" cy="730250"/>
              </a:xfrm>
              <a:prstGeom prst="rect">
                <a:avLst/>
              </a:prstGeom>
              <a:blipFill>
                <a:blip r:embed="rId8"/>
                <a:stretch>
                  <a:fillRect/>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1159462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94">
          <a:extLst>
            <a:ext uri="{FF2B5EF4-FFF2-40B4-BE49-F238E27FC236}">
              <a16:creationId xmlns:a16="http://schemas.microsoft.com/office/drawing/2014/main" id="{9E3918CA-7E25-5ABC-34CB-AEBCF03ADE30}"/>
            </a:ext>
          </a:extLst>
        </p:cNvPr>
        <p:cNvGrpSpPr/>
        <p:nvPr/>
      </p:nvGrpSpPr>
      <p:grpSpPr>
        <a:xfrm>
          <a:off x="0" y="0"/>
          <a:ext cx="0" cy="0"/>
          <a:chOff x="0" y="0"/>
          <a:chExt cx="0" cy="0"/>
        </a:xfrm>
      </p:grpSpPr>
      <p:pic>
        <p:nvPicPr>
          <p:cNvPr id="495" name="Google Shape;495;p45" descr="Une image contenant ciel, plein air, nuage, agriculture&#10;&#10;Description générée automatiquement">
            <a:extLst>
              <a:ext uri="{FF2B5EF4-FFF2-40B4-BE49-F238E27FC236}">
                <a16:creationId xmlns:a16="http://schemas.microsoft.com/office/drawing/2014/main" id="{53F5977A-68C8-FAFD-2061-0DF921CD2FC0}"/>
              </a:ext>
            </a:extLst>
          </p:cNvPr>
          <p:cNvPicPr preferRelativeResize="0"/>
          <p:nvPr/>
        </p:nvPicPr>
        <p:blipFill rotWithShape="1">
          <a:blip r:embed="rId3">
            <a:alphaModFix/>
          </a:blip>
          <a:srcRect l="5973" t="9105" b="15903"/>
          <a:stretch/>
        </p:blipFill>
        <p:spPr>
          <a:xfrm>
            <a:off x="719138" y="0"/>
            <a:ext cx="11472863" cy="6858000"/>
          </a:xfrm>
          <a:prstGeom prst="rect">
            <a:avLst/>
          </a:prstGeom>
          <a:noFill/>
          <a:ln>
            <a:noFill/>
          </a:ln>
        </p:spPr>
      </p:pic>
      <p:sp>
        <p:nvSpPr>
          <p:cNvPr id="496" name="Google Shape;496;p45">
            <a:extLst>
              <a:ext uri="{FF2B5EF4-FFF2-40B4-BE49-F238E27FC236}">
                <a16:creationId xmlns:a16="http://schemas.microsoft.com/office/drawing/2014/main" id="{620BA95D-D6FB-B702-EA2D-885E9364D482}"/>
              </a:ext>
            </a:extLst>
          </p:cNvPr>
          <p:cNvSpPr/>
          <p:nvPr/>
        </p:nvSpPr>
        <p:spPr>
          <a:xfrm>
            <a:off x="664273" y="0"/>
            <a:ext cx="11527727" cy="6858000"/>
          </a:xfrm>
          <a:prstGeom prst="rect">
            <a:avLst/>
          </a:prstGeom>
          <a:solidFill>
            <a:schemeClr val="lt1">
              <a:alpha val="93725"/>
            </a:schemeClr>
          </a:solidFill>
          <a:ln>
            <a:noFill/>
          </a:ln>
          <a:effectLst>
            <a:outerShdw blurRad="876300" dist="393700" dir="5400000" algn="t" rotWithShape="0">
              <a:srgbClr val="000000">
                <a:alpha val="784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dirty="0">
              <a:solidFill>
                <a:srgbClr val="FF0000"/>
              </a:solidFill>
              <a:latin typeface="Calibri"/>
              <a:ea typeface="Calibri"/>
              <a:cs typeface="Calibri"/>
              <a:sym typeface="Calibri"/>
            </a:endParaRPr>
          </a:p>
        </p:txBody>
      </p:sp>
      <p:sp>
        <p:nvSpPr>
          <p:cNvPr id="497" name="Google Shape;497;p45">
            <a:extLst>
              <a:ext uri="{FF2B5EF4-FFF2-40B4-BE49-F238E27FC236}">
                <a16:creationId xmlns:a16="http://schemas.microsoft.com/office/drawing/2014/main" id="{30337DE5-E3A0-532D-C12B-9B714C9BFFEE}"/>
              </a:ext>
            </a:extLst>
          </p:cNvPr>
          <p:cNvSpPr txBox="1"/>
          <p:nvPr/>
        </p:nvSpPr>
        <p:spPr>
          <a:xfrm rot="-5400000">
            <a:off x="-797364" y="5204656"/>
            <a:ext cx="2251455" cy="38856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lt1"/>
                </a:solidFill>
                <a:latin typeface="Nunito Sans SemiBold"/>
                <a:ea typeface="Nunito Sans SemiBold"/>
                <a:cs typeface="Nunito Sans SemiBold"/>
                <a:sym typeface="Nunito Sans SemiBold"/>
              </a:rPr>
              <a:t>AGRICOOL</a:t>
            </a:r>
            <a:endParaRPr sz="1400" b="0" i="0" u="none" strike="noStrike" cap="none">
              <a:solidFill>
                <a:srgbClr val="000000"/>
              </a:solidFill>
              <a:latin typeface="Arial"/>
              <a:ea typeface="Arial"/>
              <a:cs typeface="Arial"/>
              <a:sym typeface="Arial"/>
            </a:endParaRPr>
          </a:p>
        </p:txBody>
      </p:sp>
      <p:pic>
        <p:nvPicPr>
          <p:cNvPr id="503" name="Google Shape;503;p45" descr="Une image contenant capture d’écran, Bleu électrique, Police, Bleu Majorelle&#10;&#10;Description générée automatiquement">
            <a:extLst>
              <a:ext uri="{FF2B5EF4-FFF2-40B4-BE49-F238E27FC236}">
                <a16:creationId xmlns:a16="http://schemas.microsoft.com/office/drawing/2014/main" id="{730CED2F-703F-44CD-4FC7-C86E8CA801F2}"/>
              </a:ext>
            </a:extLst>
          </p:cNvPr>
          <p:cNvPicPr preferRelativeResize="0"/>
          <p:nvPr/>
        </p:nvPicPr>
        <p:blipFill rotWithShape="1">
          <a:blip r:embed="rId4">
            <a:alphaModFix/>
          </a:blip>
          <a:srcRect/>
          <a:stretch/>
        </p:blipFill>
        <p:spPr>
          <a:xfrm>
            <a:off x="659183" y="6441981"/>
            <a:ext cx="1729633" cy="384363"/>
          </a:xfrm>
          <a:prstGeom prst="rect">
            <a:avLst/>
          </a:prstGeom>
          <a:noFill/>
          <a:ln>
            <a:noFill/>
          </a:ln>
        </p:spPr>
      </p:pic>
      <p:sp>
        <p:nvSpPr>
          <p:cNvPr id="504" name="Google Shape;504;p45">
            <a:extLst>
              <a:ext uri="{FF2B5EF4-FFF2-40B4-BE49-F238E27FC236}">
                <a16:creationId xmlns:a16="http://schemas.microsoft.com/office/drawing/2014/main" id="{F0EDC151-183B-AE9B-6DB2-50D271A62541}"/>
              </a:ext>
            </a:extLst>
          </p:cNvPr>
          <p:cNvSpPr txBox="1">
            <a:spLocks noGrp="1"/>
          </p:cNvSpPr>
          <p:nvPr>
            <p:ph type="dt" idx="10"/>
          </p:nvPr>
        </p:nvSpPr>
        <p:spPr>
          <a:xfrm>
            <a:off x="9332517" y="64262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en-GB" dirty="0"/>
              <a:t>13 September 2026</a:t>
            </a:r>
            <a:endParaRPr dirty="0"/>
          </a:p>
        </p:txBody>
      </p:sp>
      <p:sp>
        <p:nvSpPr>
          <p:cNvPr id="505" name="Google Shape;505;p45">
            <a:extLst>
              <a:ext uri="{FF2B5EF4-FFF2-40B4-BE49-F238E27FC236}">
                <a16:creationId xmlns:a16="http://schemas.microsoft.com/office/drawing/2014/main" id="{4BE7DBD6-8232-1F75-2EBC-FDE6A955B046}"/>
              </a:ext>
            </a:extLst>
          </p:cNvPr>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200"/>
              <a:buNone/>
            </a:pPr>
            <a:fld id="{00000000-1234-1234-1234-123412341234}" type="slidenum">
              <a:rPr lang="en-GB"/>
              <a:t>20</a:t>
            </a:fld>
            <a:endParaRPr dirty="0"/>
          </a:p>
        </p:txBody>
      </p:sp>
      <p:sp>
        <p:nvSpPr>
          <p:cNvPr id="5" name="Title">
            <a:extLst>
              <a:ext uri="{FF2B5EF4-FFF2-40B4-BE49-F238E27FC236}">
                <a16:creationId xmlns:a16="http://schemas.microsoft.com/office/drawing/2014/main" id="{52AF15DC-BA63-9CAF-790D-66CDA857DA6E}"/>
              </a:ext>
            </a:extLst>
          </p:cNvPr>
          <p:cNvSpPr>
            <a:spLocks noGrp="1"/>
          </p:cNvSpPr>
          <p:nvPr/>
        </p:nvSpPr>
        <p:spPr>
          <a:xfrm>
            <a:off x="1207017" y="2790877"/>
            <a:ext cx="9806424" cy="1097811"/>
          </a:xfrm>
          <a:prstGeom prst="rect">
            <a:avLst/>
          </a:prstGeom>
          <a:noFill/>
          <a:ln w="0">
            <a:noFill/>
          </a:ln>
        </p:spPr>
        <p:txBody>
          <a:bodyPr lIns="0" tIns="0" rIns="0" bIns="0" anchor="ctr">
            <a:noAutofit/>
          </a:bodyPr>
          <a:lstStyle/>
          <a:p>
            <a:pPr algn="l">
              <a:defRPr sz="3300" b="1">
                <a:solidFill>
                  <a:srgbClr val="14354E"/>
                </a:solidFill>
                <a:latin typeface="Bitstream Charter"/>
                <a:ea typeface="Bitstream Charter"/>
                <a:cs typeface="Bitstream Charter"/>
              </a:defRPr>
            </a:pPr>
            <a:r>
              <a:rPr lang="en-US" sz="4400" b="1" dirty="0">
                <a:solidFill>
                  <a:srgbClr val="30A4CF"/>
                </a:solidFill>
                <a:latin typeface="Nunito"/>
              </a:rPr>
              <a:t>Supplying and storing electricity</a:t>
            </a:r>
          </a:p>
        </p:txBody>
      </p:sp>
    </p:spTree>
    <p:extLst>
      <p:ext uri="{BB962C8B-B14F-4D97-AF65-F5344CB8AC3E}">
        <p14:creationId xmlns:p14="http://schemas.microsoft.com/office/powerpoint/2010/main" val="7251535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94">
          <a:extLst>
            <a:ext uri="{FF2B5EF4-FFF2-40B4-BE49-F238E27FC236}">
              <a16:creationId xmlns:a16="http://schemas.microsoft.com/office/drawing/2014/main" id="{FA369D66-2ED6-AB10-FCA7-0C8DA704FC2A}"/>
            </a:ext>
          </a:extLst>
        </p:cNvPr>
        <p:cNvGrpSpPr/>
        <p:nvPr/>
      </p:nvGrpSpPr>
      <p:grpSpPr>
        <a:xfrm>
          <a:off x="0" y="0"/>
          <a:ext cx="0" cy="0"/>
          <a:chOff x="0" y="0"/>
          <a:chExt cx="0" cy="0"/>
        </a:xfrm>
      </p:grpSpPr>
      <p:pic>
        <p:nvPicPr>
          <p:cNvPr id="495" name="Google Shape;495;p45" descr="Une image contenant ciel, plein air, nuage, agriculture&#10;&#10;Description générée automatiquement">
            <a:extLst>
              <a:ext uri="{FF2B5EF4-FFF2-40B4-BE49-F238E27FC236}">
                <a16:creationId xmlns:a16="http://schemas.microsoft.com/office/drawing/2014/main" id="{721CE5B5-705E-A29F-4723-ABC3B57FCFBE}"/>
              </a:ext>
            </a:extLst>
          </p:cNvPr>
          <p:cNvPicPr preferRelativeResize="0"/>
          <p:nvPr/>
        </p:nvPicPr>
        <p:blipFill rotWithShape="1">
          <a:blip r:embed="rId3">
            <a:alphaModFix/>
          </a:blip>
          <a:srcRect l="5973" t="9105" b="15903"/>
          <a:stretch/>
        </p:blipFill>
        <p:spPr>
          <a:xfrm>
            <a:off x="719138" y="0"/>
            <a:ext cx="11472863" cy="6858000"/>
          </a:xfrm>
          <a:prstGeom prst="rect">
            <a:avLst/>
          </a:prstGeom>
          <a:noFill/>
          <a:ln>
            <a:noFill/>
          </a:ln>
        </p:spPr>
      </p:pic>
      <p:sp>
        <p:nvSpPr>
          <p:cNvPr id="496" name="Google Shape;496;p45">
            <a:extLst>
              <a:ext uri="{FF2B5EF4-FFF2-40B4-BE49-F238E27FC236}">
                <a16:creationId xmlns:a16="http://schemas.microsoft.com/office/drawing/2014/main" id="{6E9A3BD3-A961-3808-1D6B-D4D2B41AB10C}"/>
              </a:ext>
            </a:extLst>
          </p:cNvPr>
          <p:cNvSpPr/>
          <p:nvPr/>
        </p:nvSpPr>
        <p:spPr>
          <a:xfrm>
            <a:off x="664273" y="0"/>
            <a:ext cx="11527727" cy="6858000"/>
          </a:xfrm>
          <a:prstGeom prst="rect">
            <a:avLst/>
          </a:prstGeom>
          <a:solidFill>
            <a:schemeClr val="lt1">
              <a:alpha val="93725"/>
            </a:schemeClr>
          </a:solidFill>
          <a:ln>
            <a:noFill/>
          </a:ln>
          <a:effectLst>
            <a:outerShdw blurRad="876300" dist="393700" dir="5400000" algn="t" rotWithShape="0">
              <a:srgbClr val="000000">
                <a:alpha val="784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dirty="0">
              <a:solidFill>
                <a:srgbClr val="FF0000"/>
              </a:solidFill>
              <a:latin typeface="Calibri"/>
              <a:ea typeface="Calibri"/>
              <a:cs typeface="Calibri"/>
              <a:sym typeface="Calibri"/>
            </a:endParaRPr>
          </a:p>
        </p:txBody>
      </p:sp>
      <p:sp>
        <p:nvSpPr>
          <p:cNvPr id="497" name="Google Shape;497;p45">
            <a:extLst>
              <a:ext uri="{FF2B5EF4-FFF2-40B4-BE49-F238E27FC236}">
                <a16:creationId xmlns:a16="http://schemas.microsoft.com/office/drawing/2014/main" id="{AE7840F2-8CC7-CAC8-088D-7E7107120D60}"/>
              </a:ext>
            </a:extLst>
          </p:cNvPr>
          <p:cNvSpPr txBox="1"/>
          <p:nvPr/>
        </p:nvSpPr>
        <p:spPr>
          <a:xfrm rot="-5400000">
            <a:off x="-797364" y="5204656"/>
            <a:ext cx="2251455" cy="38856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lt1"/>
                </a:solidFill>
                <a:latin typeface="Nunito Sans SemiBold"/>
                <a:ea typeface="Nunito Sans SemiBold"/>
                <a:cs typeface="Nunito Sans SemiBold"/>
                <a:sym typeface="Nunito Sans SemiBold"/>
              </a:rPr>
              <a:t>AGRICOOL</a:t>
            </a:r>
            <a:endParaRPr sz="1400" b="0" i="0" u="none" strike="noStrike" cap="none">
              <a:solidFill>
                <a:srgbClr val="000000"/>
              </a:solidFill>
              <a:latin typeface="Arial"/>
              <a:ea typeface="Arial"/>
              <a:cs typeface="Arial"/>
              <a:sym typeface="Arial"/>
            </a:endParaRPr>
          </a:p>
        </p:txBody>
      </p:sp>
      <p:pic>
        <p:nvPicPr>
          <p:cNvPr id="503" name="Google Shape;503;p45" descr="Une image contenant capture d’écran, Bleu électrique, Police, Bleu Majorelle&#10;&#10;Description générée automatiquement">
            <a:extLst>
              <a:ext uri="{FF2B5EF4-FFF2-40B4-BE49-F238E27FC236}">
                <a16:creationId xmlns:a16="http://schemas.microsoft.com/office/drawing/2014/main" id="{E80AEBDA-0E02-6D5C-A36C-9DB9CD9549CD}"/>
              </a:ext>
            </a:extLst>
          </p:cNvPr>
          <p:cNvPicPr preferRelativeResize="0"/>
          <p:nvPr/>
        </p:nvPicPr>
        <p:blipFill rotWithShape="1">
          <a:blip r:embed="rId4">
            <a:alphaModFix/>
          </a:blip>
          <a:srcRect/>
          <a:stretch/>
        </p:blipFill>
        <p:spPr>
          <a:xfrm>
            <a:off x="659183" y="6441981"/>
            <a:ext cx="1729633" cy="384363"/>
          </a:xfrm>
          <a:prstGeom prst="rect">
            <a:avLst/>
          </a:prstGeom>
          <a:noFill/>
          <a:ln>
            <a:noFill/>
          </a:ln>
        </p:spPr>
      </p:pic>
      <p:sp>
        <p:nvSpPr>
          <p:cNvPr id="504" name="Google Shape;504;p45">
            <a:extLst>
              <a:ext uri="{FF2B5EF4-FFF2-40B4-BE49-F238E27FC236}">
                <a16:creationId xmlns:a16="http://schemas.microsoft.com/office/drawing/2014/main" id="{3CD20703-D932-7EEF-2447-045D71E028ED}"/>
              </a:ext>
            </a:extLst>
          </p:cNvPr>
          <p:cNvSpPr txBox="1">
            <a:spLocks noGrp="1"/>
          </p:cNvSpPr>
          <p:nvPr>
            <p:ph type="dt" idx="10"/>
          </p:nvPr>
        </p:nvSpPr>
        <p:spPr>
          <a:xfrm>
            <a:off x="9332517" y="64262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en-GB" dirty="0"/>
              <a:t>13 September 2026</a:t>
            </a:r>
            <a:endParaRPr dirty="0"/>
          </a:p>
        </p:txBody>
      </p:sp>
      <p:sp>
        <p:nvSpPr>
          <p:cNvPr id="505" name="Google Shape;505;p45">
            <a:extLst>
              <a:ext uri="{FF2B5EF4-FFF2-40B4-BE49-F238E27FC236}">
                <a16:creationId xmlns:a16="http://schemas.microsoft.com/office/drawing/2014/main" id="{5B4CB7D0-C7EA-901E-5D04-EFC1C999C471}"/>
              </a:ext>
            </a:extLst>
          </p:cNvPr>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200"/>
              <a:buNone/>
            </a:pPr>
            <a:fld id="{00000000-1234-1234-1234-123412341234}" type="slidenum">
              <a:rPr lang="en-GB"/>
              <a:t>21</a:t>
            </a:fld>
            <a:endParaRPr dirty="0"/>
          </a:p>
        </p:txBody>
      </p:sp>
      <p:sp>
        <p:nvSpPr>
          <p:cNvPr id="2" name="Rectangle 1">
            <a:extLst>
              <a:ext uri="{FF2B5EF4-FFF2-40B4-BE49-F238E27FC236}">
                <a16:creationId xmlns:a16="http://schemas.microsoft.com/office/drawing/2014/main" id="{2AC458FF-32DF-1F39-32B1-153515B121D7}"/>
              </a:ext>
            </a:extLst>
          </p:cNvPr>
          <p:cNvSpPr>
            <a:spLocks noGrp="1"/>
          </p:cNvSpPr>
          <p:nvPr/>
        </p:nvSpPr>
        <p:spPr>
          <a:xfrm>
            <a:off x="880110" y="266700"/>
            <a:ext cx="11191875" cy="609600"/>
          </a:xfrm>
          <a:prstGeom prst="rect">
            <a:avLst/>
          </a:prstGeom>
          <a:noFill/>
          <a:ln w="0">
            <a:noFill/>
          </a:ln>
        </p:spPr>
        <p:txBody>
          <a:bodyPr lIns="0" tIns="0" rIns="0" bIns="0" anchor="ctr">
            <a:noAutofit/>
          </a:bodyPr>
          <a:lstStyle/>
          <a:p>
            <a:pPr algn="l">
              <a:defRPr sz="3000" b="1">
                <a:solidFill>
                  <a:srgbClr val="239BC2"/>
                </a:solidFill>
                <a:latin typeface="DejaVu Sans"/>
                <a:ea typeface="DejaVu Sans"/>
                <a:cs typeface="DejaVu Sans"/>
              </a:defRPr>
            </a:pPr>
            <a:r>
              <a:rPr sz="3000" b="1">
                <a:solidFill>
                  <a:srgbClr val="239BC2"/>
                </a:solidFill>
                <a:latin typeface="Arial" panose="020B0604020202020204" pitchFamily="34" charset="0"/>
                <a:ea typeface="DejaVu Sans"/>
                <a:cs typeface="Arial" panose="020B0604020202020204" pitchFamily="34" charset="0"/>
              </a:rPr>
              <a:t>PV: generating electricity</a:t>
            </a:r>
          </a:p>
        </p:txBody>
      </p:sp>
      <p:sp>
        <p:nvSpPr>
          <p:cNvPr id="3" name="Rectangle 2">
            <a:extLst>
              <a:ext uri="{FF2B5EF4-FFF2-40B4-BE49-F238E27FC236}">
                <a16:creationId xmlns:a16="http://schemas.microsoft.com/office/drawing/2014/main" id="{DC0D2180-0A04-BDCD-AA46-F449E28D5C10}"/>
              </a:ext>
            </a:extLst>
          </p:cNvPr>
          <p:cNvSpPr>
            <a:spLocks noGrp="1"/>
          </p:cNvSpPr>
          <p:nvPr/>
        </p:nvSpPr>
        <p:spPr>
          <a:xfrm>
            <a:off x="918210" y="971550"/>
            <a:ext cx="11144250" cy="342900"/>
          </a:xfrm>
          <a:prstGeom prst="rect">
            <a:avLst/>
          </a:prstGeom>
          <a:noFill/>
          <a:ln w="0">
            <a:noFill/>
          </a:ln>
        </p:spPr>
        <p:txBody>
          <a:bodyPr lIns="0" tIns="0" rIns="0" bIns="0" anchor="ctr">
            <a:noAutofit/>
          </a:bodyPr>
          <a:lstStyle/>
          <a:p>
            <a:pPr algn="l">
              <a:defRPr sz="1575" b="0">
                <a:solidFill>
                  <a:srgbClr val="5A7582"/>
                </a:solidFill>
                <a:latin typeface="DejaVu Sans"/>
                <a:ea typeface="DejaVu Sans"/>
                <a:cs typeface="DejaVu Sans"/>
              </a:defRPr>
            </a:pPr>
            <a:r>
              <a:rPr sz="1575" b="0">
                <a:solidFill>
                  <a:srgbClr val="5A7582"/>
                </a:solidFill>
                <a:latin typeface="Arial" panose="020B0604020202020204" pitchFamily="34" charset="0"/>
                <a:ea typeface="DejaVu Sans"/>
                <a:cs typeface="Arial" panose="020B0604020202020204" pitchFamily="34" charset="0"/>
              </a:rPr>
              <a:t>Simplified PV power model</a:t>
            </a:r>
          </a:p>
        </p:txBody>
      </p:sp>
      <p:sp>
        <p:nvSpPr>
          <p:cNvPr id="4" name="Rectangle 3">
            <a:extLst>
              <a:ext uri="{FF2B5EF4-FFF2-40B4-BE49-F238E27FC236}">
                <a16:creationId xmlns:a16="http://schemas.microsoft.com/office/drawing/2014/main" id="{A906EE5F-9D43-8415-4A07-EE0CCBAB1446}"/>
              </a:ext>
            </a:extLst>
          </p:cNvPr>
          <p:cNvSpPr>
            <a:spLocks noGrp="1"/>
          </p:cNvSpPr>
          <p:nvPr/>
        </p:nvSpPr>
        <p:spPr>
          <a:xfrm>
            <a:off x="8614410" y="2541905"/>
            <a:ext cx="3381375" cy="1028700"/>
          </a:xfrm>
          <a:prstGeom prst="rect">
            <a:avLst/>
          </a:prstGeom>
          <a:noFill/>
          <a:ln w="0">
            <a:noFill/>
          </a:ln>
        </p:spPr>
        <p:txBody>
          <a:bodyPr lIns="0" tIns="0" rIns="0" bIns="0" anchor="ctr">
            <a:noAutofit/>
          </a:bodyPr>
          <a:lstStyle/>
          <a:p>
            <a:pPr algn="l">
              <a:defRPr sz="1875" b="1">
                <a:solidFill>
                  <a:srgbClr val="173E50"/>
                </a:solidFill>
                <a:latin typeface="DejaVu Sans"/>
                <a:ea typeface="DejaVu Sans"/>
                <a:cs typeface="DejaVu Sans"/>
              </a:defRPr>
            </a:pPr>
            <a:r>
              <a:rPr sz="1875" b="1">
                <a:solidFill>
                  <a:srgbClr val="173E50"/>
                </a:solidFill>
                <a:latin typeface="Arial" panose="020B0604020202020204" pitchFamily="34" charset="0"/>
                <a:ea typeface="DejaVu Sans"/>
                <a:cs typeface="Arial" panose="020B0604020202020204" pitchFamily="34" charset="0"/>
              </a:rPr>
              <a:t>PV supplies electricity</a:t>
            </a:r>
          </a:p>
          <a:p>
            <a:pPr algn="l">
              <a:defRPr sz="1875" b="1">
                <a:solidFill>
                  <a:srgbClr val="173E50"/>
                </a:solidFill>
                <a:latin typeface="DejaVu Sans"/>
                <a:ea typeface="DejaVu Sans"/>
                <a:cs typeface="DejaVu Sans"/>
              </a:defRPr>
            </a:pPr>
            <a:r>
              <a:rPr sz="1875" b="1">
                <a:solidFill>
                  <a:srgbClr val="173E50"/>
                </a:solidFill>
                <a:latin typeface="Arial" panose="020B0604020202020204" pitchFamily="34" charset="0"/>
                <a:ea typeface="DejaVu Sans"/>
                <a:cs typeface="Arial" panose="020B0604020202020204" pitchFamily="34" charset="0"/>
              </a:rPr>
              <a:t>for cooling and auxiliaries.</a:t>
            </a:r>
          </a:p>
        </p:txBody>
      </p:sp>
      <p:sp>
        <p:nvSpPr>
          <p:cNvPr id="6" name="Rectangle 5">
            <a:extLst>
              <a:ext uri="{FF2B5EF4-FFF2-40B4-BE49-F238E27FC236}">
                <a16:creationId xmlns:a16="http://schemas.microsoft.com/office/drawing/2014/main" id="{94F2FA57-284E-AB02-A518-657DB117F7DC}"/>
              </a:ext>
            </a:extLst>
          </p:cNvPr>
          <p:cNvSpPr>
            <a:spLocks noGrp="1"/>
          </p:cNvSpPr>
          <p:nvPr/>
        </p:nvSpPr>
        <p:spPr>
          <a:xfrm>
            <a:off x="8614410" y="3837305"/>
            <a:ext cx="3381375" cy="914400"/>
          </a:xfrm>
          <a:prstGeom prst="rect">
            <a:avLst/>
          </a:prstGeom>
          <a:noFill/>
          <a:ln w="0">
            <a:noFill/>
          </a:ln>
        </p:spPr>
        <p:txBody>
          <a:bodyPr lIns="0" tIns="0" rIns="0" bIns="0" anchor="ctr">
            <a:noAutofit/>
          </a:bodyPr>
          <a:lstStyle/>
          <a:p>
            <a:pPr algn="l">
              <a:defRPr sz="1725" b="0">
                <a:solidFill>
                  <a:srgbClr val="516B79"/>
                </a:solidFill>
                <a:latin typeface="DejaVu Sans"/>
                <a:ea typeface="DejaVu Sans"/>
                <a:cs typeface="DejaVu Sans"/>
              </a:defRPr>
            </a:pPr>
            <a:r>
              <a:rPr sz="1725" b="0" dirty="0">
                <a:solidFill>
                  <a:srgbClr val="516B79"/>
                </a:solidFill>
                <a:latin typeface="Arial" panose="020B0604020202020204" pitchFamily="34" charset="0"/>
                <a:ea typeface="DejaVu Sans"/>
                <a:cs typeface="Arial" panose="020B0604020202020204" pitchFamily="34" charset="0"/>
              </a:rPr>
              <a:t>Production changes with</a:t>
            </a:r>
          </a:p>
          <a:p>
            <a:pPr algn="l">
              <a:defRPr sz="1725" b="0">
                <a:solidFill>
                  <a:srgbClr val="516B79"/>
                </a:solidFill>
                <a:latin typeface="DejaVu Sans"/>
                <a:ea typeface="DejaVu Sans"/>
                <a:cs typeface="DejaVu Sans"/>
              </a:defRPr>
            </a:pPr>
            <a:r>
              <a:rPr sz="1725" b="0" dirty="0">
                <a:solidFill>
                  <a:srgbClr val="516B79"/>
                </a:solidFill>
                <a:latin typeface="Arial" panose="020B0604020202020204" pitchFamily="34" charset="0"/>
                <a:ea typeface="DejaVu Sans"/>
                <a:cs typeface="Arial" panose="020B0604020202020204" pitchFamily="34" charset="0"/>
              </a:rPr>
              <a:t>irradiance on the panels.</a:t>
            </a:r>
          </a:p>
        </p:txBody>
      </p:sp>
      <p:sp>
        <p:nvSpPr>
          <p:cNvPr id="7" name="Rectangle 6">
            <a:extLst>
              <a:ext uri="{FF2B5EF4-FFF2-40B4-BE49-F238E27FC236}">
                <a16:creationId xmlns:a16="http://schemas.microsoft.com/office/drawing/2014/main" id="{7EBBD059-500D-FBE4-3D35-5192E443264D}"/>
              </a:ext>
            </a:extLst>
          </p:cNvPr>
          <p:cNvSpPr>
            <a:spLocks noGrp="1"/>
          </p:cNvSpPr>
          <p:nvPr/>
        </p:nvSpPr>
        <p:spPr>
          <a:xfrm>
            <a:off x="3099435" y="2247900"/>
            <a:ext cx="2819400" cy="1914525"/>
          </a:xfrm>
          <a:prstGeom prst="rect">
            <a:avLst/>
          </a:prstGeom>
          <a:solidFill>
            <a:srgbClr val="E5F2FA"/>
          </a:solidFill>
          <a:ln w="28575">
            <a:solidFill>
              <a:srgbClr val="173E50"/>
            </a:solidFill>
          </a:ln>
        </p:spPr>
        <p:txBody>
          <a:bodyPr/>
          <a:lstStyle/>
          <a:p>
            <a:endParaRPr lang="en-US">
              <a:latin typeface="Arial" panose="020B0604020202020204" pitchFamily="34" charset="0"/>
              <a:cs typeface="Arial" panose="020B0604020202020204" pitchFamily="34" charset="0"/>
            </a:endParaRPr>
          </a:p>
        </p:txBody>
      </p:sp>
      <p:sp>
        <p:nvSpPr>
          <p:cNvPr id="8" name="Oval 7">
            <a:extLst>
              <a:ext uri="{FF2B5EF4-FFF2-40B4-BE49-F238E27FC236}">
                <a16:creationId xmlns:a16="http://schemas.microsoft.com/office/drawing/2014/main" id="{BA188AED-9101-6805-C263-71B913B243FC}"/>
              </a:ext>
            </a:extLst>
          </p:cNvPr>
          <p:cNvSpPr>
            <a:spLocks noGrp="1"/>
          </p:cNvSpPr>
          <p:nvPr/>
        </p:nvSpPr>
        <p:spPr>
          <a:xfrm>
            <a:off x="3656648" y="224313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9" name="Oval 8">
            <a:extLst>
              <a:ext uri="{FF2B5EF4-FFF2-40B4-BE49-F238E27FC236}">
                <a16:creationId xmlns:a16="http://schemas.microsoft.com/office/drawing/2014/main" id="{9CEEC92D-C2B4-5DFF-EEF0-64AE93E21B2D}"/>
              </a:ext>
            </a:extLst>
          </p:cNvPr>
          <p:cNvSpPr>
            <a:spLocks noGrp="1"/>
          </p:cNvSpPr>
          <p:nvPr/>
        </p:nvSpPr>
        <p:spPr>
          <a:xfrm>
            <a:off x="3656648" y="4157663"/>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cxnSp>
        <p:nvCxnSpPr>
          <p:cNvPr id="10" name="Straight Arrow Connector 9">
            <a:extLst>
              <a:ext uri="{FF2B5EF4-FFF2-40B4-BE49-F238E27FC236}">
                <a16:creationId xmlns:a16="http://schemas.microsoft.com/office/drawing/2014/main" id="{3194B60F-BCAF-1E62-CC68-876375A97E06}"/>
              </a:ext>
            </a:extLst>
          </p:cNvPr>
          <p:cNvCxnSpPr>
            <a:stCxn id="8" idx="4"/>
            <a:endCxn id="9" idx="0"/>
          </p:cNvCxnSpPr>
          <p:nvPr/>
        </p:nvCxnSpPr>
        <p:spPr>
          <a:xfrm>
            <a:off x="3661411" y="2252663"/>
            <a:ext cx="0" cy="1905000"/>
          </a:xfrm>
          <a:prstGeom prst="straightConnector1">
            <a:avLst/>
          </a:prstGeom>
          <a:ln w="14288">
            <a:solidFill>
              <a:srgbClr val="6698B4"/>
            </a:solidFill>
          </a:ln>
        </p:spPr>
      </p:cxnSp>
      <p:sp>
        <p:nvSpPr>
          <p:cNvPr id="11" name="Oval 10">
            <a:extLst>
              <a:ext uri="{FF2B5EF4-FFF2-40B4-BE49-F238E27FC236}">
                <a16:creationId xmlns:a16="http://schemas.microsoft.com/office/drawing/2014/main" id="{D5E99CD9-094B-1B85-C647-FDEDAC22B5DD}"/>
              </a:ext>
            </a:extLst>
          </p:cNvPr>
          <p:cNvSpPr>
            <a:spLocks noGrp="1"/>
          </p:cNvSpPr>
          <p:nvPr/>
        </p:nvSpPr>
        <p:spPr>
          <a:xfrm>
            <a:off x="4218623" y="224313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12" name="Oval 11">
            <a:extLst>
              <a:ext uri="{FF2B5EF4-FFF2-40B4-BE49-F238E27FC236}">
                <a16:creationId xmlns:a16="http://schemas.microsoft.com/office/drawing/2014/main" id="{07C446A0-9046-A461-DFA3-08E751533D5C}"/>
              </a:ext>
            </a:extLst>
          </p:cNvPr>
          <p:cNvSpPr>
            <a:spLocks noGrp="1"/>
          </p:cNvSpPr>
          <p:nvPr/>
        </p:nvSpPr>
        <p:spPr>
          <a:xfrm>
            <a:off x="4218623" y="4157663"/>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cxnSp>
        <p:nvCxnSpPr>
          <p:cNvPr id="13" name="Straight Arrow Connector 12">
            <a:extLst>
              <a:ext uri="{FF2B5EF4-FFF2-40B4-BE49-F238E27FC236}">
                <a16:creationId xmlns:a16="http://schemas.microsoft.com/office/drawing/2014/main" id="{838D8F13-FEAA-3C2B-B522-7857A80737FF}"/>
              </a:ext>
            </a:extLst>
          </p:cNvPr>
          <p:cNvCxnSpPr>
            <a:stCxn id="11" idx="4"/>
            <a:endCxn id="12" idx="0"/>
          </p:cNvCxnSpPr>
          <p:nvPr/>
        </p:nvCxnSpPr>
        <p:spPr>
          <a:xfrm>
            <a:off x="4223386" y="2252663"/>
            <a:ext cx="0" cy="1905000"/>
          </a:xfrm>
          <a:prstGeom prst="straightConnector1">
            <a:avLst/>
          </a:prstGeom>
          <a:ln w="14288">
            <a:solidFill>
              <a:srgbClr val="6698B4"/>
            </a:solidFill>
          </a:ln>
        </p:spPr>
      </p:cxnSp>
      <p:sp>
        <p:nvSpPr>
          <p:cNvPr id="14" name="Oval 13">
            <a:extLst>
              <a:ext uri="{FF2B5EF4-FFF2-40B4-BE49-F238E27FC236}">
                <a16:creationId xmlns:a16="http://schemas.microsoft.com/office/drawing/2014/main" id="{E85483E4-B31E-7E28-EA3B-458A49175696}"/>
              </a:ext>
            </a:extLst>
          </p:cNvPr>
          <p:cNvSpPr>
            <a:spLocks noGrp="1"/>
          </p:cNvSpPr>
          <p:nvPr/>
        </p:nvSpPr>
        <p:spPr>
          <a:xfrm>
            <a:off x="4780598" y="224313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15" name="Oval 14">
            <a:extLst>
              <a:ext uri="{FF2B5EF4-FFF2-40B4-BE49-F238E27FC236}">
                <a16:creationId xmlns:a16="http://schemas.microsoft.com/office/drawing/2014/main" id="{BD5F6FEF-A670-BA07-CD14-BE280FF54FE4}"/>
              </a:ext>
            </a:extLst>
          </p:cNvPr>
          <p:cNvSpPr>
            <a:spLocks noGrp="1"/>
          </p:cNvSpPr>
          <p:nvPr/>
        </p:nvSpPr>
        <p:spPr>
          <a:xfrm>
            <a:off x="4780598" y="4157663"/>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cxnSp>
        <p:nvCxnSpPr>
          <p:cNvPr id="16" name="Straight Arrow Connector 15">
            <a:extLst>
              <a:ext uri="{FF2B5EF4-FFF2-40B4-BE49-F238E27FC236}">
                <a16:creationId xmlns:a16="http://schemas.microsoft.com/office/drawing/2014/main" id="{8064B9AA-A3B4-7C74-2FD7-D895C049DFC8}"/>
              </a:ext>
            </a:extLst>
          </p:cNvPr>
          <p:cNvCxnSpPr>
            <a:stCxn id="14" idx="4"/>
            <a:endCxn id="15" idx="0"/>
          </p:cNvCxnSpPr>
          <p:nvPr/>
        </p:nvCxnSpPr>
        <p:spPr>
          <a:xfrm>
            <a:off x="4785361" y="2252663"/>
            <a:ext cx="0" cy="1905000"/>
          </a:xfrm>
          <a:prstGeom prst="straightConnector1">
            <a:avLst/>
          </a:prstGeom>
          <a:ln w="14288">
            <a:solidFill>
              <a:srgbClr val="6698B4"/>
            </a:solidFill>
          </a:ln>
        </p:spPr>
      </p:cxnSp>
      <p:sp>
        <p:nvSpPr>
          <p:cNvPr id="17" name="Oval 16">
            <a:extLst>
              <a:ext uri="{FF2B5EF4-FFF2-40B4-BE49-F238E27FC236}">
                <a16:creationId xmlns:a16="http://schemas.microsoft.com/office/drawing/2014/main" id="{708192B8-CC5A-61AC-9E99-1F8C10CCDFB7}"/>
              </a:ext>
            </a:extLst>
          </p:cNvPr>
          <p:cNvSpPr>
            <a:spLocks noGrp="1"/>
          </p:cNvSpPr>
          <p:nvPr/>
        </p:nvSpPr>
        <p:spPr>
          <a:xfrm>
            <a:off x="5342573" y="224313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18" name="Oval 17">
            <a:extLst>
              <a:ext uri="{FF2B5EF4-FFF2-40B4-BE49-F238E27FC236}">
                <a16:creationId xmlns:a16="http://schemas.microsoft.com/office/drawing/2014/main" id="{56DACE46-163C-C412-3423-950C54F11553}"/>
              </a:ext>
            </a:extLst>
          </p:cNvPr>
          <p:cNvSpPr>
            <a:spLocks noGrp="1"/>
          </p:cNvSpPr>
          <p:nvPr/>
        </p:nvSpPr>
        <p:spPr>
          <a:xfrm>
            <a:off x="5342573" y="4157663"/>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cxnSp>
        <p:nvCxnSpPr>
          <p:cNvPr id="19" name="Straight Arrow Connector 18">
            <a:extLst>
              <a:ext uri="{FF2B5EF4-FFF2-40B4-BE49-F238E27FC236}">
                <a16:creationId xmlns:a16="http://schemas.microsoft.com/office/drawing/2014/main" id="{5B7D2594-1420-9FB4-44B0-50C34C0D045D}"/>
              </a:ext>
            </a:extLst>
          </p:cNvPr>
          <p:cNvCxnSpPr>
            <a:stCxn id="17" idx="4"/>
            <a:endCxn id="18" idx="0"/>
          </p:cNvCxnSpPr>
          <p:nvPr/>
        </p:nvCxnSpPr>
        <p:spPr>
          <a:xfrm>
            <a:off x="5347336" y="2252663"/>
            <a:ext cx="0" cy="1905000"/>
          </a:xfrm>
          <a:prstGeom prst="straightConnector1">
            <a:avLst/>
          </a:prstGeom>
          <a:ln w="14288">
            <a:solidFill>
              <a:srgbClr val="6698B4"/>
            </a:solidFill>
          </a:ln>
        </p:spPr>
      </p:cxnSp>
      <p:sp>
        <p:nvSpPr>
          <p:cNvPr id="20" name="Oval 19">
            <a:extLst>
              <a:ext uri="{FF2B5EF4-FFF2-40B4-BE49-F238E27FC236}">
                <a16:creationId xmlns:a16="http://schemas.microsoft.com/office/drawing/2014/main" id="{D415096F-484B-D290-7621-22642D4D7E0E}"/>
              </a:ext>
            </a:extLst>
          </p:cNvPr>
          <p:cNvSpPr>
            <a:spLocks noGrp="1"/>
          </p:cNvSpPr>
          <p:nvPr/>
        </p:nvSpPr>
        <p:spPr>
          <a:xfrm>
            <a:off x="5904548" y="224313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21" name="Oval 20">
            <a:extLst>
              <a:ext uri="{FF2B5EF4-FFF2-40B4-BE49-F238E27FC236}">
                <a16:creationId xmlns:a16="http://schemas.microsoft.com/office/drawing/2014/main" id="{3DF48ACA-BD86-993E-8FB0-E4B62B722684}"/>
              </a:ext>
            </a:extLst>
          </p:cNvPr>
          <p:cNvSpPr>
            <a:spLocks noGrp="1"/>
          </p:cNvSpPr>
          <p:nvPr/>
        </p:nvSpPr>
        <p:spPr>
          <a:xfrm>
            <a:off x="5904548" y="4157663"/>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cxnSp>
        <p:nvCxnSpPr>
          <p:cNvPr id="22" name="Straight Arrow Connector 21">
            <a:extLst>
              <a:ext uri="{FF2B5EF4-FFF2-40B4-BE49-F238E27FC236}">
                <a16:creationId xmlns:a16="http://schemas.microsoft.com/office/drawing/2014/main" id="{5863B25C-ACB5-17B1-1589-127CB742FEF4}"/>
              </a:ext>
            </a:extLst>
          </p:cNvPr>
          <p:cNvCxnSpPr>
            <a:stCxn id="20" idx="4"/>
            <a:endCxn id="21" idx="0"/>
          </p:cNvCxnSpPr>
          <p:nvPr/>
        </p:nvCxnSpPr>
        <p:spPr>
          <a:xfrm>
            <a:off x="5909311" y="2252663"/>
            <a:ext cx="0" cy="1905000"/>
          </a:xfrm>
          <a:prstGeom prst="straightConnector1">
            <a:avLst/>
          </a:prstGeom>
          <a:ln w="14288">
            <a:solidFill>
              <a:srgbClr val="6698B4"/>
            </a:solidFill>
          </a:ln>
        </p:spPr>
      </p:cxnSp>
      <p:sp>
        <p:nvSpPr>
          <p:cNvPr id="23" name="Oval 22">
            <a:extLst>
              <a:ext uri="{FF2B5EF4-FFF2-40B4-BE49-F238E27FC236}">
                <a16:creationId xmlns:a16="http://schemas.microsoft.com/office/drawing/2014/main" id="{88135CCE-0F31-EE67-7D30-7889E2BE0B81}"/>
              </a:ext>
            </a:extLst>
          </p:cNvPr>
          <p:cNvSpPr>
            <a:spLocks noGrp="1"/>
          </p:cNvSpPr>
          <p:nvPr/>
        </p:nvSpPr>
        <p:spPr>
          <a:xfrm>
            <a:off x="3094673" y="271938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24" name="Oval 23">
            <a:extLst>
              <a:ext uri="{FF2B5EF4-FFF2-40B4-BE49-F238E27FC236}">
                <a16:creationId xmlns:a16="http://schemas.microsoft.com/office/drawing/2014/main" id="{4C2EC5D0-B52D-E00D-A3D7-9DBF075D9E15}"/>
              </a:ext>
            </a:extLst>
          </p:cNvPr>
          <p:cNvSpPr>
            <a:spLocks noGrp="1"/>
          </p:cNvSpPr>
          <p:nvPr/>
        </p:nvSpPr>
        <p:spPr>
          <a:xfrm>
            <a:off x="5914073" y="271938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cxnSp>
        <p:nvCxnSpPr>
          <p:cNvPr id="25" name="Straight Arrow Connector 24">
            <a:extLst>
              <a:ext uri="{FF2B5EF4-FFF2-40B4-BE49-F238E27FC236}">
                <a16:creationId xmlns:a16="http://schemas.microsoft.com/office/drawing/2014/main" id="{49CE49D4-6ABB-1ADE-C697-5CA53EE9358D}"/>
              </a:ext>
            </a:extLst>
          </p:cNvPr>
          <p:cNvCxnSpPr>
            <a:stCxn id="23" idx="6"/>
            <a:endCxn id="24" idx="2"/>
          </p:cNvCxnSpPr>
          <p:nvPr/>
        </p:nvCxnSpPr>
        <p:spPr>
          <a:xfrm>
            <a:off x="3104198" y="2724151"/>
            <a:ext cx="2809875" cy="0"/>
          </a:xfrm>
          <a:prstGeom prst="straightConnector1">
            <a:avLst/>
          </a:prstGeom>
          <a:ln w="14288">
            <a:solidFill>
              <a:srgbClr val="6698B4"/>
            </a:solidFill>
          </a:ln>
        </p:spPr>
      </p:cxnSp>
      <p:sp>
        <p:nvSpPr>
          <p:cNvPr id="26" name="Oval 25">
            <a:extLst>
              <a:ext uri="{FF2B5EF4-FFF2-40B4-BE49-F238E27FC236}">
                <a16:creationId xmlns:a16="http://schemas.microsoft.com/office/drawing/2014/main" id="{E74EF77E-74D2-E005-BBEF-147FE57E90EA}"/>
              </a:ext>
            </a:extLst>
          </p:cNvPr>
          <p:cNvSpPr>
            <a:spLocks noGrp="1"/>
          </p:cNvSpPr>
          <p:nvPr/>
        </p:nvSpPr>
        <p:spPr>
          <a:xfrm>
            <a:off x="3094673" y="319563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27" name="Oval 26">
            <a:extLst>
              <a:ext uri="{FF2B5EF4-FFF2-40B4-BE49-F238E27FC236}">
                <a16:creationId xmlns:a16="http://schemas.microsoft.com/office/drawing/2014/main" id="{9194C071-9249-F7B8-3E4D-CBE75C132BB0}"/>
              </a:ext>
            </a:extLst>
          </p:cNvPr>
          <p:cNvSpPr>
            <a:spLocks noGrp="1"/>
          </p:cNvSpPr>
          <p:nvPr/>
        </p:nvSpPr>
        <p:spPr>
          <a:xfrm>
            <a:off x="5914073" y="319563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cxnSp>
        <p:nvCxnSpPr>
          <p:cNvPr id="28" name="Straight Arrow Connector 27">
            <a:extLst>
              <a:ext uri="{FF2B5EF4-FFF2-40B4-BE49-F238E27FC236}">
                <a16:creationId xmlns:a16="http://schemas.microsoft.com/office/drawing/2014/main" id="{792C71E9-07E0-1AE2-8095-F424CF32AC74}"/>
              </a:ext>
            </a:extLst>
          </p:cNvPr>
          <p:cNvCxnSpPr>
            <a:stCxn id="26" idx="6"/>
            <a:endCxn id="27" idx="2"/>
          </p:cNvCxnSpPr>
          <p:nvPr/>
        </p:nvCxnSpPr>
        <p:spPr>
          <a:xfrm>
            <a:off x="3104198" y="3200401"/>
            <a:ext cx="2809875" cy="0"/>
          </a:xfrm>
          <a:prstGeom prst="straightConnector1">
            <a:avLst/>
          </a:prstGeom>
          <a:ln w="14288">
            <a:solidFill>
              <a:srgbClr val="6698B4"/>
            </a:solidFill>
          </a:ln>
        </p:spPr>
      </p:cxnSp>
      <p:sp>
        <p:nvSpPr>
          <p:cNvPr id="29" name="Oval 28">
            <a:extLst>
              <a:ext uri="{FF2B5EF4-FFF2-40B4-BE49-F238E27FC236}">
                <a16:creationId xmlns:a16="http://schemas.microsoft.com/office/drawing/2014/main" id="{6EB70C17-3870-557D-1C61-A67DFDAE9C98}"/>
              </a:ext>
            </a:extLst>
          </p:cNvPr>
          <p:cNvSpPr>
            <a:spLocks noGrp="1"/>
          </p:cNvSpPr>
          <p:nvPr/>
        </p:nvSpPr>
        <p:spPr>
          <a:xfrm>
            <a:off x="3094673" y="367188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30" name="Oval 29">
            <a:extLst>
              <a:ext uri="{FF2B5EF4-FFF2-40B4-BE49-F238E27FC236}">
                <a16:creationId xmlns:a16="http://schemas.microsoft.com/office/drawing/2014/main" id="{6A91E6F2-579C-57C1-52C4-D128877EF6DE}"/>
              </a:ext>
            </a:extLst>
          </p:cNvPr>
          <p:cNvSpPr>
            <a:spLocks noGrp="1"/>
          </p:cNvSpPr>
          <p:nvPr/>
        </p:nvSpPr>
        <p:spPr>
          <a:xfrm>
            <a:off x="5914073" y="367188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cxnSp>
        <p:nvCxnSpPr>
          <p:cNvPr id="31" name="Straight Arrow Connector 30">
            <a:extLst>
              <a:ext uri="{FF2B5EF4-FFF2-40B4-BE49-F238E27FC236}">
                <a16:creationId xmlns:a16="http://schemas.microsoft.com/office/drawing/2014/main" id="{61B0EA2C-04EF-B7B5-A87B-AD9E3B23D1F5}"/>
              </a:ext>
            </a:extLst>
          </p:cNvPr>
          <p:cNvCxnSpPr>
            <a:stCxn id="29" idx="6"/>
            <a:endCxn id="30" idx="2"/>
          </p:cNvCxnSpPr>
          <p:nvPr/>
        </p:nvCxnSpPr>
        <p:spPr>
          <a:xfrm>
            <a:off x="3104198" y="3676651"/>
            <a:ext cx="2809875" cy="0"/>
          </a:xfrm>
          <a:prstGeom prst="straightConnector1">
            <a:avLst/>
          </a:prstGeom>
          <a:ln w="14288">
            <a:solidFill>
              <a:srgbClr val="6698B4"/>
            </a:solidFill>
          </a:ln>
        </p:spPr>
      </p:cxnSp>
      <p:sp>
        <p:nvSpPr>
          <p:cNvPr id="480" name="Oval 479">
            <a:extLst>
              <a:ext uri="{FF2B5EF4-FFF2-40B4-BE49-F238E27FC236}">
                <a16:creationId xmlns:a16="http://schemas.microsoft.com/office/drawing/2014/main" id="{C285AE59-65BE-1166-39C4-155003C5F63C}"/>
              </a:ext>
            </a:extLst>
          </p:cNvPr>
          <p:cNvSpPr>
            <a:spLocks noGrp="1"/>
          </p:cNvSpPr>
          <p:nvPr/>
        </p:nvSpPr>
        <p:spPr>
          <a:xfrm>
            <a:off x="3094673" y="414813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481" name="Oval 480">
            <a:extLst>
              <a:ext uri="{FF2B5EF4-FFF2-40B4-BE49-F238E27FC236}">
                <a16:creationId xmlns:a16="http://schemas.microsoft.com/office/drawing/2014/main" id="{8CE1ED37-ECB4-E416-E28D-FFB5B17951F4}"/>
              </a:ext>
            </a:extLst>
          </p:cNvPr>
          <p:cNvSpPr>
            <a:spLocks noGrp="1"/>
          </p:cNvSpPr>
          <p:nvPr/>
        </p:nvSpPr>
        <p:spPr>
          <a:xfrm>
            <a:off x="5914073" y="414813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cxnSp>
        <p:nvCxnSpPr>
          <p:cNvPr id="482" name="Straight Arrow Connector 481">
            <a:extLst>
              <a:ext uri="{FF2B5EF4-FFF2-40B4-BE49-F238E27FC236}">
                <a16:creationId xmlns:a16="http://schemas.microsoft.com/office/drawing/2014/main" id="{0E6882CA-E4F3-9197-D6FC-7818F61EA38F}"/>
              </a:ext>
            </a:extLst>
          </p:cNvPr>
          <p:cNvCxnSpPr>
            <a:stCxn id="480" idx="6"/>
            <a:endCxn id="481" idx="2"/>
          </p:cNvCxnSpPr>
          <p:nvPr/>
        </p:nvCxnSpPr>
        <p:spPr>
          <a:xfrm>
            <a:off x="3104198" y="4152901"/>
            <a:ext cx="2809875" cy="0"/>
          </a:xfrm>
          <a:prstGeom prst="straightConnector1">
            <a:avLst/>
          </a:prstGeom>
          <a:ln w="14288">
            <a:solidFill>
              <a:srgbClr val="6698B4"/>
            </a:solidFill>
          </a:ln>
        </p:spPr>
      </p:cxnSp>
      <p:sp>
        <p:nvSpPr>
          <p:cNvPr id="483" name="Oval 482">
            <a:extLst>
              <a:ext uri="{FF2B5EF4-FFF2-40B4-BE49-F238E27FC236}">
                <a16:creationId xmlns:a16="http://schemas.microsoft.com/office/drawing/2014/main" id="{2B584A4D-4E9B-B4D7-3306-7501012E2731}"/>
              </a:ext>
            </a:extLst>
          </p:cNvPr>
          <p:cNvSpPr>
            <a:spLocks noGrp="1"/>
          </p:cNvSpPr>
          <p:nvPr/>
        </p:nvSpPr>
        <p:spPr>
          <a:xfrm>
            <a:off x="1227773" y="184308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484" name="Oval 483">
            <a:extLst>
              <a:ext uri="{FF2B5EF4-FFF2-40B4-BE49-F238E27FC236}">
                <a16:creationId xmlns:a16="http://schemas.microsoft.com/office/drawing/2014/main" id="{9795E29A-5181-3854-CC4A-0E352B7F8A8F}"/>
              </a:ext>
            </a:extLst>
          </p:cNvPr>
          <p:cNvSpPr>
            <a:spLocks noGrp="1"/>
          </p:cNvSpPr>
          <p:nvPr/>
        </p:nvSpPr>
        <p:spPr>
          <a:xfrm>
            <a:off x="2980373" y="2576513"/>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cxnSp>
        <p:nvCxnSpPr>
          <p:cNvPr id="485" name="Straight Arrow Connector 484">
            <a:extLst>
              <a:ext uri="{FF2B5EF4-FFF2-40B4-BE49-F238E27FC236}">
                <a16:creationId xmlns:a16="http://schemas.microsoft.com/office/drawing/2014/main" id="{2497F369-9BB8-39C2-2C99-C624B4445B6D}"/>
              </a:ext>
            </a:extLst>
          </p:cNvPr>
          <p:cNvCxnSpPr>
            <a:stCxn id="483" idx="5"/>
            <a:endCxn id="484" idx="1"/>
          </p:cNvCxnSpPr>
          <p:nvPr/>
        </p:nvCxnSpPr>
        <p:spPr>
          <a:xfrm>
            <a:off x="1235903" y="1851218"/>
            <a:ext cx="1745865" cy="726690"/>
          </a:xfrm>
          <a:prstGeom prst="straightConnector1">
            <a:avLst/>
          </a:prstGeom>
          <a:ln w="38100">
            <a:solidFill>
              <a:srgbClr val="D78032"/>
            </a:solidFill>
            <a:tailEnd type="triangle" w="med" len="med"/>
          </a:ln>
        </p:spPr>
      </p:cxnSp>
      <p:sp>
        <p:nvSpPr>
          <p:cNvPr id="486" name="Oval 485">
            <a:extLst>
              <a:ext uri="{FF2B5EF4-FFF2-40B4-BE49-F238E27FC236}">
                <a16:creationId xmlns:a16="http://schemas.microsoft.com/office/drawing/2014/main" id="{10E9960A-BA36-5704-B07A-F98E5F24DCA1}"/>
              </a:ext>
            </a:extLst>
          </p:cNvPr>
          <p:cNvSpPr>
            <a:spLocks noGrp="1"/>
          </p:cNvSpPr>
          <p:nvPr/>
        </p:nvSpPr>
        <p:spPr>
          <a:xfrm>
            <a:off x="1227773" y="237648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487" name="Oval 486">
            <a:extLst>
              <a:ext uri="{FF2B5EF4-FFF2-40B4-BE49-F238E27FC236}">
                <a16:creationId xmlns:a16="http://schemas.microsoft.com/office/drawing/2014/main" id="{905080AD-F177-8B02-8DBA-DDD006603D4D}"/>
              </a:ext>
            </a:extLst>
          </p:cNvPr>
          <p:cNvSpPr>
            <a:spLocks noGrp="1"/>
          </p:cNvSpPr>
          <p:nvPr/>
        </p:nvSpPr>
        <p:spPr>
          <a:xfrm>
            <a:off x="2980373" y="310038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cxnSp>
        <p:nvCxnSpPr>
          <p:cNvPr id="488" name="Straight Arrow Connector 487">
            <a:extLst>
              <a:ext uri="{FF2B5EF4-FFF2-40B4-BE49-F238E27FC236}">
                <a16:creationId xmlns:a16="http://schemas.microsoft.com/office/drawing/2014/main" id="{F0E7729D-58D5-5A1E-62DE-DBFF6386D9A7}"/>
              </a:ext>
            </a:extLst>
          </p:cNvPr>
          <p:cNvCxnSpPr>
            <a:stCxn id="486" idx="6"/>
            <a:endCxn id="487" idx="2"/>
          </p:cNvCxnSpPr>
          <p:nvPr/>
        </p:nvCxnSpPr>
        <p:spPr>
          <a:xfrm>
            <a:off x="1237298" y="2381251"/>
            <a:ext cx="1743075" cy="723900"/>
          </a:xfrm>
          <a:prstGeom prst="straightConnector1">
            <a:avLst/>
          </a:prstGeom>
          <a:ln w="38100">
            <a:solidFill>
              <a:srgbClr val="D78032"/>
            </a:solidFill>
            <a:tailEnd type="triangle" w="med" len="med"/>
          </a:ln>
        </p:spPr>
      </p:cxnSp>
      <p:sp>
        <p:nvSpPr>
          <p:cNvPr id="489" name="Oval 488">
            <a:extLst>
              <a:ext uri="{FF2B5EF4-FFF2-40B4-BE49-F238E27FC236}">
                <a16:creationId xmlns:a16="http://schemas.microsoft.com/office/drawing/2014/main" id="{7ABEA881-0777-EA08-5047-62F53DB08614}"/>
              </a:ext>
            </a:extLst>
          </p:cNvPr>
          <p:cNvSpPr>
            <a:spLocks noGrp="1"/>
          </p:cNvSpPr>
          <p:nvPr/>
        </p:nvSpPr>
        <p:spPr>
          <a:xfrm>
            <a:off x="1227773" y="290988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490" name="Oval 489">
            <a:extLst>
              <a:ext uri="{FF2B5EF4-FFF2-40B4-BE49-F238E27FC236}">
                <a16:creationId xmlns:a16="http://schemas.microsoft.com/office/drawing/2014/main" id="{A851669F-29CF-C03C-3579-E4417FB8BED4}"/>
              </a:ext>
            </a:extLst>
          </p:cNvPr>
          <p:cNvSpPr>
            <a:spLocks noGrp="1"/>
          </p:cNvSpPr>
          <p:nvPr/>
        </p:nvSpPr>
        <p:spPr>
          <a:xfrm>
            <a:off x="2980373" y="3633788"/>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cxnSp>
        <p:nvCxnSpPr>
          <p:cNvPr id="491" name="Straight Arrow Connector 490">
            <a:extLst>
              <a:ext uri="{FF2B5EF4-FFF2-40B4-BE49-F238E27FC236}">
                <a16:creationId xmlns:a16="http://schemas.microsoft.com/office/drawing/2014/main" id="{4E4B2027-9110-E025-8BE1-EBCEFE1BE26F}"/>
              </a:ext>
            </a:extLst>
          </p:cNvPr>
          <p:cNvCxnSpPr>
            <a:stCxn id="489" idx="6"/>
            <a:endCxn id="490" idx="2"/>
          </p:cNvCxnSpPr>
          <p:nvPr/>
        </p:nvCxnSpPr>
        <p:spPr>
          <a:xfrm>
            <a:off x="1237298" y="2914651"/>
            <a:ext cx="1743075" cy="723900"/>
          </a:xfrm>
          <a:prstGeom prst="straightConnector1">
            <a:avLst/>
          </a:prstGeom>
          <a:ln w="38100">
            <a:solidFill>
              <a:srgbClr val="D78032"/>
            </a:solidFill>
            <a:tailEnd type="triangle" w="med" len="med"/>
          </a:ln>
        </p:spPr>
      </p:cxnSp>
      <p:sp>
        <p:nvSpPr>
          <p:cNvPr id="492" name="Rectangle 491">
            <a:extLst>
              <a:ext uri="{FF2B5EF4-FFF2-40B4-BE49-F238E27FC236}">
                <a16:creationId xmlns:a16="http://schemas.microsoft.com/office/drawing/2014/main" id="{8725E257-E0B8-9D98-1406-87369A52FC9A}"/>
              </a:ext>
            </a:extLst>
          </p:cNvPr>
          <p:cNvSpPr>
            <a:spLocks noGrp="1"/>
          </p:cNvSpPr>
          <p:nvPr/>
        </p:nvSpPr>
        <p:spPr>
          <a:xfrm>
            <a:off x="984885" y="1428750"/>
            <a:ext cx="2305050" cy="323850"/>
          </a:xfrm>
          <a:prstGeom prst="rect">
            <a:avLst/>
          </a:prstGeom>
          <a:noFill/>
          <a:ln w="0">
            <a:noFill/>
          </a:ln>
        </p:spPr>
        <p:txBody>
          <a:bodyPr lIns="0" tIns="0" rIns="0" bIns="0" anchor="ctr">
            <a:noAutofit/>
          </a:bodyPr>
          <a:lstStyle/>
          <a:p>
            <a:pPr algn="l">
              <a:defRPr sz="1800" b="1">
                <a:solidFill>
                  <a:srgbClr val="D78032"/>
                </a:solidFill>
                <a:latin typeface="DejaVu Sans"/>
                <a:ea typeface="DejaVu Sans"/>
                <a:cs typeface="DejaVu Sans"/>
              </a:defRPr>
            </a:pPr>
            <a:r>
              <a:rPr sz="1800" b="1">
                <a:solidFill>
                  <a:srgbClr val="D78032"/>
                </a:solidFill>
                <a:latin typeface="Arial" panose="020B0604020202020204" pitchFamily="34" charset="0"/>
                <a:ea typeface="DejaVu Sans"/>
                <a:cs typeface="Arial" panose="020B0604020202020204" pitchFamily="34" charset="0"/>
              </a:rPr>
              <a:t>Sunlight: G</a:t>
            </a:r>
          </a:p>
        </p:txBody>
      </p:sp>
      <p:sp>
        <p:nvSpPr>
          <p:cNvPr id="493" name="Oval 492">
            <a:extLst>
              <a:ext uri="{FF2B5EF4-FFF2-40B4-BE49-F238E27FC236}">
                <a16:creationId xmlns:a16="http://schemas.microsoft.com/office/drawing/2014/main" id="{E5DA6674-5B49-623A-AC10-2073839724B7}"/>
              </a:ext>
            </a:extLst>
          </p:cNvPr>
          <p:cNvSpPr>
            <a:spLocks noGrp="1"/>
          </p:cNvSpPr>
          <p:nvPr/>
        </p:nvSpPr>
        <p:spPr>
          <a:xfrm>
            <a:off x="5923598" y="3205163"/>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494" name="Oval 493">
            <a:extLst>
              <a:ext uri="{FF2B5EF4-FFF2-40B4-BE49-F238E27FC236}">
                <a16:creationId xmlns:a16="http://schemas.microsoft.com/office/drawing/2014/main" id="{312853C1-2D2B-C2B6-ABB4-1478BF78B7FE}"/>
              </a:ext>
            </a:extLst>
          </p:cNvPr>
          <p:cNvSpPr>
            <a:spLocks noGrp="1"/>
          </p:cNvSpPr>
          <p:nvPr/>
        </p:nvSpPr>
        <p:spPr>
          <a:xfrm>
            <a:off x="8000048" y="3205163"/>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cxnSp>
        <p:nvCxnSpPr>
          <p:cNvPr id="498" name="Straight Arrow Connector 497">
            <a:extLst>
              <a:ext uri="{FF2B5EF4-FFF2-40B4-BE49-F238E27FC236}">
                <a16:creationId xmlns:a16="http://schemas.microsoft.com/office/drawing/2014/main" id="{0E220BB0-2DC7-C616-B0B8-692D973EC07C}"/>
              </a:ext>
            </a:extLst>
          </p:cNvPr>
          <p:cNvCxnSpPr>
            <a:stCxn id="493" idx="6"/>
            <a:endCxn id="494" idx="2"/>
          </p:cNvCxnSpPr>
          <p:nvPr/>
        </p:nvCxnSpPr>
        <p:spPr>
          <a:xfrm>
            <a:off x="5933123" y="3209926"/>
            <a:ext cx="2066925" cy="0"/>
          </a:xfrm>
          <a:prstGeom prst="straightConnector1">
            <a:avLst/>
          </a:prstGeom>
          <a:ln w="38100">
            <a:solidFill>
              <a:srgbClr val="D78032"/>
            </a:solidFill>
            <a:tailEnd type="triangle" w="med" len="med"/>
          </a:ln>
        </p:spPr>
      </p:cxnSp>
      <p:sp>
        <p:nvSpPr>
          <p:cNvPr id="499" name="Rectangle 498">
            <a:extLst>
              <a:ext uri="{FF2B5EF4-FFF2-40B4-BE49-F238E27FC236}">
                <a16:creationId xmlns:a16="http://schemas.microsoft.com/office/drawing/2014/main" id="{BD5849F3-C29F-E5AD-6B48-18F080E65B4E}"/>
              </a:ext>
            </a:extLst>
          </p:cNvPr>
          <p:cNvSpPr>
            <a:spLocks noGrp="1"/>
          </p:cNvSpPr>
          <p:nvPr/>
        </p:nvSpPr>
        <p:spPr>
          <a:xfrm>
            <a:off x="6385560" y="2733675"/>
            <a:ext cx="1533525" cy="361950"/>
          </a:xfrm>
          <a:prstGeom prst="rect">
            <a:avLst/>
          </a:prstGeom>
          <a:noFill/>
          <a:ln w="0">
            <a:noFill/>
          </a:ln>
        </p:spPr>
        <p:txBody>
          <a:bodyPr lIns="0" tIns="0" rIns="0" bIns="0" anchor="ctr">
            <a:noAutofit/>
          </a:bodyPr>
          <a:lstStyle/>
          <a:p>
            <a:pPr algn="l">
              <a:defRPr sz="1950" b="1">
                <a:solidFill>
                  <a:srgbClr val="D78032"/>
                </a:solidFill>
                <a:latin typeface="DejaVu Sans"/>
                <a:ea typeface="DejaVu Sans"/>
                <a:cs typeface="DejaVu Sans"/>
              </a:defRPr>
            </a:pPr>
            <a:r>
              <a:rPr sz="1950" b="1">
                <a:solidFill>
                  <a:srgbClr val="D78032"/>
                </a:solidFill>
                <a:latin typeface="Arial" panose="020B0604020202020204" pitchFamily="34" charset="0"/>
                <a:ea typeface="DejaVu Sans"/>
                <a:cs typeface="Arial" panose="020B0604020202020204" pitchFamily="34" charset="0"/>
              </a:rPr>
              <a:t>P_PV</a:t>
            </a:r>
          </a:p>
        </p:txBody>
      </p:sp>
      <p:sp>
        <p:nvSpPr>
          <p:cNvPr id="500" name="Rectangle 499">
            <a:extLst>
              <a:ext uri="{FF2B5EF4-FFF2-40B4-BE49-F238E27FC236}">
                <a16:creationId xmlns:a16="http://schemas.microsoft.com/office/drawing/2014/main" id="{7A8DECD7-B2C4-F104-77AE-D574FF9FD462}"/>
              </a:ext>
            </a:extLst>
          </p:cNvPr>
          <p:cNvSpPr>
            <a:spLocks noGrp="1"/>
          </p:cNvSpPr>
          <p:nvPr/>
        </p:nvSpPr>
        <p:spPr>
          <a:xfrm>
            <a:off x="3318510" y="4219575"/>
            <a:ext cx="2476500" cy="314325"/>
          </a:xfrm>
          <a:prstGeom prst="rect">
            <a:avLst/>
          </a:prstGeom>
          <a:noFill/>
          <a:ln w="0">
            <a:noFill/>
          </a:ln>
        </p:spPr>
        <p:txBody>
          <a:bodyPr lIns="0" tIns="0" rIns="0" bIns="0" anchor="ctr">
            <a:noAutofit/>
          </a:bodyPr>
          <a:lstStyle/>
          <a:p>
            <a:pPr algn="l">
              <a:defRPr sz="1725" b="1">
                <a:solidFill>
                  <a:srgbClr val="173E50"/>
                </a:solidFill>
                <a:latin typeface="DejaVu Sans"/>
                <a:ea typeface="DejaVu Sans"/>
                <a:cs typeface="DejaVu Sans"/>
              </a:defRPr>
            </a:pPr>
            <a:r>
              <a:rPr sz="1725" b="1">
                <a:solidFill>
                  <a:srgbClr val="173E50"/>
                </a:solidFill>
                <a:latin typeface="Arial" panose="020B0604020202020204" pitchFamily="34" charset="0"/>
                <a:ea typeface="DejaVu Sans"/>
                <a:cs typeface="Arial" panose="020B0604020202020204" pitchFamily="34" charset="0"/>
              </a:rPr>
              <a:t>Panel area A</a:t>
            </a:r>
          </a:p>
        </p:txBody>
      </p:sp>
      <p:sp>
        <p:nvSpPr>
          <p:cNvPr id="501" name="Rectangle 500">
            <a:extLst>
              <a:ext uri="{FF2B5EF4-FFF2-40B4-BE49-F238E27FC236}">
                <a16:creationId xmlns:a16="http://schemas.microsoft.com/office/drawing/2014/main" id="{16F20B3F-0802-45FC-3223-13BCA1D5CC5A}"/>
              </a:ext>
            </a:extLst>
          </p:cNvPr>
          <p:cNvSpPr>
            <a:spLocks noGrp="1"/>
          </p:cNvSpPr>
          <p:nvPr/>
        </p:nvSpPr>
        <p:spPr>
          <a:xfrm>
            <a:off x="6385560" y="3514725"/>
            <a:ext cx="1619250" cy="381000"/>
          </a:xfrm>
          <a:prstGeom prst="rect">
            <a:avLst/>
          </a:prstGeom>
          <a:noFill/>
          <a:ln w="0">
            <a:noFill/>
          </a:ln>
        </p:spPr>
        <p:txBody>
          <a:bodyPr lIns="0" tIns="0" rIns="0" bIns="0" anchor="ctr">
            <a:noAutofit/>
          </a:bodyPr>
          <a:lstStyle/>
          <a:p>
            <a:pPr algn="l">
              <a:defRPr sz="1725" b="0">
                <a:solidFill>
                  <a:srgbClr val="173E50"/>
                </a:solidFill>
                <a:latin typeface="DejaVu Sans"/>
                <a:ea typeface="DejaVu Sans"/>
                <a:cs typeface="DejaVu Sans"/>
              </a:defRPr>
            </a:pPr>
            <a:r>
              <a:rPr sz="1725" b="0">
                <a:solidFill>
                  <a:srgbClr val="173E50"/>
                </a:solidFill>
                <a:latin typeface="Arial" panose="020B0604020202020204" pitchFamily="34" charset="0"/>
                <a:ea typeface="DejaVu Sans"/>
                <a:cs typeface="Arial" panose="020B0604020202020204" pitchFamily="34" charset="0"/>
              </a:rPr>
              <a:t>η_PV and f</a:t>
            </a:r>
          </a:p>
        </p:txBody>
      </p:sp>
      <mc:AlternateContent xmlns:mc="http://schemas.openxmlformats.org/markup-compatibility/2006" xmlns:a14="http://schemas.microsoft.com/office/drawing/2010/main">
        <mc:Choice Requires="a14">
          <p:sp>
            <p:nvSpPr>
              <p:cNvPr id="502" name="Editable equation 6">
                <a:extLst>
                  <a:ext uri="{FF2B5EF4-FFF2-40B4-BE49-F238E27FC236}">
                    <a16:creationId xmlns:a16="http://schemas.microsoft.com/office/drawing/2014/main" id="{394A8B8D-3D4B-9654-7D10-B3CEAA59861E}"/>
                  </a:ext>
                </a:extLst>
              </p:cNvPr>
              <p:cNvSpPr txBox="1"/>
              <p:nvPr/>
            </p:nvSpPr>
            <p:spPr>
              <a:xfrm>
                <a:off x="984885" y="4778375"/>
                <a:ext cx="10953750" cy="730250"/>
              </a:xfrm>
              <a:prstGeom prst="rect">
                <a:avLst/>
              </a:prstGeom>
              <a:noFill/>
              <a:ln>
                <a:noFill/>
              </a:ln>
            </p:spPr>
            <p:txBody>
              <a:bodyPr lIns="0" tIns="0" rIns="0" bIns="0" anchor="ctr"/>
              <a:lstStyle/>
              <a:p>
                <a:pPr algn="ctr">
                  <a:defRPr sz="2600"/>
                </a:pPr>
                <a14:m>
                  <m:oMathPara xmlns:m="http://schemas.openxmlformats.org/officeDocument/2006/math">
                    <m:oMath>
                      <m:sSub>
                        <m:sSubPr>
                          <m:ctrlPr>
                            <a:rPr lang="fa-IR" sz="2600">
                              <a:solidFill>
                                <a:srgbClr val="173E50"/>
                              </a:solidFill>
                              <a:latin typeface="Cambria Math"/>
                            </a:rPr>
                          </m:ctrlPr>
                        </m:sSubPr>
                        <m:e>
                          <m:r>
                            <a:rPr lang="fa-IR" sz="2600">
                              <a:solidFill>
                                <a:srgbClr val="173E50"/>
                              </a:solidFill>
                              <a:latin typeface="Cambria Math"/>
                            </a:rPr>
                            <m:t>𝑃</m:t>
                          </m:r>
                        </m:e>
                        <m:sub>
                          <m:r>
                            <m:rPr>
                              <m:sty m:val="p"/>
                            </m:rPr>
                            <a:rPr lang="en-US" sz="2600">
                              <a:solidFill>
                                <a:srgbClr val="173E50"/>
                              </a:solidFill>
                              <a:latin typeface="Cambria Math"/>
                            </a:rPr>
                            <m:t>PV</m:t>
                          </m:r>
                        </m:sub>
                      </m:sSub>
                      <m:r>
                        <a:rPr lang="fa-IR" sz="2600">
                          <a:solidFill>
                            <a:srgbClr val="173E50"/>
                          </a:solidFill>
                          <a:latin typeface="Cambria Math"/>
                        </a:rPr>
                        <m:t>=</m:t>
                      </m:r>
                      <m:r>
                        <a:rPr lang="fa-IR" sz="2600">
                          <a:solidFill>
                            <a:srgbClr val="173E50"/>
                          </a:solidFill>
                          <a:latin typeface="Cambria Math"/>
                        </a:rPr>
                        <m:t>𝐺</m:t>
                      </m:r>
                      <m:r>
                        <a:rPr lang="fa-IR" sz="2600" b="0" i="0" smtClean="0">
                          <a:solidFill>
                            <a:srgbClr val="173E50"/>
                          </a:solidFill>
                          <a:latin typeface="Cambria Math" panose="02040503050406030204" pitchFamily="18" charset="0"/>
                        </a:rPr>
                        <m:t>.</m:t>
                      </m:r>
                      <m:r>
                        <a:rPr lang="fa-IR" sz="2600">
                          <a:solidFill>
                            <a:srgbClr val="173E50"/>
                          </a:solidFill>
                          <a:latin typeface="Cambria Math"/>
                        </a:rPr>
                        <m:t>𝐴</m:t>
                      </m:r>
                      <m:r>
                        <a:rPr lang="en-US" sz="2600" b="0" i="0" smtClean="0">
                          <a:solidFill>
                            <a:srgbClr val="173E50"/>
                          </a:solidFill>
                          <a:latin typeface="Cambria Math" panose="02040503050406030204" pitchFamily="18" charset="0"/>
                        </a:rPr>
                        <m:t>.</m:t>
                      </m:r>
                      <m:sSub>
                        <m:sSubPr>
                          <m:ctrlPr>
                            <a:rPr lang="fa-IR" sz="2600">
                              <a:solidFill>
                                <a:srgbClr val="173E50"/>
                              </a:solidFill>
                              <a:latin typeface="Cambria Math"/>
                            </a:rPr>
                          </m:ctrlPr>
                        </m:sSubPr>
                        <m:e>
                          <m:r>
                            <a:rPr lang="fa-IR" sz="2600">
                              <a:solidFill>
                                <a:srgbClr val="173E50"/>
                              </a:solidFill>
                              <a:latin typeface="Cambria Math"/>
                            </a:rPr>
                            <m:t>𝜂</m:t>
                          </m:r>
                        </m:e>
                        <m:sub>
                          <m:r>
                            <m:rPr>
                              <m:sty m:val="p"/>
                            </m:rPr>
                            <a:rPr lang="en-US" sz="2600">
                              <a:solidFill>
                                <a:srgbClr val="173E50"/>
                              </a:solidFill>
                              <a:latin typeface="Cambria Math"/>
                            </a:rPr>
                            <m:t>PV</m:t>
                          </m:r>
                        </m:sub>
                      </m:sSub>
                      <m:r>
                        <a:rPr lang="en-US" sz="2600" b="0" i="0" smtClean="0">
                          <a:solidFill>
                            <a:srgbClr val="173E50"/>
                          </a:solidFill>
                          <a:latin typeface="Cambria Math" panose="02040503050406030204" pitchFamily="18" charset="0"/>
                        </a:rPr>
                        <m:t>.</m:t>
                      </m:r>
                      <m:r>
                        <a:rPr lang="fa-IR" sz="2600">
                          <a:solidFill>
                            <a:srgbClr val="173E50"/>
                          </a:solidFill>
                          <a:latin typeface="Cambria Math"/>
                        </a:rPr>
                        <m:t>𝑓</m:t>
                      </m:r>
                    </m:oMath>
                  </m:oMathPara>
                </a14:m>
                <a:endParaRPr lang="en-US" sz="2600" dirty="0">
                  <a:latin typeface="Arial" panose="020B0604020202020204" pitchFamily="34" charset="0"/>
                  <a:cs typeface="Arial" panose="020B0604020202020204" pitchFamily="34" charset="0"/>
                </a:endParaRPr>
              </a:p>
            </p:txBody>
          </p:sp>
        </mc:Choice>
        <mc:Fallback xmlns="">
          <p:sp>
            <p:nvSpPr>
              <p:cNvPr id="502" name="Editable equation 6">
                <a:extLst>
                  <a:ext uri="{FF2B5EF4-FFF2-40B4-BE49-F238E27FC236}">
                    <a16:creationId xmlns:a16="http://schemas.microsoft.com/office/drawing/2014/main" id="{394A8B8D-3D4B-9654-7D10-B3CEAA59861E}"/>
                  </a:ext>
                </a:extLst>
              </p:cNvPr>
              <p:cNvSpPr txBox="1">
                <a:spLocks noRot="1" noChangeAspect="1" noMove="1" noResize="1" noEditPoints="1" noAdjustHandles="1" noChangeArrowheads="1" noChangeShapeType="1" noTextEdit="1"/>
              </p:cNvSpPr>
              <p:nvPr/>
            </p:nvSpPr>
            <p:spPr>
              <a:xfrm>
                <a:off x="984885" y="4778375"/>
                <a:ext cx="10953750" cy="730250"/>
              </a:xfrm>
              <a:prstGeom prst="rect">
                <a:avLst/>
              </a:prstGeom>
              <a:blipFill>
                <a:blip r:embed="rId5"/>
                <a:stretch>
                  <a:fillRect/>
                </a:stretch>
              </a:blipFill>
              <a:ln>
                <a:noFill/>
              </a:ln>
            </p:spPr>
            <p:txBody>
              <a:bodyPr/>
              <a:lstStyle/>
              <a:p>
                <a:r>
                  <a:rPr lang="en-US">
                    <a:noFill/>
                  </a:rPr>
                  <a:t> </a:t>
                </a:r>
              </a:p>
            </p:txBody>
          </p:sp>
        </mc:Fallback>
      </mc:AlternateContent>
      <p:sp>
        <p:nvSpPr>
          <p:cNvPr id="506" name="Rectangle 505">
            <a:extLst>
              <a:ext uri="{FF2B5EF4-FFF2-40B4-BE49-F238E27FC236}">
                <a16:creationId xmlns:a16="http://schemas.microsoft.com/office/drawing/2014/main" id="{B682EE8E-0952-47BE-AD96-19CAA9086F05}"/>
              </a:ext>
            </a:extLst>
          </p:cNvPr>
          <p:cNvSpPr>
            <a:spLocks noGrp="1"/>
          </p:cNvSpPr>
          <p:nvPr/>
        </p:nvSpPr>
        <p:spPr>
          <a:xfrm>
            <a:off x="889635" y="5821362"/>
            <a:ext cx="11049000" cy="285750"/>
          </a:xfrm>
          <a:prstGeom prst="rect">
            <a:avLst/>
          </a:prstGeom>
          <a:noFill/>
          <a:ln w="0">
            <a:noFill/>
          </a:ln>
        </p:spPr>
        <p:txBody>
          <a:bodyPr lIns="0" tIns="0" rIns="0" bIns="0" anchor="ctr">
            <a:noAutofit/>
          </a:bodyPr>
          <a:lstStyle/>
          <a:p>
            <a:pPr algn="l">
              <a:defRPr sz="1275" b="0">
                <a:solidFill>
                  <a:srgbClr val="516B79"/>
                </a:solidFill>
                <a:latin typeface="DejaVu Sans"/>
                <a:ea typeface="DejaVu Sans"/>
                <a:cs typeface="DejaVu Sans"/>
              </a:defRPr>
            </a:pPr>
            <a:r>
              <a:rPr sz="1275" b="0">
                <a:solidFill>
                  <a:srgbClr val="516B79"/>
                </a:solidFill>
                <a:latin typeface="Arial" panose="020B0604020202020204" pitchFamily="34" charset="0"/>
                <a:ea typeface="DejaVu Sans"/>
                <a:cs typeface="Arial" panose="020B0604020202020204" pitchFamily="34" charset="0"/>
              </a:rPr>
              <a:t>G: irradiance on the panel plane   A: panel area   η_PV: efficiency   f: derating factor.</a:t>
            </a:r>
          </a:p>
        </p:txBody>
      </p:sp>
      <p:pic>
        <p:nvPicPr>
          <p:cNvPr id="508" name="Picture 507">
            <a:extLst>
              <a:ext uri="{FF2B5EF4-FFF2-40B4-BE49-F238E27FC236}">
                <a16:creationId xmlns:a16="http://schemas.microsoft.com/office/drawing/2014/main" id="{AD54DFDF-0C20-3D71-437D-90E6F8F7C211}"/>
              </a:ext>
            </a:extLst>
          </p:cNvPr>
          <p:cNvPicPr>
            <a:picLocks noChangeAspect="1"/>
          </p:cNvPicPr>
          <p:nvPr/>
        </p:nvPicPr>
        <p:blipFill>
          <a:blip r:embed="rId6"/>
          <a:stretch>
            <a:fillRect/>
          </a:stretch>
        </p:blipFill>
        <p:spPr>
          <a:xfrm>
            <a:off x="8418195" y="41972"/>
            <a:ext cx="2994920" cy="2248095"/>
          </a:xfrm>
          <a:prstGeom prst="rect">
            <a:avLst/>
          </a:prstGeom>
        </p:spPr>
      </p:pic>
    </p:spTree>
    <p:extLst>
      <p:ext uri="{BB962C8B-B14F-4D97-AF65-F5344CB8AC3E}">
        <p14:creationId xmlns:p14="http://schemas.microsoft.com/office/powerpoint/2010/main" val="34279400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94">
          <a:extLst>
            <a:ext uri="{FF2B5EF4-FFF2-40B4-BE49-F238E27FC236}">
              <a16:creationId xmlns:a16="http://schemas.microsoft.com/office/drawing/2014/main" id="{57B4F608-EA73-82BC-F772-3CCDB762612D}"/>
            </a:ext>
          </a:extLst>
        </p:cNvPr>
        <p:cNvGrpSpPr/>
        <p:nvPr/>
      </p:nvGrpSpPr>
      <p:grpSpPr>
        <a:xfrm>
          <a:off x="0" y="0"/>
          <a:ext cx="0" cy="0"/>
          <a:chOff x="0" y="0"/>
          <a:chExt cx="0" cy="0"/>
        </a:xfrm>
      </p:grpSpPr>
      <p:pic>
        <p:nvPicPr>
          <p:cNvPr id="495" name="Google Shape;495;p45" descr="Une image contenant ciel, plein air, nuage, agriculture&#10;&#10;Description générée automatiquement">
            <a:extLst>
              <a:ext uri="{FF2B5EF4-FFF2-40B4-BE49-F238E27FC236}">
                <a16:creationId xmlns:a16="http://schemas.microsoft.com/office/drawing/2014/main" id="{B6C738B2-19EC-D8AD-243E-DBA22A60BC8B}"/>
              </a:ext>
            </a:extLst>
          </p:cNvPr>
          <p:cNvPicPr preferRelativeResize="0"/>
          <p:nvPr/>
        </p:nvPicPr>
        <p:blipFill rotWithShape="1">
          <a:blip r:embed="rId3">
            <a:alphaModFix/>
          </a:blip>
          <a:srcRect l="5973" t="9105" b="15903"/>
          <a:stretch/>
        </p:blipFill>
        <p:spPr>
          <a:xfrm>
            <a:off x="719138" y="0"/>
            <a:ext cx="11472863" cy="6858000"/>
          </a:xfrm>
          <a:prstGeom prst="rect">
            <a:avLst/>
          </a:prstGeom>
          <a:noFill/>
          <a:ln>
            <a:noFill/>
          </a:ln>
        </p:spPr>
      </p:pic>
      <p:sp>
        <p:nvSpPr>
          <p:cNvPr id="496" name="Google Shape;496;p45">
            <a:extLst>
              <a:ext uri="{FF2B5EF4-FFF2-40B4-BE49-F238E27FC236}">
                <a16:creationId xmlns:a16="http://schemas.microsoft.com/office/drawing/2014/main" id="{A34633B0-2F8B-6F23-2205-C605BB0CE501}"/>
              </a:ext>
            </a:extLst>
          </p:cNvPr>
          <p:cNvSpPr/>
          <p:nvPr/>
        </p:nvSpPr>
        <p:spPr>
          <a:xfrm>
            <a:off x="664273" y="0"/>
            <a:ext cx="11527727" cy="6858000"/>
          </a:xfrm>
          <a:prstGeom prst="rect">
            <a:avLst/>
          </a:prstGeom>
          <a:solidFill>
            <a:schemeClr val="lt1">
              <a:alpha val="93725"/>
            </a:schemeClr>
          </a:solidFill>
          <a:ln>
            <a:noFill/>
          </a:ln>
          <a:effectLst>
            <a:outerShdw blurRad="876300" dist="393700" dir="5400000" algn="t" rotWithShape="0">
              <a:srgbClr val="000000">
                <a:alpha val="784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dirty="0">
              <a:solidFill>
                <a:srgbClr val="FF0000"/>
              </a:solidFill>
              <a:latin typeface="Calibri"/>
              <a:ea typeface="Calibri"/>
              <a:cs typeface="Calibri"/>
              <a:sym typeface="Calibri"/>
            </a:endParaRPr>
          </a:p>
        </p:txBody>
      </p:sp>
      <p:sp>
        <p:nvSpPr>
          <p:cNvPr id="497" name="Google Shape;497;p45">
            <a:extLst>
              <a:ext uri="{FF2B5EF4-FFF2-40B4-BE49-F238E27FC236}">
                <a16:creationId xmlns:a16="http://schemas.microsoft.com/office/drawing/2014/main" id="{21D0CEE6-8B3A-DA18-F707-73449D844A6B}"/>
              </a:ext>
            </a:extLst>
          </p:cNvPr>
          <p:cNvSpPr txBox="1"/>
          <p:nvPr/>
        </p:nvSpPr>
        <p:spPr>
          <a:xfrm rot="-5400000">
            <a:off x="-797364" y="5204656"/>
            <a:ext cx="2251455" cy="38856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lt1"/>
                </a:solidFill>
                <a:latin typeface="Nunito Sans SemiBold"/>
                <a:ea typeface="Nunito Sans SemiBold"/>
                <a:cs typeface="Nunito Sans SemiBold"/>
                <a:sym typeface="Nunito Sans SemiBold"/>
              </a:rPr>
              <a:t>AGRICOOL</a:t>
            </a:r>
            <a:endParaRPr sz="1400" b="0" i="0" u="none" strike="noStrike" cap="none">
              <a:solidFill>
                <a:srgbClr val="000000"/>
              </a:solidFill>
              <a:latin typeface="Arial"/>
              <a:ea typeface="Arial"/>
              <a:cs typeface="Arial"/>
              <a:sym typeface="Arial"/>
            </a:endParaRPr>
          </a:p>
        </p:txBody>
      </p:sp>
      <p:pic>
        <p:nvPicPr>
          <p:cNvPr id="503" name="Google Shape;503;p45" descr="Une image contenant capture d’écran, Bleu électrique, Police, Bleu Majorelle&#10;&#10;Description générée automatiquement">
            <a:extLst>
              <a:ext uri="{FF2B5EF4-FFF2-40B4-BE49-F238E27FC236}">
                <a16:creationId xmlns:a16="http://schemas.microsoft.com/office/drawing/2014/main" id="{BC7AD4BB-19A4-A72B-F411-D1558DA971C5}"/>
              </a:ext>
            </a:extLst>
          </p:cNvPr>
          <p:cNvPicPr preferRelativeResize="0"/>
          <p:nvPr/>
        </p:nvPicPr>
        <p:blipFill rotWithShape="1">
          <a:blip r:embed="rId4">
            <a:alphaModFix/>
          </a:blip>
          <a:srcRect/>
          <a:stretch/>
        </p:blipFill>
        <p:spPr>
          <a:xfrm>
            <a:off x="659183" y="6441981"/>
            <a:ext cx="1729633" cy="384363"/>
          </a:xfrm>
          <a:prstGeom prst="rect">
            <a:avLst/>
          </a:prstGeom>
          <a:noFill/>
          <a:ln>
            <a:noFill/>
          </a:ln>
        </p:spPr>
      </p:pic>
      <p:sp>
        <p:nvSpPr>
          <p:cNvPr id="504" name="Google Shape;504;p45">
            <a:extLst>
              <a:ext uri="{FF2B5EF4-FFF2-40B4-BE49-F238E27FC236}">
                <a16:creationId xmlns:a16="http://schemas.microsoft.com/office/drawing/2014/main" id="{566D82A2-DCDD-FBE2-E38C-2BA9E6069B9C}"/>
              </a:ext>
            </a:extLst>
          </p:cNvPr>
          <p:cNvSpPr txBox="1">
            <a:spLocks noGrp="1"/>
          </p:cNvSpPr>
          <p:nvPr>
            <p:ph type="dt" idx="10"/>
          </p:nvPr>
        </p:nvSpPr>
        <p:spPr>
          <a:xfrm>
            <a:off x="9332517" y="64262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en-GB" dirty="0"/>
              <a:t>13 September 2026</a:t>
            </a:r>
            <a:endParaRPr dirty="0"/>
          </a:p>
        </p:txBody>
      </p:sp>
      <p:sp>
        <p:nvSpPr>
          <p:cNvPr id="505" name="Google Shape;505;p45">
            <a:extLst>
              <a:ext uri="{FF2B5EF4-FFF2-40B4-BE49-F238E27FC236}">
                <a16:creationId xmlns:a16="http://schemas.microsoft.com/office/drawing/2014/main" id="{F51AE3D9-46F3-0621-2EF9-EDE370949212}"/>
              </a:ext>
            </a:extLst>
          </p:cNvPr>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200"/>
              <a:buNone/>
            </a:pPr>
            <a:fld id="{00000000-1234-1234-1234-123412341234}" type="slidenum">
              <a:rPr lang="en-GB"/>
              <a:t>22</a:t>
            </a:fld>
            <a:endParaRPr dirty="0"/>
          </a:p>
        </p:txBody>
      </p:sp>
      <p:sp>
        <p:nvSpPr>
          <p:cNvPr id="5" name="Title">
            <a:extLst>
              <a:ext uri="{FF2B5EF4-FFF2-40B4-BE49-F238E27FC236}">
                <a16:creationId xmlns:a16="http://schemas.microsoft.com/office/drawing/2014/main" id="{022A9124-23B2-769D-2232-43999D67C1B0}"/>
              </a:ext>
            </a:extLst>
          </p:cNvPr>
          <p:cNvSpPr>
            <a:spLocks noGrp="1"/>
          </p:cNvSpPr>
          <p:nvPr/>
        </p:nvSpPr>
        <p:spPr>
          <a:xfrm>
            <a:off x="1207017" y="2790877"/>
            <a:ext cx="9806424" cy="1097811"/>
          </a:xfrm>
          <a:prstGeom prst="rect">
            <a:avLst/>
          </a:prstGeom>
          <a:noFill/>
          <a:ln w="0">
            <a:noFill/>
          </a:ln>
        </p:spPr>
        <p:txBody>
          <a:bodyPr lIns="0" tIns="0" rIns="0" bIns="0" anchor="ctr">
            <a:noAutofit/>
          </a:bodyPr>
          <a:lstStyle/>
          <a:p>
            <a:pPr algn="l">
              <a:defRPr sz="3300" b="1">
                <a:solidFill>
                  <a:srgbClr val="14354E"/>
                </a:solidFill>
                <a:latin typeface="Bitstream Charter"/>
                <a:ea typeface="Bitstream Charter"/>
                <a:cs typeface="Bitstream Charter"/>
              </a:defRPr>
            </a:pPr>
            <a:r>
              <a:rPr lang="en-US" sz="4400" b="1" dirty="0">
                <a:solidFill>
                  <a:srgbClr val="30A4CF"/>
                </a:solidFill>
                <a:latin typeface="Nunito"/>
              </a:rPr>
              <a:t>System Integration</a:t>
            </a:r>
          </a:p>
        </p:txBody>
      </p:sp>
    </p:spTree>
    <p:extLst>
      <p:ext uri="{BB962C8B-B14F-4D97-AF65-F5344CB8AC3E}">
        <p14:creationId xmlns:p14="http://schemas.microsoft.com/office/powerpoint/2010/main" val="16466675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94">
          <a:extLst>
            <a:ext uri="{FF2B5EF4-FFF2-40B4-BE49-F238E27FC236}">
              <a16:creationId xmlns:a16="http://schemas.microsoft.com/office/drawing/2014/main" id="{D09F2909-BF21-0D5F-B6C7-F30C12FAD91B}"/>
            </a:ext>
          </a:extLst>
        </p:cNvPr>
        <p:cNvGrpSpPr/>
        <p:nvPr/>
      </p:nvGrpSpPr>
      <p:grpSpPr>
        <a:xfrm>
          <a:off x="0" y="0"/>
          <a:ext cx="0" cy="0"/>
          <a:chOff x="0" y="0"/>
          <a:chExt cx="0" cy="0"/>
        </a:xfrm>
      </p:grpSpPr>
      <p:pic>
        <p:nvPicPr>
          <p:cNvPr id="495" name="Google Shape;495;p45" descr="Une image contenant ciel, plein air, nuage, agriculture&#10;&#10;Description générée automatiquement">
            <a:extLst>
              <a:ext uri="{FF2B5EF4-FFF2-40B4-BE49-F238E27FC236}">
                <a16:creationId xmlns:a16="http://schemas.microsoft.com/office/drawing/2014/main" id="{8848E75E-8671-A0ED-A460-79E2F3CA1882}"/>
              </a:ext>
            </a:extLst>
          </p:cNvPr>
          <p:cNvPicPr preferRelativeResize="0"/>
          <p:nvPr/>
        </p:nvPicPr>
        <p:blipFill rotWithShape="1">
          <a:blip r:embed="rId3">
            <a:alphaModFix/>
          </a:blip>
          <a:srcRect l="5973" t="9105" b="15903"/>
          <a:stretch/>
        </p:blipFill>
        <p:spPr>
          <a:xfrm>
            <a:off x="719138" y="0"/>
            <a:ext cx="11472863" cy="6858000"/>
          </a:xfrm>
          <a:prstGeom prst="rect">
            <a:avLst/>
          </a:prstGeom>
          <a:noFill/>
          <a:ln>
            <a:noFill/>
          </a:ln>
        </p:spPr>
      </p:pic>
      <p:sp>
        <p:nvSpPr>
          <p:cNvPr id="496" name="Google Shape;496;p45">
            <a:extLst>
              <a:ext uri="{FF2B5EF4-FFF2-40B4-BE49-F238E27FC236}">
                <a16:creationId xmlns:a16="http://schemas.microsoft.com/office/drawing/2014/main" id="{63DC4E64-8BF2-E72B-9FE4-990CDA20CDC7}"/>
              </a:ext>
            </a:extLst>
          </p:cNvPr>
          <p:cNvSpPr/>
          <p:nvPr/>
        </p:nvSpPr>
        <p:spPr>
          <a:xfrm>
            <a:off x="664273" y="0"/>
            <a:ext cx="11527727" cy="6858000"/>
          </a:xfrm>
          <a:prstGeom prst="rect">
            <a:avLst/>
          </a:prstGeom>
          <a:solidFill>
            <a:schemeClr val="lt1">
              <a:alpha val="93725"/>
            </a:schemeClr>
          </a:solidFill>
          <a:ln>
            <a:noFill/>
          </a:ln>
          <a:effectLst>
            <a:outerShdw blurRad="876300" dist="393700" dir="5400000" algn="t" rotWithShape="0">
              <a:srgbClr val="000000">
                <a:alpha val="784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dirty="0">
              <a:solidFill>
                <a:srgbClr val="FF0000"/>
              </a:solidFill>
              <a:latin typeface="Calibri"/>
              <a:ea typeface="Calibri"/>
              <a:cs typeface="Calibri"/>
              <a:sym typeface="Calibri"/>
            </a:endParaRPr>
          </a:p>
        </p:txBody>
      </p:sp>
      <p:sp>
        <p:nvSpPr>
          <p:cNvPr id="497" name="Google Shape;497;p45">
            <a:extLst>
              <a:ext uri="{FF2B5EF4-FFF2-40B4-BE49-F238E27FC236}">
                <a16:creationId xmlns:a16="http://schemas.microsoft.com/office/drawing/2014/main" id="{DFE1733F-FAA0-01B9-EEC9-7796B06C3827}"/>
              </a:ext>
            </a:extLst>
          </p:cNvPr>
          <p:cNvSpPr txBox="1"/>
          <p:nvPr/>
        </p:nvSpPr>
        <p:spPr>
          <a:xfrm rot="-5400000">
            <a:off x="-797364" y="5204656"/>
            <a:ext cx="2251455" cy="38856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lt1"/>
                </a:solidFill>
                <a:latin typeface="Nunito Sans SemiBold"/>
                <a:ea typeface="Nunito Sans SemiBold"/>
                <a:cs typeface="Nunito Sans SemiBold"/>
                <a:sym typeface="Nunito Sans SemiBold"/>
              </a:rPr>
              <a:t>AGRICOOL</a:t>
            </a:r>
            <a:endParaRPr sz="1400" b="0" i="0" u="none" strike="noStrike" cap="none">
              <a:solidFill>
                <a:srgbClr val="000000"/>
              </a:solidFill>
              <a:latin typeface="Arial"/>
              <a:ea typeface="Arial"/>
              <a:cs typeface="Arial"/>
              <a:sym typeface="Arial"/>
            </a:endParaRPr>
          </a:p>
        </p:txBody>
      </p:sp>
      <p:pic>
        <p:nvPicPr>
          <p:cNvPr id="503" name="Google Shape;503;p45" descr="Une image contenant capture d’écran, Bleu électrique, Police, Bleu Majorelle&#10;&#10;Description générée automatiquement">
            <a:extLst>
              <a:ext uri="{FF2B5EF4-FFF2-40B4-BE49-F238E27FC236}">
                <a16:creationId xmlns:a16="http://schemas.microsoft.com/office/drawing/2014/main" id="{E574995A-8BB3-3C82-8B89-6C3E19412E82}"/>
              </a:ext>
            </a:extLst>
          </p:cNvPr>
          <p:cNvPicPr preferRelativeResize="0"/>
          <p:nvPr/>
        </p:nvPicPr>
        <p:blipFill rotWithShape="1">
          <a:blip r:embed="rId4">
            <a:alphaModFix/>
          </a:blip>
          <a:srcRect/>
          <a:stretch/>
        </p:blipFill>
        <p:spPr>
          <a:xfrm>
            <a:off x="659183" y="6441981"/>
            <a:ext cx="1729633" cy="384363"/>
          </a:xfrm>
          <a:prstGeom prst="rect">
            <a:avLst/>
          </a:prstGeom>
          <a:noFill/>
          <a:ln>
            <a:noFill/>
          </a:ln>
        </p:spPr>
      </p:pic>
      <p:sp>
        <p:nvSpPr>
          <p:cNvPr id="504" name="Google Shape;504;p45">
            <a:extLst>
              <a:ext uri="{FF2B5EF4-FFF2-40B4-BE49-F238E27FC236}">
                <a16:creationId xmlns:a16="http://schemas.microsoft.com/office/drawing/2014/main" id="{58A033AE-1C95-1E47-F219-EB2F875E0200}"/>
              </a:ext>
            </a:extLst>
          </p:cNvPr>
          <p:cNvSpPr txBox="1">
            <a:spLocks noGrp="1"/>
          </p:cNvSpPr>
          <p:nvPr>
            <p:ph type="dt" idx="10"/>
          </p:nvPr>
        </p:nvSpPr>
        <p:spPr>
          <a:xfrm>
            <a:off x="9332517" y="64262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en-GB" dirty="0"/>
              <a:t>13 September 2026</a:t>
            </a:r>
            <a:endParaRPr dirty="0"/>
          </a:p>
        </p:txBody>
      </p:sp>
      <p:sp>
        <p:nvSpPr>
          <p:cNvPr id="505" name="Google Shape;505;p45">
            <a:extLst>
              <a:ext uri="{FF2B5EF4-FFF2-40B4-BE49-F238E27FC236}">
                <a16:creationId xmlns:a16="http://schemas.microsoft.com/office/drawing/2014/main" id="{2948C2CE-9706-EF4E-F603-B9B26B57D45A}"/>
              </a:ext>
            </a:extLst>
          </p:cNvPr>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200"/>
              <a:buNone/>
            </a:pPr>
            <a:fld id="{00000000-1234-1234-1234-123412341234}" type="slidenum">
              <a:rPr lang="en-GB"/>
              <a:t>23</a:t>
            </a:fld>
            <a:endParaRPr/>
          </a:p>
        </p:txBody>
      </p:sp>
      <p:sp>
        <p:nvSpPr>
          <p:cNvPr id="3" name="Title">
            <a:extLst>
              <a:ext uri="{FF2B5EF4-FFF2-40B4-BE49-F238E27FC236}">
                <a16:creationId xmlns:a16="http://schemas.microsoft.com/office/drawing/2014/main" id="{012C72C7-7681-BEB5-C55F-4D36918111D3}"/>
              </a:ext>
            </a:extLst>
          </p:cNvPr>
          <p:cNvSpPr>
            <a:spLocks noGrp="1"/>
          </p:cNvSpPr>
          <p:nvPr/>
        </p:nvSpPr>
        <p:spPr>
          <a:xfrm>
            <a:off x="894893" y="100737"/>
            <a:ext cx="7453239" cy="1684172"/>
          </a:xfrm>
          <a:prstGeom prst="rect">
            <a:avLst/>
          </a:prstGeom>
          <a:noFill/>
          <a:ln w="0">
            <a:noFill/>
          </a:ln>
        </p:spPr>
        <p:txBody>
          <a:bodyPr lIns="0" tIns="0" rIns="0" bIns="0" anchor="ctr">
            <a:noAutofit/>
          </a:bodyPr>
          <a:lstStyle/>
          <a:p>
            <a:pPr algn="l">
              <a:defRPr sz="3300" b="1">
                <a:solidFill>
                  <a:srgbClr val="14354E"/>
                </a:solidFill>
                <a:latin typeface="Bitstream Charter"/>
                <a:ea typeface="Bitstream Charter"/>
                <a:cs typeface="Bitstream Charter"/>
              </a:defRPr>
            </a:pPr>
            <a:r>
              <a:rPr lang="en-US" sz="4400" b="1" dirty="0">
                <a:solidFill>
                  <a:srgbClr val="30A4CF"/>
                </a:solidFill>
                <a:latin typeface="Nunito"/>
              </a:rPr>
              <a:t>Different Media and Domains in the model</a:t>
            </a:r>
            <a:endParaRPr sz="4400" b="1" dirty="0">
              <a:solidFill>
                <a:srgbClr val="30A4CF"/>
              </a:solidFill>
              <a:latin typeface="Nunito"/>
            </a:endParaRPr>
          </a:p>
        </p:txBody>
      </p:sp>
      <p:grpSp>
        <p:nvGrpSpPr>
          <p:cNvPr id="21" name="Group 20">
            <a:extLst>
              <a:ext uri="{FF2B5EF4-FFF2-40B4-BE49-F238E27FC236}">
                <a16:creationId xmlns:a16="http://schemas.microsoft.com/office/drawing/2014/main" id="{E9F9BEC9-7548-A049-E0B9-134B9B537352}"/>
              </a:ext>
            </a:extLst>
          </p:cNvPr>
          <p:cNvGrpSpPr/>
          <p:nvPr/>
        </p:nvGrpSpPr>
        <p:grpSpPr>
          <a:xfrm>
            <a:off x="7968921" y="38786"/>
            <a:ext cx="2853921" cy="1674355"/>
            <a:chOff x="2485419" y="1695450"/>
            <a:chExt cx="8346708" cy="4319880"/>
          </a:xfrm>
        </p:grpSpPr>
        <p:pic>
          <p:nvPicPr>
            <p:cNvPr id="19" name="Picture 18">
              <a:extLst>
                <a:ext uri="{FF2B5EF4-FFF2-40B4-BE49-F238E27FC236}">
                  <a16:creationId xmlns:a16="http://schemas.microsoft.com/office/drawing/2014/main" id="{E08D0D10-FDB6-48E9-D34A-DAA61976D37A}"/>
                </a:ext>
              </a:extLst>
            </p:cNvPr>
            <p:cNvPicPr>
              <a:picLocks noChangeAspect="1"/>
            </p:cNvPicPr>
            <p:nvPr/>
          </p:nvPicPr>
          <p:blipFill>
            <a:blip r:embed="rId5"/>
            <a:srcRect t="5503" r="49892" b="48417"/>
            <a:stretch>
              <a:fillRect/>
            </a:stretch>
          </p:blipFill>
          <p:spPr>
            <a:xfrm>
              <a:off x="2485419" y="1695450"/>
              <a:ext cx="8346708" cy="4319880"/>
            </a:xfrm>
            <a:prstGeom prst="rect">
              <a:avLst/>
            </a:prstGeom>
          </p:spPr>
        </p:pic>
        <p:sp>
          <p:nvSpPr>
            <p:cNvPr id="20" name="Rectangle 19">
              <a:extLst>
                <a:ext uri="{FF2B5EF4-FFF2-40B4-BE49-F238E27FC236}">
                  <a16:creationId xmlns:a16="http://schemas.microsoft.com/office/drawing/2014/main" id="{F1B93381-48A6-86A3-866E-B3A23B0B1689}"/>
                </a:ext>
              </a:extLst>
            </p:cNvPr>
            <p:cNvSpPr/>
            <p:nvPr/>
          </p:nvSpPr>
          <p:spPr>
            <a:xfrm>
              <a:off x="2765146" y="1850746"/>
              <a:ext cx="1214323" cy="30723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1" name="Rectangle 500">
              <a:extLst>
                <a:ext uri="{FF2B5EF4-FFF2-40B4-BE49-F238E27FC236}">
                  <a16:creationId xmlns:a16="http://schemas.microsoft.com/office/drawing/2014/main" id="{05FEA53C-D7EA-D888-81EF-31FC3B61EC96}"/>
                </a:ext>
              </a:extLst>
            </p:cNvPr>
            <p:cNvSpPr/>
            <p:nvPr/>
          </p:nvSpPr>
          <p:spPr>
            <a:xfrm>
              <a:off x="3930405" y="5459737"/>
              <a:ext cx="5350063" cy="46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 name="Straight Arrow Connector 1">
            <a:extLst>
              <a:ext uri="{FF2B5EF4-FFF2-40B4-BE49-F238E27FC236}">
                <a16:creationId xmlns:a16="http://schemas.microsoft.com/office/drawing/2014/main" id="{C5D0F3DF-2117-8989-8713-24DE445E64AA}"/>
              </a:ext>
            </a:extLst>
          </p:cNvPr>
          <p:cNvCxnSpPr>
            <a:stCxn id="498" idx="4"/>
            <a:endCxn id="488" idx="0"/>
          </p:cNvCxnSpPr>
          <p:nvPr/>
        </p:nvCxnSpPr>
        <p:spPr>
          <a:xfrm flipH="1">
            <a:off x="5815546" y="4724400"/>
            <a:ext cx="4763" cy="561975"/>
          </a:xfrm>
          <a:prstGeom prst="straightConnector1">
            <a:avLst/>
          </a:prstGeom>
          <a:ln w="23813">
            <a:solidFill>
              <a:srgbClr val="168A85"/>
            </a:solidFill>
            <a:tailEnd type="triangle" w="med" len="med"/>
          </a:ln>
        </p:spPr>
      </p:cxnSp>
      <p:cxnSp>
        <p:nvCxnSpPr>
          <p:cNvPr id="4" name="Straight Arrow Connector 3">
            <a:extLst>
              <a:ext uri="{FF2B5EF4-FFF2-40B4-BE49-F238E27FC236}">
                <a16:creationId xmlns:a16="http://schemas.microsoft.com/office/drawing/2014/main" id="{1A46AE74-A0F6-F2D6-9C91-9BC87EE047C2}"/>
              </a:ext>
            </a:extLst>
          </p:cNvPr>
          <p:cNvCxnSpPr>
            <a:stCxn id="494" idx="2"/>
            <a:endCxn id="498" idx="6"/>
          </p:cNvCxnSpPr>
          <p:nvPr/>
        </p:nvCxnSpPr>
        <p:spPr>
          <a:xfrm flipH="1">
            <a:off x="5825071" y="4719638"/>
            <a:ext cx="1152525" cy="0"/>
          </a:xfrm>
          <a:prstGeom prst="straightConnector1">
            <a:avLst/>
          </a:prstGeom>
          <a:ln w="23813">
            <a:solidFill>
              <a:srgbClr val="168A85"/>
            </a:solidFill>
          </a:ln>
        </p:spPr>
      </p:cxnSp>
      <p:cxnSp>
        <p:nvCxnSpPr>
          <p:cNvPr id="5" name="Straight Arrow Connector 4">
            <a:extLst>
              <a:ext uri="{FF2B5EF4-FFF2-40B4-BE49-F238E27FC236}">
                <a16:creationId xmlns:a16="http://schemas.microsoft.com/office/drawing/2014/main" id="{6242DEE3-6650-78C3-8A48-E913B870455E}"/>
              </a:ext>
            </a:extLst>
          </p:cNvPr>
          <p:cNvCxnSpPr>
            <a:stCxn id="491" idx="4"/>
            <a:endCxn id="494" idx="0"/>
          </p:cNvCxnSpPr>
          <p:nvPr/>
        </p:nvCxnSpPr>
        <p:spPr>
          <a:xfrm>
            <a:off x="6982359" y="4105275"/>
            <a:ext cx="0" cy="609600"/>
          </a:xfrm>
          <a:prstGeom prst="straightConnector1">
            <a:avLst/>
          </a:prstGeom>
          <a:ln w="23813">
            <a:solidFill>
              <a:srgbClr val="168A85"/>
            </a:solidFill>
          </a:ln>
        </p:spPr>
      </p:cxnSp>
      <p:cxnSp>
        <p:nvCxnSpPr>
          <p:cNvPr id="6" name="Straight Arrow Connector 5">
            <a:extLst>
              <a:ext uri="{FF2B5EF4-FFF2-40B4-BE49-F238E27FC236}">
                <a16:creationId xmlns:a16="http://schemas.microsoft.com/office/drawing/2014/main" id="{9FF58961-9671-DBFC-8A55-BFA908C975AA}"/>
              </a:ext>
            </a:extLst>
          </p:cNvPr>
          <p:cNvCxnSpPr>
            <a:stCxn id="493" idx="0"/>
            <a:endCxn id="490" idx="4"/>
          </p:cNvCxnSpPr>
          <p:nvPr/>
        </p:nvCxnSpPr>
        <p:spPr>
          <a:xfrm flipV="1">
            <a:off x="7915809" y="4105275"/>
            <a:ext cx="0" cy="895350"/>
          </a:xfrm>
          <a:prstGeom prst="straightConnector1">
            <a:avLst/>
          </a:prstGeom>
          <a:ln w="23813">
            <a:solidFill>
              <a:srgbClr val="168A85"/>
            </a:solidFill>
            <a:tailEnd type="triangle" w="med" len="med"/>
          </a:ln>
        </p:spPr>
      </p:cxnSp>
      <p:cxnSp>
        <p:nvCxnSpPr>
          <p:cNvPr id="7" name="Straight Arrow Connector 6">
            <a:extLst>
              <a:ext uri="{FF2B5EF4-FFF2-40B4-BE49-F238E27FC236}">
                <a16:creationId xmlns:a16="http://schemas.microsoft.com/office/drawing/2014/main" id="{49EF56AA-42B6-CDC5-4CBE-F0D957D05C0D}"/>
              </a:ext>
            </a:extLst>
          </p:cNvPr>
          <p:cNvCxnSpPr>
            <a:stCxn id="492" idx="2"/>
            <a:endCxn id="493" idx="6"/>
          </p:cNvCxnSpPr>
          <p:nvPr/>
        </p:nvCxnSpPr>
        <p:spPr>
          <a:xfrm flipH="1">
            <a:off x="7920571" y="5005388"/>
            <a:ext cx="2362200" cy="0"/>
          </a:xfrm>
          <a:prstGeom prst="straightConnector1">
            <a:avLst/>
          </a:prstGeom>
          <a:ln w="23813">
            <a:solidFill>
              <a:srgbClr val="168A85"/>
            </a:solidFill>
          </a:ln>
        </p:spPr>
      </p:cxnSp>
      <p:cxnSp>
        <p:nvCxnSpPr>
          <p:cNvPr id="8" name="Straight Arrow Connector 7">
            <a:extLst>
              <a:ext uri="{FF2B5EF4-FFF2-40B4-BE49-F238E27FC236}">
                <a16:creationId xmlns:a16="http://schemas.microsoft.com/office/drawing/2014/main" id="{A25FEE02-8B71-9805-76CC-1FC43008E659}"/>
              </a:ext>
            </a:extLst>
          </p:cNvPr>
          <p:cNvCxnSpPr>
            <a:stCxn id="489" idx="0"/>
            <a:endCxn id="492" idx="4"/>
          </p:cNvCxnSpPr>
          <p:nvPr/>
        </p:nvCxnSpPr>
        <p:spPr>
          <a:xfrm flipV="1">
            <a:off x="10282771" y="5010150"/>
            <a:ext cx="4763" cy="276225"/>
          </a:xfrm>
          <a:prstGeom prst="straightConnector1">
            <a:avLst/>
          </a:prstGeom>
          <a:ln w="23813">
            <a:solidFill>
              <a:srgbClr val="168A85"/>
            </a:solidFill>
          </a:ln>
        </p:spPr>
      </p:cxnSp>
      <p:cxnSp>
        <p:nvCxnSpPr>
          <p:cNvPr id="9" name="Straight Arrow Connector 8">
            <a:extLst>
              <a:ext uri="{FF2B5EF4-FFF2-40B4-BE49-F238E27FC236}">
                <a16:creationId xmlns:a16="http://schemas.microsoft.com/office/drawing/2014/main" id="{1D162299-4DDA-BEFD-6723-0D7ECCBE21E8}"/>
              </a:ext>
            </a:extLst>
          </p:cNvPr>
          <p:cNvCxnSpPr>
            <a:stCxn id="488" idx="3"/>
            <a:endCxn id="489" idx="1"/>
          </p:cNvCxnSpPr>
          <p:nvPr/>
        </p:nvCxnSpPr>
        <p:spPr>
          <a:xfrm>
            <a:off x="7244296" y="5676900"/>
            <a:ext cx="2276475" cy="0"/>
          </a:xfrm>
          <a:prstGeom prst="straightConnector1">
            <a:avLst/>
          </a:prstGeom>
          <a:ln w="23813">
            <a:solidFill>
              <a:srgbClr val="168A85"/>
            </a:solidFill>
            <a:tailEnd type="triangle" w="med" len="med"/>
          </a:ln>
        </p:spPr>
      </p:cxnSp>
      <p:cxnSp>
        <p:nvCxnSpPr>
          <p:cNvPr id="10" name="Straight Arrow Connector 9">
            <a:extLst>
              <a:ext uri="{FF2B5EF4-FFF2-40B4-BE49-F238E27FC236}">
                <a16:creationId xmlns:a16="http://schemas.microsoft.com/office/drawing/2014/main" id="{AF39FD22-1041-5C48-88F9-9ACBB60240BC}"/>
              </a:ext>
            </a:extLst>
          </p:cNvPr>
          <p:cNvCxnSpPr>
            <a:stCxn id="486" idx="0"/>
            <a:endCxn id="481" idx="2"/>
          </p:cNvCxnSpPr>
          <p:nvPr/>
        </p:nvCxnSpPr>
        <p:spPr>
          <a:xfrm flipH="1" flipV="1">
            <a:off x="1710271" y="4095750"/>
            <a:ext cx="4763" cy="361950"/>
          </a:xfrm>
          <a:prstGeom prst="straightConnector1">
            <a:avLst/>
          </a:prstGeom>
          <a:ln w="23813">
            <a:solidFill>
              <a:srgbClr val="096AA8"/>
            </a:solidFill>
            <a:tailEnd type="triangle" w="med" len="med"/>
          </a:ln>
        </p:spPr>
      </p:cxnSp>
      <p:cxnSp>
        <p:nvCxnSpPr>
          <p:cNvPr id="11" name="Straight Arrow Connector 10">
            <a:extLst>
              <a:ext uri="{FF2B5EF4-FFF2-40B4-BE49-F238E27FC236}">
                <a16:creationId xmlns:a16="http://schemas.microsoft.com/office/drawing/2014/main" id="{E96EDA98-262A-8C39-D144-43D402B5698D}"/>
              </a:ext>
            </a:extLst>
          </p:cNvPr>
          <p:cNvCxnSpPr>
            <a:stCxn id="485" idx="2"/>
            <a:endCxn id="486" idx="6"/>
          </p:cNvCxnSpPr>
          <p:nvPr/>
        </p:nvCxnSpPr>
        <p:spPr>
          <a:xfrm flipH="1">
            <a:off x="1719796" y="4462463"/>
            <a:ext cx="9239250" cy="0"/>
          </a:xfrm>
          <a:prstGeom prst="straightConnector1">
            <a:avLst/>
          </a:prstGeom>
          <a:ln w="23813">
            <a:solidFill>
              <a:srgbClr val="096AA8"/>
            </a:solidFill>
          </a:ln>
        </p:spPr>
      </p:cxnSp>
      <p:cxnSp>
        <p:nvCxnSpPr>
          <p:cNvPr id="12" name="Straight Arrow Connector 11">
            <a:extLst>
              <a:ext uri="{FF2B5EF4-FFF2-40B4-BE49-F238E27FC236}">
                <a16:creationId xmlns:a16="http://schemas.microsoft.com/office/drawing/2014/main" id="{C520F2CE-7F52-E0D3-ACC4-8B588B2DDB8D}"/>
              </a:ext>
            </a:extLst>
          </p:cNvPr>
          <p:cNvCxnSpPr>
            <a:stCxn id="484" idx="2"/>
            <a:endCxn id="485" idx="0"/>
          </p:cNvCxnSpPr>
          <p:nvPr/>
        </p:nvCxnSpPr>
        <p:spPr>
          <a:xfrm>
            <a:off x="10959046" y="4095750"/>
            <a:ext cx="4763" cy="361950"/>
          </a:xfrm>
          <a:prstGeom prst="straightConnector1">
            <a:avLst/>
          </a:prstGeom>
          <a:ln w="23813">
            <a:solidFill>
              <a:srgbClr val="096AA8"/>
            </a:solidFill>
          </a:ln>
        </p:spPr>
      </p:cxnSp>
      <p:cxnSp>
        <p:nvCxnSpPr>
          <p:cNvPr id="13" name="Straight Arrow Connector 12">
            <a:extLst>
              <a:ext uri="{FF2B5EF4-FFF2-40B4-BE49-F238E27FC236}">
                <a16:creationId xmlns:a16="http://schemas.microsoft.com/office/drawing/2014/main" id="{8694A014-05FB-5A03-98E9-07032996E0D8}"/>
              </a:ext>
            </a:extLst>
          </p:cNvPr>
          <p:cNvCxnSpPr>
            <a:stCxn id="28" idx="2"/>
            <a:endCxn id="482" idx="0"/>
          </p:cNvCxnSpPr>
          <p:nvPr/>
        </p:nvCxnSpPr>
        <p:spPr>
          <a:xfrm>
            <a:off x="4548721" y="2409825"/>
            <a:ext cx="0" cy="952500"/>
          </a:xfrm>
          <a:prstGeom prst="straightConnector1">
            <a:avLst/>
          </a:prstGeom>
          <a:ln w="23813">
            <a:solidFill>
              <a:srgbClr val="B87812"/>
            </a:solidFill>
            <a:tailEnd type="triangle" w="med" len="med"/>
          </a:ln>
        </p:spPr>
      </p:cxnSp>
      <p:cxnSp>
        <p:nvCxnSpPr>
          <p:cNvPr id="14" name="Straight Arrow Connector 13">
            <a:extLst>
              <a:ext uri="{FF2B5EF4-FFF2-40B4-BE49-F238E27FC236}">
                <a16:creationId xmlns:a16="http://schemas.microsoft.com/office/drawing/2014/main" id="{B290DA8B-4372-08FA-C99F-F336AB5A8A77}"/>
              </a:ext>
            </a:extLst>
          </p:cNvPr>
          <p:cNvCxnSpPr>
            <a:stCxn id="483" idx="3"/>
            <a:endCxn id="484" idx="1"/>
          </p:cNvCxnSpPr>
          <p:nvPr/>
        </p:nvCxnSpPr>
        <p:spPr>
          <a:xfrm>
            <a:off x="8253946" y="3729038"/>
            <a:ext cx="1781175" cy="0"/>
          </a:xfrm>
          <a:prstGeom prst="straightConnector1">
            <a:avLst/>
          </a:prstGeom>
          <a:ln w="23813">
            <a:solidFill>
              <a:srgbClr val="096AA8"/>
            </a:solidFill>
            <a:tailEnd type="triangle" w="med" len="med"/>
          </a:ln>
        </p:spPr>
      </p:cxnSp>
      <p:cxnSp>
        <p:nvCxnSpPr>
          <p:cNvPr id="15" name="Straight Arrow Connector 14">
            <a:extLst>
              <a:ext uri="{FF2B5EF4-FFF2-40B4-BE49-F238E27FC236}">
                <a16:creationId xmlns:a16="http://schemas.microsoft.com/office/drawing/2014/main" id="{31783DA9-FCCA-8708-D3A1-26D0C6A09A7F}"/>
              </a:ext>
            </a:extLst>
          </p:cNvPr>
          <p:cNvCxnSpPr>
            <a:stCxn id="482" idx="3"/>
            <a:endCxn id="483" idx="1"/>
          </p:cNvCxnSpPr>
          <p:nvPr/>
        </p:nvCxnSpPr>
        <p:spPr>
          <a:xfrm>
            <a:off x="5615521" y="3729038"/>
            <a:ext cx="1047750" cy="0"/>
          </a:xfrm>
          <a:prstGeom prst="straightConnector1">
            <a:avLst/>
          </a:prstGeom>
          <a:ln w="23813">
            <a:solidFill>
              <a:srgbClr val="096AA8"/>
            </a:solidFill>
            <a:tailEnd type="triangle" w="med" len="med"/>
          </a:ln>
        </p:spPr>
      </p:cxnSp>
      <p:cxnSp>
        <p:nvCxnSpPr>
          <p:cNvPr id="16" name="Straight Arrow Connector 15">
            <a:extLst>
              <a:ext uri="{FF2B5EF4-FFF2-40B4-BE49-F238E27FC236}">
                <a16:creationId xmlns:a16="http://schemas.microsoft.com/office/drawing/2014/main" id="{EE2CD057-09BB-39A7-E16D-8C3704C1F871}"/>
              </a:ext>
            </a:extLst>
          </p:cNvPr>
          <p:cNvCxnSpPr>
            <a:stCxn id="481" idx="3"/>
            <a:endCxn id="482" idx="1"/>
          </p:cNvCxnSpPr>
          <p:nvPr/>
        </p:nvCxnSpPr>
        <p:spPr>
          <a:xfrm>
            <a:off x="2472271" y="3729038"/>
            <a:ext cx="1009650" cy="0"/>
          </a:xfrm>
          <a:prstGeom prst="straightConnector1">
            <a:avLst/>
          </a:prstGeom>
          <a:ln w="23813">
            <a:solidFill>
              <a:srgbClr val="096AA8"/>
            </a:solidFill>
            <a:tailEnd type="triangle" w="med" len="med"/>
          </a:ln>
        </p:spPr>
      </p:cxnSp>
      <p:cxnSp>
        <p:nvCxnSpPr>
          <p:cNvPr id="23" name="Straight Arrow Connector 22">
            <a:extLst>
              <a:ext uri="{FF2B5EF4-FFF2-40B4-BE49-F238E27FC236}">
                <a16:creationId xmlns:a16="http://schemas.microsoft.com/office/drawing/2014/main" id="{713D36FC-759F-32C2-EF8A-02881EAE6660}"/>
              </a:ext>
            </a:extLst>
          </p:cNvPr>
          <p:cNvCxnSpPr>
            <a:stCxn id="28" idx="2"/>
            <a:endCxn id="31" idx="0"/>
          </p:cNvCxnSpPr>
          <p:nvPr/>
        </p:nvCxnSpPr>
        <p:spPr>
          <a:xfrm>
            <a:off x="4548721" y="2409825"/>
            <a:ext cx="4763" cy="400050"/>
          </a:xfrm>
          <a:prstGeom prst="straightConnector1">
            <a:avLst/>
          </a:prstGeom>
          <a:ln w="23813">
            <a:solidFill>
              <a:srgbClr val="B87812"/>
            </a:solidFill>
          </a:ln>
        </p:spPr>
      </p:cxnSp>
      <p:sp>
        <p:nvSpPr>
          <p:cNvPr id="28" name="Electrical balance">
            <a:extLst>
              <a:ext uri="{FF2B5EF4-FFF2-40B4-BE49-F238E27FC236}">
                <a16:creationId xmlns:a16="http://schemas.microsoft.com/office/drawing/2014/main" id="{61C911DD-2E31-45DD-D185-309B3488740D}"/>
              </a:ext>
            </a:extLst>
          </p:cNvPr>
          <p:cNvSpPr>
            <a:spLocks noGrp="1"/>
          </p:cNvSpPr>
          <p:nvPr/>
        </p:nvSpPr>
        <p:spPr>
          <a:xfrm>
            <a:off x="3481921" y="1781175"/>
            <a:ext cx="2133600" cy="628650"/>
          </a:xfrm>
          <a:prstGeom prst="rect">
            <a:avLst/>
          </a:prstGeom>
          <a:solidFill>
            <a:srgbClr val="F0F6FA"/>
          </a:solidFill>
          <a:ln w="19050">
            <a:solidFill>
              <a:srgbClr val="B87812"/>
            </a:solidFill>
          </a:ln>
        </p:spPr>
        <p:txBody>
          <a:bodyPr lIns="76200" tIns="57150" rIns="76200" bIns="57150" anchor="ctr">
            <a:noAutofit/>
          </a:bodyPr>
          <a:lstStyle/>
          <a:p>
            <a:pPr algn="ctr">
              <a:defRPr sz="1950">
                <a:solidFill>
                  <a:srgbClr val="14354E"/>
                </a:solidFill>
                <a:latin typeface="Bitstream Charter"/>
                <a:ea typeface="Bitstream Charter"/>
                <a:cs typeface="Bitstream Charter"/>
              </a:defRPr>
            </a:pPr>
            <a:r>
              <a:rPr lang="en-US" sz="1950" dirty="0">
                <a:solidFill>
                  <a:srgbClr val="14354E"/>
                </a:solidFill>
                <a:latin typeface="Arial" panose="020B0604020202020204" pitchFamily="34" charset="0"/>
                <a:ea typeface="Bitstream Charter"/>
                <a:cs typeface="Arial" panose="020B0604020202020204" pitchFamily="34" charset="0"/>
              </a:rPr>
              <a:t>PV</a:t>
            </a:r>
            <a:endParaRPr sz="1950" dirty="0">
              <a:solidFill>
                <a:srgbClr val="14354E"/>
              </a:solidFill>
              <a:latin typeface="Arial" panose="020B0604020202020204" pitchFamily="34" charset="0"/>
              <a:ea typeface="Bitstream Charter"/>
              <a:cs typeface="Arial" panose="020B0604020202020204" pitchFamily="34" charset="0"/>
            </a:endParaRPr>
          </a:p>
        </p:txBody>
      </p:sp>
      <p:sp>
        <p:nvSpPr>
          <p:cNvPr id="31" name="Oval 30">
            <a:extLst>
              <a:ext uri="{FF2B5EF4-FFF2-40B4-BE49-F238E27FC236}">
                <a16:creationId xmlns:a16="http://schemas.microsoft.com/office/drawing/2014/main" id="{9F217B33-47B2-B968-0293-42C37C3EC3D8}"/>
              </a:ext>
            </a:extLst>
          </p:cNvPr>
          <p:cNvSpPr>
            <a:spLocks noGrp="1"/>
          </p:cNvSpPr>
          <p:nvPr/>
        </p:nvSpPr>
        <p:spPr>
          <a:xfrm>
            <a:off x="4548721" y="2809875"/>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480" name="Oval 479">
            <a:extLst>
              <a:ext uri="{FF2B5EF4-FFF2-40B4-BE49-F238E27FC236}">
                <a16:creationId xmlns:a16="http://schemas.microsoft.com/office/drawing/2014/main" id="{FFCC851E-C7CA-F9FE-B8B4-A43CBD548443}"/>
              </a:ext>
            </a:extLst>
          </p:cNvPr>
          <p:cNvSpPr>
            <a:spLocks noGrp="1"/>
          </p:cNvSpPr>
          <p:nvPr/>
        </p:nvSpPr>
        <p:spPr>
          <a:xfrm>
            <a:off x="10587571" y="2809875"/>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481" name="Pump">
            <a:extLst>
              <a:ext uri="{FF2B5EF4-FFF2-40B4-BE49-F238E27FC236}">
                <a16:creationId xmlns:a16="http://schemas.microsoft.com/office/drawing/2014/main" id="{94036046-E5E9-4EED-4148-F3A9BAAB0E7F}"/>
              </a:ext>
            </a:extLst>
          </p:cNvPr>
          <p:cNvSpPr>
            <a:spLocks noGrp="1"/>
          </p:cNvSpPr>
          <p:nvPr/>
        </p:nvSpPr>
        <p:spPr>
          <a:xfrm>
            <a:off x="948271" y="3362325"/>
            <a:ext cx="1524000" cy="733425"/>
          </a:xfrm>
          <a:prstGeom prst="rect">
            <a:avLst/>
          </a:prstGeom>
          <a:solidFill>
            <a:srgbClr val="F0F6FA"/>
          </a:solidFill>
          <a:ln w="19050">
            <a:solidFill>
              <a:srgbClr val="096AA8"/>
            </a:solidFill>
          </a:ln>
        </p:spPr>
        <p:txBody>
          <a:bodyPr lIns="76200" tIns="57150" rIns="76200" bIns="57150" anchor="ctr">
            <a:noAutofit/>
          </a:bodyPr>
          <a:lstStyle/>
          <a:p>
            <a:pPr algn="ctr">
              <a:defRPr sz="1950">
                <a:solidFill>
                  <a:srgbClr val="14354E"/>
                </a:solidFill>
                <a:latin typeface="Bitstream Charter"/>
                <a:ea typeface="Bitstream Charter"/>
                <a:cs typeface="Bitstream Charter"/>
              </a:defRPr>
            </a:pPr>
            <a:r>
              <a:rPr sz="1950">
                <a:solidFill>
                  <a:srgbClr val="14354E"/>
                </a:solidFill>
                <a:latin typeface="Arial" panose="020B0604020202020204" pitchFamily="34" charset="0"/>
                <a:ea typeface="Bitstream Charter"/>
                <a:cs typeface="Arial" panose="020B0604020202020204" pitchFamily="34" charset="0"/>
              </a:rPr>
              <a:t>Pump</a:t>
            </a:r>
          </a:p>
        </p:txBody>
      </p:sp>
      <p:sp>
        <p:nvSpPr>
          <p:cNvPr id="482" name="Chiller">
            <a:extLst>
              <a:ext uri="{FF2B5EF4-FFF2-40B4-BE49-F238E27FC236}">
                <a16:creationId xmlns:a16="http://schemas.microsoft.com/office/drawing/2014/main" id="{E6588614-960E-3432-3588-C6CA868E6104}"/>
              </a:ext>
            </a:extLst>
          </p:cNvPr>
          <p:cNvSpPr>
            <a:spLocks noGrp="1"/>
          </p:cNvSpPr>
          <p:nvPr/>
        </p:nvSpPr>
        <p:spPr>
          <a:xfrm>
            <a:off x="3481921" y="3362325"/>
            <a:ext cx="2133600" cy="733425"/>
          </a:xfrm>
          <a:prstGeom prst="rect">
            <a:avLst/>
          </a:prstGeom>
          <a:solidFill>
            <a:srgbClr val="F0F6FA"/>
          </a:solidFill>
          <a:ln w="19050">
            <a:solidFill>
              <a:srgbClr val="096AA8"/>
            </a:solidFill>
          </a:ln>
        </p:spPr>
        <p:txBody>
          <a:bodyPr lIns="76200" tIns="57150" rIns="76200" bIns="57150" anchor="ctr">
            <a:noAutofit/>
          </a:bodyPr>
          <a:lstStyle/>
          <a:p>
            <a:pPr algn="ctr">
              <a:defRPr sz="1950">
                <a:solidFill>
                  <a:srgbClr val="14354E"/>
                </a:solidFill>
                <a:latin typeface="Bitstream Charter"/>
                <a:ea typeface="Bitstream Charter"/>
                <a:cs typeface="Bitstream Charter"/>
              </a:defRPr>
            </a:pPr>
            <a:r>
              <a:rPr sz="1950">
                <a:solidFill>
                  <a:srgbClr val="14354E"/>
                </a:solidFill>
                <a:latin typeface="Arial" panose="020B0604020202020204" pitchFamily="34" charset="0"/>
                <a:ea typeface="Bitstream Charter"/>
                <a:cs typeface="Arial" panose="020B0604020202020204" pitchFamily="34" charset="0"/>
              </a:rPr>
              <a:t>Chiller</a:t>
            </a:r>
          </a:p>
        </p:txBody>
      </p:sp>
      <p:sp>
        <p:nvSpPr>
          <p:cNvPr id="483" name="Air cooler">
            <a:extLst>
              <a:ext uri="{FF2B5EF4-FFF2-40B4-BE49-F238E27FC236}">
                <a16:creationId xmlns:a16="http://schemas.microsoft.com/office/drawing/2014/main" id="{D7126B66-2A85-E427-64BE-49CDFDAF5BCD}"/>
              </a:ext>
            </a:extLst>
          </p:cNvPr>
          <p:cNvSpPr>
            <a:spLocks noGrp="1"/>
          </p:cNvSpPr>
          <p:nvPr/>
        </p:nvSpPr>
        <p:spPr>
          <a:xfrm>
            <a:off x="6663271" y="3362325"/>
            <a:ext cx="1590675" cy="733425"/>
          </a:xfrm>
          <a:prstGeom prst="rect">
            <a:avLst/>
          </a:prstGeom>
          <a:solidFill>
            <a:srgbClr val="F0F6FA"/>
          </a:solidFill>
          <a:ln w="19050">
            <a:solidFill>
              <a:srgbClr val="096AA8"/>
            </a:solidFill>
          </a:ln>
        </p:spPr>
        <p:txBody>
          <a:bodyPr lIns="76200" tIns="57150" rIns="76200" bIns="57150" anchor="ctr">
            <a:noAutofit/>
          </a:bodyPr>
          <a:lstStyle/>
          <a:p>
            <a:pPr algn="ctr">
              <a:defRPr sz="1950">
                <a:solidFill>
                  <a:srgbClr val="14354E"/>
                </a:solidFill>
                <a:latin typeface="Bitstream Charter"/>
                <a:ea typeface="Bitstream Charter"/>
                <a:cs typeface="Bitstream Charter"/>
              </a:defRPr>
            </a:pPr>
            <a:r>
              <a:rPr sz="1950">
                <a:solidFill>
                  <a:srgbClr val="14354E"/>
                </a:solidFill>
                <a:latin typeface="Arial" panose="020B0604020202020204" pitchFamily="34" charset="0"/>
                <a:ea typeface="Bitstream Charter"/>
                <a:cs typeface="Arial" panose="020B0604020202020204" pitchFamily="34" charset="0"/>
              </a:rPr>
              <a:t>Air cooler</a:t>
            </a:r>
          </a:p>
        </p:txBody>
      </p:sp>
      <p:sp>
        <p:nvSpPr>
          <p:cNvPr id="484" name="Ice tank">
            <a:extLst>
              <a:ext uri="{FF2B5EF4-FFF2-40B4-BE49-F238E27FC236}">
                <a16:creationId xmlns:a16="http://schemas.microsoft.com/office/drawing/2014/main" id="{410E4E49-A118-9C11-A95F-81C9EF569D59}"/>
              </a:ext>
            </a:extLst>
          </p:cNvPr>
          <p:cNvSpPr>
            <a:spLocks noGrp="1"/>
          </p:cNvSpPr>
          <p:nvPr/>
        </p:nvSpPr>
        <p:spPr>
          <a:xfrm>
            <a:off x="10035121" y="3362325"/>
            <a:ext cx="1847850" cy="733425"/>
          </a:xfrm>
          <a:prstGeom prst="rect">
            <a:avLst/>
          </a:prstGeom>
          <a:solidFill>
            <a:srgbClr val="F0F6FA"/>
          </a:solidFill>
          <a:ln w="19050">
            <a:solidFill>
              <a:srgbClr val="096AA8"/>
            </a:solidFill>
          </a:ln>
        </p:spPr>
        <p:txBody>
          <a:bodyPr lIns="76200" tIns="57150" rIns="76200" bIns="57150" anchor="ctr">
            <a:noAutofit/>
          </a:bodyPr>
          <a:lstStyle/>
          <a:p>
            <a:pPr algn="ctr">
              <a:defRPr sz="1950">
                <a:solidFill>
                  <a:srgbClr val="14354E"/>
                </a:solidFill>
                <a:latin typeface="Bitstream Charter"/>
                <a:ea typeface="Bitstream Charter"/>
                <a:cs typeface="Bitstream Charter"/>
              </a:defRPr>
            </a:pPr>
            <a:r>
              <a:rPr sz="1950">
                <a:solidFill>
                  <a:srgbClr val="14354E"/>
                </a:solidFill>
                <a:latin typeface="Arial" panose="020B0604020202020204" pitchFamily="34" charset="0"/>
                <a:ea typeface="Bitstream Charter"/>
                <a:cs typeface="Arial" panose="020B0604020202020204" pitchFamily="34" charset="0"/>
              </a:rPr>
              <a:t>Ice tank</a:t>
            </a:r>
          </a:p>
        </p:txBody>
      </p:sp>
      <p:sp>
        <p:nvSpPr>
          <p:cNvPr id="485" name="Oval 484">
            <a:extLst>
              <a:ext uri="{FF2B5EF4-FFF2-40B4-BE49-F238E27FC236}">
                <a16:creationId xmlns:a16="http://schemas.microsoft.com/office/drawing/2014/main" id="{F56FD5C6-06C8-D98D-A2F5-6AA3481ADF9F}"/>
              </a:ext>
            </a:extLst>
          </p:cNvPr>
          <p:cNvSpPr>
            <a:spLocks noGrp="1"/>
          </p:cNvSpPr>
          <p:nvPr/>
        </p:nvSpPr>
        <p:spPr>
          <a:xfrm>
            <a:off x="10959046" y="4457700"/>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486" name="Oval 485">
            <a:extLst>
              <a:ext uri="{FF2B5EF4-FFF2-40B4-BE49-F238E27FC236}">
                <a16:creationId xmlns:a16="http://schemas.microsoft.com/office/drawing/2014/main" id="{7F720F93-DEC9-21F4-FEC5-58A51B94B7E1}"/>
              </a:ext>
            </a:extLst>
          </p:cNvPr>
          <p:cNvSpPr>
            <a:spLocks noGrp="1"/>
          </p:cNvSpPr>
          <p:nvPr/>
        </p:nvSpPr>
        <p:spPr>
          <a:xfrm>
            <a:off x="1710271" y="4457700"/>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487" name="Brine label">
            <a:extLst>
              <a:ext uri="{FF2B5EF4-FFF2-40B4-BE49-F238E27FC236}">
                <a16:creationId xmlns:a16="http://schemas.microsoft.com/office/drawing/2014/main" id="{69213191-2B49-81CE-AC74-5A3FA6CBCFD6}"/>
              </a:ext>
            </a:extLst>
          </p:cNvPr>
          <p:cNvSpPr>
            <a:spLocks noGrp="1"/>
          </p:cNvSpPr>
          <p:nvPr/>
        </p:nvSpPr>
        <p:spPr>
          <a:xfrm>
            <a:off x="948271" y="2952750"/>
            <a:ext cx="1809750" cy="304800"/>
          </a:xfrm>
          <a:prstGeom prst="rect">
            <a:avLst/>
          </a:prstGeom>
          <a:noFill/>
          <a:ln w="0">
            <a:noFill/>
          </a:ln>
        </p:spPr>
        <p:txBody>
          <a:bodyPr lIns="0" tIns="0" rIns="0" bIns="0" anchor="ctr">
            <a:noAutofit/>
          </a:bodyPr>
          <a:lstStyle/>
          <a:p>
            <a:pPr algn="l">
              <a:defRPr sz="1725" b="1">
                <a:solidFill>
                  <a:srgbClr val="096AA8"/>
                </a:solidFill>
                <a:latin typeface="Bitstream Charter"/>
                <a:ea typeface="Bitstream Charter"/>
                <a:cs typeface="Bitstream Charter"/>
              </a:defRPr>
            </a:pPr>
            <a:r>
              <a:rPr sz="1725" b="1" dirty="0">
                <a:solidFill>
                  <a:srgbClr val="096AA8"/>
                </a:solidFill>
                <a:latin typeface="Arial" panose="020B0604020202020204" pitchFamily="34" charset="0"/>
                <a:ea typeface="Bitstream Charter"/>
                <a:cs typeface="Arial" panose="020B0604020202020204" pitchFamily="34" charset="0"/>
              </a:rPr>
              <a:t>BRINE</a:t>
            </a:r>
          </a:p>
        </p:txBody>
      </p:sp>
      <p:sp>
        <p:nvSpPr>
          <p:cNvPr id="488" name="Cold room&#10;air + envelope + crops">
            <a:extLst>
              <a:ext uri="{FF2B5EF4-FFF2-40B4-BE49-F238E27FC236}">
                <a16:creationId xmlns:a16="http://schemas.microsoft.com/office/drawing/2014/main" id="{D8F322CD-49AD-2493-F49A-40157C317ED0}"/>
              </a:ext>
            </a:extLst>
          </p:cNvPr>
          <p:cNvSpPr>
            <a:spLocks noGrp="1"/>
          </p:cNvSpPr>
          <p:nvPr/>
        </p:nvSpPr>
        <p:spPr>
          <a:xfrm>
            <a:off x="4386796" y="5286375"/>
            <a:ext cx="2857500" cy="781050"/>
          </a:xfrm>
          <a:prstGeom prst="rect">
            <a:avLst/>
          </a:prstGeom>
          <a:solidFill>
            <a:srgbClr val="ECF7F4"/>
          </a:solidFill>
          <a:ln w="19050">
            <a:solidFill>
              <a:srgbClr val="168A85"/>
            </a:solidFill>
          </a:ln>
        </p:spPr>
        <p:txBody>
          <a:bodyPr lIns="76200" tIns="57150" rIns="76200" bIns="57150" anchor="ctr">
            <a:noAutofit/>
          </a:bodyPr>
          <a:lstStyle/>
          <a:p>
            <a:pPr algn="ctr">
              <a:defRPr sz="1875">
                <a:solidFill>
                  <a:srgbClr val="14354E"/>
                </a:solidFill>
                <a:latin typeface="Bitstream Charter"/>
                <a:ea typeface="Bitstream Charter"/>
                <a:cs typeface="Bitstream Charter"/>
              </a:defRPr>
            </a:pPr>
            <a:r>
              <a:rPr sz="1875">
                <a:solidFill>
                  <a:srgbClr val="14354E"/>
                </a:solidFill>
                <a:latin typeface="Arial" panose="020B0604020202020204" pitchFamily="34" charset="0"/>
                <a:ea typeface="Bitstream Charter"/>
                <a:cs typeface="Arial" panose="020B0604020202020204" pitchFamily="34" charset="0"/>
              </a:rPr>
              <a:t>Cold room</a:t>
            </a:r>
          </a:p>
          <a:p>
            <a:pPr algn="ctr">
              <a:defRPr sz="1875">
                <a:solidFill>
                  <a:srgbClr val="14354E"/>
                </a:solidFill>
                <a:latin typeface="Bitstream Charter"/>
                <a:ea typeface="Bitstream Charter"/>
                <a:cs typeface="Bitstream Charter"/>
              </a:defRPr>
            </a:pPr>
            <a:r>
              <a:rPr sz="1875">
                <a:solidFill>
                  <a:srgbClr val="14354E"/>
                </a:solidFill>
                <a:latin typeface="Arial" panose="020B0604020202020204" pitchFamily="34" charset="0"/>
                <a:ea typeface="Bitstream Charter"/>
                <a:cs typeface="Arial" panose="020B0604020202020204" pitchFamily="34" charset="0"/>
              </a:rPr>
              <a:t>air + envelope + crops</a:t>
            </a:r>
          </a:p>
        </p:txBody>
      </p:sp>
      <p:sp>
        <p:nvSpPr>
          <p:cNvPr id="489" name="Fan">
            <a:extLst>
              <a:ext uri="{FF2B5EF4-FFF2-40B4-BE49-F238E27FC236}">
                <a16:creationId xmlns:a16="http://schemas.microsoft.com/office/drawing/2014/main" id="{E52DB1EA-D779-D7AA-DCEA-F38818F94C77}"/>
              </a:ext>
            </a:extLst>
          </p:cNvPr>
          <p:cNvSpPr>
            <a:spLocks noGrp="1"/>
          </p:cNvSpPr>
          <p:nvPr/>
        </p:nvSpPr>
        <p:spPr>
          <a:xfrm>
            <a:off x="9520771" y="5286375"/>
            <a:ext cx="1524000" cy="781050"/>
          </a:xfrm>
          <a:prstGeom prst="rect">
            <a:avLst/>
          </a:prstGeom>
          <a:solidFill>
            <a:srgbClr val="ECF7F4"/>
          </a:solidFill>
          <a:ln w="19050">
            <a:solidFill>
              <a:srgbClr val="168A85"/>
            </a:solidFill>
          </a:ln>
        </p:spPr>
        <p:txBody>
          <a:bodyPr lIns="76200" tIns="57150" rIns="76200" bIns="57150" anchor="ctr">
            <a:noAutofit/>
          </a:bodyPr>
          <a:lstStyle/>
          <a:p>
            <a:pPr algn="ctr">
              <a:defRPr sz="2025">
                <a:solidFill>
                  <a:srgbClr val="14354E"/>
                </a:solidFill>
                <a:latin typeface="Bitstream Charter"/>
                <a:ea typeface="Bitstream Charter"/>
                <a:cs typeface="Bitstream Charter"/>
              </a:defRPr>
            </a:pPr>
            <a:r>
              <a:rPr sz="2025">
                <a:solidFill>
                  <a:srgbClr val="14354E"/>
                </a:solidFill>
                <a:latin typeface="Arial" panose="020B0604020202020204" pitchFamily="34" charset="0"/>
                <a:ea typeface="Bitstream Charter"/>
                <a:cs typeface="Arial" panose="020B0604020202020204" pitchFamily="34" charset="0"/>
              </a:rPr>
              <a:t>Fan</a:t>
            </a:r>
          </a:p>
        </p:txBody>
      </p:sp>
      <p:sp>
        <p:nvSpPr>
          <p:cNvPr id="490" name="Oval 489">
            <a:extLst>
              <a:ext uri="{FF2B5EF4-FFF2-40B4-BE49-F238E27FC236}">
                <a16:creationId xmlns:a16="http://schemas.microsoft.com/office/drawing/2014/main" id="{4972273B-BA6D-D2A2-40D9-C5F64A6D49C3}"/>
              </a:ext>
            </a:extLst>
          </p:cNvPr>
          <p:cNvSpPr>
            <a:spLocks noGrp="1"/>
          </p:cNvSpPr>
          <p:nvPr/>
        </p:nvSpPr>
        <p:spPr>
          <a:xfrm>
            <a:off x="7911046" y="4095750"/>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491" name="Oval 490">
            <a:extLst>
              <a:ext uri="{FF2B5EF4-FFF2-40B4-BE49-F238E27FC236}">
                <a16:creationId xmlns:a16="http://schemas.microsoft.com/office/drawing/2014/main" id="{C785EC22-3446-31FC-778C-16A53097E84C}"/>
              </a:ext>
            </a:extLst>
          </p:cNvPr>
          <p:cNvSpPr>
            <a:spLocks noGrp="1"/>
          </p:cNvSpPr>
          <p:nvPr/>
        </p:nvSpPr>
        <p:spPr>
          <a:xfrm>
            <a:off x="6977596" y="4095750"/>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492" name="Oval 491">
            <a:extLst>
              <a:ext uri="{FF2B5EF4-FFF2-40B4-BE49-F238E27FC236}">
                <a16:creationId xmlns:a16="http://schemas.microsoft.com/office/drawing/2014/main" id="{FFB55350-5B34-99EC-6E3D-BD43F4171A7B}"/>
              </a:ext>
            </a:extLst>
          </p:cNvPr>
          <p:cNvSpPr>
            <a:spLocks noGrp="1"/>
          </p:cNvSpPr>
          <p:nvPr/>
        </p:nvSpPr>
        <p:spPr>
          <a:xfrm>
            <a:off x="10282771" y="5000625"/>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493" name="Oval 492">
            <a:extLst>
              <a:ext uri="{FF2B5EF4-FFF2-40B4-BE49-F238E27FC236}">
                <a16:creationId xmlns:a16="http://schemas.microsoft.com/office/drawing/2014/main" id="{72C14070-9A91-68AA-2BB7-63BA4AF2B354}"/>
              </a:ext>
            </a:extLst>
          </p:cNvPr>
          <p:cNvSpPr>
            <a:spLocks noGrp="1"/>
          </p:cNvSpPr>
          <p:nvPr/>
        </p:nvSpPr>
        <p:spPr>
          <a:xfrm>
            <a:off x="7911046" y="5000625"/>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494" name="Oval 493">
            <a:extLst>
              <a:ext uri="{FF2B5EF4-FFF2-40B4-BE49-F238E27FC236}">
                <a16:creationId xmlns:a16="http://schemas.microsoft.com/office/drawing/2014/main" id="{E6DBD807-42EA-DB6B-E314-81A973838D08}"/>
              </a:ext>
            </a:extLst>
          </p:cNvPr>
          <p:cNvSpPr>
            <a:spLocks noGrp="1"/>
          </p:cNvSpPr>
          <p:nvPr/>
        </p:nvSpPr>
        <p:spPr>
          <a:xfrm>
            <a:off x="6977596" y="4714875"/>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498" name="Oval 497">
            <a:extLst>
              <a:ext uri="{FF2B5EF4-FFF2-40B4-BE49-F238E27FC236}">
                <a16:creationId xmlns:a16="http://schemas.microsoft.com/office/drawing/2014/main" id="{A4C834F3-9394-E4AC-52D7-7E1CD988B582}"/>
              </a:ext>
            </a:extLst>
          </p:cNvPr>
          <p:cNvSpPr>
            <a:spLocks noGrp="1"/>
          </p:cNvSpPr>
          <p:nvPr/>
        </p:nvSpPr>
        <p:spPr>
          <a:xfrm>
            <a:off x="5815546" y="4714875"/>
            <a:ext cx="9525" cy="9525"/>
          </a:xfrm>
          <a:prstGeom prst="ellipse">
            <a:avLst/>
          </a:prstGeom>
          <a:noFill/>
          <a:ln w="0">
            <a:noFill/>
          </a:ln>
        </p:spPr>
        <p:txBody>
          <a:bodyPr/>
          <a:lstStyle/>
          <a:p>
            <a:endParaRPr lang="en-US">
              <a:latin typeface="Arial" panose="020B0604020202020204" pitchFamily="34" charset="0"/>
              <a:cs typeface="Arial" panose="020B0604020202020204" pitchFamily="34" charset="0"/>
            </a:endParaRPr>
          </a:p>
        </p:txBody>
      </p:sp>
      <p:sp>
        <p:nvSpPr>
          <p:cNvPr id="499" name="Air label">
            <a:extLst>
              <a:ext uri="{FF2B5EF4-FFF2-40B4-BE49-F238E27FC236}">
                <a16:creationId xmlns:a16="http://schemas.microsoft.com/office/drawing/2014/main" id="{626777E5-D84E-48F3-C45A-AFCDCDC2AFDD}"/>
              </a:ext>
            </a:extLst>
          </p:cNvPr>
          <p:cNvSpPr>
            <a:spLocks noGrp="1"/>
          </p:cNvSpPr>
          <p:nvPr/>
        </p:nvSpPr>
        <p:spPr>
          <a:xfrm>
            <a:off x="948271" y="5381625"/>
            <a:ext cx="2571750" cy="333375"/>
          </a:xfrm>
          <a:prstGeom prst="rect">
            <a:avLst/>
          </a:prstGeom>
          <a:noFill/>
          <a:ln w="0">
            <a:noFill/>
          </a:ln>
        </p:spPr>
        <p:txBody>
          <a:bodyPr lIns="0" tIns="0" rIns="0" bIns="0" anchor="ctr">
            <a:noAutofit/>
          </a:bodyPr>
          <a:lstStyle/>
          <a:p>
            <a:pPr algn="l">
              <a:defRPr sz="1725" b="1">
                <a:solidFill>
                  <a:srgbClr val="168A85"/>
                </a:solidFill>
                <a:latin typeface="Bitstream Charter"/>
                <a:ea typeface="Bitstream Charter"/>
                <a:cs typeface="Bitstream Charter"/>
              </a:defRPr>
            </a:pPr>
            <a:r>
              <a:rPr sz="1725" b="1">
                <a:solidFill>
                  <a:srgbClr val="168A85"/>
                </a:solidFill>
                <a:latin typeface="Arial" panose="020B0604020202020204" pitchFamily="34" charset="0"/>
                <a:ea typeface="Bitstream Charter"/>
                <a:cs typeface="Arial" panose="020B0604020202020204" pitchFamily="34" charset="0"/>
              </a:rPr>
              <a:t>ROOM AIR</a:t>
            </a:r>
          </a:p>
        </p:txBody>
      </p:sp>
      <p:sp>
        <p:nvSpPr>
          <p:cNvPr id="502" name="Rectangle 501">
            <a:extLst>
              <a:ext uri="{FF2B5EF4-FFF2-40B4-BE49-F238E27FC236}">
                <a16:creationId xmlns:a16="http://schemas.microsoft.com/office/drawing/2014/main" id="{C6CE7F9B-2827-927D-DDEB-7B0AF8113B24}"/>
              </a:ext>
            </a:extLst>
          </p:cNvPr>
          <p:cNvSpPr/>
          <p:nvPr/>
        </p:nvSpPr>
        <p:spPr>
          <a:xfrm>
            <a:off x="8064566" y="218061"/>
            <a:ext cx="683194" cy="348678"/>
          </a:xfrm>
          <a:prstGeom prst="rect">
            <a:avLst/>
          </a:prstGeom>
          <a:noFill/>
          <a:ln w="571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6" name="Rectangle 505">
            <a:extLst>
              <a:ext uri="{FF2B5EF4-FFF2-40B4-BE49-F238E27FC236}">
                <a16:creationId xmlns:a16="http://schemas.microsoft.com/office/drawing/2014/main" id="{25DF9230-0794-C20E-8FA9-3F4CB5B7280D}"/>
              </a:ext>
            </a:extLst>
          </p:cNvPr>
          <p:cNvSpPr/>
          <p:nvPr/>
        </p:nvSpPr>
        <p:spPr>
          <a:xfrm>
            <a:off x="8061400" y="681052"/>
            <a:ext cx="2761442" cy="780004"/>
          </a:xfrm>
          <a:prstGeom prst="rect">
            <a:avLst/>
          </a:prstGeom>
          <a:noFill/>
          <a:ln w="571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7" name="Rectangle 506">
            <a:extLst>
              <a:ext uri="{FF2B5EF4-FFF2-40B4-BE49-F238E27FC236}">
                <a16:creationId xmlns:a16="http://schemas.microsoft.com/office/drawing/2014/main" id="{4C821C0B-10AE-BAF6-C60E-10B45FF9463E}"/>
              </a:ext>
            </a:extLst>
          </p:cNvPr>
          <p:cNvSpPr/>
          <p:nvPr/>
        </p:nvSpPr>
        <p:spPr>
          <a:xfrm>
            <a:off x="9850694" y="341598"/>
            <a:ext cx="1244026" cy="903001"/>
          </a:xfrm>
          <a:prstGeom prst="rect">
            <a:avLst/>
          </a:prstGeom>
          <a:noFill/>
          <a:ln w="571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45069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0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8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8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8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8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8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8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8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8"/>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7"/>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481" grpId="0" animBg="1"/>
      <p:bldP spid="482" grpId="0" animBg="1"/>
      <p:bldP spid="483" grpId="0" animBg="1"/>
      <p:bldP spid="484" grpId="0" animBg="1"/>
      <p:bldP spid="487" grpId="0"/>
      <p:bldP spid="488" grpId="0" animBg="1"/>
      <p:bldP spid="489" grpId="0" animBg="1"/>
      <p:bldP spid="499" grpId="0"/>
      <p:bldP spid="502" grpId="0" animBg="1"/>
      <p:bldP spid="506" grpId="0" animBg="1"/>
      <p:bldP spid="50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94">
          <a:extLst>
            <a:ext uri="{FF2B5EF4-FFF2-40B4-BE49-F238E27FC236}">
              <a16:creationId xmlns:a16="http://schemas.microsoft.com/office/drawing/2014/main" id="{CE2055D1-DC3D-BA54-BE6E-F82410AF7613}"/>
            </a:ext>
          </a:extLst>
        </p:cNvPr>
        <p:cNvGrpSpPr/>
        <p:nvPr/>
      </p:nvGrpSpPr>
      <p:grpSpPr>
        <a:xfrm>
          <a:off x="0" y="0"/>
          <a:ext cx="0" cy="0"/>
          <a:chOff x="0" y="0"/>
          <a:chExt cx="0" cy="0"/>
        </a:xfrm>
      </p:grpSpPr>
      <p:pic>
        <p:nvPicPr>
          <p:cNvPr id="495" name="Google Shape;495;p45" descr="Une image contenant ciel, plein air, nuage, agriculture&#10;&#10;Description générée automatiquement">
            <a:extLst>
              <a:ext uri="{FF2B5EF4-FFF2-40B4-BE49-F238E27FC236}">
                <a16:creationId xmlns:a16="http://schemas.microsoft.com/office/drawing/2014/main" id="{FB20FBD7-7CED-0E58-76FD-64E0D518078D}"/>
              </a:ext>
            </a:extLst>
          </p:cNvPr>
          <p:cNvPicPr preferRelativeResize="0"/>
          <p:nvPr/>
        </p:nvPicPr>
        <p:blipFill rotWithShape="1">
          <a:blip r:embed="rId3">
            <a:alphaModFix/>
          </a:blip>
          <a:srcRect l="5973" t="9105" b="15903"/>
          <a:stretch/>
        </p:blipFill>
        <p:spPr>
          <a:xfrm>
            <a:off x="719138" y="0"/>
            <a:ext cx="11472863" cy="6858000"/>
          </a:xfrm>
          <a:prstGeom prst="rect">
            <a:avLst/>
          </a:prstGeom>
          <a:noFill/>
          <a:ln>
            <a:noFill/>
          </a:ln>
        </p:spPr>
      </p:pic>
      <p:sp>
        <p:nvSpPr>
          <p:cNvPr id="496" name="Google Shape;496;p45">
            <a:extLst>
              <a:ext uri="{FF2B5EF4-FFF2-40B4-BE49-F238E27FC236}">
                <a16:creationId xmlns:a16="http://schemas.microsoft.com/office/drawing/2014/main" id="{9CFC5E9E-9D08-DEB8-EFD7-6663D800A393}"/>
              </a:ext>
            </a:extLst>
          </p:cNvPr>
          <p:cNvSpPr/>
          <p:nvPr/>
        </p:nvSpPr>
        <p:spPr>
          <a:xfrm>
            <a:off x="664273" y="0"/>
            <a:ext cx="11527727" cy="6858000"/>
          </a:xfrm>
          <a:prstGeom prst="rect">
            <a:avLst/>
          </a:prstGeom>
          <a:solidFill>
            <a:schemeClr val="lt1">
              <a:alpha val="93725"/>
            </a:schemeClr>
          </a:solidFill>
          <a:ln>
            <a:noFill/>
          </a:ln>
          <a:effectLst>
            <a:outerShdw blurRad="876300" dist="393700" dir="5400000" algn="t" rotWithShape="0">
              <a:srgbClr val="000000">
                <a:alpha val="784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dirty="0">
              <a:solidFill>
                <a:srgbClr val="FF0000"/>
              </a:solidFill>
              <a:latin typeface="Calibri"/>
              <a:ea typeface="Calibri"/>
              <a:cs typeface="Calibri"/>
              <a:sym typeface="Calibri"/>
            </a:endParaRPr>
          </a:p>
        </p:txBody>
      </p:sp>
      <p:sp>
        <p:nvSpPr>
          <p:cNvPr id="497" name="Google Shape;497;p45">
            <a:extLst>
              <a:ext uri="{FF2B5EF4-FFF2-40B4-BE49-F238E27FC236}">
                <a16:creationId xmlns:a16="http://schemas.microsoft.com/office/drawing/2014/main" id="{846AA7E9-7D40-5A2F-BA53-49CF07C3F69D}"/>
              </a:ext>
            </a:extLst>
          </p:cNvPr>
          <p:cNvSpPr txBox="1"/>
          <p:nvPr/>
        </p:nvSpPr>
        <p:spPr>
          <a:xfrm rot="-5400000">
            <a:off x="-797364" y="5204656"/>
            <a:ext cx="2251455" cy="38856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lt1"/>
                </a:solidFill>
                <a:latin typeface="Nunito Sans SemiBold"/>
                <a:ea typeface="Nunito Sans SemiBold"/>
                <a:cs typeface="Nunito Sans SemiBold"/>
                <a:sym typeface="Nunito Sans SemiBold"/>
              </a:rPr>
              <a:t>AGRICOOL</a:t>
            </a:r>
            <a:endParaRPr sz="1400" b="0" i="0" u="none" strike="noStrike" cap="none">
              <a:solidFill>
                <a:srgbClr val="000000"/>
              </a:solidFill>
              <a:latin typeface="Arial"/>
              <a:ea typeface="Arial"/>
              <a:cs typeface="Arial"/>
              <a:sym typeface="Arial"/>
            </a:endParaRPr>
          </a:p>
        </p:txBody>
      </p:sp>
      <p:pic>
        <p:nvPicPr>
          <p:cNvPr id="503" name="Google Shape;503;p45" descr="Une image contenant capture d’écran, Bleu électrique, Police, Bleu Majorelle&#10;&#10;Description générée automatiquement">
            <a:extLst>
              <a:ext uri="{FF2B5EF4-FFF2-40B4-BE49-F238E27FC236}">
                <a16:creationId xmlns:a16="http://schemas.microsoft.com/office/drawing/2014/main" id="{AA170287-F102-EF1E-98A9-E762875D1181}"/>
              </a:ext>
            </a:extLst>
          </p:cNvPr>
          <p:cNvPicPr preferRelativeResize="0"/>
          <p:nvPr/>
        </p:nvPicPr>
        <p:blipFill rotWithShape="1">
          <a:blip r:embed="rId4">
            <a:alphaModFix/>
          </a:blip>
          <a:srcRect/>
          <a:stretch/>
        </p:blipFill>
        <p:spPr>
          <a:xfrm>
            <a:off x="659183" y="6441981"/>
            <a:ext cx="1729633" cy="384363"/>
          </a:xfrm>
          <a:prstGeom prst="rect">
            <a:avLst/>
          </a:prstGeom>
          <a:noFill/>
          <a:ln>
            <a:noFill/>
          </a:ln>
        </p:spPr>
      </p:pic>
      <p:sp>
        <p:nvSpPr>
          <p:cNvPr id="504" name="Google Shape;504;p45">
            <a:extLst>
              <a:ext uri="{FF2B5EF4-FFF2-40B4-BE49-F238E27FC236}">
                <a16:creationId xmlns:a16="http://schemas.microsoft.com/office/drawing/2014/main" id="{073B1724-3369-31DA-6BE3-40CAC04D334A}"/>
              </a:ext>
            </a:extLst>
          </p:cNvPr>
          <p:cNvSpPr txBox="1">
            <a:spLocks noGrp="1"/>
          </p:cNvSpPr>
          <p:nvPr>
            <p:ph type="dt" idx="10"/>
          </p:nvPr>
        </p:nvSpPr>
        <p:spPr>
          <a:xfrm>
            <a:off x="9332517" y="64262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en-GB" dirty="0"/>
              <a:t>13 September 2026</a:t>
            </a:r>
            <a:endParaRPr dirty="0"/>
          </a:p>
        </p:txBody>
      </p:sp>
      <p:sp>
        <p:nvSpPr>
          <p:cNvPr id="505" name="Google Shape;505;p45">
            <a:extLst>
              <a:ext uri="{FF2B5EF4-FFF2-40B4-BE49-F238E27FC236}">
                <a16:creationId xmlns:a16="http://schemas.microsoft.com/office/drawing/2014/main" id="{94B77B61-5908-D6E7-653B-A852A149C500}"/>
              </a:ext>
            </a:extLst>
          </p:cNvPr>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200"/>
              <a:buNone/>
            </a:pPr>
            <a:fld id="{00000000-1234-1234-1234-123412341234}" type="slidenum">
              <a:rPr lang="en-GB"/>
              <a:t>24</a:t>
            </a:fld>
            <a:endParaRPr/>
          </a:p>
        </p:txBody>
      </p:sp>
      <p:sp>
        <p:nvSpPr>
          <p:cNvPr id="3" name="Title">
            <a:extLst>
              <a:ext uri="{FF2B5EF4-FFF2-40B4-BE49-F238E27FC236}">
                <a16:creationId xmlns:a16="http://schemas.microsoft.com/office/drawing/2014/main" id="{3EB74535-F878-9AE9-9852-FA8B66F35586}"/>
              </a:ext>
            </a:extLst>
          </p:cNvPr>
          <p:cNvSpPr>
            <a:spLocks noGrp="1"/>
          </p:cNvSpPr>
          <p:nvPr/>
        </p:nvSpPr>
        <p:spPr>
          <a:xfrm>
            <a:off x="902209" y="333375"/>
            <a:ext cx="10972800" cy="638175"/>
          </a:xfrm>
          <a:prstGeom prst="rect">
            <a:avLst/>
          </a:prstGeom>
          <a:noFill/>
          <a:ln w="0">
            <a:noFill/>
          </a:ln>
        </p:spPr>
        <p:txBody>
          <a:bodyPr lIns="0" tIns="0" rIns="0" bIns="0" anchor="ctr">
            <a:noAutofit/>
          </a:bodyPr>
          <a:lstStyle/>
          <a:p>
            <a:pPr algn="l">
              <a:defRPr sz="3300" b="1">
                <a:solidFill>
                  <a:srgbClr val="14354E"/>
                </a:solidFill>
                <a:latin typeface="Bitstream Charter"/>
                <a:ea typeface="Bitstream Charter"/>
                <a:cs typeface="Bitstream Charter"/>
              </a:defRPr>
            </a:pPr>
            <a:r>
              <a:rPr lang="en-US" sz="4400" b="1" dirty="0">
                <a:solidFill>
                  <a:srgbClr val="30A4CF"/>
                </a:solidFill>
                <a:latin typeface="Nunito"/>
              </a:rPr>
              <a:t>Control of the off-grid cooling system</a:t>
            </a:r>
          </a:p>
        </p:txBody>
      </p:sp>
      <p:sp>
        <p:nvSpPr>
          <p:cNvPr id="17" name="Text 3">
            <a:extLst>
              <a:ext uri="{FF2B5EF4-FFF2-40B4-BE49-F238E27FC236}">
                <a16:creationId xmlns:a16="http://schemas.microsoft.com/office/drawing/2014/main" id="{7B27AEFC-BA99-6E75-E300-15F315D11E4E}"/>
              </a:ext>
            </a:extLst>
          </p:cNvPr>
          <p:cNvSpPr txBox="1"/>
          <p:nvPr/>
        </p:nvSpPr>
        <p:spPr>
          <a:xfrm>
            <a:off x="902209" y="1320990"/>
            <a:ext cx="10972800" cy="274320"/>
          </a:xfrm>
          <a:prstGeom prst="rect">
            <a:avLst/>
          </a:prstGeom>
          <a:noFill/>
          <a:ln/>
        </p:spPr>
        <p:txBody>
          <a:bodyPr wrap="square" lIns="0" tIns="0" rIns="0" bIns="0" rtlCol="0" anchor="ctr"/>
          <a:lstStyle/>
          <a:p>
            <a:pPr marL="0" indent="0">
              <a:buNone/>
            </a:pPr>
            <a:r>
              <a:rPr lang="en-US" sz="1350" dirty="0">
                <a:solidFill>
                  <a:srgbClr val="526777"/>
                </a:solidFill>
                <a:latin typeface="Arial" pitchFamily="34" charset="0"/>
                <a:ea typeface="Arial" pitchFamily="34" charset="-122"/>
                <a:cs typeface="Arial" pitchFamily="34" charset="-120"/>
              </a:rPr>
              <a:t>Three simple rules: the sun decides when the chiller runs, the room decides the fan speed, the ice tank needs no control</a:t>
            </a:r>
            <a:endParaRPr lang="en-US" sz="1350" dirty="0"/>
          </a:p>
        </p:txBody>
      </p:sp>
      <p:sp>
        <p:nvSpPr>
          <p:cNvPr id="20" name="Text 4">
            <a:extLst>
              <a:ext uri="{FF2B5EF4-FFF2-40B4-BE49-F238E27FC236}">
                <a16:creationId xmlns:a16="http://schemas.microsoft.com/office/drawing/2014/main" id="{C40CDC38-D1F3-1C29-A6E3-8599194B94E1}"/>
              </a:ext>
            </a:extLst>
          </p:cNvPr>
          <p:cNvSpPr txBox="1"/>
          <p:nvPr/>
        </p:nvSpPr>
        <p:spPr>
          <a:xfrm>
            <a:off x="801625" y="1769046"/>
            <a:ext cx="7315200" cy="274320"/>
          </a:xfrm>
          <a:prstGeom prst="rect">
            <a:avLst/>
          </a:prstGeom>
          <a:noFill/>
          <a:ln/>
        </p:spPr>
        <p:txBody>
          <a:bodyPr wrap="square" lIns="0" tIns="0" rIns="0" bIns="0" rtlCol="0" anchor="ctr"/>
          <a:lstStyle/>
          <a:p>
            <a:pPr marL="0" indent="0">
              <a:buNone/>
            </a:pPr>
            <a:r>
              <a:rPr lang="en-US" sz="1400" b="1" dirty="0">
                <a:solidFill>
                  <a:srgbClr val="096AA8"/>
                </a:solidFill>
                <a:latin typeface="Arial" pitchFamily="34" charset="0"/>
                <a:ea typeface="Arial" pitchFamily="34" charset="-122"/>
                <a:cs typeface="Arial" pitchFamily="34" charset="-120"/>
              </a:rPr>
              <a:t>1   CHILLER  —  follows the sun</a:t>
            </a:r>
            <a:endParaRPr lang="en-US" sz="1400" dirty="0"/>
          </a:p>
        </p:txBody>
      </p:sp>
      <p:sp>
        <p:nvSpPr>
          <p:cNvPr id="31" name="Text 5">
            <a:extLst>
              <a:ext uri="{FF2B5EF4-FFF2-40B4-BE49-F238E27FC236}">
                <a16:creationId xmlns:a16="http://schemas.microsoft.com/office/drawing/2014/main" id="{9B41F708-C98F-BE3D-A605-7CE8C3CE15D0}"/>
              </a:ext>
            </a:extLst>
          </p:cNvPr>
          <p:cNvSpPr/>
          <p:nvPr/>
        </p:nvSpPr>
        <p:spPr>
          <a:xfrm>
            <a:off x="801625" y="2345118"/>
            <a:ext cx="1463040" cy="822960"/>
          </a:xfrm>
          <a:prstGeom prst="rect">
            <a:avLst/>
          </a:prstGeom>
          <a:solidFill>
            <a:srgbClr val="EDF5FA"/>
          </a:solidFill>
          <a:ln w="19050">
            <a:solidFill>
              <a:srgbClr val="096AA8"/>
            </a:solidFill>
            <a:prstDash val="solid"/>
          </a:ln>
        </p:spPr>
        <p:txBody>
          <a:bodyPr wrap="square" lIns="38100" tIns="38100" rIns="38100" bIns="38100" rtlCol="0" anchor="ctr"/>
          <a:lstStyle/>
          <a:p>
            <a:pPr marL="0" indent="0" algn="ctr">
              <a:buNone/>
            </a:pPr>
            <a:r>
              <a:rPr lang="en-US" sz="1300" b="1" dirty="0">
                <a:solidFill>
                  <a:srgbClr val="14354E"/>
                </a:solidFill>
                <a:latin typeface="Arial" pitchFamily="34" charset="0"/>
                <a:ea typeface="Arial" pitchFamily="34" charset="-122"/>
                <a:cs typeface="Arial" pitchFamily="34" charset="-120"/>
              </a:rPr>
              <a:t>PV power</a:t>
            </a:r>
            <a:endParaRPr lang="en-US" sz="1300" dirty="0"/>
          </a:p>
          <a:p>
            <a:pPr marL="0" indent="0" algn="ctr">
              <a:buNone/>
            </a:pPr>
            <a:r>
              <a:rPr lang="en-US" sz="1200" dirty="0">
                <a:solidFill>
                  <a:srgbClr val="14354E"/>
                </a:solidFill>
                <a:latin typeface="Arial" pitchFamily="34" charset="0"/>
                <a:ea typeface="Arial" pitchFamily="34" charset="-122"/>
                <a:cs typeface="Arial" pitchFamily="34" charset="-120"/>
              </a:rPr>
              <a:t>P_PV</a:t>
            </a:r>
            <a:endParaRPr lang="en-US" sz="1300" dirty="0"/>
          </a:p>
        </p:txBody>
      </p:sp>
      <p:sp>
        <p:nvSpPr>
          <p:cNvPr id="481" name="Shape 6">
            <a:extLst>
              <a:ext uri="{FF2B5EF4-FFF2-40B4-BE49-F238E27FC236}">
                <a16:creationId xmlns:a16="http://schemas.microsoft.com/office/drawing/2014/main" id="{B28D05C2-E61B-9A49-3FE3-095D2E35D4E9}"/>
              </a:ext>
            </a:extLst>
          </p:cNvPr>
          <p:cNvSpPr/>
          <p:nvPr/>
        </p:nvSpPr>
        <p:spPr>
          <a:xfrm>
            <a:off x="2264665" y="2756598"/>
            <a:ext cx="274320" cy="0"/>
          </a:xfrm>
          <a:prstGeom prst="line">
            <a:avLst/>
          </a:prstGeom>
          <a:noFill/>
          <a:ln w="22225">
            <a:solidFill>
              <a:srgbClr val="096AA8"/>
            </a:solidFill>
            <a:prstDash val="solid"/>
            <a:tailEnd type="triangle"/>
          </a:ln>
        </p:spPr>
        <p:txBody>
          <a:bodyPr/>
          <a:lstStyle/>
          <a:p>
            <a:endParaRPr lang="en-US"/>
          </a:p>
        </p:txBody>
      </p:sp>
      <p:sp>
        <p:nvSpPr>
          <p:cNvPr id="483" name="Text 7">
            <a:extLst>
              <a:ext uri="{FF2B5EF4-FFF2-40B4-BE49-F238E27FC236}">
                <a16:creationId xmlns:a16="http://schemas.microsoft.com/office/drawing/2014/main" id="{C0697304-0369-F6B9-B09F-A54E6DA36793}"/>
              </a:ext>
            </a:extLst>
          </p:cNvPr>
          <p:cNvSpPr/>
          <p:nvPr/>
        </p:nvSpPr>
        <p:spPr>
          <a:xfrm>
            <a:off x="2538985" y="2093658"/>
            <a:ext cx="1828800" cy="1325880"/>
          </a:xfrm>
          <a:prstGeom prst="diamond">
            <a:avLst/>
          </a:prstGeom>
          <a:solidFill>
            <a:srgbClr val="F1F7FB"/>
          </a:solidFill>
          <a:ln w="19050">
            <a:solidFill>
              <a:srgbClr val="096AA8"/>
            </a:solidFill>
            <a:prstDash val="solid"/>
          </a:ln>
        </p:spPr>
        <p:txBody>
          <a:bodyPr wrap="square" lIns="38100" tIns="38100" rIns="38100" bIns="38100" rtlCol="0" anchor="ctr"/>
          <a:lstStyle/>
          <a:p>
            <a:pPr marL="0" indent="0" algn="ctr">
              <a:buNone/>
            </a:pPr>
            <a:r>
              <a:rPr lang="en-US" sz="1200" b="1" dirty="0">
                <a:solidFill>
                  <a:srgbClr val="14354E"/>
                </a:solidFill>
                <a:latin typeface="Arial" pitchFamily="34" charset="0"/>
                <a:ea typeface="Arial" pitchFamily="34" charset="-122"/>
                <a:cs typeface="Arial" pitchFamily="34" charset="-120"/>
              </a:rPr>
              <a:t>PV</a:t>
            </a:r>
            <a:endParaRPr lang="en-US" sz="1200" dirty="0"/>
          </a:p>
          <a:p>
            <a:pPr marL="0" indent="0" algn="ctr">
              <a:buNone/>
            </a:pPr>
            <a:r>
              <a:rPr lang="en-US" sz="1200" b="1" dirty="0">
                <a:solidFill>
                  <a:srgbClr val="14354E"/>
                </a:solidFill>
                <a:latin typeface="Arial" pitchFamily="34" charset="0"/>
                <a:ea typeface="Arial" pitchFamily="34" charset="-122"/>
                <a:cs typeface="Arial" pitchFamily="34" charset="-120"/>
              </a:rPr>
              <a:t>enough?</a:t>
            </a:r>
            <a:endParaRPr lang="en-US" sz="1200" dirty="0"/>
          </a:p>
        </p:txBody>
      </p:sp>
      <p:sp>
        <p:nvSpPr>
          <p:cNvPr id="485" name="Shape 8">
            <a:extLst>
              <a:ext uri="{FF2B5EF4-FFF2-40B4-BE49-F238E27FC236}">
                <a16:creationId xmlns:a16="http://schemas.microsoft.com/office/drawing/2014/main" id="{E603490F-9FA7-5680-6AC8-50385DA9C13E}"/>
              </a:ext>
            </a:extLst>
          </p:cNvPr>
          <p:cNvSpPr/>
          <p:nvPr/>
        </p:nvSpPr>
        <p:spPr>
          <a:xfrm>
            <a:off x="4367785" y="2756598"/>
            <a:ext cx="274320" cy="0"/>
          </a:xfrm>
          <a:prstGeom prst="line">
            <a:avLst/>
          </a:prstGeom>
          <a:noFill/>
          <a:ln w="22225">
            <a:solidFill>
              <a:srgbClr val="096AA8"/>
            </a:solidFill>
            <a:prstDash val="solid"/>
            <a:tailEnd type="triangle"/>
          </a:ln>
        </p:spPr>
        <p:txBody>
          <a:bodyPr/>
          <a:lstStyle/>
          <a:p>
            <a:endParaRPr lang="en-US"/>
          </a:p>
        </p:txBody>
      </p:sp>
      <p:sp>
        <p:nvSpPr>
          <p:cNvPr id="487" name="Text 9">
            <a:extLst>
              <a:ext uri="{FF2B5EF4-FFF2-40B4-BE49-F238E27FC236}">
                <a16:creationId xmlns:a16="http://schemas.microsoft.com/office/drawing/2014/main" id="{C007A712-5721-5744-9276-B92393CE5641}"/>
              </a:ext>
            </a:extLst>
          </p:cNvPr>
          <p:cNvSpPr txBox="1"/>
          <p:nvPr/>
        </p:nvSpPr>
        <p:spPr>
          <a:xfrm>
            <a:off x="4367785" y="2372550"/>
            <a:ext cx="365760" cy="228600"/>
          </a:xfrm>
          <a:prstGeom prst="rect">
            <a:avLst/>
          </a:prstGeom>
          <a:noFill/>
          <a:ln/>
        </p:spPr>
        <p:txBody>
          <a:bodyPr wrap="square" lIns="0" tIns="0" rIns="0" bIns="0" rtlCol="0" anchor="ctr"/>
          <a:lstStyle/>
          <a:p>
            <a:pPr marL="0" indent="0">
              <a:buNone/>
            </a:pPr>
            <a:r>
              <a:rPr lang="en-US" sz="1200" b="1" dirty="0">
                <a:solidFill>
                  <a:srgbClr val="096AA8"/>
                </a:solidFill>
                <a:latin typeface="Arial" pitchFamily="34" charset="0"/>
                <a:ea typeface="Arial" pitchFamily="34" charset="-122"/>
                <a:cs typeface="Arial" pitchFamily="34" charset="-120"/>
              </a:rPr>
              <a:t>Yes</a:t>
            </a:r>
            <a:endParaRPr lang="en-US" sz="1200" dirty="0"/>
          </a:p>
        </p:txBody>
      </p:sp>
      <p:sp>
        <p:nvSpPr>
          <p:cNvPr id="489" name="Text 10">
            <a:extLst>
              <a:ext uri="{FF2B5EF4-FFF2-40B4-BE49-F238E27FC236}">
                <a16:creationId xmlns:a16="http://schemas.microsoft.com/office/drawing/2014/main" id="{B6BCF7FB-D37A-71BF-4F4D-40FB3A1208C6}"/>
              </a:ext>
            </a:extLst>
          </p:cNvPr>
          <p:cNvSpPr/>
          <p:nvPr/>
        </p:nvSpPr>
        <p:spPr>
          <a:xfrm>
            <a:off x="4642105" y="2345118"/>
            <a:ext cx="1463040" cy="822960"/>
          </a:xfrm>
          <a:prstGeom prst="rect">
            <a:avLst/>
          </a:prstGeom>
          <a:solidFill>
            <a:srgbClr val="EDF5FA"/>
          </a:solidFill>
          <a:ln w="19050">
            <a:solidFill>
              <a:srgbClr val="096AA8"/>
            </a:solidFill>
            <a:prstDash val="solid"/>
          </a:ln>
        </p:spPr>
        <p:txBody>
          <a:bodyPr wrap="square" lIns="38100" tIns="38100" rIns="38100" bIns="38100" rtlCol="0" anchor="ctr"/>
          <a:lstStyle/>
          <a:p>
            <a:pPr marL="0" indent="0" algn="ctr">
              <a:buNone/>
            </a:pPr>
            <a:r>
              <a:rPr lang="en-US" sz="1300" b="1" dirty="0">
                <a:solidFill>
                  <a:srgbClr val="14354E"/>
                </a:solidFill>
                <a:latin typeface="Arial" pitchFamily="34" charset="0"/>
                <a:ea typeface="Arial" pitchFamily="34" charset="-122"/>
                <a:cs typeface="Arial" pitchFamily="34" charset="-120"/>
              </a:rPr>
              <a:t>Follow PV</a:t>
            </a:r>
            <a:endParaRPr lang="en-US" sz="1300" dirty="0"/>
          </a:p>
          <a:p>
            <a:pPr marL="0" indent="0" algn="ctr">
              <a:buNone/>
            </a:pPr>
            <a:r>
              <a:rPr lang="en-US" sz="1100" dirty="0">
                <a:solidFill>
                  <a:srgbClr val="14354E"/>
                </a:solidFill>
                <a:latin typeface="Arial" pitchFamily="34" charset="0"/>
                <a:ea typeface="Arial" pitchFamily="34" charset="-122"/>
                <a:cs typeface="Arial" pitchFamily="34" charset="-120"/>
              </a:rPr>
              <a:t>y = P_PV / P_nom</a:t>
            </a:r>
            <a:endParaRPr lang="en-US" sz="1300" dirty="0"/>
          </a:p>
        </p:txBody>
      </p:sp>
      <p:sp>
        <p:nvSpPr>
          <p:cNvPr id="491" name="Shape 11">
            <a:extLst>
              <a:ext uri="{FF2B5EF4-FFF2-40B4-BE49-F238E27FC236}">
                <a16:creationId xmlns:a16="http://schemas.microsoft.com/office/drawing/2014/main" id="{1690CB9B-3BBA-2BAB-2488-A88293D6F21C}"/>
              </a:ext>
            </a:extLst>
          </p:cNvPr>
          <p:cNvSpPr/>
          <p:nvPr/>
        </p:nvSpPr>
        <p:spPr>
          <a:xfrm>
            <a:off x="6105145" y="2756598"/>
            <a:ext cx="274320" cy="0"/>
          </a:xfrm>
          <a:prstGeom prst="line">
            <a:avLst/>
          </a:prstGeom>
          <a:noFill/>
          <a:ln w="22225">
            <a:solidFill>
              <a:srgbClr val="096AA8"/>
            </a:solidFill>
            <a:prstDash val="solid"/>
            <a:tailEnd type="triangle"/>
          </a:ln>
        </p:spPr>
        <p:txBody>
          <a:bodyPr/>
          <a:lstStyle/>
          <a:p>
            <a:endParaRPr lang="en-US"/>
          </a:p>
        </p:txBody>
      </p:sp>
      <p:sp>
        <p:nvSpPr>
          <p:cNvPr id="493" name="Text 12">
            <a:extLst>
              <a:ext uri="{FF2B5EF4-FFF2-40B4-BE49-F238E27FC236}">
                <a16:creationId xmlns:a16="http://schemas.microsoft.com/office/drawing/2014/main" id="{82B0B2C5-2D82-BB86-572C-395A3241138A}"/>
              </a:ext>
            </a:extLst>
          </p:cNvPr>
          <p:cNvSpPr/>
          <p:nvPr/>
        </p:nvSpPr>
        <p:spPr>
          <a:xfrm>
            <a:off x="6379465" y="2345118"/>
            <a:ext cx="1463040" cy="822960"/>
          </a:xfrm>
          <a:prstGeom prst="rect">
            <a:avLst/>
          </a:prstGeom>
          <a:solidFill>
            <a:srgbClr val="EDF5FA"/>
          </a:solidFill>
          <a:ln w="19050">
            <a:solidFill>
              <a:srgbClr val="096AA8"/>
            </a:solidFill>
            <a:prstDash val="solid"/>
          </a:ln>
        </p:spPr>
        <p:txBody>
          <a:bodyPr wrap="square" lIns="38100" tIns="38100" rIns="38100" bIns="38100" rtlCol="0" anchor="ctr"/>
          <a:lstStyle/>
          <a:p>
            <a:pPr marL="0" indent="0" algn="ctr">
              <a:buNone/>
            </a:pPr>
            <a:r>
              <a:rPr lang="en-US" sz="1300" b="1" dirty="0">
                <a:solidFill>
                  <a:srgbClr val="14354E"/>
                </a:solidFill>
                <a:latin typeface="Arial" pitchFamily="34" charset="0"/>
                <a:ea typeface="Arial" pitchFamily="34" charset="-122"/>
                <a:cs typeface="Arial" pitchFamily="34" charset="-120"/>
              </a:rPr>
              <a:t>Soft start</a:t>
            </a:r>
            <a:endParaRPr lang="en-US" sz="1300" dirty="0"/>
          </a:p>
        </p:txBody>
      </p:sp>
      <p:sp>
        <p:nvSpPr>
          <p:cNvPr id="498" name="Shape 13">
            <a:extLst>
              <a:ext uri="{FF2B5EF4-FFF2-40B4-BE49-F238E27FC236}">
                <a16:creationId xmlns:a16="http://schemas.microsoft.com/office/drawing/2014/main" id="{6105A01B-AF43-1834-A7F8-F377A204B5E7}"/>
              </a:ext>
            </a:extLst>
          </p:cNvPr>
          <p:cNvSpPr/>
          <p:nvPr/>
        </p:nvSpPr>
        <p:spPr>
          <a:xfrm>
            <a:off x="7842505" y="2756598"/>
            <a:ext cx="274320" cy="0"/>
          </a:xfrm>
          <a:prstGeom prst="line">
            <a:avLst/>
          </a:prstGeom>
          <a:noFill/>
          <a:ln w="22225">
            <a:solidFill>
              <a:srgbClr val="096AA8"/>
            </a:solidFill>
            <a:prstDash val="solid"/>
            <a:tailEnd type="triangle"/>
          </a:ln>
        </p:spPr>
        <p:txBody>
          <a:bodyPr/>
          <a:lstStyle/>
          <a:p>
            <a:endParaRPr lang="en-US"/>
          </a:p>
        </p:txBody>
      </p:sp>
      <p:sp>
        <p:nvSpPr>
          <p:cNvPr id="500" name="Text 14">
            <a:extLst>
              <a:ext uri="{FF2B5EF4-FFF2-40B4-BE49-F238E27FC236}">
                <a16:creationId xmlns:a16="http://schemas.microsoft.com/office/drawing/2014/main" id="{B8AE9075-7DB5-0B84-0974-9AAC7DA05911}"/>
              </a:ext>
            </a:extLst>
          </p:cNvPr>
          <p:cNvSpPr/>
          <p:nvPr/>
        </p:nvSpPr>
        <p:spPr>
          <a:xfrm>
            <a:off x="8116825" y="2345118"/>
            <a:ext cx="1463040" cy="822960"/>
          </a:xfrm>
          <a:prstGeom prst="rect">
            <a:avLst/>
          </a:prstGeom>
          <a:solidFill>
            <a:srgbClr val="EDF5FA"/>
          </a:solidFill>
          <a:ln w="19050">
            <a:solidFill>
              <a:srgbClr val="096AA8"/>
            </a:solidFill>
            <a:prstDash val="solid"/>
          </a:ln>
        </p:spPr>
        <p:txBody>
          <a:bodyPr wrap="square" lIns="38100" tIns="38100" rIns="38100" bIns="38100" rtlCol="0" anchor="ctr"/>
          <a:lstStyle/>
          <a:p>
            <a:pPr marL="0" indent="0" algn="ctr">
              <a:buNone/>
            </a:pPr>
            <a:r>
              <a:rPr lang="en-US" sz="1300" b="1" dirty="0">
                <a:solidFill>
                  <a:srgbClr val="14354E"/>
                </a:solidFill>
                <a:latin typeface="Arial" pitchFamily="34" charset="0"/>
                <a:ea typeface="Arial" pitchFamily="34" charset="-122"/>
                <a:cs typeface="Arial" pitchFamily="34" charset="-120"/>
              </a:rPr>
              <a:t>Cold limit</a:t>
            </a:r>
            <a:endParaRPr lang="en-US" sz="1300" dirty="0"/>
          </a:p>
          <a:p>
            <a:pPr marL="0" indent="0" algn="ctr">
              <a:buNone/>
            </a:pPr>
            <a:r>
              <a:rPr lang="en-US" sz="1100" dirty="0">
                <a:solidFill>
                  <a:srgbClr val="14354E"/>
                </a:solidFill>
                <a:latin typeface="Arial" pitchFamily="34" charset="0"/>
                <a:ea typeface="Arial" pitchFamily="34" charset="-122"/>
                <a:cs typeface="Arial" pitchFamily="34" charset="-120"/>
              </a:rPr>
              <a:t>throttle as brine</a:t>
            </a:r>
            <a:endParaRPr lang="en-US" sz="1300" dirty="0"/>
          </a:p>
          <a:p>
            <a:pPr marL="0" indent="0" algn="ctr">
              <a:buNone/>
            </a:pPr>
            <a:r>
              <a:rPr lang="en-US" sz="1100" dirty="0">
                <a:solidFill>
                  <a:srgbClr val="14354E"/>
                </a:solidFill>
                <a:latin typeface="Arial" pitchFamily="34" charset="0"/>
                <a:ea typeface="Arial" pitchFamily="34" charset="-122"/>
                <a:cs typeface="Arial" pitchFamily="34" charset="-120"/>
              </a:rPr>
              <a:t>nears −5 °C</a:t>
            </a:r>
            <a:endParaRPr lang="en-US" sz="1300" dirty="0"/>
          </a:p>
        </p:txBody>
      </p:sp>
      <p:sp>
        <p:nvSpPr>
          <p:cNvPr id="502" name="Shape 15">
            <a:extLst>
              <a:ext uri="{FF2B5EF4-FFF2-40B4-BE49-F238E27FC236}">
                <a16:creationId xmlns:a16="http://schemas.microsoft.com/office/drawing/2014/main" id="{FFADD696-0554-6632-E017-76F760F72C33}"/>
              </a:ext>
            </a:extLst>
          </p:cNvPr>
          <p:cNvSpPr/>
          <p:nvPr/>
        </p:nvSpPr>
        <p:spPr>
          <a:xfrm>
            <a:off x="9579865" y="2756598"/>
            <a:ext cx="274320" cy="0"/>
          </a:xfrm>
          <a:prstGeom prst="line">
            <a:avLst/>
          </a:prstGeom>
          <a:noFill/>
          <a:ln w="22225">
            <a:solidFill>
              <a:srgbClr val="096AA8"/>
            </a:solidFill>
            <a:prstDash val="solid"/>
            <a:tailEnd type="triangle"/>
          </a:ln>
        </p:spPr>
        <p:txBody>
          <a:bodyPr/>
          <a:lstStyle/>
          <a:p>
            <a:endParaRPr lang="en-US"/>
          </a:p>
        </p:txBody>
      </p:sp>
      <p:sp>
        <p:nvSpPr>
          <p:cNvPr id="507" name="Text 16">
            <a:extLst>
              <a:ext uri="{FF2B5EF4-FFF2-40B4-BE49-F238E27FC236}">
                <a16:creationId xmlns:a16="http://schemas.microsoft.com/office/drawing/2014/main" id="{AD67EDE3-4C82-A945-FF16-D276E4892B31}"/>
              </a:ext>
            </a:extLst>
          </p:cNvPr>
          <p:cNvSpPr/>
          <p:nvPr/>
        </p:nvSpPr>
        <p:spPr>
          <a:xfrm>
            <a:off x="9854185" y="2345118"/>
            <a:ext cx="1463040" cy="822960"/>
          </a:xfrm>
          <a:prstGeom prst="rect">
            <a:avLst/>
          </a:prstGeom>
          <a:solidFill>
            <a:srgbClr val="D9EFEA"/>
          </a:solidFill>
          <a:ln w="19050">
            <a:solidFill>
              <a:srgbClr val="096AA8"/>
            </a:solidFill>
            <a:prstDash val="solid"/>
          </a:ln>
        </p:spPr>
        <p:txBody>
          <a:bodyPr wrap="square" lIns="38100" tIns="38100" rIns="38100" bIns="38100" rtlCol="0" anchor="ctr"/>
          <a:lstStyle/>
          <a:p>
            <a:pPr marL="0" indent="0" algn="ctr">
              <a:buNone/>
            </a:pPr>
            <a:r>
              <a:rPr lang="en-US" sz="1300" b="1" dirty="0">
                <a:solidFill>
                  <a:srgbClr val="14354E"/>
                </a:solidFill>
                <a:latin typeface="Arial" pitchFamily="34" charset="0"/>
                <a:ea typeface="Arial" pitchFamily="34" charset="-122"/>
                <a:cs typeface="Arial" pitchFamily="34" charset="-120"/>
              </a:rPr>
              <a:t>Compressor</a:t>
            </a:r>
            <a:endParaRPr lang="en-US" sz="1300" dirty="0"/>
          </a:p>
          <a:p>
            <a:pPr marL="0" indent="0" algn="ctr">
              <a:buNone/>
            </a:pPr>
            <a:r>
              <a:rPr lang="en-US" sz="1200" dirty="0">
                <a:solidFill>
                  <a:srgbClr val="14354E"/>
                </a:solidFill>
                <a:latin typeface="Arial" pitchFamily="34" charset="0"/>
                <a:ea typeface="Arial" pitchFamily="34" charset="-122"/>
                <a:cs typeface="Arial" pitchFamily="34" charset="-120"/>
              </a:rPr>
              <a:t>runs at y</a:t>
            </a:r>
            <a:endParaRPr lang="en-US" sz="1300" dirty="0"/>
          </a:p>
          <a:p>
            <a:pPr marL="0" indent="0" algn="ctr">
              <a:buNone/>
            </a:pPr>
            <a:r>
              <a:rPr lang="en-US" sz="1100" dirty="0">
                <a:solidFill>
                  <a:srgbClr val="14354E"/>
                </a:solidFill>
                <a:latin typeface="Arial" pitchFamily="34" charset="0"/>
                <a:ea typeface="Arial" pitchFamily="34" charset="-122"/>
                <a:cs typeface="Arial" pitchFamily="34" charset="-120"/>
              </a:rPr>
              <a:t>(≤ PV power)</a:t>
            </a:r>
            <a:endParaRPr lang="en-US" sz="1300" dirty="0"/>
          </a:p>
        </p:txBody>
      </p:sp>
      <p:sp>
        <p:nvSpPr>
          <p:cNvPr id="509" name="Shape 17">
            <a:extLst>
              <a:ext uri="{FF2B5EF4-FFF2-40B4-BE49-F238E27FC236}">
                <a16:creationId xmlns:a16="http://schemas.microsoft.com/office/drawing/2014/main" id="{C84DFEF6-135D-5698-EA18-69B35DCA01C8}"/>
              </a:ext>
            </a:extLst>
          </p:cNvPr>
          <p:cNvSpPr/>
          <p:nvPr/>
        </p:nvSpPr>
        <p:spPr>
          <a:xfrm>
            <a:off x="3453385" y="3419538"/>
            <a:ext cx="0" cy="388620"/>
          </a:xfrm>
          <a:prstGeom prst="line">
            <a:avLst/>
          </a:prstGeom>
          <a:noFill/>
          <a:ln w="22225">
            <a:solidFill>
              <a:srgbClr val="096AA8"/>
            </a:solidFill>
            <a:prstDash val="solid"/>
            <a:tailEnd type="triangle"/>
          </a:ln>
        </p:spPr>
        <p:txBody>
          <a:bodyPr/>
          <a:lstStyle/>
          <a:p>
            <a:endParaRPr lang="en-US"/>
          </a:p>
        </p:txBody>
      </p:sp>
      <p:sp>
        <p:nvSpPr>
          <p:cNvPr id="511" name="Text 18">
            <a:extLst>
              <a:ext uri="{FF2B5EF4-FFF2-40B4-BE49-F238E27FC236}">
                <a16:creationId xmlns:a16="http://schemas.microsoft.com/office/drawing/2014/main" id="{EDB158A3-2328-A615-6AD7-4DE791FE4144}"/>
              </a:ext>
            </a:extLst>
          </p:cNvPr>
          <p:cNvSpPr txBox="1"/>
          <p:nvPr/>
        </p:nvSpPr>
        <p:spPr>
          <a:xfrm>
            <a:off x="3526537" y="3437826"/>
            <a:ext cx="365760" cy="228600"/>
          </a:xfrm>
          <a:prstGeom prst="rect">
            <a:avLst/>
          </a:prstGeom>
          <a:noFill/>
          <a:ln/>
        </p:spPr>
        <p:txBody>
          <a:bodyPr wrap="square" lIns="0" tIns="0" rIns="0" bIns="0" rtlCol="0" anchor="ctr"/>
          <a:lstStyle/>
          <a:p>
            <a:pPr marL="0" indent="0">
              <a:buNone/>
            </a:pPr>
            <a:r>
              <a:rPr lang="en-US" sz="1200" b="1" dirty="0">
                <a:solidFill>
                  <a:srgbClr val="096AA8"/>
                </a:solidFill>
                <a:latin typeface="Arial" pitchFamily="34" charset="0"/>
                <a:ea typeface="Arial" pitchFamily="34" charset="-122"/>
                <a:cs typeface="Arial" pitchFamily="34" charset="-120"/>
              </a:rPr>
              <a:t>No</a:t>
            </a:r>
            <a:endParaRPr lang="en-US" sz="1200" dirty="0"/>
          </a:p>
        </p:txBody>
      </p:sp>
      <p:sp>
        <p:nvSpPr>
          <p:cNvPr id="513" name="Text 19">
            <a:extLst>
              <a:ext uri="{FF2B5EF4-FFF2-40B4-BE49-F238E27FC236}">
                <a16:creationId xmlns:a16="http://schemas.microsoft.com/office/drawing/2014/main" id="{D9F33F7B-363D-7A44-E1E0-D41E26A8EBF3}"/>
              </a:ext>
            </a:extLst>
          </p:cNvPr>
          <p:cNvSpPr/>
          <p:nvPr/>
        </p:nvSpPr>
        <p:spPr>
          <a:xfrm>
            <a:off x="2584705" y="3808158"/>
            <a:ext cx="1737360" cy="457200"/>
          </a:xfrm>
          <a:prstGeom prst="rect">
            <a:avLst/>
          </a:prstGeom>
          <a:solidFill>
            <a:srgbClr val="F4F4F4"/>
          </a:solidFill>
          <a:ln w="19050">
            <a:solidFill>
              <a:srgbClr val="096AA8"/>
            </a:solidFill>
            <a:prstDash val="solid"/>
          </a:ln>
        </p:spPr>
        <p:txBody>
          <a:bodyPr wrap="square" lIns="38100" tIns="38100" rIns="38100" bIns="38100" rtlCol="0" anchor="ctr"/>
          <a:lstStyle/>
          <a:p>
            <a:pPr marL="0" indent="0" algn="ctr">
              <a:buNone/>
            </a:pPr>
            <a:r>
              <a:rPr lang="en-US" sz="1200" b="1" dirty="0">
                <a:solidFill>
                  <a:srgbClr val="14354E"/>
                </a:solidFill>
                <a:latin typeface="Arial" pitchFamily="34" charset="0"/>
                <a:ea typeface="Arial" pitchFamily="34" charset="-122"/>
                <a:cs typeface="Arial" pitchFamily="34" charset="-120"/>
              </a:rPr>
              <a:t>Chiller OFF (y = 0)</a:t>
            </a:r>
            <a:endParaRPr lang="en-US" sz="1200" dirty="0"/>
          </a:p>
        </p:txBody>
      </p:sp>
      <p:sp>
        <p:nvSpPr>
          <p:cNvPr id="515" name="Text 20">
            <a:extLst>
              <a:ext uri="{FF2B5EF4-FFF2-40B4-BE49-F238E27FC236}">
                <a16:creationId xmlns:a16="http://schemas.microsoft.com/office/drawing/2014/main" id="{67F29081-5900-95F7-8AAE-FACDC95D8820}"/>
              </a:ext>
            </a:extLst>
          </p:cNvPr>
          <p:cNvSpPr txBox="1"/>
          <p:nvPr/>
        </p:nvSpPr>
        <p:spPr>
          <a:xfrm>
            <a:off x="801625" y="4493958"/>
            <a:ext cx="7315200" cy="274320"/>
          </a:xfrm>
          <a:prstGeom prst="rect">
            <a:avLst/>
          </a:prstGeom>
          <a:noFill/>
          <a:ln/>
        </p:spPr>
        <p:txBody>
          <a:bodyPr wrap="square" lIns="0" tIns="0" rIns="0" bIns="0" rtlCol="0" anchor="ctr"/>
          <a:lstStyle/>
          <a:p>
            <a:pPr marL="0" indent="0">
              <a:buNone/>
            </a:pPr>
            <a:r>
              <a:rPr lang="en-US" sz="1400" b="1" dirty="0">
                <a:solidFill>
                  <a:srgbClr val="096AA8"/>
                </a:solidFill>
                <a:latin typeface="Arial" pitchFamily="34" charset="0"/>
                <a:ea typeface="Arial" pitchFamily="34" charset="-122"/>
                <a:cs typeface="Arial" pitchFamily="34" charset="-120"/>
              </a:rPr>
              <a:t>2   FAN  —  follows the room</a:t>
            </a:r>
            <a:endParaRPr lang="en-US" sz="1400" dirty="0"/>
          </a:p>
        </p:txBody>
      </p:sp>
      <p:sp>
        <p:nvSpPr>
          <p:cNvPr id="517" name="Text 21">
            <a:extLst>
              <a:ext uri="{FF2B5EF4-FFF2-40B4-BE49-F238E27FC236}">
                <a16:creationId xmlns:a16="http://schemas.microsoft.com/office/drawing/2014/main" id="{E129F14E-444A-9DBD-6CA7-658F0183DFDF}"/>
              </a:ext>
            </a:extLst>
          </p:cNvPr>
          <p:cNvSpPr/>
          <p:nvPr/>
        </p:nvSpPr>
        <p:spPr>
          <a:xfrm>
            <a:off x="801625" y="4813998"/>
            <a:ext cx="2011680" cy="731520"/>
          </a:xfrm>
          <a:prstGeom prst="rect">
            <a:avLst/>
          </a:prstGeom>
          <a:solidFill>
            <a:srgbClr val="EDF5FA"/>
          </a:solidFill>
          <a:ln w="19050">
            <a:solidFill>
              <a:srgbClr val="096AA8"/>
            </a:solidFill>
            <a:prstDash val="solid"/>
          </a:ln>
        </p:spPr>
        <p:txBody>
          <a:bodyPr wrap="square" lIns="38100" tIns="38100" rIns="38100" bIns="38100" rtlCol="0" anchor="ctr"/>
          <a:lstStyle/>
          <a:p>
            <a:pPr marL="0" indent="0" algn="ctr">
              <a:buNone/>
            </a:pPr>
            <a:r>
              <a:rPr lang="en-US" sz="1300" b="1" dirty="0">
                <a:solidFill>
                  <a:srgbClr val="14354E"/>
                </a:solidFill>
                <a:latin typeface="Arial" pitchFamily="34" charset="0"/>
                <a:ea typeface="Arial" pitchFamily="34" charset="-122"/>
                <a:cs typeface="Arial" pitchFamily="34" charset="-120"/>
              </a:rPr>
              <a:t>Room air</a:t>
            </a:r>
            <a:endParaRPr lang="en-US" sz="1300" dirty="0"/>
          </a:p>
          <a:p>
            <a:pPr marL="0" indent="0" algn="ctr">
              <a:buNone/>
            </a:pPr>
            <a:r>
              <a:rPr lang="en-US" sz="1100" dirty="0">
                <a:solidFill>
                  <a:srgbClr val="14354E"/>
                </a:solidFill>
                <a:latin typeface="Arial" pitchFamily="34" charset="0"/>
                <a:ea typeface="Arial" pitchFamily="34" charset="-122"/>
                <a:cs typeface="Arial" pitchFamily="34" charset="-120"/>
              </a:rPr>
              <a:t>temperature T_room</a:t>
            </a:r>
            <a:endParaRPr lang="en-US" sz="1300" dirty="0"/>
          </a:p>
        </p:txBody>
      </p:sp>
      <p:sp>
        <p:nvSpPr>
          <p:cNvPr id="519" name="Shape 22">
            <a:extLst>
              <a:ext uri="{FF2B5EF4-FFF2-40B4-BE49-F238E27FC236}">
                <a16:creationId xmlns:a16="http://schemas.microsoft.com/office/drawing/2014/main" id="{080DAC86-0E58-BF77-7558-65B23BC34C64}"/>
              </a:ext>
            </a:extLst>
          </p:cNvPr>
          <p:cNvSpPr/>
          <p:nvPr/>
        </p:nvSpPr>
        <p:spPr>
          <a:xfrm>
            <a:off x="2813305" y="5179758"/>
            <a:ext cx="274320" cy="0"/>
          </a:xfrm>
          <a:prstGeom prst="line">
            <a:avLst/>
          </a:prstGeom>
          <a:noFill/>
          <a:ln w="22225">
            <a:solidFill>
              <a:srgbClr val="096AA8"/>
            </a:solidFill>
            <a:prstDash val="solid"/>
            <a:tailEnd type="triangle"/>
          </a:ln>
        </p:spPr>
        <p:txBody>
          <a:bodyPr/>
          <a:lstStyle/>
          <a:p>
            <a:endParaRPr lang="en-US"/>
          </a:p>
        </p:txBody>
      </p:sp>
      <p:sp>
        <p:nvSpPr>
          <p:cNvPr id="521" name="Text 23">
            <a:extLst>
              <a:ext uri="{FF2B5EF4-FFF2-40B4-BE49-F238E27FC236}">
                <a16:creationId xmlns:a16="http://schemas.microsoft.com/office/drawing/2014/main" id="{B292D178-0692-097E-AEC3-7ED07D60E842}"/>
              </a:ext>
            </a:extLst>
          </p:cNvPr>
          <p:cNvSpPr/>
          <p:nvPr/>
        </p:nvSpPr>
        <p:spPr>
          <a:xfrm>
            <a:off x="3087625" y="4813998"/>
            <a:ext cx="2834640" cy="731520"/>
          </a:xfrm>
          <a:prstGeom prst="rect">
            <a:avLst/>
          </a:prstGeom>
          <a:solidFill>
            <a:srgbClr val="EDF5FA"/>
          </a:solidFill>
          <a:ln w="19050">
            <a:solidFill>
              <a:srgbClr val="096AA8"/>
            </a:solidFill>
            <a:prstDash val="solid"/>
          </a:ln>
        </p:spPr>
        <p:txBody>
          <a:bodyPr wrap="square" lIns="38100" tIns="38100" rIns="38100" bIns="38100" rtlCol="0" anchor="ctr"/>
          <a:lstStyle/>
          <a:p>
            <a:pPr marL="0" indent="0" algn="ctr">
              <a:buNone/>
            </a:pPr>
            <a:r>
              <a:rPr lang="en-US" sz="1300" b="1" dirty="0">
                <a:solidFill>
                  <a:srgbClr val="14354E"/>
                </a:solidFill>
                <a:latin typeface="Arial" pitchFamily="34" charset="0"/>
                <a:ea typeface="Arial" pitchFamily="34" charset="-122"/>
                <a:cs typeface="Arial" pitchFamily="34" charset="-120"/>
              </a:rPr>
              <a:t>PI controller</a:t>
            </a:r>
            <a:endParaRPr lang="en-US" sz="1300" dirty="0"/>
          </a:p>
          <a:p>
            <a:pPr marL="0" indent="0" algn="ctr">
              <a:buNone/>
            </a:pPr>
            <a:r>
              <a:rPr lang="en-US" sz="1100" dirty="0">
                <a:solidFill>
                  <a:srgbClr val="14354E"/>
                </a:solidFill>
                <a:latin typeface="Arial" pitchFamily="34" charset="0"/>
                <a:ea typeface="Arial" pitchFamily="34" charset="-122"/>
                <a:cs typeface="Arial" pitchFamily="34" charset="-120"/>
              </a:rPr>
              <a:t>error = T_room − 6 °C</a:t>
            </a:r>
            <a:endParaRPr lang="en-US" sz="1300" dirty="0"/>
          </a:p>
        </p:txBody>
      </p:sp>
      <p:sp>
        <p:nvSpPr>
          <p:cNvPr id="523" name="Shape 24">
            <a:extLst>
              <a:ext uri="{FF2B5EF4-FFF2-40B4-BE49-F238E27FC236}">
                <a16:creationId xmlns:a16="http://schemas.microsoft.com/office/drawing/2014/main" id="{9B6AEC27-67D0-87D7-2D15-217B7BAF6C75}"/>
              </a:ext>
            </a:extLst>
          </p:cNvPr>
          <p:cNvSpPr/>
          <p:nvPr/>
        </p:nvSpPr>
        <p:spPr>
          <a:xfrm>
            <a:off x="5922265" y="5179758"/>
            <a:ext cx="274320" cy="0"/>
          </a:xfrm>
          <a:prstGeom prst="line">
            <a:avLst/>
          </a:prstGeom>
          <a:noFill/>
          <a:ln w="22225">
            <a:solidFill>
              <a:srgbClr val="096AA8"/>
            </a:solidFill>
            <a:prstDash val="solid"/>
            <a:tailEnd type="triangle"/>
          </a:ln>
        </p:spPr>
        <p:txBody>
          <a:bodyPr/>
          <a:lstStyle/>
          <a:p>
            <a:endParaRPr lang="en-US"/>
          </a:p>
        </p:txBody>
      </p:sp>
      <p:sp>
        <p:nvSpPr>
          <p:cNvPr id="525" name="Text 25">
            <a:extLst>
              <a:ext uri="{FF2B5EF4-FFF2-40B4-BE49-F238E27FC236}">
                <a16:creationId xmlns:a16="http://schemas.microsoft.com/office/drawing/2014/main" id="{CDE5416D-28F8-DEA3-78FA-F9BA9C09089C}"/>
              </a:ext>
            </a:extLst>
          </p:cNvPr>
          <p:cNvSpPr/>
          <p:nvPr/>
        </p:nvSpPr>
        <p:spPr>
          <a:xfrm>
            <a:off x="6196585" y="4813998"/>
            <a:ext cx="2103120" cy="731520"/>
          </a:xfrm>
          <a:prstGeom prst="rect">
            <a:avLst/>
          </a:prstGeom>
          <a:solidFill>
            <a:srgbClr val="EDF5FA"/>
          </a:solidFill>
          <a:ln w="19050">
            <a:solidFill>
              <a:srgbClr val="096AA8"/>
            </a:solidFill>
            <a:prstDash val="solid"/>
          </a:ln>
        </p:spPr>
        <p:txBody>
          <a:bodyPr wrap="square" lIns="38100" tIns="38100" rIns="38100" bIns="38100" rtlCol="0" anchor="ctr"/>
          <a:lstStyle/>
          <a:p>
            <a:pPr marL="0" indent="0" algn="ctr">
              <a:buNone/>
            </a:pPr>
            <a:r>
              <a:rPr lang="en-US" sz="1300" b="1" dirty="0">
                <a:solidFill>
                  <a:srgbClr val="14354E"/>
                </a:solidFill>
                <a:latin typeface="Arial" pitchFamily="34" charset="0"/>
                <a:ea typeface="Arial" pitchFamily="34" charset="-122"/>
                <a:cs typeface="Arial" pitchFamily="34" charset="-120"/>
              </a:rPr>
              <a:t>Limit</a:t>
            </a:r>
            <a:endParaRPr lang="en-US" sz="1300" dirty="0"/>
          </a:p>
          <a:p>
            <a:pPr marL="0" indent="0" algn="ctr">
              <a:buNone/>
            </a:pPr>
            <a:r>
              <a:rPr lang="en-US" sz="1100" dirty="0">
                <a:solidFill>
                  <a:srgbClr val="14354E"/>
                </a:solidFill>
                <a:latin typeface="Arial" pitchFamily="34" charset="0"/>
                <a:ea typeface="Arial" pitchFamily="34" charset="-122"/>
                <a:cs typeface="Arial" pitchFamily="34" charset="-120"/>
              </a:rPr>
              <a:t>5 % … 100 % speed</a:t>
            </a:r>
            <a:endParaRPr lang="en-US" sz="1300" dirty="0"/>
          </a:p>
        </p:txBody>
      </p:sp>
      <p:sp>
        <p:nvSpPr>
          <p:cNvPr id="527" name="Shape 26">
            <a:extLst>
              <a:ext uri="{FF2B5EF4-FFF2-40B4-BE49-F238E27FC236}">
                <a16:creationId xmlns:a16="http://schemas.microsoft.com/office/drawing/2014/main" id="{D44705B5-E0F7-FFCF-0545-91B29CA46A1A}"/>
              </a:ext>
            </a:extLst>
          </p:cNvPr>
          <p:cNvSpPr/>
          <p:nvPr/>
        </p:nvSpPr>
        <p:spPr>
          <a:xfrm>
            <a:off x="8299705" y="5179758"/>
            <a:ext cx="274320" cy="0"/>
          </a:xfrm>
          <a:prstGeom prst="line">
            <a:avLst/>
          </a:prstGeom>
          <a:noFill/>
          <a:ln w="22225">
            <a:solidFill>
              <a:srgbClr val="096AA8"/>
            </a:solidFill>
            <a:prstDash val="solid"/>
            <a:tailEnd type="triangle"/>
          </a:ln>
        </p:spPr>
        <p:txBody>
          <a:bodyPr/>
          <a:lstStyle/>
          <a:p>
            <a:endParaRPr lang="en-US"/>
          </a:p>
        </p:txBody>
      </p:sp>
      <p:sp>
        <p:nvSpPr>
          <p:cNvPr id="529" name="Text 27">
            <a:extLst>
              <a:ext uri="{FF2B5EF4-FFF2-40B4-BE49-F238E27FC236}">
                <a16:creationId xmlns:a16="http://schemas.microsoft.com/office/drawing/2014/main" id="{8B7B7857-2F99-FC0F-9A77-C842F4C167F8}"/>
              </a:ext>
            </a:extLst>
          </p:cNvPr>
          <p:cNvSpPr/>
          <p:nvPr/>
        </p:nvSpPr>
        <p:spPr>
          <a:xfrm>
            <a:off x="8574025" y="4813998"/>
            <a:ext cx="2651760" cy="731520"/>
          </a:xfrm>
          <a:prstGeom prst="rect">
            <a:avLst/>
          </a:prstGeom>
          <a:solidFill>
            <a:srgbClr val="D9EFEA"/>
          </a:solidFill>
          <a:ln w="19050">
            <a:solidFill>
              <a:srgbClr val="096AA8"/>
            </a:solidFill>
            <a:prstDash val="solid"/>
          </a:ln>
        </p:spPr>
        <p:txBody>
          <a:bodyPr wrap="square" lIns="38100" tIns="38100" rIns="38100" bIns="38100" rtlCol="0" anchor="ctr"/>
          <a:lstStyle/>
          <a:p>
            <a:pPr marL="0" indent="0" algn="ctr">
              <a:buNone/>
            </a:pPr>
            <a:r>
              <a:rPr lang="en-US" sz="1300" b="1" dirty="0">
                <a:solidFill>
                  <a:srgbClr val="14354E"/>
                </a:solidFill>
                <a:latin typeface="Arial" pitchFamily="34" charset="0"/>
                <a:ea typeface="Arial" pitchFamily="34" charset="-122"/>
                <a:cs typeface="Arial" pitchFamily="34" charset="-120"/>
              </a:rPr>
              <a:t>Fan air flow</a:t>
            </a:r>
            <a:endParaRPr lang="en-US" sz="1300" dirty="0"/>
          </a:p>
        </p:txBody>
      </p:sp>
    </p:spTree>
    <p:extLst>
      <p:ext uri="{BB962C8B-B14F-4D97-AF65-F5344CB8AC3E}">
        <p14:creationId xmlns:p14="http://schemas.microsoft.com/office/powerpoint/2010/main" val="348869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8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8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8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8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8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9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9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9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0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1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1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1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2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52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52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527"/>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31" grpId="0" animBg="1"/>
      <p:bldP spid="481" grpId="0" animBg="1"/>
      <p:bldP spid="483" grpId="0" animBg="1"/>
      <p:bldP spid="485" grpId="0" animBg="1"/>
      <p:bldP spid="487" grpId="0" animBg="1"/>
      <p:bldP spid="489" grpId="0" animBg="1"/>
      <p:bldP spid="491" grpId="0" animBg="1"/>
      <p:bldP spid="493" grpId="0" animBg="1"/>
      <p:bldP spid="498" grpId="0" animBg="1"/>
      <p:bldP spid="500" grpId="0" animBg="1"/>
      <p:bldP spid="502" grpId="0" animBg="1"/>
      <p:bldP spid="507" grpId="0" animBg="1"/>
      <p:bldP spid="509" grpId="0" animBg="1"/>
      <p:bldP spid="511" grpId="0" animBg="1"/>
      <p:bldP spid="513" grpId="0" animBg="1"/>
      <p:bldP spid="515" grpId="0" animBg="1"/>
      <p:bldP spid="517" grpId="0" animBg="1"/>
      <p:bldP spid="519" grpId="0" animBg="1"/>
      <p:bldP spid="521" grpId="0" animBg="1"/>
      <p:bldP spid="523" grpId="0" animBg="1"/>
      <p:bldP spid="525" grpId="0" animBg="1"/>
      <p:bldP spid="527" grpId="0" animBg="1"/>
      <p:bldP spid="52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94">
          <a:extLst>
            <a:ext uri="{FF2B5EF4-FFF2-40B4-BE49-F238E27FC236}">
              <a16:creationId xmlns:a16="http://schemas.microsoft.com/office/drawing/2014/main" id="{0E7EA053-E395-66FB-4563-F602B1B40A79}"/>
            </a:ext>
          </a:extLst>
        </p:cNvPr>
        <p:cNvGrpSpPr/>
        <p:nvPr/>
      </p:nvGrpSpPr>
      <p:grpSpPr>
        <a:xfrm>
          <a:off x="0" y="0"/>
          <a:ext cx="0" cy="0"/>
          <a:chOff x="0" y="0"/>
          <a:chExt cx="0" cy="0"/>
        </a:xfrm>
      </p:grpSpPr>
      <p:pic>
        <p:nvPicPr>
          <p:cNvPr id="495" name="Google Shape;495;p45" descr="Une image contenant ciel, plein air, nuage, agriculture&#10;&#10;Description générée automatiquement">
            <a:extLst>
              <a:ext uri="{FF2B5EF4-FFF2-40B4-BE49-F238E27FC236}">
                <a16:creationId xmlns:a16="http://schemas.microsoft.com/office/drawing/2014/main" id="{DCAEA339-7C20-1EF8-EA11-9B034F22866A}"/>
              </a:ext>
            </a:extLst>
          </p:cNvPr>
          <p:cNvPicPr preferRelativeResize="0"/>
          <p:nvPr/>
        </p:nvPicPr>
        <p:blipFill rotWithShape="1">
          <a:blip r:embed="rId3">
            <a:alphaModFix/>
          </a:blip>
          <a:srcRect l="5973" t="9105" b="15903"/>
          <a:stretch/>
        </p:blipFill>
        <p:spPr>
          <a:xfrm>
            <a:off x="719138" y="0"/>
            <a:ext cx="11472863" cy="6858000"/>
          </a:xfrm>
          <a:prstGeom prst="rect">
            <a:avLst/>
          </a:prstGeom>
          <a:noFill/>
          <a:ln>
            <a:noFill/>
          </a:ln>
        </p:spPr>
      </p:pic>
      <p:sp>
        <p:nvSpPr>
          <p:cNvPr id="496" name="Google Shape;496;p45">
            <a:extLst>
              <a:ext uri="{FF2B5EF4-FFF2-40B4-BE49-F238E27FC236}">
                <a16:creationId xmlns:a16="http://schemas.microsoft.com/office/drawing/2014/main" id="{D43234CA-5404-DA92-580C-BAA32B037DD3}"/>
              </a:ext>
            </a:extLst>
          </p:cNvPr>
          <p:cNvSpPr/>
          <p:nvPr/>
        </p:nvSpPr>
        <p:spPr>
          <a:xfrm>
            <a:off x="664273" y="0"/>
            <a:ext cx="11527727" cy="6858000"/>
          </a:xfrm>
          <a:prstGeom prst="rect">
            <a:avLst/>
          </a:prstGeom>
          <a:solidFill>
            <a:schemeClr val="lt1">
              <a:alpha val="93725"/>
            </a:schemeClr>
          </a:solidFill>
          <a:ln>
            <a:noFill/>
          </a:ln>
          <a:effectLst>
            <a:outerShdw blurRad="876300" dist="393700" dir="5400000" algn="t" rotWithShape="0">
              <a:srgbClr val="000000">
                <a:alpha val="784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dirty="0">
              <a:solidFill>
                <a:srgbClr val="FF0000"/>
              </a:solidFill>
              <a:latin typeface="Calibri"/>
              <a:ea typeface="Calibri"/>
              <a:cs typeface="Calibri"/>
              <a:sym typeface="Calibri"/>
            </a:endParaRPr>
          </a:p>
        </p:txBody>
      </p:sp>
      <p:sp>
        <p:nvSpPr>
          <p:cNvPr id="497" name="Google Shape;497;p45">
            <a:extLst>
              <a:ext uri="{FF2B5EF4-FFF2-40B4-BE49-F238E27FC236}">
                <a16:creationId xmlns:a16="http://schemas.microsoft.com/office/drawing/2014/main" id="{2E5D79F8-4E10-CA24-53D2-769E040F8AE4}"/>
              </a:ext>
            </a:extLst>
          </p:cNvPr>
          <p:cNvSpPr txBox="1"/>
          <p:nvPr/>
        </p:nvSpPr>
        <p:spPr>
          <a:xfrm rot="-5400000">
            <a:off x="-797364" y="5204656"/>
            <a:ext cx="2251455" cy="38856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lt1"/>
                </a:solidFill>
                <a:latin typeface="Nunito Sans SemiBold"/>
                <a:ea typeface="Nunito Sans SemiBold"/>
                <a:cs typeface="Nunito Sans SemiBold"/>
                <a:sym typeface="Nunito Sans SemiBold"/>
              </a:rPr>
              <a:t>AGRICOOL</a:t>
            </a:r>
            <a:endParaRPr sz="1400" b="0" i="0" u="none" strike="noStrike" cap="none">
              <a:solidFill>
                <a:srgbClr val="000000"/>
              </a:solidFill>
              <a:latin typeface="Arial"/>
              <a:ea typeface="Arial"/>
              <a:cs typeface="Arial"/>
              <a:sym typeface="Arial"/>
            </a:endParaRPr>
          </a:p>
        </p:txBody>
      </p:sp>
      <p:pic>
        <p:nvPicPr>
          <p:cNvPr id="503" name="Google Shape;503;p45" descr="Une image contenant capture d’écran, Bleu électrique, Police, Bleu Majorelle&#10;&#10;Description générée automatiquement">
            <a:extLst>
              <a:ext uri="{FF2B5EF4-FFF2-40B4-BE49-F238E27FC236}">
                <a16:creationId xmlns:a16="http://schemas.microsoft.com/office/drawing/2014/main" id="{BB8C0781-2E60-5A16-1DFC-7B63958358A0}"/>
              </a:ext>
            </a:extLst>
          </p:cNvPr>
          <p:cNvPicPr preferRelativeResize="0"/>
          <p:nvPr/>
        </p:nvPicPr>
        <p:blipFill rotWithShape="1">
          <a:blip r:embed="rId4">
            <a:alphaModFix/>
          </a:blip>
          <a:srcRect/>
          <a:stretch/>
        </p:blipFill>
        <p:spPr>
          <a:xfrm>
            <a:off x="659183" y="6441981"/>
            <a:ext cx="1729633" cy="384363"/>
          </a:xfrm>
          <a:prstGeom prst="rect">
            <a:avLst/>
          </a:prstGeom>
          <a:noFill/>
          <a:ln>
            <a:noFill/>
          </a:ln>
        </p:spPr>
      </p:pic>
      <p:sp>
        <p:nvSpPr>
          <p:cNvPr id="504" name="Google Shape;504;p45">
            <a:extLst>
              <a:ext uri="{FF2B5EF4-FFF2-40B4-BE49-F238E27FC236}">
                <a16:creationId xmlns:a16="http://schemas.microsoft.com/office/drawing/2014/main" id="{3DDBDF50-330B-E7B6-EF77-646682C4E40F}"/>
              </a:ext>
            </a:extLst>
          </p:cNvPr>
          <p:cNvSpPr txBox="1">
            <a:spLocks noGrp="1"/>
          </p:cNvSpPr>
          <p:nvPr>
            <p:ph type="dt" idx="10"/>
          </p:nvPr>
        </p:nvSpPr>
        <p:spPr>
          <a:xfrm>
            <a:off x="9332517" y="64262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en-GB" dirty="0"/>
              <a:t>13 September 2026</a:t>
            </a:r>
            <a:endParaRPr dirty="0"/>
          </a:p>
        </p:txBody>
      </p:sp>
      <p:sp>
        <p:nvSpPr>
          <p:cNvPr id="505" name="Google Shape;505;p45">
            <a:extLst>
              <a:ext uri="{FF2B5EF4-FFF2-40B4-BE49-F238E27FC236}">
                <a16:creationId xmlns:a16="http://schemas.microsoft.com/office/drawing/2014/main" id="{7D41B1D0-F3CE-505C-1D0B-BA290448C3BB}"/>
              </a:ext>
            </a:extLst>
          </p:cNvPr>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200"/>
              <a:buNone/>
            </a:pPr>
            <a:fld id="{00000000-1234-1234-1234-123412341234}" type="slidenum">
              <a:rPr lang="en-GB"/>
              <a:t>25</a:t>
            </a:fld>
            <a:endParaRPr dirty="0"/>
          </a:p>
        </p:txBody>
      </p:sp>
      <p:sp>
        <p:nvSpPr>
          <p:cNvPr id="5" name="Title">
            <a:extLst>
              <a:ext uri="{FF2B5EF4-FFF2-40B4-BE49-F238E27FC236}">
                <a16:creationId xmlns:a16="http://schemas.microsoft.com/office/drawing/2014/main" id="{ADB9A600-33DF-D8F2-E9AD-0FEA17298707}"/>
              </a:ext>
            </a:extLst>
          </p:cNvPr>
          <p:cNvSpPr>
            <a:spLocks noGrp="1"/>
          </p:cNvSpPr>
          <p:nvPr/>
        </p:nvSpPr>
        <p:spPr>
          <a:xfrm>
            <a:off x="1207017" y="2790877"/>
            <a:ext cx="9806424" cy="1097811"/>
          </a:xfrm>
          <a:prstGeom prst="rect">
            <a:avLst/>
          </a:prstGeom>
          <a:noFill/>
          <a:ln w="0">
            <a:noFill/>
          </a:ln>
        </p:spPr>
        <p:txBody>
          <a:bodyPr lIns="0" tIns="0" rIns="0" bIns="0" anchor="ctr">
            <a:noAutofit/>
          </a:bodyPr>
          <a:lstStyle/>
          <a:p>
            <a:pPr algn="l">
              <a:defRPr sz="3300" b="1">
                <a:solidFill>
                  <a:srgbClr val="14354E"/>
                </a:solidFill>
                <a:latin typeface="Bitstream Charter"/>
                <a:ea typeface="Bitstream Charter"/>
                <a:cs typeface="Bitstream Charter"/>
              </a:defRPr>
            </a:pPr>
            <a:r>
              <a:rPr lang="en-US" sz="4400" b="1" dirty="0">
                <a:solidFill>
                  <a:srgbClr val="30A4CF"/>
                </a:solidFill>
                <a:latin typeface="Nunito"/>
              </a:rPr>
              <a:t>Modelica Package Structure</a:t>
            </a:r>
          </a:p>
        </p:txBody>
      </p:sp>
    </p:spTree>
    <p:extLst>
      <p:ext uri="{BB962C8B-B14F-4D97-AF65-F5344CB8AC3E}">
        <p14:creationId xmlns:p14="http://schemas.microsoft.com/office/powerpoint/2010/main" val="16422898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94">
          <a:extLst>
            <a:ext uri="{FF2B5EF4-FFF2-40B4-BE49-F238E27FC236}">
              <a16:creationId xmlns:a16="http://schemas.microsoft.com/office/drawing/2014/main" id="{4A6FCB51-E100-E783-CA09-8FBC25ECFB79}"/>
            </a:ext>
          </a:extLst>
        </p:cNvPr>
        <p:cNvGrpSpPr/>
        <p:nvPr/>
      </p:nvGrpSpPr>
      <p:grpSpPr>
        <a:xfrm>
          <a:off x="0" y="0"/>
          <a:ext cx="0" cy="0"/>
          <a:chOff x="0" y="0"/>
          <a:chExt cx="0" cy="0"/>
        </a:xfrm>
      </p:grpSpPr>
      <p:pic>
        <p:nvPicPr>
          <p:cNvPr id="495" name="Google Shape;495;p45" descr="Une image contenant ciel, plein air, nuage, agriculture&#10;&#10;Description générée automatiquement">
            <a:extLst>
              <a:ext uri="{FF2B5EF4-FFF2-40B4-BE49-F238E27FC236}">
                <a16:creationId xmlns:a16="http://schemas.microsoft.com/office/drawing/2014/main" id="{1BE68613-B00B-CBEE-9555-94424CCB17AC}"/>
              </a:ext>
            </a:extLst>
          </p:cNvPr>
          <p:cNvPicPr preferRelativeResize="0"/>
          <p:nvPr/>
        </p:nvPicPr>
        <p:blipFill rotWithShape="1">
          <a:blip r:embed="rId3">
            <a:alphaModFix/>
          </a:blip>
          <a:srcRect l="5973" t="9105" b="15903"/>
          <a:stretch/>
        </p:blipFill>
        <p:spPr>
          <a:xfrm>
            <a:off x="719138" y="0"/>
            <a:ext cx="11472863" cy="6858000"/>
          </a:xfrm>
          <a:prstGeom prst="rect">
            <a:avLst/>
          </a:prstGeom>
          <a:noFill/>
          <a:ln>
            <a:noFill/>
          </a:ln>
        </p:spPr>
      </p:pic>
      <p:sp>
        <p:nvSpPr>
          <p:cNvPr id="496" name="Google Shape;496;p45">
            <a:extLst>
              <a:ext uri="{FF2B5EF4-FFF2-40B4-BE49-F238E27FC236}">
                <a16:creationId xmlns:a16="http://schemas.microsoft.com/office/drawing/2014/main" id="{76744DAC-3933-80A9-F44A-B61B1EA8D550}"/>
              </a:ext>
            </a:extLst>
          </p:cNvPr>
          <p:cNvSpPr/>
          <p:nvPr/>
        </p:nvSpPr>
        <p:spPr>
          <a:xfrm>
            <a:off x="664273" y="0"/>
            <a:ext cx="11527727" cy="6858000"/>
          </a:xfrm>
          <a:prstGeom prst="rect">
            <a:avLst/>
          </a:prstGeom>
          <a:solidFill>
            <a:schemeClr val="lt1">
              <a:alpha val="93725"/>
            </a:schemeClr>
          </a:solidFill>
          <a:ln>
            <a:noFill/>
          </a:ln>
          <a:effectLst>
            <a:outerShdw blurRad="876300" dist="393700" dir="5400000" algn="t" rotWithShape="0">
              <a:srgbClr val="000000">
                <a:alpha val="784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dirty="0">
              <a:solidFill>
                <a:srgbClr val="FF0000"/>
              </a:solidFill>
              <a:latin typeface="Calibri"/>
              <a:ea typeface="Calibri"/>
              <a:cs typeface="Calibri"/>
              <a:sym typeface="Calibri"/>
            </a:endParaRPr>
          </a:p>
        </p:txBody>
      </p:sp>
      <p:sp>
        <p:nvSpPr>
          <p:cNvPr id="497" name="Google Shape;497;p45">
            <a:extLst>
              <a:ext uri="{FF2B5EF4-FFF2-40B4-BE49-F238E27FC236}">
                <a16:creationId xmlns:a16="http://schemas.microsoft.com/office/drawing/2014/main" id="{C43A9C62-44C1-8686-3D69-1646E64E50E6}"/>
              </a:ext>
            </a:extLst>
          </p:cNvPr>
          <p:cNvSpPr txBox="1"/>
          <p:nvPr/>
        </p:nvSpPr>
        <p:spPr>
          <a:xfrm rot="-5400000">
            <a:off x="-797364" y="5204656"/>
            <a:ext cx="2251455" cy="38856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lt1"/>
                </a:solidFill>
                <a:latin typeface="Nunito Sans SemiBold"/>
                <a:ea typeface="Nunito Sans SemiBold"/>
                <a:cs typeface="Nunito Sans SemiBold"/>
                <a:sym typeface="Nunito Sans SemiBold"/>
              </a:rPr>
              <a:t>AGRICOOL</a:t>
            </a:r>
            <a:endParaRPr sz="1400" b="0" i="0" u="none" strike="noStrike" cap="none">
              <a:solidFill>
                <a:srgbClr val="000000"/>
              </a:solidFill>
              <a:latin typeface="Arial"/>
              <a:ea typeface="Arial"/>
              <a:cs typeface="Arial"/>
              <a:sym typeface="Arial"/>
            </a:endParaRPr>
          </a:p>
        </p:txBody>
      </p:sp>
      <p:pic>
        <p:nvPicPr>
          <p:cNvPr id="503" name="Google Shape;503;p45" descr="Une image contenant capture d’écran, Bleu électrique, Police, Bleu Majorelle&#10;&#10;Description générée automatiquement">
            <a:extLst>
              <a:ext uri="{FF2B5EF4-FFF2-40B4-BE49-F238E27FC236}">
                <a16:creationId xmlns:a16="http://schemas.microsoft.com/office/drawing/2014/main" id="{C681F2E7-93BE-7195-0784-9AABD795C232}"/>
              </a:ext>
            </a:extLst>
          </p:cNvPr>
          <p:cNvPicPr preferRelativeResize="0"/>
          <p:nvPr/>
        </p:nvPicPr>
        <p:blipFill rotWithShape="1">
          <a:blip r:embed="rId4">
            <a:alphaModFix/>
          </a:blip>
          <a:srcRect/>
          <a:stretch/>
        </p:blipFill>
        <p:spPr>
          <a:xfrm>
            <a:off x="659183" y="6441981"/>
            <a:ext cx="1729633" cy="384363"/>
          </a:xfrm>
          <a:prstGeom prst="rect">
            <a:avLst/>
          </a:prstGeom>
          <a:noFill/>
          <a:ln>
            <a:noFill/>
          </a:ln>
        </p:spPr>
      </p:pic>
      <p:sp>
        <p:nvSpPr>
          <p:cNvPr id="504" name="Google Shape;504;p45">
            <a:extLst>
              <a:ext uri="{FF2B5EF4-FFF2-40B4-BE49-F238E27FC236}">
                <a16:creationId xmlns:a16="http://schemas.microsoft.com/office/drawing/2014/main" id="{C393DF5B-9C42-D6B7-E5F8-5DFF0FA4CBD3}"/>
              </a:ext>
            </a:extLst>
          </p:cNvPr>
          <p:cNvSpPr txBox="1">
            <a:spLocks noGrp="1"/>
          </p:cNvSpPr>
          <p:nvPr>
            <p:ph type="dt" idx="10"/>
          </p:nvPr>
        </p:nvSpPr>
        <p:spPr>
          <a:xfrm>
            <a:off x="9332517" y="64262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en-GB" dirty="0"/>
              <a:t>13 September 2026</a:t>
            </a:r>
            <a:endParaRPr dirty="0"/>
          </a:p>
        </p:txBody>
      </p:sp>
      <p:sp>
        <p:nvSpPr>
          <p:cNvPr id="505" name="Google Shape;505;p45">
            <a:extLst>
              <a:ext uri="{FF2B5EF4-FFF2-40B4-BE49-F238E27FC236}">
                <a16:creationId xmlns:a16="http://schemas.microsoft.com/office/drawing/2014/main" id="{16934D32-82EC-1506-64F9-E47101A87CFF}"/>
              </a:ext>
            </a:extLst>
          </p:cNvPr>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200"/>
              <a:buNone/>
            </a:pPr>
            <a:fld id="{00000000-1234-1234-1234-123412341234}" type="slidenum">
              <a:rPr lang="en-GB"/>
              <a:t>26</a:t>
            </a:fld>
            <a:endParaRPr/>
          </a:p>
        </p:txBody>
      </p:sp>
      <p:sp>
        <p:nvSpPr>
          <p:cNvPr id="17" name="Title">
            <a:extLst>
              <a:ext uri="{FF2B5EF4-FFF2-40B4-BE49-F238E27FC236}">
                <a16:creationId xmlns:a16="http://schemas.microsoft.com/office/drawing/2014/main" id="{9B9ABCEF-9679-68D6-444E-0E03A0DE7857}"/>
              </a:ext>
            </a:extLst>
          </p:cNvPr>
          <p:cNvSpPr>
            <a:spLocks noGrp="1"/>
          </p:cNvSpPr>
          <p:nvPr/>
        </p:nvSpPr>
        <p:spPr>
          <a:xfrm>
            <a:off x="902209" y="333375"/>
            <a:ext cx="10972800" cy="638175"/>
          </a:xfrm>
          <a:prstGeom prst="rect">
            <a:avLst/>
          </a:prstGeom>
          <a:noFill/>
          <a:ln w="0">
            <a:noFill/>
          </a:ln>
        </p:spPr>
        <p:txBody>
          <a:bodyPr lIns="0" tIns="0" rIns="0" bIns="0" anchor="ctr">
            <a:noAutofit/>
          </a:bodyPr>
          <a:lstStyle/>
          <a:p>
            <a:pPr algn="l">
              <a:defRPr sz="3300" b="1">
                <a:solidFill>
                  <a:srgbClr val="14354E"/>
                </a:solidFill>
                <a:latin typeface="Bitstream Charter"/>
                <a:ea typeface="Bitstream Charter"/>
                <a:cs typeface="Bitstream Charter"/>
              </a:defRPr>
            </a:pPr>
            <a:r>
              <a:rPr lang="en-US" sz="4400" b="1" dirty="0">
                <a:solidFill>
                  <a:srgbClr val="30A4CF"/>
                </a:solidFill>
                <a:latin typeface="Nunito"/>
              </a:rPr>
              <a:t>AGRI-COOL Modelica Model on Git Hub</a:t>
            </a:r>
          </a:p>
        </p:txBody>
      </p:sp>
      <p:pic>
        <p:nvPicPr>
          <p:cNvPr id="20" name="Picture 19">
            <a:extLst>
              <a:ext uri="{FF2B5EF4-FFF2-40B4-BE49-F238E27FC236}">
                <a16:creationId xmlns:a16="http://schemas.microsoft.com/office/drawing/2014/main" id="{67D76770-0E1B-E3D3-A1AC-BB14B313C225}"/>
              </a:ext>
            </a:extLst>
          </p:cNvPr>
          <p:cNvPicPr>
            <a:picLocks noChangeAspect="1"/>
          </p:cNvPicPr>
          <p:nvPr/>
        </p:nvPicPr>
        <p:blipFill>
          <a:blip r:embed="rId5"/>
          <a:stretch>
            <a:fillRect/>
          </a:stretch>
        </p:blipFill>
        <p:spPr>
          <a:xfrm>
            <a:off x="902209" y="1095036"/>
            <a:ext cx="1622764" cy="1622764"/>
          </a:xfrm>
          <a:prstGeom prst="rect">
            <a:avLst/>
          </a:prstGeom>
        </p:spPr>
      </p:pic>
      <p:sp>
        <p:nvSpPr>
          <p:cNvPr id="31" name="Control note">
            <a:extLst>
              <a:ext uri="{FF2B5EF4-FFF2-40B4-BE49-F238E27FC236}">
                <a16:creationId xmlns:a16="http://schemas.microsoft.com/office/drawing/2014/main" id="{CA323109-DEB8-7F83-08F1-7C839188DBC2}"/>
              </a:ext>
            </a:extLst>
          </p:cNvPr>
          <p:cNvSpPr>
            <a:spLocks noGrp="1"/>
          </p:cNvSpPr>
          <p:nvPr/>
        </p:nvSpPr>
        <p:spPr>
          <a:xfrm>
            <a:off x="984158" y="2690520"/>
            <a:ext cx="1458866" cy="301531"/>
          </a:xfrm>
          <a:prstGeom prst="rect">
            <a:avLst/>
          </a:prstGeom>
          <a:noFill/>
          <a:ln w="0">
            <a:noFill/>
          </a:ln>
        </p:spPr>
        <p:txBody>
          <a:bodyPr lIns="0" tIns="0" rIns="0" bIns="0" anchor="ctr">
            <a:noAutofit/>
          </a:bodyPr>
          <a:lstStyle/>
          <a:p>
            <a:pPr algn="l">
              <a:defRPr sz="1725" b="0">
                <a:solidFill>
                  <a:srgbClr val="456174"/>
                </a:solidFill>
                <a:latin typeface="Bitstream Charter"/>
                <a:ea typeface="Bitstream Charter"/>
                <a:cs typeface="Bitstream Charter"/>
              </a:defRPr>
            </a:pPr>
            <a:r>
              <a:rPr lang="en-US" sz="1725" dirty="0">
                <a:solidFill>
                  <a:srgbClr val="456174"/>
                </a:solidFill>
                <a:latin typeface="Arial" panose="020B0604020202020204" pitchFamily="34" charset="0"/>
                <a:ea typeface="Bitstream Charter"/>
                <a:cs typeface="Arial" panose="020B0604020202020204" pitchFamily="34" charset="0"/>
              </a:rPr>
              <a:t>Scan to clone.</a:t>
            </a:r>
            <a:endParaRPr sz="1725" b="0" dirty="0">
              <a:solidFill>
                <a:srgbClr val="456174"/>
              </a:solidFill>
              <a:latin typeface="Arial" panose="020B0604020202020204" pitchFamily="34" charset="0"/>
              <a:ea typeface="Bitstream Charter"/>
              <a:cs typeface="Arial" panose="020B0604020202020204" pitchFamily="34" charset="0"/>
            </a:endParaRPr>
          </a:p>
        </p:txBody>
      </p:sp>
      <p:grpSp>
        <p:nvGrpSpPr>
          <p:cNvPr id="6" name="Group 5">
            <a:extLst>
              <a:ext uri="{FF2B5EF4-FFF2-40B4-BE49-F238E27FC236}">
                <a16:creationId xmlns:a16="http://schemas.microsoft.com/office/drawing/2014/main" id="{9F399740-9863-FB64-AF77-6C8799952B5C}"/>
              </a:ext>
            </a:extLst>
          </p:cNvPr>
          <p:cNvGrpSpPr/>
          <p:nvPr/>
        </p:nvGrpSpPr>
        <p:grpSpPr>
          <a:xfrm>
            <a:off x="3665187" y="845026"/>
            <a:ext cx="7468548" cy="5876451"/>
            <a:chOff x="4607170" y="925612"/>
            <a:chExt cx="7468548" cy="5876451"/>
          </a:xfrm>
        </p:grpSpPr>
        <p:pic>
          <p:nvPicPr>
            <p:cNvPr id="5" name="Picture 4">
              <a:extLst>
                <a:ext uri="{FF2B5EF4-FFF2-40B4-BE49-F238E27FC236}">
                  <a16:creationId xmlns:a16="http://schemas.microsoft.com/office/drawing/2014/main" id="{2503E860-52B1-5034-1231-0A115795C90C}"/>
                </a:ext>
              </a:extLst>
            </p:cNvPr>
            <p:cNvPicPr>
              <a:picLocks noChangeAspect="1"/>
            </p:cNvPicPr>
            <p:nvPr/>
          </p:nvPicPr>
          <p:blipFill>
            <a:blip r:embed="rId6"/>
            <a:stretch>
              <a:fillRect/>
            </a:stretch>
          </p:blipFill>
          <p:spPr>
            <a:xfrm>
              <a:off x="4607170" y="925612"/>
              <a:ext cx="7468548" cy="5876451"/>
            </a:xfrm>
            <a:prstGeom prst="rect">
              <a:avLst/>
            </a:prstGeom>
          </p:spPr>
        </p:pic>
        <p:sp>
          <p:nvSpPr>
            <p:cNvPr id="2" name="Rectangle 1">
              <a:extLst>
                <a:ext uri="{FF2B5EF4-FFF2-40B4-BE49-F238E27FC236}">
                  <a16:creationId xmlns:a16="http://schemas.microsoft.com/office/drawing/2014/main" id="{D1120405-8BFE-B0E1-9A69-C41A75BEA8A4}"/>
                </a:ext>
              </a:extLst>
            </p:cNvPr>
            <p:cNvSpPr/>
            <p:nvPr/>
          </p:nvSpPr>
          <p:spPr>
            <a:xfrm>
              <a:off x="4846451" y="1728699"/>
              <a:ext cx="916607" cy="828675"/>
            </a:xfrm>
            <a:prstGeom prst="rect">
              <a:avLst/>
            </a:pr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Picture 7">
            <a:extLst>
              <a:ext uri="{FF2B5EF4-FFF2-40B4-BE49-F238E27FC236}">
                <a16:creationId xmlns:a16="http://schemas.microsoft.com/office/drawing/2014/main" id="{A7CBC86C-02CC-6D9C-A795-8FAF9644E458}"/>
              </a:ext>
            </a:extLst>
          </p:cNvPr>
          <p:cNvPicPr>
            <a:picLocks noChangeAspect="1"/>
          </p:cNvPicPr>
          <p:nvPr/>
        </p:nvPicPr>
        <p:blipFill>
          <a:blip r:embed="rId7"/>
          <a:srcRect b="6577"/>
          <a:stretch>
            <a:fillRect/>
          </a:stretch>
        </p:blipFill>
        <p:spPr>
          <a:xfrm>
            <a:off x="902209" y="3333954"/>
            <a:ext cx="2529877" cy="2933972"/>
          </a:xfrm>
          <a:prstGeom prst="rect">
            <a:avLst/>
          </a:prstGeom>
        </p:spPr>
      </p:pic>
    </p:spTree>
    <p:extLst>
      <p:ext uri="{BB962C8B-B14F-4D97-AF65-F5344CB8AC3E}">
        <p14:creationId xmlns:p14="http://schemas.microsoft.com/office/powerpoint/2010/main" val="19801351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94">
          <a:extLst>
            <a:ext uri="{FF2B5EF4-FFF2-40B4-BE49-F238E27FC236}">
              <a16:creationId xmlns:a16="http://schemas.microsoft.com/office/drawing/2014/main" id="{9825A99F-74A5-9E81-DDD0-88CD6ED22B6E}"/>
            </a:ext>
          </a:extLst>
        </p:cNvPr>
        <p:cNvGrpSpPr/>
        <p:nvPr/>
      </p:nvGrpSpPr>
      <p:grpSpPr>
        <a:xfrm>
          <a:off x="0" y="0"/>
          <a:ext cx="0" cy="0"/>
          <a:chOff x="0" y="0"/>
          <a:chExt cx="0" cy="0"/>
        </a:xfrm>
      </p:grpSpPr>
      <p:pic>
        <p:nvPicPr>
          <p:cNvPr id="495" name="Google Shape;495;p45" descr="Une image contenant ciel, plein air, nuage, agriculture&#10;&#10;Description générée automatiquement">
            <a:extLst>
              <a:ext uri="{FF2B5EF4-FFF2-40B4-BE49-F238E27FC236}">
                <a16:creationId xmlns:a16="http://schemas.microsoft.com/office/drawing/2014/main" id="{D4CEA7FE-C17C-198A-C059-8B4C4D9917A6}"/>
              </a:ext>
            </a:extLst>
          </p:cNvPr>
          <p:cNvPicPr preferRelativeResize="0"/>
          <p:nvPr/>
        </p:nvPicPr>
        <p:blipFill rotWithShape="1">
          <a:blip r:embed="rId3">
            <a:alphaModFix/>
          </a:blip>
          <a:srcRect l="5973" t="9105" b="15903"/>
          <a:stretch/>
        </p:blipFill>
        <p:spPr>
          <a:xfrm>
            <a:off x="719138" y="0"/>
            <a:ext cx="11472863" cy="6858000"/>
          </a:xfrm>
          <a:prstGeom prst="rect">
            <a:avLst/>
          </a:prstGeom>
          <a:noFill/>
          <a:ln>
            <a:noFill/>
          </a:ln>
        </p:spPr>
      </p:pic>
      <p:sp>
        <p:nvSpPr>
          <p:cNvPr id="496" name="Google Shape;496;p45">
            <a:extLst>
              <a:ext uri="{FF2B5EF4-FFF2-40B4-BE49-F238E27FC236}">
                <a16:creationId xmlns:a16="http://schemas.microsoft.com/office/drawing/2014/main" id="{F043D181-2E32-A4A7-5A60-0CB1707AD609}"/>
              </a:ext>
            </a:extLst>
          </p:cNvPr>
          <p:cNvSpPr/>
          <p:nvPr/>
        </p:nvSpPr>
        <p:spPr>
          <a:xfrm>
            <a:off x="664273" y="0"/>
            <a:ext cx="11527727" cy="6858000"/>
          </a:xfrm>
          <a:prstGeom prst="rect">
            <a:avLst/>
          </a:prstGeom>
          <a:solidFill>
            <a:schemeClr val="lt1">
              <a:alpha val="93725"/>
            </a:schemeClr>
          </a:solidFill>
          <a:ln>
            <a:noFill/>
          </a:ln>
          <a:effectLst>
            <a:outerShdw blurRad="876300" dist="393700" dir="5400000" algn="t" rotWithShape="0">
              <a:srgbClr val="000000">
                <a:alpha val="784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dirty="0">
              <a:solidFill>
                <a:srgbClr val="FF0000"/>
              </a:solidFill>
              <a:latin typeface="Calibri"/>
              <a:ea typeface="Calibri"/>
              <a:cs typeface="Calibri"/>
              <a:sym typeface="Calibri"/>
            </a:endParaRPr>
          </a:p>
        </p:txBody>
      </p:sp>
      <p:sp>
        <p:nvSpPr>
          <p:cNvPr id="497" name="Google Shape;497;p45">
            <a:extLst>
              <a:ext uri="{FF2B5EF4-FFF2-40B4-BE49-F238E27FC236}">
                <a16:creationId xmlns:a16="http://schemas.microsoft.com/office/drawing/2014/main" id="{2C23CBCE-A3E5-AB52-2AC4-EC421CB95330}"/>
              </a:ext>
            </a:extLst>
          </p:cNvPr>
          <p:cNvSpPr txBox="1"/>
          <p:nvPr/>
        </p:nvSpPr>
        <p:spPr>
          <a:xfrm rot="-5400000">
            <a:off x="-797364" y="5204656"/>
            <a:ext cx="2251455" cy="38856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lt1"/>
                </a:solidFill>
                <a:latin typeface="Nunito Sans SemiBold"/>
                <a:ea typeface="Nunito Sans SemiBold"/>
                <a:cs typeface="Nunito Sans SemiBold"/>
                <a:sym typeface="Nunito Sans SemiBold"/>
              </a:rPr>
              <a:t>AGRICOOL</a:t>
            </a:r>
            <a:endParaRPr sz="1400" b="0" i="0" u="none" strike="noStrike" cap="none">
              <a:solidFill>
                <a:srgbClr val="000000"/>
              </a:solidFill>
              <a:latin typeface="Arial"/>
              <a:ea typeface="Arial"/>
              <a:cs typeface="Arial"/>
              <a:sym typeface="Arial"/>
            </a:endParaRPr>
          </a:p>
        </p:txBody>
      </p:sp>
      <p:pic>
        <p:nvPicPr>
          <p:cNvPr id="503" name="Google Shape;503;p45" descr="Une image contenant capture d’écran, Bleu électrique, Police, Bleu Majorelle&#10;&#10;Description générée automatiquement">
            <a:extLst>
              <a:ext uri="{FF2B5EF4-FFF2-40B4-BE49-F238E27FC236}">
                <a16:creationId xmlns:a16="http://schemas.microsoft.com/office/drawing/2014/main" id="{5CE48200-CCFF-3BB1-D8B8-D3C702831227}"/>
              </a:ext>
            </a:extLst>
          </p:cNvPr>
          <p:cNvPicPr preferRelativeResize="0"/>
          <p:nvPr/>
        </p:nvPicPr>
        <p:blipFill rotWithShape="1">
          <a:blip r:embed="rId4">
            <a:alphaModFix/>
          </a:blip>
          <a:srcRect/>
          <a:stretch/>
        </p:blipFill>
        <p:spPr>
          <a:xfrm>
            <a:off x="659183" y="6441981"/>
            <a:ext cx="1729633" cy="384363"/>
          </a:xfrm>
          <a:prstGeom prst="rect">
            <a:avLst/>
          </a:prstGeom>
          <a:noFill/>
          <a:ln>
            <a:noFill/>
          </a:ln>
        </p:spPr>
      </p:pic>
      <p:sp>
        <p:nvSpPr>
          <p:cNvPr id="504" name="Google Shape;504;p45">
            <a:extLst>
              <a:ext uri="{FF2B5EF4-FFF2-40B4-BE49-F238E27FC236}">
                <a16:creationId xmlns:a16="http://schemas.microsoft.com/office/drawing/2014/main" id="{C5FA1D00-2C0E-D6D9-4CDD-695F73B6F833}"/>
              </a:ext>
            </a:extLst>
          </p:cNvPr>
          <p:cNvSpPr txBox="1">
            <a:spLocks noGrp="1"/>
          </p:cNvSpPr>
          <p:nvPr>
            <p:ph type="dt" idx="10"/>
          </p:nvPr>
        </p:nvSpPr>
        <p:spPr>
          <a:xfrm>
            <a:off x="9332517" y="64262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en-GB" dirty="0"/>
              <a:t>13 September 2026</a:t>
            </a:r>
            <a:endParaRPr dirty="0"/>
          </a:p>
        </p:txBody>
      </p:sp>
      <p:sp>
        <p:nvSpPr>
          <p:cNvPr id="505" name="Google Shape;505;p45">
            <a:extLst>
              <a:ext uri="{FF2B5EF4-FFF2-40B4-BE49-F238E27FC236}">
                <a16:creationId xmlns:a16="http://schemas.microsoft.com/office/drawing/2014/main" id="{1467AA52-2981-BFB8-BA6E-559F1F739EDE}"/>
              </a:ext>
            </a:extLst>
          </p:cNvPr>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200"/>
              <a:buNone/>
            </a:pPr>
            <a:fld id="{00000000-1234-1234-1234-123412341234}" type="slidenum">
              <a:rPr lang="en-GB"/>
              <a:t>27</a:t>
            </a:fld>
            <a:endParaRPr/>
          </a:p>
        </p:txBody>
      </p:sp>
      <p:sp>
        <p:nvSpPr>
          <p:cNvPr id="17" name="Title">
            <a:extLst>
              <a:ext uri="{FF2B5EF4-FFF2-40B4-BE49-F238E27FC236}">
                <a16:creationId xmlns:a16="http://schemas.microsoft.com/office/drawing/2014/main" id="{B5E3CD15-2189-1822-B9C6-EEEABE279F33}"/>
              </a:ext>
            </a:extLst>
          </p:cNvPr>
          <p:cNvSpPr>
            <a:spLocks noGrp="1"/>
          </p:cNvSpPr>
          <p:nvPr/>
        </p:nvSpPr>
        <p:spPr>
          <a:xfrm>
            <a:off x="902209" y="136523"/>
            <a:ext cx="10972800" cy="638175"/>
          </a:xfrm>
          <a:prstGeom prst="rect">
            <a:avLst/>
          </a:prstGeom>
          <a:noFill/>
          <a:ln w="0">
            <a:noFill/>
          </a:ln>
        </p:spPr>
        <p:txBody>
          <a:bodyPr lIns="0" tIns="0" rIns="0" bIns="0" anchor="ctr">
            <a:noAutofit/>
          </a:bodyPr>
          <a:lstStyle/>
          <a:p>
            <a:pPr algn="l">
              <a:defRPr sz="3300" b="1">
                <a:solidFill>
                  <a:srgbClr val="14354E"/>
                </a:solidFill>
                <a:latin typeface="Bitstream Charter"/>
                <a:ea typeface="Bitstream Charter"/>
                <a:cs typeface="Bitstream Charter"/>
              </a:defRPr>
            </a:pPr>
            <a:r>
              <a:rPr lang="en-US" sz="4400" b="1" dirty="0">
                <a:solidFill>
                  <a:srgbClr val="30A4CF"/>
                </a:solidFill>
                <a:latin typeface="Nunito"/>
              </a:rPr>
              <a:t>Record of Design Parameters</a:t>
            </a:r>
          </a:p>
        </p:txBody>
      </p:sp>
      <p:pic>
        <p:nvPicPr>
          <p:cNvPr id="3" name="Picture 2">
            <a:extLst>
              <a:ext uri="{FF2B5EF4-FFF2-40B4-BE49-F238E27FC236}">
                <a16:creationId xmlns:a16="http://schemas.microsoft.com/office/drawing/2014/main" id="{D7101685-C50E-E7F9-EF73-ACB73A7C2AA4}"/>
              </a:ext>
            </a:extLst>
          </p:cNvPr>
          <p:cNvPicPr>
            <a:picLocks noChangeAspect="1"/>
          </p:cNvPicPr>
          <p:nvPr/>
        </p:nvPicPr>
        <p:blipFill>
          <a:blip r:embed="rId5"/>
          <a:stretch>
            <a:fillRect/>
          </a:stretch>
        </p:blipFill>
        <p:spPr>
          <a:xfrm>
            <a:off x="768289" y="754651"/>
            <a:ext cx="4362258" cy="5348698"/>
          </a:xfrm>
          <a:prstGeom prst="rect">
            <a:avLst/>
          </a:prstGeom>
        </p:spPr>
      </p:pic>
      <p:pic>
        <p:nvPicPr>
          <p:cNvPr id="5" name="Picture 4">
            <a:extLst>
              <a:ext uri="{FF2B5EF4-FFF2-40B4-BE49-F238E27FC236}">
                <a16:creationId xmlns:a16="http://schemas.microsoft.com/office/drawing/2014/main" id="{1DD56D91-B33F-F9A4-B567-E7C5730BCDB5}"/>
              </a:ext>
            </a:extLst>
          </p:cNvPr>
          <p:cNvPicPr>
            <a:picLocks noChangeAspect="1"/>
          </p:cNvPicPr>
          <p:nvPr/>
        </p:nvPicPr>
        <p:blipFill>
          <a:blip r:embed="rId6"/>
          <a:stretch>
            <a:fillRect/>
          </a:stretch>
        </p:blipFill>
        <p:spPr>
          <a:xfrm>
            <a:off x="5179698" y="754651"/>
            <a:ext cx="5386918" cy="4433314"/>
          </a:xfrm>
          <a:prstGeom prst="rect">
            <a:avLst/>
          </a:prstGeom>
        </p:spPr>
      </p:pic>
      <p:pic>
        <p:nvPicPr>
          <p:cNvPr id="7" name="Picture 6">
            <a:extLst>
              <a:ext uri="{FF2B5EF4-FFF2-40B4-BE49-F238E27FC236}">
                <a16:creationId xmlns:a16="http://schemas.microsoft.com/office/drawing/2014/main" id="{0A1035E7-19FD-F75D-5C49-46099FEF9E04}"/>
              </a:ext>
            </a:extLst>
          </p:cNvPr>
          <p:cNvPicPr>
            <a:picLocks noChangeAspect="1"/>
          </p:cNvPicPr>
          <p:nvPr/>
        </p:nvPicPr>
        <p:blipFill>
          <a:blip r:embed="rId7"/>
          <a:stretch>
            <a:fillRect/>
          </a:stretch>
        </p:blipFill>
        <p:spPr>
          <a:xfrm>
            <a:off x="5361527" y="3704891"/>
            <a:ext cx="6599492" cy="2514818"/>
          </a:xfrm>
          <a:prstGeom prst="rect">
            <a:avLst/>
          </a:prstGeom>
        </p:spPr>
      </p:pic>
    </p:spTree>
    <p:extLst>
      <p:ext uri="{BB962C8B-B14F-4D97-AF65-F5344CB8AC3E}">
        <p14:creationId xmlns:p14="http://schemas.microsoft.com/office/powerpoint/2010/main" val="3489304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94">
          <a:extLst>
            <a:ext uri="{FF2B5EF4-FFF2-40B4-BE49-F238E27FC236}">
              <a16:creationId xmlns:a16="http://schemas.microsoft.com/office/drawing/2014/main" id="{6F8D4C19-DAA0-9139-41BA-905824D7678C}"/>
            </a:ext>
          </a:extLst>
        </p:cNvPr>
        <p:cNvGrpSpPr/>
        <p:nvPr/>
      </p:nvGrpSpPr>
      <p:grpSpPr>
        <a:xfrm>
          <a:off x="0" y="0"/>
          <a:ext cx="0" cy="0"/>
          <a:chOff x="0" y="0"/>
          <a:chExt cx="0" cy="0"/>
        </a:xfrm>
      </p:grpSpPr>
      <p:pic>
        <p:nvPicPr>
          <p:cNvPr id="495" name="Google Shape;495;p45" descr="Une image contenant ciel, plein air, nuage, agriculture&#10;&#10;Description générée automatiquement">
            <a:extLst>
              <a:ext uri="{FF2B5EF4-FFF2-40B4-BE49-F238E27FC236}">
                <a16:creationId xmlns:a16="http://schemas.microsoft.com/office/drawing/2014/main" id="{98BA6FD7-1462-CFD8-2D37-C77BE63584F1}"/>
              </a:ext>
            </a:extLst>
          </p:cNvPr>
          <p:cNvPicPr preferRelativeResize="0"/>
          <p:nvPr/>
        </p:nvPicPr>
        <p:blipFill rotWithShape="1">
          <a:blip r:embed="rId3">
            <a:alphaModFix/>
          </a:blip>
          <a:srcRect l="5973" t="9105" b="15903"/>
          <a:stretch/>
        </p:blipFill>
        <p:spPr>
          <a:xfrm>
            <a:off x="719138" y="0"/>
            <a:ext cx="11472863" cy="6858000"/>
          </a:xfrm>
          <a:prstGeom prst="rect">
            <a:avLst/>
          </a:prstGeom>
          <a:noFill/>
          <a:ln>
            <a:noFill/>
          </a:ln>
        </p:spPr>
      </p:pic>
      <p:sp>
        <p:nvSpPr>
          <p:cNvPr id="496" name="Google Shape;496;p45">
            <a:extLst>
              <a:ext uri="{FF2B5EF4-FFF2-40B4-BE49-F238E27FC236}">
                <a16:creationId xmlns:a16="http://schemas.microsoft.com/office/drawing/2014/main" id="{69792775-573A-43DA-492D-D53A7F2A54A1}"/>
              </a:ext>
            </a:extLst>
          </p:cNvPr>
          <p:cNvSpPr/>
          <p:nvPr/>
        </p:nvSpPr>
        <p:spPr>
          <a:xfrm>
            <a:off x="664273" y="0"/>
            <a:ext cx="11527727" cy="6858000"/>
          </a:xfrm>
          <a:prstGeom prst="rect">
            <a:avLst/>
          </a:prstGeom>
          <a:solidFill>
            <a:schemeClr val="lt1">
              <a:alpha val="93725"/>
            </a:schemeClr>
          </a:solidFill>
          <a:ln>
            <a:noFill/>
          </a:ln>
          <a:effectLst>
            <a:outerShdw blurRad="876300" dist="393700" dir="5400000" algn="t" rotWithShape="0">
              <a:srgbClr val="000000">
                <a:alpha val="784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dirty="0">
              <a:solidFill>
                <a:srgbClr val="FF0000"/>
              </a:solidFill>
              <a:latin typeface="Calibri"/>
              <a:ea typeface="Calibri"/>
              <a:cs typeface="Calibri"/>
              <a:sym typeface="Calibri"/>
            </a:endParaRPr>
          </a:p>
        </p:txBody>
      </p:sp>
      <p:sp>
        <p:nvSpPr>
          <p:cNvPr id="497" name="Google Shape;497;p45">
            <a:extLst>
              <a:ext uri="{FF2B5EF4-FFF2-40B4-BE49-F238E27FC236}">
                <a16:creationId xmlns:a16="http://schemas.microsoft.com/office/drawing/2014/main" id="{FD0F1FB3-5E9A-C6F1-83B6-92F697EC347D}"/>
              </a:ext>
            </a:extLst>
          </p:cNvPr>
          <p:cNvSpPr txBox="1"/>
          <p:nvPr/>
        </p:nvSpPr>
        <p:spPr>
          <a:xfrm rot="-5400000">
            <a:off x="-797364" y="5204656"/>
            <a:ext cx="2251455" cy="38856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lt1"/>
                </a:solidFill>
                <a:latin typeface="Nunito Sans SemiBold"/>
                <a:ea typeface="Nunito Sans SemiBold"/>
                <a:cs typeface="Nunito Sans SemiBold"/>
                <a:sym typeface="Nunito Sans SemiBold"/>
              </a:rPr>
              <a:t>AGRICOOL</a:t>
            </a:r>
            <a:endParaRPr sz="1400" b="0" i="0" u="none" strike="noStrike" cap="none">
              <a:solidFill>
                <a:srgbClr val="000000"/>
              </a:solidFill>
              <a:latin typeface="Arial"/>
              <a:ea typeface="Arial"/>
              <a:cs typeface="Arial"/>
              <a:sym typeface="Arial"/>
            </a:endParaRPr>
          </a:p>
        </p:txBody>
      </p:sp>
      <p:pic>
        <p:nvPicPr>
          <p:cNvPr id="503" name="Google Shape;503;p45" descr="Une image contenant capture d’écran, Bleu électrique, Police, Bleu Majorelle&#10;&#10;Description générée automatiquement">
            <a:extLst>
              <a:ext uri="{FF2B5EF4-FFF2-40B4-BE49-F238E27FC236}">
                <a16:creationId xmlns:a16="http://schemas.microsoft.com/office/drawing/2014/main" id="{DE933D24-23FC-C4B1-BFE5-3FC0B88934F8}"/>
              </a:ext>
            </a:extLst>
          </p:cNvPr>
          <p:cNvPicPr preferRelativeResize="0"/>
          <p:nvPr/>
        </p:nvPicPr>
        <p:blipFill rotWithShape="1">
          <a:blip r:embed="rId4">
            <a:alphaModFix/>
          </a:blip>
          <a:srcRect/>
          <a:stretch/>
        </p:blipFill>
        <p:spPr>
          <a:xfrm>
            <a:off x="659183" y="6441981"/>
            <a:ext cx="1729633" cy="384363"/>
          </a:xfrm>
          <a:prstGeom prst="rect">
            <a:avLst/>
          </a:prstGeom>
          <a:noFill/>
          <a:ln>
            <a:noFill/>
          </a:ln>
        </p:spPr>
      </p:pic>
      <p:sp>
        <p:nvSpPr>
          <p:cNvPr id="504" name="Google Shape;504;p45">
            <a:extLst>
              <a:ext uri="{FF2B5EF4-FFF2-40B4-BE49-F238E27FC236}">
                <a16:creationId xmlns:a16="http://schemas.microsoft.com/office/drawing/2014/main" id="{DF49D919-8D31-460E-23D8-8A697C257243}"/>
              </a:ext>
            </a:extLst>
          </p:cNvPr>
          <p:cNvSpPr txBox="1">
            <a:spLocks noGrp="1"/>
          </p:cNvSpPr>
          <p:nvPr>
            <p:ph type="dt" idx="10"/>
          </p:nvPr>
        </p:nvSpPr>
        <p:spPr>
          <a:xfrm>
            <a:off x="9332517" y="64262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en-GB" dirty="0"/>
              <a:t>13 September 2026</a:t>
            </a:r>
            <a:endParaRPr dirty="0"/>
          </a:p>
        </p:txBody>
      </p:sp>
      <p:sp>
        <p:nvSpPr>
          <p:cNvPr id="505" name="Google Shape;505;p45">
            <a:extLst>
              <a:ext uri="{FF2B5EF4-FFF2-40B4-BE49-F238E27FC236}">
                <a16:creationId xmlns:a16="http://schemas.microsoft.com/office/drawing/2014/main" id="{9CA849FE-6B6E-A0CD-68B2-126191797E55}"/>
              </a:ext>
            </a:extLst>
          </p:cNvPr>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200"/>
              <a:buNone/>
            </a:pPr>
            <a:fld id="{00000000-1234-1234-1234-123412341234}" type="slidenum">
              <a:rPr lang="en-GB"/>
              <a:t>28</a:t>
            </a:fld>
            <a:endParaRPr/>
          </a:p>
        </p:txBody>
      </p:sp>
      <p:sp>
        <p:nvSpPr>
          <p:cNvPr id="17" name="Title">
            <a:extLst>
              <a:ext uri="{FF2B5EF4-FFF2-40B4-BE49-F238E27FC236}">
                <a16:creationId xmlns:a16="http://schemas.microsoft.com/office/drawing/2014/main" id="{266DB6CD-DB97-E6DB-462F-ED3AB10A6606}"/>
              </a:ext>
            </a:extLst>
          </p:cNvPr>
          <p:cNvSpPr>
            <a:spLocks noGrp="1"/>
          </p:cNvSpPr>
          <p:nvPr/>
        </p:nvSpPr>
        <p:spPr>
          <a:xfrm>
            <a:off x="902209" y="333375"/>
            <a:ext cx="10972800" cy="638175"/>
          </a:xfrm>
          <a:prstGeom prst="rect">
            <a:avLst/>
          </a:prstGeom>
          <a:noFill/>
          <a:ln w="0">
            <a:noFill/>
          </a:ln>
        </p:spPr>
        <p:txBody>
          <a:bodyPr lIns="0" tIns="0" rIns="0" bIns="0" anchor="ctr">
            <a:noAutofit/>
          </a:bodyPr>
          <a:lstStyle/>
          <a:p>
            <a:pPr algn="l">
              <a:defRPr sz="3300" b="1">
                <a:solidFill>
                  <a:srgbClr val="14354E"/>
                </a:solidFill>
                <a:latin typeface="Bitstream Charter"/>
                <a:ea typeface="Bitstream Charter"/>
                <a:cs typeface="Bitstream Charter"/>
              </a:defRPr>
            </a:pPr>
            <a:r>
              <a:rPr lang="en-US" sz="4400" b="1" dirty="0">
                <a:solidFill>
                  <a:srgbClr val="30A4CF"/>
                </a:solidFill>
                <a:latin typeface="Nunito"/>
              </a:rPr>
              <a:t>Testing Operating Scenarios</a:t>
            </a:r>
          </a:p>
        </p:txBody>
      </p:sp>
      <p:grpSp>
        <p:nvGrpSpPr>
          <p:cNvPr id="3" name="Group 2">
            <a:extLst>
              <a:ext uri="{FF2B5EF4-FFF2-40B4-BE49-F238E27FC236}">
                <a16:creationId xmlns:a16="http://schemas.microsoft.com/office/drawing/2014/main" id="{99B5A605-D713-2BB0-7B09-A42F7A181793}"/>
              </a:ext>
            </a:extLst>
          </p:cNvPr>
          <p:cNvGrpSpPr/>
          <p:nvPr/>
        </p:nvGrpSpPr>
        <p:grpSpPr>
          <a:xfrm>
            <a:off x="786978" y="1224418"/>
            <a:ext cx="7393852" cy="1401537"/>
            <a:chOff x="689024" y="2365318"/>
            <a:chExt cx="7039040" cy="1401537"/>
          </a:xfrm>
        </p:grpSpPr>
        <p:sp>
          <p:nvSpPr>
            <p:cNvPr id="4" name="Subtitle 2">
              <a:extLst>
                <a:ext uri="{FF2B5EF4-FFF2-40B4-BE49-F238E27FC236}">
                  <a16:creationId xmlns:a16="http://schemas.microsoft.com/office/drawing/2014/main" id="{01BA38A6-095F-A2DF-4E84-271D3B69C83D}"/>
                </a:ext>
              </a:extLst>
            </p:cNvPr>
            <p:cNvSpPr txBox="1">
              <a:spLocks/>
            </p:cNvSpPr>
            <p:nvPr/>
          </p:nvSpPr>
          <p:spPr>
            <a:xfrm>
              <a:off x="1266304" y="2646065"/>
              <a:ext cx="6461760" cy="908553"/>
            </a:xfrm>
            <a:prstGeom prst="rect">
              <a:avLst/>
            </a:prstGeom>
            <a:solidFill>
              <a:schemeClr val="accent5">
                <a:lumMod val="20000"/>
                <a:lumOff val="80000"/>
              </a:schemeClr>
            </a:solidFill>
          </p:spPr>
          <p:txBody>
            <a:bodyPr vert="horz" lIns="91440" tIns="45720" rIns="91440" bIns="45720" rtlCol="0" anchor="ctr" anchorCtr="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800" b="1" dirty="0"/>
                <a:t>	Loading Time Sensitivity:</a:t>
              </a:r>
              <a:r>
                <a:rPr lang="en-US" sz="3800" dirty="0"/>
                <a:t> </a:t>
              </a:r>
            </a:p>
            <a:p>
              <a:pPr marL="0" indent="0">
                <a:buNone/>
              </a:pPr>
              <a:r>
                <a:rPr lang="en-US" sz="3800" dirty="0"/>
                <a:t>		Morning vs. afternoon crop loading</a:t>
              </a:r>
            </a:p>
          </p:txBody>
        </p:sp>
        <p:pic>
          <p:nvPicPr>
            <p:cNvPr id="5" name="Picture 4">
              <a:extLst>
                <a:ext uri="{FF2B5EF4-FFF2-40B4-BE49-F238E27FC236}">
                  <a16:creationId xmlns:a16="http://schemas.microsoft.com/office/drawing/2014/main" id="{8F4D9E3E-FB19-0C36-0D08-64485D33278E}"/>
                </a:ext>
              </a:extLst>
            </p:cNvPr>
            <p:cNvPicPr>
              <a:picLocks noChangeAspect="1"/>
            </p:cNvPicPr>
            <p:nvPr/>
          </p:nvPicPr>
          <p:blipFill>
            <a:blip r:embed="rId5"/>
            <a:stretch>
              <a:fillRect/>
            </a:stretch>
          </p:blipFill>
          <p:spPr>
            <a:xfrm>
              <a:off x="689024" y="2365318"/>
              <a:ext cx="1401538" cy="1401537"/>
            </a:xfrm>
            <a:prstGeom prst="rect">
              <a:avLst/>
            </a:prstGeom>
          </p:spPr>
        </p:pic>
      </p:grpSp>
      <p:grpSp>
        <p:nvGrpSpPr>
          <p:cNvPr id="6" name="Group 5">
            <a:extLst>
              <a:ext uri="{FF2B5EF4-FFF2-40B4-BE49-F238E27FC236}">
                <a16:creationId xmlns:a16="http://schemas.microsoft.com/office/drawing/2014/main" id="{B0AA8AF7-9DDE-BCD3-FE7A-6F4487227C88}"/>
              </a:ext>
            </a:extLst>
          </p:cNvPr>
          <p:cNvGrpSpPr/>
          <p:nvPr/>
        </p:nvGrpSpPr>
        <p:grpSpPr>
          <a:xfrm>
            <a:off x="4879198" y="2478010"/>
            <a:ext cx="6849091" cy="1470181"/>
            <a:chOff x="4593970" y="4155328"/>
            <a:chExt cx="6849091" cy="1470181"/>
          </a:xfrm>
        </p:grpSpPr>
        <p:sp>
          <p:nvSpPr>
            <p:cNvPr id="7" name="Subtitle 2">
              <a:extLst>
                <a:ext uri="{FF2B5EF4-FFF2-40B4-BE49-F238E27FC236}">
                  <a16:creationId xmlns:a16="http://schemas.microsoft.com/office/drawing/2014/main" id="{42BCBE34-BA05-9014-FC12-3307AD3E5310}"/>
                </a:ext>
              </a:extLst>
            </p:cNvPr>
            <p:cNvSpPr txBox="1">
              <a:spLocks/>
            </p:cNvSpPr>
            <p:nvPr/>
          </p:nvSpPr>
          <p:spPr>
            <a:xfrm>
              <a:off x="4593970" y="4289625"/>
              <a:ext cx="6461760" cy="1179454"/>
            </a:xfrm>
            <a:prstGeom prst="rect">
              <a:avLst/>
            </a:prstGeom>
            <a:solidFill>
              <a:schemeClr val="accent5">
                <a:lumMod val="20000"/>
                <a:lumOff val="80000"/>
              </a:schemeClr>
            </a:solidFill>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t>  PV Shortfall (Cloudy Day):		</a:t>
              </a:r>
              <a:r>
                <a:rPr lang="en-US" sz="2400" dirty="0"/>
                <a:t> </a:t>
              </a:r>
            </a:p>
            <a:p>
              <a:pPr marL="0" indent="0">
                <a:buNone/>
              </a:pPr>
              <a:r>
                <a:rPr lang="en-US" sz="2400" dirty="0"/>
                <a:t>	Reduced solar input vs. baseline</a:t>
              </a:r>
            </a:p>
          </p:txBody>
        </p:sp>
        <p:pic>
          <p:nvPicPr>
            <p:cNvPr id="8" name="Picture 7">
              <a:extLst>
                <a:ext uri="{FF2B5EF4-FFF2-40B4-BE49-F238E27FC236}">
                  <a16:creationId xmlns:a16="http://schemas.microsoft.com/office/drawing/2014/main" id="{B28034F5-4B48-8774-0676-56980811ABC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972880" y="4155328"/>
              <a:ext cx="1470181" cy="1470181"/>
            </a:xfrm>
            <a:prstGeom prst="rect">
              <a:avLst/>
            </a:prstGeom>
          </p:spPr>
        </p:pic>
      </p:grpSp>
      <p:graphicFrame>
        <p:nvGraphicFramePr>
          <p:cNvPr id="10" name="Table 9">
            <a:extLst>
              <a:ext uri="{FF2B5EF4-FFF2-40B4-BE49-F238E27FC236}">
                <a16:creationId xmlns:a16="http://schemas.microsoft.com/office/drawing/2014/main" id="{FD52747D-9708-F272-B48F-C24957595F8C}"/>
              </a:ext>
            </a:extLst>
          </p:cNvPr>
          <p:cNvGraphicFramePr>
            <a:graphicFrameLocks noGrp="1"/>
          </p:cNvGraphicFramePr>
          <p:nvPr>
            <p:extLst>
              <p:ext uri="{D42A27DB-BD31-4B8C-83A1-F6EECF244321}">
                <p14:modId xmlns:p14="http://schemas.microsoft.com/office/powerpoint/2010/main" val="3878739319"/>
              </p:ext>
            </p:extLst>
          </p:nvPr>
        </p:nvGraphicFramePr>
        <p:xfrm>
          <a:off x="902209" y="4032120"/>
          <a:ext cx="7158058" cy="2153720"/>
        </p:xfrm>
        <a:graphic>
          <a:graphicData uri="http://schemas.openxmlformats.org/drawingml/2006/table">
            <a:tbl>
              <a:tblPr firstRow="1" bandRow="1">
                <a:tableStyleId>{5A111915-BE36-4E01-A7E5-04B1672EAD32}</a:tableStyleId>
              </a:tblPr>
              <a:tblGrid>
                <a:gridCol w="1773790">
                  <a:extLst>
                    <a:ext uri="{9D8B030D-6E8A-4147-A177-3AD203B41FA5}">
                      <a16:colId xmlns:a16="http://schemas.microsoft.com/office/drawing/2014/main" val="3689838798"/>
                    </a:ext>
                  </a:extLst>
                </a:gridCol>
                <a:gridCol w="5384268">
                  <a:extLst>
                    <a:ext uri="{9D8B030D-6E8A-4147-A177-3AD203B41FA5}">
                      <a16:colId xmlns:a16="http://schemas.microsoft.com/office/drawing/2014/main" val="2183874564"/>
                    </a:ext>
                  </a:extLst>
                </a:gridCol>
              </a:tblGrid>
              <a:tr h="223825">
                <a:tc>
                  <a:txBody>
                    <a:bodyPr/>
                    <a:lstStyle/>
                    <a:p>
                      <a:pPr algn="ctr"/>
                      <a:r>
                        <a:rPr lang="en-US" dirty="0"/>
                        <a:t>Component</a:t>
                      </a:r>
                    </a:p>
                  </a:txBody>
                  <a:tcPr anchor="ctr"/>
                </a:tc>
                <a:tc>
                  <a:txBody>
                    <a:bodyPr/>
                    <a:lstStyle/>
                    <a:p>
                      <a:pPr algn="ctr"/>
                      <a:r>
                        <a:rPr lang="en-US" dirty="0"/>
                        <a:t>Specifications</a:t>
                      </a:r>
                    </a:p>
                  </a:txBody>
                  <a:tcPr anchor="ctr"/>
                </a:tc>
                <a:extLst>
                  <a:ext uri="{0D108BD9-81ED-4DB2-BD59-A6C34878D82A}">
                    <a16:rowId xmlns:a16="http://schemas.microsoft.com/office/drawing/2014/main" val="2552001302"/>
                  </a:ext>
                </a:extLst>
              </a:tr>
              <a:tr h="370840">
                <a:tc>
                  <a:txBody>
                    <a:bodyPr/>
                    <a:lstStyle/>
                    <a:p>
                      <a:pPr algn="ctr"/>
                      <a:r>
                        <a:rPr lang="en-US" b="0" dirty="0"/>
                        <a:t>Cold Room</a:t>
                      </a:r>
                    </a:p>
                  </a:txBody>
                  <a:tcPr anchor="ctr"/>
                </a:tc>
                <a:tc>
                  <a:txBody>
                    <a:bodyPr/>
                    <a:lstStyle/>
                    <a:p>
                      <a:pPr algn="l"/>
                      <a:r>
                        <a:rPr lang="en-US" dirty="0"/>
                        <a:t>50 m³ - Wall UA = 20 W/K, Room setpoint 6 °C</a:t>
                      </a:r>
                    </a:p>
                  </a:txBody>
                  <a:tcPr anchor="ctr"/>
                </a:tc>
                <a:extLst>
                  <a:ext uri="{0D108BD9-81ED-4DB2-BD59-A6C34878D82A}">
                    <a16:rowId xmlns:a16="http://schemas.microsoft.com/office/drawing/2014/main" val="3751903262"/>
                  </a:ext>
                </a:extLst>
              </a:tr>
              <a:tr h="370840">
                <a:tc>
                  <a:txBody>
                    <a:bodyPr/>
                    <a:lstStyle/>
                    <a:p>
                      <a:pPr algn="ctr"/>
                      <a:r>
                        <a:rPr lang="en-US" dirty="0"/>
                        <a:t>Daily Crop Load</a:t>
                      </a:r>
                    </a:p>
                  </a:txBody>
                  <a:tcPr anchor="ctr"/>
                </a:tc>
                <a:tc>
                  <a:txBody>
                    <a:bodyPr/>
                    <a:lstStyle/>
                    <a:p>
                      <a:pPr algn="l"/>
                      <a:r>
                        <a:rPr lang="en-US" dirty="0"/>
                        <a:t>500 kg/day at 20 °C - cp = 3500 J kg⁻¹ K⁻¹, stored 17 </a:t>
                      </a:r>
                      <a:r>
                        <a:rPr lang="en-US" dirty="0" err="1"/>
                        <a:t>hrs</a:t>
                      </a:r>
                      <a:endParaRPr lang="en-US" dirty="0"/>
                    </a:p>
                  </a:txBody>
                  <a:tcPr anchor="ctr"/>
                </a:tc>
                <a:extLst>
                  <a:ext uri="{0D108BD9-81ED-4DB2-BD59-A6C34878D82A}">
                    <a16:rowId xmlns:a16="http://schemas.microsoft.com/office/drawing/2014/main" val="468949810"/>
                  </a:ext>
                </a:extLst>
              </a:tr>
              <a:tr h="370840">
                <a:tc>
                  <a:txBody>
                    <a:bodyPr/>
                    <a:lstStyle/>
                    <a:p>
                      <a:pPr algn="ctr"/>
                      <a:r>
                        <a:rPr lang="en-US" dirty="0"/>
                        <a:t>PV System</a:t>
                      </a:r>
                    </a:p>
                  </a:txBody>
                  <a:tcPr anchor="ctr"/>
                </a:tc>
                <a:tc>
                  <a:txBody>
                    <a:bodyPr/>
                    <a:lstStyle/>
                    <a:p>
                      <a:pPr algn="l"/>
                      <a:r>
                        <a:rPr lang="en-US" dirty="0"/>
                        <a:t>10 modules × 1.63 m², η = 18 %, ≈ 2.6 kW at 1000 W/m²</a:t>
                      </a:r>
                    </a:p>
                  </a:txBody>
                  <a:tcPr anchor="ctr"/>
                </a:tc>
                <a:extLst>
                  <a:ext uri="{0D108BD9-81ED-4DB2-BD59-A6C34878D82A}">
                    <a16:rowId xmlns:a16="http://schemas.microsoft.com/office/drawing/2014/main" val="3658811379"/>
                  </a:ext>
                </a:extLst>
              </a:tr>
              <a:tr h="370840">
                <a:tc>
                  <a:txBody>
                    <a:bodyPr/>
                    <a:lstStyle/>
                    <a:p>
                      <a:pPr algn="ctr"/>
                      <a:r>
                        <a:rPr lang="en-US" dirty="0"/>
                        <a:t>Chiller</a:t>
                      </a:r>
                    </a:p>
                  </a:txBody>
                  <a:tcPr anchor="ctr"/>
                </a:tc>
                <a:tc>
                  <a:txBody>
                    <a:bodyPr/>
                    <a:lstStyle/>
                    <a:p>
                      <a:pPr algn="l"/>
                      <a:r>
                        <a:rPr lang="en-US" dirty="0"/>
                        <a:t>4 kW cooling capacity - glycol outlet −5 °C - PV-driven</a:t>
                      </a:r>
                    </a:p>
                  </a:txBody>
                  <a:tcPr anchor="ctr"/>
                </a:tc>
                <a:extLst>
                  <a:ext uri="{0D108BD9-81ED-4DB2-BD59-A6C34878D82A}">
                    <a16:rowId xmlns:a16="http://schemas.microsoft.com/office/drawing/2014/main" val="24338114"/>
                  </a:ext>
                </a:extLst>
              </a:tr>
              <a:tr h="365560">
                <a:tc>
                  <a:txBody>
                    <a:bodyPr/>
                    <a:lstStyle/>
                    <a:p>
                      <a:pPr algn="ctr"/>
                      <a:r>
                        <a:rPr lang="en-US" dirty="0"/>
                        <a:t>LTES</a:t>
                      </a:r>
                    </a:p>
                  </a:txBody>
                  <a:tcPr anchor="ctr"/>
                </a:tc>
                <a:tc>
                  <a:txBody>
                    <a:bodyPr/>
                    <a:lstStyle/>
                    <a:p>
                      <a:pPr algn="l"/>
                      <a:r>
                        <a:rPr lang="en-US" dirty="0"/>
                        <a:t>218 kg ice (≈ 20 kWh)</a:t>
                      </a:r>
                    </a:p>
                  </a:txBody>
                  <a:tcPr anchor="ctr"/>
                </a:tc>
                <a:extLst>
                  <a:ext uri="{0D108BD9-81ED-4DB2-BD59-A6C34878D82A}">
                    <a16:rowId xmlns:a16="http://schemas.microsoft.com/office/drawing/2014/main" val="1253131298"/>
                  </a:ext>
                </a:extLst>
              </a:tr>
            </a:tbl>
          </a:graphicData>
        </a:graphic>
      </p:graphicFrame>
    </p:spTree>
    <p:extLst>
      <p:ext uri="{BB962C8B-B14F-4D97-AF65-F5344CB8AC3E}">
        <p14:creationId xmlns:p14="http://schemas.microsoft.com/office/powerpoint/2010/main" val="3379629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94">
          <a:extLst>
            <a:ext uri="{FF2B5EF4-FFF2-40B4-BE49-F238E27FC236}">
              <a16:creationId xmlns:a16="http://schemas.microsoft.com/office/drawing/2014/main" id="{089EB592-3B47-606A-081A-D9864BC82843}"/>
            </a:ext>
          </a:extLst>
        </p:cNvPr>
        <p:cNvGrpSpPr/>
        <p:nvPr/>
      </p:nvGrpSpPr>
      <p:grpSpPr>
        <a:xfrm>
          <a:off x="0" y="0"/>
          <a:ext cx="0" cy="0"/>
          <a:chOff x="0" y="0"/>
          <a:chExt cx="0" cy="0"/>
        </a:xfrm>
      </p:grpSpPr>
      <p:pic>
        <p:nvPicPr>
          <p:cNvPr id="495" name="Google Shape;495;p45" descr="Une image contenant ciel, plein air, nuage, agriculture&#10;&#10;Description générée automatiquement">
            <a:extLst>
              <a:ext uri="{FF2B5EF4-FFF2-40B4-BE49-F238E27FC236}">
                <a16:creationId xmlns:a16="http://schemas.microsoft.com/office/drawing/2014/main" id="{66222CB0-367A-F57F-FAE5-9A951E113E55}"/>
              </a:ext>
            </a:extLst>
          </p:cNvPr>
          <p:cNvPicPr preferRelativeResize="0"/>
          <p:nvPr/>
        </p:nvPicPr>
        <p:blipFill rotWithShape="1">
          <a:blip r:embed="rId3">
            <a:alphaModFix/>
          </a:blip>
          <a:srcRect l="5973" t="9105" b="15903"/>
          <a:stretch/>
        </p:blipFill>
        <p:spPr>
          <a:xfrm>
            <a:off x="719138" y="0"/>
            <a:ext cx="11472863" cy="6858000"/>
          </a:xfrm>
          <a:prstGeom prst="rect">
            <a:avLst/>
          </a:prstGeom>
          <a:noFill/>
          <a:ln>
            <a:noFill/>
          </a:ln>
        </p:spPr>
      </p:pic>
      <p:sp>
        <p:nvSpPr>
          <p:cNvPr id="496" name="Google Shape;496;p45">
            <a:extLst>
              <a:ext uri="{FF2B5EF4-FFF2-40B4-BE49-F238E27FC236}">
                <a16:creationId xmlns:a16="http://schemas.microsoft.com/office/drawing/2014/main" id="{93D6A5F9-0F08-56B0-43BB-E334C9B6FDC4}"/>
              </a:ext>
            </a:extLst>
          </p:cNvPr>
          <p:cNvSpPr/>
          <p:nvPr/>
        </p:nvSpPr>
        <p:spPr>
          <a:xfrm>
            <a:off x="664273" y="0"/>
            <a:ext cx="11527727" cy="6858000"/>
          </a:xfrm>
          <a:prstGeom prst="rect">
            <a:avLst/>
          </a:prstGeom>
          <a:solidFill>
            <a:schemeClr val="lt1">
              <a:alpha val="93725"/>
            </a:schemeClr>
          </a:solidFill>
          <a:ln>
            <a:noFill/>
          </a:ln>
          <a:effectLst>
            <a:outerShdw blurRad="876300" dist="393700" dir="5400000" algn="t" rotWithShape="0">
              <a:srgbClr val="000000">
                <a:alpha val="784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dirty="0">
              <a:solidFill>
                <a:srgbClr val="FF0000"/>
              </a:solidFill>
              <a:latin typeface="Calibri"/>
              <a:ea typeface="Calibri"/>
              <a:cs typeface="Calibri"/>
              <a:sym typeface="Calibri"/>
            </a:endParaRPr>
          </a:p>
        </p:txBody>
      </p:sp>
      <p:sp>
        <p:nvSpPr>
          <p:cNvPr id="497" name="Google Shape;497;p45">
            <a:extLst>
              <a:ext uri="{FF2B5EF4-FFF2-40B4-BE49-F238E27FC236}">
                <a16:creationId xmlns:a16="http://schemas.microsoft.com/office/drawing/2014/main" id="{648F989D-DFEC-8C31-761B-6D84875CCB49}"/>
              </a:ext>
            </a:extLst>
          </p:cNvPr>
          <p:cNvSpPr txBox="1"/>
          <p:nvPr/>
        </p:nvSpPr>
        <p:spPr>
          <a:xfrm rot="-5400000">
            <a:off x="-797364" y="5204656"/>
            <a:ext cx="2251455" cy="38856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lt1"/>
                </a:solidFill>
                <a:latin typeface="Nunito Sans SemiBold"/>
                <a:ea typeface="Nunito Sans SemiBold"/>
                <a:cs typeface="Nunito Sans SemiBold"/>
                <a:sym typeface="Nunito Sans SemiBold"/>
              </a:rPr>
              <a:t>AGRICOOL</a:t>
            </a:r>
            <a:endParaRPr sz="1400" b="0" i="0" u="none" strike="noStrike" cap="none">
              <a:solidFill>
                <a:srgbClr val="000000"/>
              </a:solidFill>
              <a:latin typeface="Arial"/>
              <a:ea typeface="Arial"/>
              <a:cs typeface="Arial"/>
              <a:sym typeface="Arial"/>
            </a:endParaRPr>
          </a:p>
        </p:txBody>
      </p:sp>
      <p:pic>
        <p:nvPicPr>
          <p:cNvPr id="503" name="Google Shape;503;p45" descr="Une image contenant capture d’écran, Bleu électrique, Police, Bleu Majorelle&#10;&#10;Description générée automatiquement">
            <a:extLst>
              <a:ext uri="{FF2B5EF4-FFF2-40B4-BE49-F238E27FC236}">
                <a16:creationId xmlns:a16="http://schemas.microsoft.com/office/drawing/2014/main" id="{AA354642-9E9E-5244-42EF-56EB4FCE551C}"/>
              </a:ext>
            </a:extLst>
          </p:cNvPr>
          <p:cNvPicPr preferRelativeResize="0"/>
          <p:nvPr/>
        </p:nvPicPr>
        <p:blipFill rotWithShape="1">
          <a:blip r:embed="rId4">
            <a:alphaModFix/>
          </a:blip>
          <a:srcRect/>
          <a:stretch/>
        </p:blipFill>
        <p:spPr>
          <a:xfrm>
            <a:off x="659183" y="6441981"/>
            <a:ext cx="1729633" cy="384363"/>
          </a:xfrm>
          <a:prstGeom prst="rect">
            <a:avLst/>
          </a:prstGeom>
          <a:noFill/>
          <a:ln>
            <a:noFill/>
          </a:ln>
        </p:spPr>
      </p:pic>
      <p:sp>
        <p:nvSpPr>
          <p:cNvPr id="504" name="Google Shape;504;p45">
            <a:extLst>
              <a:ext uri="{FF2B5EF4-FFF2-40B4-BE49-F238E27FC236}">
                <a16:creationId xmlns:a16="http://schemas.microsoft.com/office/drawing/2014/main" id="{C68AF8BB-470C-7BAF-FFF0-5066AAB36BD4}"/>
              </a:ext>
            </a:extLst>
          </p:cNvPr>
          <p:cNvSpPr txBox="1">
            <a:spLocks noGrp="1"/>
          </p:cNvSpPr>
          <p:nvPr>
            <p:ph type="dt" idx="10"/>
          </p:nvPr>
        </p:nvSpPr>
        <p:spPr>
          <a:xfrm>
            <a:off x="9332517" y="64262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en-GB" dirty="0"/>
              <a:t>13 September 2026</a:t>
            </a:r>
            <a:endParaRPr dirty="0"/>
          </a:p>
        </p:txBody>
      </p:sp>
      <p:sp>
        <p:nvSpPr>
          <p:cNvPr id="505" name="Google Shape;505;p45">
            <a:extLst>
              <a:ext uri="{FF2B5EF4-FFF2-40B4-BE49-F238E27FC236}">
                <a16:creationId xmlns:a16="http://schemas.microsoft.com/office/drawing/2014/main" id="{420C83AD-3DA8-0B9E-6B10-7D9417C00C6A}"/>
              </a:ext>
            </a:extLst>
          </p:cNvPr>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200"/>
              <a:buNone/>
            </a:pPr>
            <a:fld id="{00000000-1234-1234-1234-123412341234}" type="slidenum">
              <a:rPr lang="en-GB"/>
              <a:t>29</a:t>
            </a:fld>
            <a:endParaRPr/>
          </a:p>
        </p:txBody>
      </p:sp>
      <p:sp>
        <p:nvSpPr>
          <p:cNvPr id="17" name="Title">
            <a:extLst>
              <a:ext uri="{FF2B5EF4-FFF2-40B4-BE49-F238E27FC236}">
                <a16:creationId xmlns:a16="http://schemas.microsoft.com/office/drawing/2014/main" id="{47A7AE4E-EBC3-FD91-B688-4EC05E096436}"/>
              </a:ext>
            </a:extLst>
          </p:cNvPr>
          <p:cNvSpPr>
            <a:spLocks noGrp="1"/>
          </p:cNvSpPr>
          <p:nvPr/>
        </p:nvSpPr>
        <p:spPr>
          <a:xfrm>
            <a:off x="817543" y="331021"/>
            <a:ext cx="11738524" cy="638175"/>
          </a:xfrm>
          <a:prstGeom prst="rect">
            <a:avLst/>
          </a:prstGeom>
          <a:noFill/>
          <a:ln w="0">
            <a:noFill/>
          </a:ln>
        </p:spPr>
        <p:txBody>
          <a:bodyPr lIns="0" tIns="0" rIns="0" bIns="0" anchor="ctr">
            <a:noAutofit/>
          </a:bodyPr>
          <a:lstStyle/>
          <a:p>
            <a:pPr algn="l">
              <a:defRPr sz="3300" b="1">
                <a:solidFill>
                  <a:srgbClr val="14354E"/>
                </a:solidFill>
                <a:latin typeface="Bitstream Charter"/>
                <a:ea typeface="Bitstream Charter"/>
                <a:cs typeface="Bitstream Charter"/>
              </a:defRPr>
            </a:pPr>
            <a:r>
              <a:rPr lang="en-US" sz="4400" b="1" dirty="0">
                <a:solidFill>
                  <a:srgbClr val="30A4CF"/>
                </a:solidFill>
                <a:latin typeface="Nunito"/>
              </a:rPr>
              <a:t>Loading Time Sensitivity</a:t>
            </a:r>
          </a:p>
        </p:txBody>
      </p:sp>
      <p:cxnSp>
        <p:nvCxnSpPr>
          <p:cNvPr id="10" name="Straight Connector 9">
            <a:extLst>
              <a:ext uri="{FF2B5EF4-FFF2-40B4-BE49-F238E27FC236}">
                <a16:creationId xmlns:a16="http://schemas.microsoft.com/office/drawing/2014/main" id="{D94E7D5E-2DD2-C8AF-0975-DCBF89DC2BBF}"/>
              </a:ext>
            </a:extLst>
          </p:cNvPr>
          <p:cNvCxnSpPr>
            <a:cxnSpLocks/>
          </p:cNvCxnSpPr>
          <p:nvPr/>
        </p:nvCxnSpPr>
        <p:spPr>
          <a:xfrm>
            <a:off x="6392374" y="1250899"/>
            <a:ext cx="0" cy="5164531"/>
          </a:xfrm>
          <a:prstGeom prst="line">
            <a:avLst/>
          </a:prstGeom>
          <a:solidFill>
            <a:srgbClr val="6CBEB0"/>
          </a:solidFill>
          <a:ln w="38100" cap="flat" cmpd="sng" algn="ctr">
            <a:solidFill>
              <a:srgbClr val="6CBEB0"/>
            </a:solidFill>
            <a:prstDash val="dash"/>
            <a:miter lim="800000"/>
          </a:ln>
          <a:effectLst/>
        </p:spPr>
      </p:cxnSp>
      <p:sp>
        <p:nvSpPr>
          <p:cNvPr id="20" name="TextBox 19">
            <a:extLst>
              <a:ext uri="{FF2B5EF4-FFF2-40B4-BE49-F238E27FC236}">
                <a16:creationId xmlns:a16="http://schemas.microsoft.com/office/drawing/2014/main" id="{DBF65015-ED5B-EF3A-F0C8-5CA81C8F9A72}"/>
              </a:ext>
            </a:extLst>
          </p:cNvPr>
          <p:cNvSpPr txBox="1"/>
          <p:nvPr/>
        </p:nvSpPr>
        <p:spPr>
          <a:xfrm>
            <a:off x="9274325" y="3355707"/>
            <a:ext cx="740664" cy="369332"/>
          </a:xfrm>
          <a:prstGeom prst="rect">
            <a:avLst/>
          </a:prstGeom>
          <a:noFill/>
        </p:spPr>
        <p:txBody>
          <a:bodyPr wrap="square" rtlCol="0">
            <a:spAutoFit/>
          </a:bodyPr>
          <a:lstStyle/>
          <a:p>
            <a:r>
              <a:rPr lang="en-US" b="1" dirty="0">
                <a:solidFill>
                  <a:schemeClr val="tx2">
                    <a:lumMod val="90000"/>
                    <a:lumOff val="10000"/>
                  </a:schemeClr>
                </a:solidFill>
              </a:rPr>
              <a:t>9.63</a:t>
            </a:r>
          </a:p>
        </p:txBody>
      </p:sp>
      <p:pic>
        <p:nvPicPr>
          <p:cNvPr id="2" name="Picture 1">
            <a:extLst>
              <a:ext uri="{FF2B5EF4-FFF2-40B4-BE49-F238E27FC236}">
                <a16:creationId xmlns:a16="http://schemas.microsoft.com/office/drawing/2014/main" id="{8CC78A75-A2B9-2351-52A1-BC1678F76876}"/>
              </a:ext>
            </a:extLst>
          </p:cNvPr>
          <p:cNvPicPr>
            <a:picLocks noChangeAspect="1"/>
          </p:cNvPicPr>
          <p:nvPr/>
        </p:nvPicPr>
        <p:blipFill>
          <a:blip r:embed="rId5"/>
          <a:srcRect b="65672"/>
          <a:stretch>
            <a:fillRect/>
          </a:stretch>
        </p:blipFill>
        <p:spPr>
          <a:xfrm>
            <a:off x="1297236" y="1013739"/>
            <a:ext cx="4588354" cy="1861436"/>
          </a:xfrm>
          <a:prstGeom prst="rect">
            <a:avLst/>
          </a:prstGeom>
        </p:spPr>
      </p:pic>
      <p:pic>
        <p:nvPicPr>
          <p:cNvPr id="483" name="Picture 482">
            <a:extLst>
              <a:ext uri="{FF2B5EF4-FFF2-40B4-BE49-F238E27FC236}">
                <a16:creationId xmlns:a16="http://schemas.microsoft.com/office/drawing/2014/main" id="{0895E206-642D-B3AA-A78A-032F57D2CEA9}"/>
              </a:ext>
            </a:extLst>
          </p:cNvPr>
          <p:cNvPicPr>
            <a:picLocks noChangeAspect="1"/>
          </p:cNvPicPr>
          <p:nvPr/>
        </p:nvPicPr>
        <p:blipFill>
          <a:blip r:embed="rId6"/>
          <a:stretch>
            <a:fillRect/>
          </a:stretch>
        </p:blipFill>
        <p:spPr>
          <a:xfrm>
            <a:off x="2335519" y="1928261"/>
            <a:ext cx="281940" cy="224763"/>
          </a:xfrm>
          <a:prstGeom prst="rect">
            <a:avLst/>
          </a:prstGeom>
        </p:spPr>
      </p:pic>
      <p:pic>
        <p:nvPicPr>
          <p:cNvPr id="9" name="Picture 8">
            <a:extLst>
              <a:ext uri="{FF2B5EF4-FFF2-40B4-BE49-F238E27FC236}">
                <a16:creationId xmlns:a16="http://schemas.microsoft.com/office/drawing/2014/main" id="{76A5D655-6A6E-D2A0-F4EC-AE5344B2AB14}"/>
              </a:ext>
            </a:extLst>
          </p:cNvPr>
          <p:cNvPicPr>
            <a:picLocks noChangeAspect="1"/>
          </p:cNvPicPr>
          <p:nvPr/>
        </p:nvPicPr>
        <p:blipFill>
          <a:blip r:embed="rId7"/>
          <a:srcRect b="65779"/>
          <a:stretch>
            <a:fillRect/>
          </a:stretch>
        </p:blipFill>
        <p:spPr>
          <a:xfrm>
            <a:off x="6842859" y="1019589"/>
            <a:ext cx="4588178" cy="1855586"/>
          </a:xfrm>
          <a:prstGeom prst="rect">
            <a:avLst/>
          </a:prstGeom>
        </p:spPr>
      </p:pic>
      <p:pic>
        <p:nvPicPr>
          <p:cNvPr id="11" name="Picture 10">
            <a:extLst>
              <a:ext uri="{FF2B5EF4-FFF2-40B4-BE49-F238E27FC236}">
                <a16:creationId xmlns:a16="http://schemas.microsoft.com/office/drawing/2014/main" id="{F746400D-B41F-1BCB-2830-0B6821E8B80A}"/>
              </a:ext>
            </a:extLst>
          </p:cNvPr>
          <p:cNvPicPr>
            <a:picLocks noChangeAspect="1"/>
          </p:cNvPicPr>
          <p:nvPr/>
        </p:nvPicPr>
        <p:blipFill>
          <a:blip r:embed="rId6"/>
          <a:stretch>
            <a:fillRect/>
          </a:stretch>
        </p:blipFill>
        <p:spPr>
          <a:xfrm>
            <a:off x="8290695" y="1928261"/>
            <a:ext cx="281940" cy="224763"/>
          </a:xfrm>
          <a:prstGeom prst="rect">
            <a:avLst/>
          </a:prstGeom>
        </p:spPr>
      </p:pic>
      <p:pic>
        <p:nvPicPr>
          <p:cNvPr id="13" name="Picture 12">
            <a:extLst>
              <a:ext uri="{FF2B5EF4-FFF2-40B4-BE49-F238E27FC236}">
                <a16:creationId xmlns:a16="http://schemas.microsoft.com/office/drawing/2014/main" id="{A6543933-3485-1AD1-C09A-4A93F45A7D47}"/>
              </a:ext>
            </a:extLst>
          </p:cNvPr>
          <p:cNvPicPr>
            <a:picLocks noChangeAspect="1"/>
          </p:cNvPicPr>
          <p:nvPr/>
        </p:nvPicPr>
        <p:blipFill>
          <a:blip r:embed="rId5"/>
          <a:srcRect b="36437"/>
          <a:stretch>
            <a:fillRect/>
          </a:stretch>
        </p:blipFill>
        <p:spPr>
          <a:xfrm>
            <a:off x="1222681" y="1003600"/>
            <a:ext cx="4588354" cy="3446773"/>
          </a:xfrm>
          <a:prstGeom prst="rect">
            <a:avLst/>
          </a:prstGeom>
        </p:spPr>
      </p:pic>
      <p:pic>
        <p:nvPicPr>
          <p:cNvPr id="15" name="Picture 14">
            <a:extLst>
              <a:ext uri="{FF2B5EF4-FFF2-40B4-BE49-F238E27FC236}">
                <a16:creationId xmlns:a16="http://schemas.microsoft.com/office/drawing/2014/main" id="{E4F59E2D-01F8-0AC9-57E1-BDF5D8CEDED0}"/>
              </a:ext>
            </a:extLst>
          </p:cNvPr>
          <p:cNvPicPr>
            <a:picLocks noChangeAspect="1"/>
          </p:cNvPicPr>
          <p:nvPr/>
        </p:nvPicPr>
        <p:blipFill>
          <a:blip r:embed="rId7"/>
          <a:srcRect b="36730"/>
          <a:stretch>
            <a:fillRect/>
          </a:stretch>
        </p:blipFill>
        <p:spPr>
          <a:xfrm>
            <a:off x="6842858" y="1003600"/>
            <a:ext cx="4588178" cy="3430784"/>
          </a:xfrm>
          <a:prstGeom prst="rect">
            <a:avLst/>
          </a:prstGeom>
        </p:spPr>
      </p:pic>
      <p:pic>
        <p:nvPicPr>
          <p:cNvPr id="18" name="Picture 17">
            <a:extLst>
              <a:ext uri="{FF2B5EF4-FFF2-40B4-BE49-F238E27FC236}">
                <a16:creationId xmlns:a16="http://schemas.microsoft.com/office/drawing/2014/main" id="{DDB19411-EF76-AE9D-18AE-D4C919697166}"/>
              </a:ext>
            </a:extLst>
          </p:cNvPr>
          <p:cNvPicPr>
            <a:picLocks noChangeAspect="1"/>
          </p:cNvPicPr>
          <p:nvPr/>
        </p:nvPicPr>
        <p:blipFill>
          <a:blip r:embed="rId5"/>
          <a:stretch>
            <a:fillRect/>
          </a:stretch>
        </p:blipFill>
        <p:spPr>
          <a:xfrm>
            <a:off x="1222681" y="1003600"/>
            <a:ext cx="4588354" cy="5422600"/>
          </a:xfrm>
          <a:prstGeom prst="rect">
            <a:avLst/>
          </a:prstGeom>
        </p:spPr>
      </p:pic>
      <p:pic>
        <p:nvPicPr>
          <p:cNvPr id="22" name="Picture 21">
            <a:extLst>
              <a:ext uri="{FF2B5EF4-FFF2-40B4-BE49-F238E27FC236}">
                <a16:creationId xmlns:a16="http://schemas.microsoft.com/office/drawing/2014/main" id="{7AE4E339-08B3-52B4-4217-FB0BE5D8D5DC}"/>
              </a:ext>
            </a:extLst>
          </p:cNvPr>
          <p:cNvPicPr>
            <a:picLocks noChangeAspect="1"/>
          </p:cNvPicPr>
          <p:nvPr/>
        </p:nvPicPr>
        <p:blipFill>
          <a:blip r:embed="rId7"/>
          <a:stretch>
            <a:fillRect/>
          </a:stretch>
        </p:blipFill>
        <p:spPr>
          <a:xfrm>
            <a:off x="6849318" y="1013739"/>
            <a:ext cx="4588178" cy="5422392"/>
          </a:xfrm>
          <a:prstGeom prst="rect">
            <a:avLst/>
          </a:prstGeom>
        </p:spPr>
      </p:pic>
      <p:sp>
        <p:nvSpPr>
          <p:cNvPr id="23" name="Rectangle 22">
            <a:extLst>
              <a:ext uri="{FF2B5EF4-FFF2-40B4-BE49-F238E27FC236}">
                <a16:creationId xmlns:a16="http://schemas.microsoft.com/office/drawing/2014/main" id="{3E01AB8D-F8B4-4B2E-04FE-DF3DDB50B399}"/>
              </a:ext>
            </a:extLst>
          </p:cNvPr>
          <p:cNvSpPr/>
          <p:nvPr/>
        </p:nvSpPr>
        <p:spPr>
          <a:xfrm>
            <a:off x="662512" y="1007805"/>
            <a:ext cx="11287799" cy="5414189"/>
          </a:xfrm>
          <a:prstGeom prst="rect">
            <a:avLst/>
          </a:prstGeom>
          <a:solidFill>
            <a:schemeClr val="bg1">
              <a:alpha val="6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Subtitle 2">
            <a:extLst>
              <a:ext uri="{FF2B5EF4-FFF2-40B4-BE49-F238E27FC236}">
                <a16:creationId xmlns:a16="http://schemas.microsoft.com/office/drawing/2014/main" id="{36899321-EF97-06F3-D092-6FC617DC064B}"/>
              </a:ext>
            </a:extLst>
          </p:cNvPr>
          <p:cNvSpPr txBox="1">
            <a:spLocks/>
          </p:cNvSpPr>
          <p:nvPr/>
        </p:nvSpPr>
        <p:spPr>
          <a:xfrm>
            <a:off x="2634297" y="3240852"/>
            <a:ext cx="7787682" cy="860381"/>
          </a:xfrm>
          <a:prstGeom prst="rect">
            <a:avLst/>
          </a:prstGeom>
          <a:solidFill>
            <a:srgbClr val="D4ECE8"/>
          </a:solidFill>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b="1" dirty="0"/>
              <a:t>Operating strategy and sizing must be co-designed.</a:t>
            </a:r>
          </a:p>
        </p:txBody>
      </p:sp>
    </p:spTree>
    <p:extLst>
      <p:ext uri="{BB962C8B-B14F-4D97-AF65-F5344CB8AC3E}">
        <p14:creationId xmlns:p14="http://schemas.microsoft.com/office/powerpoint/2010/main" val="2200911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8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94">
          <a:extLst>
            <a:ext uri="{FF2B5EF4-FFF2-40B4-BE49-F238E27FC236}">
              <a16:creationId xmlns:a16="http://schemas.microsoft.com/office/drawing/2014/main" id="{1BF5E08D-8CD4-078B-4B41-C91472AFD584}"/>
            </a:ext>
          </a:extLst>
        </p:cNvPr>
        <p:cNvGrpSpPr/>
        <p:nvPr/>
      </p:nvGrpSpPr>
      <p:grpSpPr>
        <a:xfrm>
          <a:off x="0" y="0"/>
          <a:ext cx="0" cy="0"/>
          <a:chOff x="0" y="0"/>
          <a:chExt cx="0" cy="0"/>
        </a:xfrm>
      </p:grpSpPr>
      <p:pic>
        <p:nvPicPr>
          <p:cNvPr id="495" name="Google Shape;495;p45" descr="Une image contenant ciel, plein air, nuage, agriculture&#10;&#10;Description générée automatiquement">
            <a:extLst>
              <a:ext uri="{FF2B5EF4-FFF2-40B4-BE49-F238E27FC236}">
                <a16:creationId xmlns:a16="http://schemas.microsoft.com/office/drawing/2014/main" id="{188CD357-8349-6E05-783D-888DEFF4AD9C}"/>
              </a:ext>
            </a:extLst>
          </p:cNvPr>
          <p:cNvPicPr preferRelativeResize="0"/>
          <p:nvPr/>
        </p:nvPicPr>
        <p:blipFill rotWithShape="1">
          <a:blip r:embed="rId3">
            <a:alphaModFix/>
          </a:blip>
          <a:srcRect l="5973" t="9105" b="15903"/>
          <a:stretch/>
        </p:blipFill>
        <p:spPr>
          <a:xfrm>
            <a:off x="719138" y="0"/>
            <a:ext cx="11472863" cy="6858000"/>
          </a:xfrm>
          <a:prstGeom prst="rect">
            <a:avLst/>
          </a:prstGeom>
          <a:noFill/>
          <a:ln>
            <a:noFill/>
          </a:ln>
        </p:spPr>
      </p:pic>
      <p:sp>
        <p:nvSpPr>
          <p:cNvPr id="496" name="Google Shape;496;p45">
            <a:extLst>
              <a:ext uri="{FF2B5EF4-FFF2-40B4-BE49-F238E27FC236}">
                <a16:creationId xmlns:a16="http://schemas.microsoft.com/office/drawing/2014/main" id="{078F19F9-A057-6A7D-A7CE-DEAF3747C692}"/>
              </a:ext>
            </a:extLst>
          </p:cNvPr>
          <p:cNvSpPr/>
          <p:nvPr/>
        </p:nvSpPr>
        <p:spPr>
          <a:xfrm>
            <a:off x="664273" y="0"/>
            <a:ext cx="11527727" cy="6858000"/>
          </a:xfrm>
          <a:prstGeom prst="rect">
            <a:avLst/>
          </a:prstGeom>
          <a:solidFill>
            <a:schemeClr val="lt1">
              <a:alpha val="93725"/>
            </a:schemeClr>
          </a:solidFill>
          <a:ln>
            <a:noFill/>
          </a:ln>
          <a:effectLst>
            <a:outerShdw blurRad="876300" dist="393700" dir="5400000" algn="t" rotWithShape="0">
              <a:srgbClr val="000000">
                <a:alpha val="784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dirty="0">
              <a:solidFill>
                <a:srgbClr val="FF0000"/>
              </a:solidFill>
              <a:latin typeface="Calibri"/>
              <a:ea typeface="Calibri"/>
              <a:cs typeface="Calibri"/>
              <a:sym typeface="Calibri"/>
            </a:endParaRPr>
          </a:p>
        </p:txBody>
      </p:sp>
      <p:sp>
        <p:nvSpPr>
          <p:cNvPr id="497" name="Google Shape;497;p45">
            <a:extLst>
              <a:ext uri="{FF2B5EF4-FFF2-40B4-BE49-F238E27FC236}">
                <a16:creationId xmlns:a16="http://schemas.microsoft.com/office/drawing/2014/main" id="{74194582-A521-2A6D-2920-2383728AF946}"/>
              </a:ext>
            </a:extLst>
          </p:cNvPr>
          <p:cNvSpPr txBox="1"/>
          <p:nvPr/>
        </p:nvSpPr>
        <p:spPr>
          <a:xfrm rot="-5400000">
            <a:off x="-797364" y="5204656"/>
            <a:ext cx="2251455" cy="38856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lt1"/>
                </a:solidFill>
                <a:latin typeface="Nunito Sans SemiBold"/>
                <a:ea typeface="Nunito Sans SemiBold"/>
                <a:cs typeface="Nunito Sans SemiBold"/>
                <a:sym typeface="Nunito Sans SemiBold"/>
              </a:rPr>
              <a:t>AGRICOOL</a:t>
            </a:r>
            <a:endParaRPr sz="1400" b="0" i="0" u="none" strike="noStrike" cap="none">
              <a:solidFill>
                <a:srgbClr val="000000"/>
              </a:solidFill>
              <a:latin typeface="Arial"/>
              <a:ea typeface="Arial"/>
              <a:cs typeface="Arial"/>
              <a:sym typeface="Arial"/>
            </a:endParaRPr>
          </a:p>
        </p:txBody>
      </p:sp>
      <p:pic>
        <p:nvPicPr>
          <p:cNvPr id="503" name="Google Shape;503;p45" descr="Une image contenant capture d’écran, Bleu électrique, Police, Bleu Majorelle&#10;&#10;Description générée automatiquement">
            <a:extLst>
              <a:ext uri="{FF2B5EF4-FFF2-40B4-BE49-F238E27FC236}">
                <a16:creationId xmlns:a16="http://schemas.microsoft.com/office/drawing/2014/main" id="{E6204AAD-ADA0-240B-F554-6CC3A0B1663C}"/>
              </a:ext>
            </a:extLst>
          </p:cNvPr>
          <p:cNvPicPr preferRelativeResize="0"/>
          <p:nvPr/>
        </p:nvPicPr>
        <p:blipFill rotWithShape="1">
          <a:blip r:embed="rId4">
            <a:alphaModFix/>
          </a:blip>
          <a:srcRect/>
          <a:stretch/>
        </p:blipFill>
        <p:spPr>
          <a:xfrm>
            <a:off x="659183" y="6441981"/>
            <a:ext cx="1729633" cy="384363"/>
          </a:xfrm>
          <a:prstGeom prst="rect">
            <a:avLst/>
          </a:prstGeom>
          <a:noFill/>
          <a:ln>
            <a:noFill/>
          </a:ln>
        </p:spPr>
      </p:pic>
      <p:sp>
        <p:nvSpPr>
          <p:cNvPr id="504" name="Google Shape;504;p45">
            <a:extLst>
              <a:ext uri="{FF2B5EF4-FFF2-40B4-BE49-F238E27FC236}">
                <a16:creationId xmlns:a16="http://schemas.microsoft.com/office/drawing/2014/main" id="{3D280698-29EC-5DA9-4902-18A2ABDEA76A}"/>
              </a:ext>
            </a:extLst>
          </p:cNvPr>
          <p:cNvSpPr txBox="1">
            <a:spLocks noGrp="1"/>
          </p:cNvSpPr>
          <p:nvPr>
            <p:ph type="dt" idx="10"/>
          </p:nvPr>
        </p:nvSpPr>
        <p:spPr>
          <a:xfrm>
            <a:off x="9332517" y="64262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en-GB" dirty="0"/>
              <a:t>13 September 2026</a:t>
            </a:r>
            <a:endParaRPr dirty="0"/>
          </a:p>
        </p:txBody>
      </p:sp>
      <p:sp>
        <p:nvSpPr>
          <p:cNvPr id="505" name="Google Shape;505;p45">
            <a:extLst>
              <a:ext uri="{FF2B5EF4-FFF2-40B4-BE49-F238E27FC236}">
                <a16:creationId xmlns:a16="http://schemas.microsoft.com/office/drawing/2014/main" id="{E7F7ACA8-4A7C-9E52-EFEB-2E3F992BD0C6}"/>
              </a:ext>
            </a:extLst>
          </p:cNvPr>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200"/>
              <a:buNone/>
            </a:pPr>
            <a:fld id="{00000000-1234-1234-1234-123412341234}" type="slidenum">
              <a:rPr lang="en-GB"/>
              <a:t>30</a:t>
            </a:fld>
            <a:endParaRPr/>
          </a:p>
        </p:txBody>
      </p:sp>
      <p:sp>
        <p:nvSpPr>
          <p:cNvPr id="17" name="Title">
            <a:extLst>
              <a:ext uri="{FF2B5EF4-FFF2-40B4-BE49-F238E27FC236}">
                <a16:creationId xmlns:a16="http://schemas.microsoft.com/office/drawing/2014/main" id="{39331F53-4A3B-CC9F-7D44-49E0C2B80C83}"/>
              </a:ext>
            </a:extLst>
          </p:cNvPr>
          <p:cNvSpPr>
            <a:spLocks noGrp="1"/>
          </p:cNvSpPr>
          <p:nvPr/>
        </p:nvSpPr>
        <p:spPr>
          <a:xfrm>
            <a:off x="817543" y="331021"/>
            <a:ext cx="11738524" cy="638175"/>
          </a:xfrm>
          <a:prstGeom prst="rect">
            <a:avLst/>
          </a:prstGeom>
          <a:noFill/>
          <a:ln w="0">
            <a:noFill/>
          </a:ln>
        </p:spPr>
        <p:txBody>
          <a:bodyPr lIns="0" tIns="0" rIns="0" bIns="0" anchor="ctr">
            <a:noAutofit/>
          </a:bodyPr>
          <a:lstStyle/>
          <a:p>
            <a:pPr>
              <a:defRPr sz="3300" b="1">
                <a:solidFill>
                  <a:srgbClr val="14354E"/>
                </a:solidFill>
                <a:latin typeface="Bitstream Charter"/>
                <a:ea typeface="Bitstream Charter"/>
                <a:cs typeface="Bitstream Charter"/>
              </a:defRPr>
            </a:pPr>
            <a:r>
              <a:rPr lang="en-US" sz="4400" b="1" dirty="0">
                <a:solidFill>
                  <a:srgbClr val="30A4CF"/>
                </a:solidFill>
                <a:latin typeface="Nunito"/>
              </a:rPr>
              <a:t>PV Shortfall (Cloudy Day)</a:t>
            </a:r>
          </a:p>
        </p:txBody>
      </p:sp>
      <p:cxnSp>
        <p:nvCxnSpPr>
          <p:cNvPr id="10" name="Straight Connector 9">
            <a:extLst>
              <a:ext uri="{FF2B5EF4-FFF2-40B4-BE49-F238E27FC236}">
                <a16:creationId xmlns:a16="http://schemas.microsoft.com/office/drawing/2014/main" id="{7CD4613F-D18D-8965-B717-00E4B43B46DF}"/>
              </a:ext>
            </a:extLst>
          </p:cNvPr>
          <p:cNvCxnSpPr>
            <a:cxnSpLocks/>
          </p:cNvCxnSpPr>
          <p:nvPr/>
        </p:nvCxnSpPr>
        <p:spPr>
          <a:xfrm>
            <a:off x="6392374" y="1250899"/>
            <a:ext cx="0" cy="5164531"/>
          </a:xfrm>
          <a:prstGeom prst="line">
            <a:avLst/>
          </a:prstGeom>
          <a:solidFill>
            <a:srgbClr val="6CBEB0"/>
          </a:solidFill>
          <a:ln w="38100" cap="flat" cmpd="sng" algn="ctr">
            <a:solidFill>
              <a:srgbClr val="6CBEB0"/>
            </a:solidFill>
            <a:prstDash val="dash"/>
            <a:miter lim="800000"/>
          </a:ln>
          <a:effectLst/>
        </p:spPr>
      </p:cxnSp>
      <p:sp>
        <p:nvSpPr>
          <p:cNvPr id="20" name="TextBox 19">
            <a:extLst>
              <a:ext uri="{FF2B5EF4-FFF2-40B4-BE49-F238E27FC236}">
                <a16:creationId xmlns:a16="http://schemas.microsoft.com/office/drawing/2014/main" id="{FD0B82D1-8183-8A9E-D235-573146542D80}"/>
              </a:ext>
            </a:extLst>
          </p:cNvPr>
          <p:cNvSpPr txBox="1"/>
          <p:nvPr/>
        </p:nvSpPr>
        <p:spPr>
          <a:xfrm>
            <a:off x="9274325" y="3355707"/>
            <a:ext cx="740664" cy="369332"/>
          </a:xfrm>
          <a:prstGeom prst="rect">
            <a:avLst/>
          </a:prstGeom>
          <a:noFill/>
        </p:spPr>
        <p:txBody>
          <a:bodyPr wrap="square" rtlCol="0">
            <a:spAutoFit/>
          </a:bodyPr>
          <a:lstStyle/>
          <a:p>
            <a:r>
              <a:rPr lang="en-US" b="1" dirty="0">
                <a:solidFill>
                  <a:schemeClr val="tx2">
                    <a:lumMod val="90000"/>
                    <a:lumOff val="10000"/>
                  </a:schemeClr>
                </a:solidFill>
              </a:rPr>
              <a:t>9.63</a:t>
            </a:r>
          </a:p>
        </p:txBody>
      </p:sp>
      <p:pic>
        <p:nvPicPr>
          <p:cNvPr id="2" name="Picture 1">
            <a:extLst>
              <a:ext uri="{FF2B5EF4-FFF2-40B4-BE49-F238E27FC236}">
                <a16:creationId xmlns:a16="http://schemas.microsoft.com/office/drawing/2014/main" id="{DF584F01-58A3-3F8A-B519-25C2EA3B6BFA}"/>
              </a:ext>
            </a:extLst>
          </p:cNvPr>
          <p:cNvPicPr>
            <a:picLocks noChangeAspect="1"/>
          </p:cNvPicPr>
          <p:nvPr/>
        </p:nvPicPr>
        <p:blipFill>
          <a:blip r:embed="rId5"/>
          <a:srcRect b="65672"/>
          <a:stretch>
            <a:fillRect/>
          </a:stretch>
        </p:blipFill>
        <p:spPr>
          <a:xfrm>
            <a:off x="1297236" y="1013739"/>
            <a:ext cx="4588354" cy="1861436"/>
          </a:xfrm>
          <a:prstGeom prst="rect">
            <a:avLst/>
          </a:prstGeom>
        </p:spPr>
      </p:pic>
      <p:pic>
        <p:nvPicPr>
          <p:cNvPr id="483" name="Picture 482">
            <a:extLst>
              <a:ext uri="{FF2B5EF4-FFF2-40B4-BE49-F238E27FC236}">
                <a16:creationId xmlns:a16="http://schemas.microsoft.com/office/drawing/2014/main" id="{0482DF79-DF71-E1A1-7CB3-BB001835E2F7}"/>
              </a:ext>
            </a:extLst>
          </p:cNvPr>
          <p:cNvPicPr>
            <a:picLocks noChangeAspect="1"/>
          </p:cNvPicPr>
          <p:nvPr/>
        </p:nvPicPr>
        <p:blipFill>
          <a:blip r:embed="rId6"/>
          <a:stretch>
            <a:fillRect/>
          </a:stretch>
        </p:blipFill>
        <p:spPr>
          <a:xfrm>
            <a:off x="2335519" y="1928261"/>
            <a:ext cx="281940" cy="224763"/>
          </a:xfrm>
          <a:prstGeom prst="rect">
            <a:avLst/>
          </a:prstGeom>
        </p:spPr>
      </p:pic>
      <p:pic>
        <p:nvPicPr>
          <p:cNvPr id="13" name="Picture 12">
            <a:extLst>
              <a:ext uri="{FF2B5EF4-FFF2-40B4-BE49-F238E27FC236}">
                <a16:creationId xmlns:a16="http://schemas.microsoft.com/office/drawing/2014/main" id="{A1ACADF6-685E-A040-2702-526E1CE9D0C4}"/>
              </a:ext>
            </a:extLst>
          </p:cNvPr>
          <p:cNvPicPr>
            <a:picLocks noChangeAspect="1"/>
          </p:cNvPicPr>
          <p:nvPr/>
        </p:nvPicPr>
        <p:blipFill>
          <a:blip r:embed="rId5"/>
          <a:srcRect b="36437"/>
          <a:stretch>
            <a:fillRect/>
          </a:stretch>
        </p:blipFill>
        <p:spPr>
          <a:xfrm>
            <a:off x="1222681" y="1003600"/>
            <a:ext cx="4588354" cy="3446773"/>
          </a:xfrm>
          <a:prstGeom prst="rect">
            <a:avLst/>
          </a:prstGeom>
        </p:spPr>
      </p:pic>
      <p:pic>
        <p:nvPicPr>
          <p:cNvPr id="18" name="Picture 17">
            <a:extLst>
              <a:ext uri="{FF2B5EF4-FFF2-40B4-BE49-F238E27FC236}">
                <a16:creationId xmlns:a16="http://schemas.microsoft.com/office/drawing/2014/main" id="{88F25FE7-372D-E219-CD3B-A0BEBCDCAFBF}"/>
              </a:ext>
            </a:extLst>
          </p:cNvPr>
          <p:cNvPicPr>
            <a:picLocks noChangeAspect="1"/>
          </p:cNvPicPr>
          <p:nvPr/>
        </p:nvPicPr>
        <p:blipFill>
          <a:blip r:embed="rId5"/>
          <a:stretch>
            <a:fillRect/>
          </a:stretch>
        </p:blipFill>
        <p:spPr>
          <a:xfrm>
            <a:off x="1222681" y="1003600"/>
            <a:ext cx="4588354" cy="5422600"/>
          </a:xfrm>
          <a:prstGeom prst="rect">
            <a:avLst/>
          </a:prstGeom>
        </p:spPr>
      </p:pic>
      <p:pic>
        <p:nvPicPr>
          <p:cNvPr id="4" name="Picture 3">
            <a:extLst>
              <a:ext uri="{FF2B5EF4-FFF2-40B4-BE49-F238E27FC236}">
                <a16:creationId xmlns:a16="http://schemas.microsoft.com/office/drawing/2014/main" id="{C78D9612-335D-0581-9221-799BAAD510EA}"/>
              </a:ext>
            </a:extLst>
          </p:cNvPr>
          <p:cNvPicPr>
            <a:picLocks noChangeAspect="1"/>
          </p:cNvPicPr>
          <p:nvPr/>
        </p:nvPicPr>
        <p:blipFill>
          <a:blip r:embed="rId7"/>
          <a:srcRect b="65779"/>
          <a:stretch>
            <a:fillRect/>
          </a:stretch>
        </p:blipFill>
        <p:spPr>
          <a:xfrm>
            <a:off x="6995048" y="1019589"/>
            <a:ext cx="4588178" cy="1855586"/>
          </a:xfrm>
          <a:prstGeom prst="rect">
            <a:avLst/>
          </a:prstGeom>
        </p:spPr>
      </p:pic>
      <p:pic>
        <p:nvPicPr>
          <p:cNvPr id="5" name="Picture 4">
            <a:extLst>
              <a:ext uri="{FF2B5EF4-FFF2-40B4-BE49-F238E27FC236}">
                <a16:creationId xmlns:a16="http://schemas.microsoft.com/office/drawing/2014/main" id="{B02C178F-6E88-15B1-8750-57E2C0F39BF2}"/>
              </a:ext>
            </a:extLst>
          </p:cNvPr>
          <p:cNvPicPr>
            <a:picLocks noChangeAspect="1"/>
          </p:cNvPicPr>
          <p:nvPr/>
        </p:nvPicPr>
        <p:blipFill>
          <a:blip r:embed="rId6"/>
          <a:stretch>
            <a:fillRect/>
          </a:stretch>
        </p:blipFill>
        <p:spPr>
          <a:xfrm>
            <a:off x="7998214" y="1832075"/>
            <a:ext cx="281940" cy="224763"/>
          </a:xfrm>
          <a:prstGeom prst="rect">
            <a:avLst/>
          </a:prstGeom>
        </p:spPr>
      </p:pic>
      <p:pic>
        <p:nvPicPr>
          <p:cNvPr id="7" name="Picture 6">
            <a:extLst>
              <a:ext uri="{FF2B5EF4-FFF2-40B4-BE49-F238E27FC236}">
                <a16:creationId xmlns:a16="http://schemas.microsoft.com/office/drawing/2014/main" id="{D427C79B-679C-BF74-738A-A7CE312D6F58}"/>
              </a:ext>
            </a:extLst>
          </p:cNvPr>
          <p:cNvPicPr>
            <a:picLocks noChangeAspect="1"/>
          </p:cNvPicPr>
          <p:nvPr/>
        </p:nvPicPr>
        <p:blipFill>
          <a:blip r:embed="rId7"/>
          <a:srcRect b="36730"/>
          <a:stretch>
            <a:fillRect/>
          </a:stretch>
        </p:blipFill>
        <p:spPr>
          <a:xfrm>
            <a:off x="6995048" y="1019589"/>
            <a:ext cx="4588178" cy="3430784"/>
          </a:xfrm>
          <a:prstGeom prst="rect">
            <a:avLst/>
          </a:prstGeom>
        </p:spPr>
      </p:pic>
      <p:pic>
        <p:nvPicPr>
          <p:cNvPr id="12" name="Picture 11">
            <a:extLst>
              <a:ext uri="{FF2B5EF4-FFF2-40B4-BE49-F238E27FC236}">
                <a16:creationId xmlns:a16="http://schemas.microsoft.com/office/drawing/2014/main" id="{C0628DC0-8FD8-E361-51D3-7D12D87E37D3}"/>
              </a:ext>
            </a:extLst>
          </p:cNvPr>
          <p:cNvPicPr>
            <a:picLocks noChangeAspect="1"/>
          </p:cNvPicPr>
          <p:nvPr/>
        </p:nvPicPr>
        <p:blipFill>
          <a:blip r:embed="rId7"/>
          <a:stretch>
            <a:fillRect/>
          </a:stretch>
        </p:blipFill>
        <p:spPr>
          <a:xfrm>
            <a:off x="6995048" y="1019589"/>
            <a:ext cx="4588178" cy="5422392"/>
          </a:xfrm>
          <a:prstGeom prst="rect">
            <a:avLst/>
          </a:prstGeom>
        </p:spPr>
      </p:pic>
      <p:sp>
        <p:nvSpPr>
          <p:cNvPr id="14" name="Rectangle 13">
            <a:extLst>
              <a:ext uri="{FF2B5EF4-FFF2-40B4-BE49-F238E27FC236}">
                <a16:creationId xmlns:a16="http://schemas.microsoft.com/office/drawing/2014/main" id="{01CC9D09-1395-7E62-C076-02FBC9E3C287}"/>
              </a:ext>
            </a:extLst>
          </p:cNvPr>
          <p:cNvSpPr/>
          <p:nvPr/>
        </p:nvSpPr>
        <p:spPr>
          <a:xfrm>
            <a:off x="817543" y="1011157"/>
            <a:ext cx="11287799" cy="5427763"/>
          </a:xfrm>
          <a:prstGeom prst="rect">
            <a:avLst/>
          </a:prstGeom>
          <a:solidFill>
            <a:schemeClr val="bg1">
              <a:alpha val="6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a:extLst>
              <a:ext uri="{FF2B5EF4-FFF2-40B4-BE49-F238E27FC236}">
                <a16:creationId xmlns:a16="http://schemas.microsoft.com/office/drawing/2014/main" id="{6BF4F357-D6A9-BE61-4FED-025768B55126}"/>
              </a:ext>
            </a:extLst>
          </p:cNvPr>
          <p:cNvSpPr txBox="1">
            <a:spLocks/>
          </p:cNvSpPr>
          <p:nvPr/>
        </p:nvSpPr>
        <p:spPr>
          <a:xfrm>
            <a:off x="2634297" y="3240852"/>
            <a:ext cx="7787682" cy="860381"/>
          </a:xfrm>
          <a:prstGeom prst="rect">
            <a:avLst/>
          </a:prstGeom>
          <a:solidFill>
            <a:srgbClr val="D4ECE8"/>
          </a:solidFill>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b="1" dirty="0"/>
              <a:t>Sizing strategy depends on whether the design targets typical or worst-case operation.</a:t>
            </a:r>
          </a:p>
        </p:txBody>
      </p:sp>
    </p:spTree>
    <p:extLst>
      <p:ext uri="{BB962C8B-B14F-4D97-AF65-F5344CB8AC3E}">
        <p14:creationId xmlns:p14="http://schemas.microsoft.com/office/powerpoint/2010/main" val="3889898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94">
          <a:extLst>
            <a:ext uri="{FF2B5EF4-FFF2-40B4-BE49-F238E27FC236}">
              <a16:creationId xmlns:a16="http://schemas.microsoft.com/office/drawing/2014/main" id="{47ECE161-8AA5-3C3C-60C6-CE8F449C3AAE}"/>
            </a:ext>
          </a:extLst>
        </p:cNvPr>
        <p:cNvGrpSpPr/>
        <p:nvPr/>
      </p:nvGrpSpPr>
      <p:grpSpPr>
        <a:xfrm>
          <a:off x="0" y="0"/>
          <a:ext cx="0" cy="0"/>
          <a:chOff x="0" y="0"/>
          <a:chExt cx="0" cy="0"/>
        </a:xfrm>
      </p:grpSpPr>
      <p:pic>
        <p:nvPicPr>
          <p:cNvPr id="495" name="Google Shape;495;p45" descr="Une image contenant ciel, plein air, nuage, agriculture&#10;&#10;Description générée automatiquement">
            <a:extLst>
              <a:ext uri="{FF2B5EF4-FFF2-40B4-BE49-F238E27FC236}">
                <a16:creationId xmlns:a16="http://schemas.microsoft.com/office/drawing/2014/main" id="{176CA8C4-7438-8FD5-316B-BDDBBC6003EF}"/>
              </a:ext>
            </a:extLst>
          </p:cNvPr>
          <p:cNvPicPr preferRelativeResize="0"/>
          <p:nvPr/>
        </p:nvPicPr>
        <p:blipFill rotWithShape="1">
          <a:blip r:embed="rId3">
            <a:alphaModFix/>
          </a:blip>
          <a:srcRect l="5973" t="9105" b="15903"/>
          <a:stretch/>
        </p:blipFill>
        <p:spPr>
          <a:xfrm>
            <a:off x="719138" y="0"/>
            <a:ext cx="11472863" cy="6858000"/>
          </a:xfrm>
          <a:prstGeom prst="rect">
            <a:avLst/>
          </a:prstGeom>
          <a:noFill/>
          <a:ln>
            <a:noFill/>
          </a:ln>
        </p:spPr>
      </p:pic>
      <p:sp>
        <p:nvSpPr>
          <p:cNvPr id="496" name="Google Shape;496;p45">
            <a:extLst>
              <a:ext uri="{FF2B5EF4-FFF2-40B4-BE49-F238E27FC236}">
                <a16:creationId xmlns:a16="http://schemas.microsoft.com/office/drawing/2014/main" id="{17631184-CF66-49A9-51F5-5A0506CD57A3}"/>
              </a:ext>
            </a:extLst>
          </p:cNvPr>
          <p:cNvSpPr/>
          <p:nvPr/>
        </p:nvSpPr>
        <p:spPr>
          <a:xfrm>
            <a:off x="664273" y="0"/>
            <a:ext cx="11527727" cy="6858000"/>
          </a:xfrm>
          <a:prstGeom prst="rect">
            <a:avLst/>
          </a:prstGeom>
          <a:solidFill>
            <a:schemeClr val="lt1">
              <a:alpha val="93725"/>
            </a:schemeClr>
          </a:solidFill>
          <a:ln>
            <a:noFill/>
          </a:ln>
          <a:effectLst>
            <a:outerShdw blurRad="876300" dist="393700" dir="5400000" algn="t" rotWithShape="0">
              <a:srgbClr val="000000">
                <a:alpha val="784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dirty="0">
              <a:solidFill>
                <a:srgbClr val="FF0000"/>
              </a:solidFill>
              <a:latin typeface="Calibri"/>
              <a:ea typeface="Calibri"/>
              <a:cs typeface="Calibri"/>
              <a:sym typeface="Calibri"/>
            </a:endParaRPr>
          </a:p>
        </p:txBody>
      </p:sp>
      <p:sp>
        <p:nvSpPr>
          <p:cNvPr id="497" name="Google Shape;497;p45">
            <a:extLst>
              <a:ext uri="{FF2B5EF4-FFF2-40B4-BE49-F238E27FC236}">
                <a16:creationId xmlns:a16="http://schemas.microsoft.com/office/drawing/2014/main" id="{41BAFDE5-FF30-E054-D80C-EF03B0EEDEDC}"/>
              </a:ext>
            </a:extLst>
          </p:cNvPr>
          <p:cNvSpPr txBox="1"/>
          <p:nvPr/>
        </p:nvSpPr>
        <p:spPr>
          <a:xfrm rot="-5400000">
            <a:off x="-797364" y="5204656"/>
            <a:ext cx="2251455" cy="38856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lt1"/>
                </a:solidFill>
                <a:latin typeface="Nunito Sans SemiBold"/>
                <a:ea typeface="Nunito Sans SemiBold"/>
                <a:cs typeface="Nunito Sans SemiBold"/>
                <a:sym typeface="Nunito Sans SemiBold"/>
              </a:rPr>
              <a:t>AGRICOOL</a:t>
            </a:r>
            <a:endParaRPr sz="1400" b="0" i="0" u="none" strike="noStrike" cap="none">
              <a:solidFill>
                <a:srgbClr val="000000"/>
              </a:solidFill>
              <a:latin typeface="Arial"/>
              <a:ea typeface="Arial"/>
              <a:cs typeface="Arial"/>
              <a:sym typeface="Arial"/>
            </a:endParaRPr>
          </a:p>
        </p:txBody>
      </p:sp>
      <p:pic>
        <p:nvPicPr>
          <p:cNvPr id="503" name="Google Shape;503;p45" descr="Une image contenant capture d’écran, Bleu électrique, Police, Bleu Majorelle&#10;&#10;Description générée automatiquement">
            <a:extLst>
              <a:ext uri="{FF2B5EF4-FFF2-40B4-BE49-F238E27FC236}">
                <a16:creationId xmlns:a16="http://schemas.microsoft.com/office/drawing/2014/main" id="{B56F12E4-045D-C168-ADB0-98927506469D}"/>
              </a:ext>
            </a:extLst>
          </p:cNvPr>
          <p:cNvPicPr preferRelativeResize="0"/>
          <p:nvPr/>
        </p:nvPicPr>
        <p:blipFill rotWithShape="1">
          <a:blip r:embed="rId4">
            <a:alphaModFix/>
          </a:blip>
          <a:srcRect/>
          <a:stretch/>
        </p:blipFill>
        <p:spPr>
          <a:xfrm>
            <a:off x="659183" y="6441981"/>
            <a:ext cx="1729633" cy="384363"/>
          </a:xfrm>
          <a:prstGeom prst="rect">
            <a:avLst/>
          </a:prstGeom>
          <a:noFill/>
          <a:ln>
            <a:noFill/>
          </a:ln>
        </p:spPr>
      </p:pic>
      <p:sp>
        <p:nvSpPr>
          <p:cNvPr id="504" name="Google Shape;504;p45">
            <a:extLst>
              <a:ext uri="{FF2B5EF4-FFF2-40B4-BE49-F238E27FC236}">
                <a16:creationId xmlns:a16="http://schemas.microsoft.com/office/drawing/2014/main" id="{6142EC72-BD71-95C9-008B-EB75E6D95691}"/>
              </a:ext>
            </a:extLst>
          </p:cNvPr>
          <p:cNvSpPr txBox="1">
            <a:spLocks noGrp="1"/>
          </p:cNvSpPr>
          <p:nvPr>
            <p:ph type="dt" idx="10"/>
          </p:nvPr>
        </p:nvSpPr>
        <p:spPr>
          <a:xfrm>
            <a:off x="9332517" y="64262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en-GB" dirty="0"/>
              <a:t>13 September 2026</a:t>
            </a:r>
            <a:endParaRPr dirty="0"/>
          </a:p>
        </p:txBody>
      </p:sp>
      <p:sp>
        <p:nvSpPr>
          <p:cNvPr id="505" name="Google Shape;505;p45">
            <a:extLst>
              <a:ext uri="{FF2B5EF4-FFF2-40B4-BE49-F238E27FC236}">
                <a16:creationId xmlns:a16="http://schemas.microsoft.com/office/drawing/2014/main" id="{F34FA317-3D7A-3556-2A8D-5CD289590789}"/>
              </a:ext>
            </a:extLst>
          </p:cNvPr>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200"/>
              <a:buNone/>
            </a:pPr>
            <a:fld id="{00000000-1234-1234-1234-123412341234}" type="slidenum">
              <a:rPr lang="en-GB"/>
              <a:t>31</a:t>
            </a:fld>
            <a:endParaRPr/>
          </a:p>
        </p:txBody>
      </p:sp>
      <p:sp>
        <p:nvSpPr>
          <p:cNvPr id="3" name="Title">
            <a:extLst>
              <a:ext uri="{FF2B5EF4-FFF2-40B4-BE49-F238E27FC236}">
                <a16:creationId xmlns:a16="http://schemas.microsoft.com/office/drawing/2014/main" id="{C4ED9A8A-6378-C331-C973-1880520B32DB}"/>
              </a:ext>
            </a:extLst>
          </p:cNvPr>
          <p:cNvSpPr>
            <a:spLocks noGrp="1"/>
          </p:cNvSpPr>
          <p:nvPr/>
        </p:nvSpPr>
        <p:spPr>
          <a:xfrm>
            <a:off x="897472" y="307974"/>
            <a:ext cx="10972800" cy="638175"/>
          </a:xfrm>
          <a:prstGeom prst="rect">
            <a:avLst/>
          </a:prstGeom>
          <a:noFill/>
          <a:ln w="0">
            <a:noFill/>
          </a:ln>
        </p:spPr>
        <p:txBody>
          <a:bodyPr lIns="0" tIns="0" rIns="0" bIns="0" anchor="ctr">
            <a:noAutofit/>
          </a:bodyPr>
          <a:lstStyle/>
          <a:p>
            <a:pPr algn="l">
              <a:defRPr sz="3300" b="1">
                <a:solidFill>
                  <a:srgbClr val="14354E"/>
                </a:solidFill>
                <a:latin typeface="Bitstream Charter"/>
                <a:ea typeface="Bitstream Charter"/>
                <a:cs typeface="Bitstream Charter"/>
              </a:defRPr>
            </a:pPr>
            <a:r>
              <a:rPr sz="4400" b="1" dirty="0">
                <a:solidFill>
                  <a:srgbClr val="30A4CF"/>
                </a:solidFill>
                <a:latin typeface="Nunito"/>
              </a:rPr>
              <a:t>What the model helps us understand</a:t>
            </a:r>
          </a:p>
        </p:txBody>
      </p:sp>
      <p:sp>
        <p:nvSpPr>
          <p:cNvPr id="5" name="Subtitle">
            <a:extLst>
              <a:ext uri="{FF2B5EF4-FFF2-40B4-BE49-F238E27FC236}">
                <a16:creationId xmlns:a16="http://schemas.microsoft.com/office/drawing/2014/main" id="{EB8CDED7-C022-60F1-46C0-4C6D81ED9D46}"/>
              </a:ext>
            </a:extLst>
          </p:cNvPr>
          <p:cNvSpPr>
            <a:spLocks noGrp="1"/>
          </p:cNvSpPr>
          <p:nvPr/>
        </p:nvSpPr>
        <p:spPr>
          <a:xfrm>
            <a:off x="897472" y="1041399"/>
            <a:ext cx="10972800" cy="533400"/>
          </a:xfrm>
          <a:prstGeom prst="rect">
            <a:avLst/>
          </a:prstGeom>
          <a:noFill/>
          <a:ln w="0">
            <a:noFill/>
          </a:ln>
        </p:spPr>
        <p:txBody>
          <a:bodyPr lIns="0" tIns="0" rIns="0" bIns="0" anchor="ctr">
            <a:noAutofit/>
          </a:bodyPr>
          <a:lstStyle/>
          <a:p>
            <a:pPr algn="l">
              <a:defRPr sz="2025" b="0">
                <a:solidFill>
                  <a:srgbClr val="456174"/>
                </a:solidFill>
                <a:latin typeface="Bitstream Charter"/>
                <a:ea typeface="Bitstream Charter"/>
                <a:cs typeface="Bitstream Charter"/>
              </a:defRPr>
            </a:pPr>
            <a:r>
              <a:rPr sz="2025" b="0">
                <a:solidFill>
                  <a:srgbClr val="456174"/>
                </a:solidFill>
                <a:latin typeface="Arial" panose="020B0604020202020204" pitchFamily="34" charset="0"/>
                <a:ea typeface="Bitstream Charter"/>
                <a:cs typeface="Arial" panose="020B0604020202020204" pitchFamily="34" charset="0"/>
              </a:rPr>
              <a:t>Will the cooling system maintain the required temperature, day and night?</a:t>
            </a:r>
          </a:p>
        </p:txBody>
      </p:sp>
      <p:sp>
        <p:nvSpPr>
          <p:cNvPr id="7" name="Performance changes over time">
            <a:extLst>
              <a:ext uri="{FF2B5EF4-FFF2-40B4-BE49-F238E27FC236}">
                <a16:creationId xmlns:a16="http://schemas.microsoft.com/office/drawing/2014/main" id="{CDF58A42-A230-D3AF-888B-361B5B931130}"/>
              </a:ext>
            </a:extLst>
          </p:cNvPr>
          <p:cNvSpPr>
            <a:spLocks noGrp="1"/>
          </p:cNvSpPr>
          <p:nvPr/>
        </p:nvSpPr>
        <p:spPr>
          <a:xfrm>
            <a:off x="897472" y="1974849"/>
            <a:ext cx="10972800" cy="428625"/>
          </a:xfrm>
          <a:prstGeom prst="rect">
            <a:avLst/>
          </a:prstGeom>
          <a:noFill/>
          <a:ln w="0">
            <a:noFill/>
          </a:ln>
        </p:spPr>
        <p:txBody>
          <a:bodyPr lIns="0" tIns="0" rIns="0" bIns="0" anchor="ctr">
            <a:noAutofit/>
          </a:bodyPr>
          <a:lstStyle/>
          <a:p>
            <a:pPr algn="l">
              <a:defRPr sz="2400" b="1">
                <a:solidFill>
                  <a:srgbClr val="096AA8"/>
                </a:solidFill>
                <a:latin typeface="Bitstream Charter"/>
                <a:ea typeface="Bitstream Charter"/>
                <a:cs typeface="Bitstream Charter"/>
              </a:defRPr>
            </a:pPr>
            <a:r>
              <a:rPr sz="2400" b="1">
                <a:solidFill>
                  <a:srgbClr val="096AA8"/>
                </a:solidFill>
                <a:latin typeface="Arial" panose="020B0604020202020204" pitchFamily="34" charset="0"/>
                <a:ea typeface="Bitstream Charter"/>
                <a:cs typeface="Arial" panose="020B0604020202020204" pitchFamily="34" charset="0"/>
              </a:rPr>
              <a:t>Performance changes over time</a:t>
            </a:r>
          </a:p>
        </p:txBody>
      </p:sp>
      <p:sp>
        <p:nvSpPr>
          <p:cNvPr id="9" name="Performance changes over time body">
            <a:extLst>
              <a:ext uri="{FF2B5EF4-FFF2-40B4-BE49-F238E27FC236}">
                <a16:creationId xmlns:a16="http://schemas.microsoft.com/office/drawing/2014/main" id="{C794ED2B-8DE9-7416-D505-7FF5E0A02925}"/>
              </a:ext>
            </a:extLst>
          </p:cNvPr>
          <p:cNvSpPr>
            <a:spLocks noGrp="1"/>
          </p:cNvSpPr>
          <p:nvPr/>
        </p:nvSpPr>
        <p:spPr>
          <a:xfrm>
            <a:off x="897472" y="2441574"/>
            <a:ext cx="10572750" cy="590550"/>
          </a:xfrm>
          <a:prstGeom prst="rect">
            <a:avLst/>
          </a:prstGeom>
          <a:noFill/>
          <a:ln w="0">
            <a:noFill/>
          </a:ln>
        </p:spPr>
        <p:txBody>
          <a:bodyPr lIns="0" tIns="0" rIns="0" bIns="0" anchor="ctr">
            <a:noAutofit/>
          </a:bodyPr>
          <a:lstStyle/>
          <a:p>
            <a:pPr algn="l">
              <a:defRPr sz="2100" b="0">
                <a:solidFill>
                  <a:srgbClr val="14354E"/>
                </a:solidFill>
                <a:latin typeface="Bitstream Charter"/>
                <a:ea typeface="Bitstream Charter"/>
                <a:cs typeface="Bitstream Charter"/>
              </a:defRPr>
            </a:pPr>
            <a:r>
              <a:rPr sz="2100" b="0">
                <a:solidFill>
                  <a:srgbClr val="14354E"/>
                </a:solidFill>
                <a:latin typeface="Arial" panose="020B0604020202020204" pitchFamily="34" charset="0"/>
                <a:ea typeface="Bitstream Charter"/>
                <a:cs typeface="Arial" panose="020B0604020202020204" pitchFamily="34" charset="0"/>
              </a:rPr>
              <a:t>Solar availability and crop arrival determine when cooling is available and needed.</a:t>
            </a:r>
          </a:p>
        </p:txBody>
      </p:sp>
      <p:sp>
        <p:nvSpPr>
          <p:cNvPr id="11" name="Components work as a system">
            <a:extLst>
              <a:ext uri="{FF2B5EF4-FFF2-40B4-BE49-F238E27FC236}">
                <a16:creationId xmlns:a16="http://schemas.microsoft.com/office/drawing/2014/main" id="{762AD29B-5A6B-AC5C-41B0-BC280238023D}"/>
              </a:ext>
            </a:extLst>
          </p:cNvPr>
          <p:cNvSpPr>
            <a:spLocks noGrp="1"/>
          </p:cNvSpPr>
          <p:nvPr/>
        </p:nvSpPr>
        <p:spPr>
          <a:xfrm>
            <a:off x="897472" y="3298824"/>
            <a:ext cx="10972800" cy="428625"/>
          </a:xfrm>
          <a:prstGeom prst="rect">
            <a:avLst/>
          </a:prstGeom>
          <a:noFill/>
          <a:ln w="0">
            <a:noFill/>
          </a:ln>
        </p:spPr>
        <p:txBody>
          <a:bodyPr lIns="0" tIns="0" rIns="0" bIns="0" anchor="ctr">
            <a:noAutofit/>
          </a:bodyPr>
          <a:lstStyle/>
          <a:p>
            <a:pPr algn="l">
              <a:defRPr sz="2400" b="1">
                <a:solidFill>
                  <a:srgbClr val="096AA8"/>
                </a:solidFill>
                <a:latin typeface="Bitstream Charter"/>
                <a:ea typeface="Bitstream Charter"/>
                <a:cs typeface="Bitstream Charter"/>
              </a:defRPr>
            </a:pPr>
            <a:r>
              <a:rPr sz="2400" b="1">
                <a:solidFill>
                  <a:srgbClr val="096AA8"/>
                </a:solidFill>
                <a:latin typeface="Arial" panose="020B0604020202020204" pitchFamily="34" charset="0"/>
                <a:ea typeface="Bitstream Charter"/>
                <a:cs typeface="Arial" panose="020B0604020202020204" pitchFamily="34" charset="0"/>
              </a:rPr>
              <a:t>Components work as a system</a:t>
            </a:r>
          </a:p>
        </p:txBody>
      </p:sp>
      <p:sp>
        <p:nvSpPr>
          <p:cNvPr id="13" name="Components work as a system body">
            <a:extLst>
              <a:ext uri="{FF2B5EF4-FFF2-40B4-BE49-F238E27FC236}">
                <a16:creationId xmlns:a16="http://schemas.microsoft.com/office/drawing/2014/main" id="{11D206DA-558E-5BD6-B348-411A17476555}"/>
              </a:ext>
            </a:extLst>
          </p:cNvPr>
          <p:cNvSpPr>
            <a:spLocks noGrp="1"/>
          </p:cNvSpPr>
          <p:nvPr/>
        </p:nvSpPr>
        <p:spPr>
          <a:xfrm>
            <a:off x="897472" y="3765549"/>
            <a:ext cx="10572750" cy="590550"/>
          </a:xfrm>
          <a:prstGeom prst="rect">
            <a:avLst/>
          </a:prstGeom>
          <a:noFill/>
          <a:ln w="0">
            <a:noFill/>
          </a:ln>
        </p:spPr>
        <p:txBody>
          <a:bodyPr lIns="0" tIns="0" rIns="0" bIns="0" anchor="ctr">
            <a:noAutofit/>
          </a:bodyPr>
          <a:lstStyle/>
          <a:p>
            <a:pPr algn="l">
              <a:defRPr sz="2100" b="0">
                <a:solidFill>
                  <a:srgbClr val="14354E"/>
                </a:solidFill>
                <a:latin typeface="Bitstream Charter"/>
                <a:ea typeface="Bitstream Charter"/>
                <a:cs typeface="Bitstream Charter"/>
              </a:defRPr>
            </a:pPr>
            <a:r>
              <a:rPr sz="2100" b="0">
                <a:solidFill>
                  <a:srgbClr val="14354E"/>
                </a:solidFill>
                <a:latin typeface="Arial" panose="020B0604020202020204" pitchFamily="34" charset="0"/>
                <a:ea typeface="Bitstream Charter"/>
                <a:cs typeface="Arial" panose="020B0604020202020204" pitchFamily="34" charset="0"/>
              </a:rPr>
              <a:t>Ice storage shifts cooling to later hours. Control coordinates the equipment.</a:t>
            </a:r>
          </a:p>
        </p:txBody>
      </p:sp>
      <p:sp>
        <p:nvSpPr>
          <p:cNvPr id="15" name="Scenarios support design decisions">
            <a:extLst>
              <a:ext uri="{FF2B5EF4-FFF2-40B4-BE49-F238E27FC236}">
                <a16:creationId xmlns:a16="http://schemas.microsoft.com/office/drawing/2014/main" id="{BF9E71A2-BEBC-8CD3-74EE-7C9F76A7E33E}"/>
              </a:ext>
            </a:extLst>
          </p:cNvPr>
          <p:cNvSpPr>
            <a:spLocks noGrp="1"/>
          </p:cNvSpPr>
          <p:nvPr/>
        </p:nvSpPr>
        <p:spPr>
          <a:xfrm>
            <a:off x="897472" y="4622799"/>
            <a:ext cx="10972800" cy="428625"/>
          </a:xfrm>
          <a:prstGeom prst="rect">
            <a:avLst/>
          </a:prstGeom>
          <a:noFill/>
          <a:ln w="0">
            <a:noFill/>
          </a:ln>
        </p:spPr>
        <p:txBody>
          <a:bodyPr lIns="0" tIns="0" rIns="0" bIns="0" anchor="ctr">
            <a:noAutofit/>
          </a:bodyPr>
          <a:lstStyle/>
          <a:p>
            <a:pPr algn="l">
              <a:defRPr sz="2400" b="1">
                <a:solidFill>
                  <a:srgbClr val="096AA8"/>
                </a:solidFill>
                <a:latin typeface="Bitstream Charter"/>
                <a:ea typeface="Bitstream Charter"/>
                <a:cs typeface="Bitstream Charter"/>
              </a:defRPr>
            </a:pPr>
            <a:r>
              <a:rPr sz="2400" b="1">
                <a:solidFill>
                  <a:srgbClr val="096AA8"/>
                </a:solidFill>
                <a:latin typeface="Arial" panose="020B0604020202020204" pitchFamily="34" charset="0"/>
                <a:ea typeface="Bitstream Charter"/>
                <a:cs typeface="Arial" panose="020B0604020202020204" pitchFamily="34" charset="0"/>
              </a:rPr>
              <a:t>Scenarios support design decisions</a:t>
            </a:r>
          </a:p>
        </p:txBody>
      </p:sp>
      <p:sp>
        <p:nvSpPr>
          <p:cNvPr id="18" name="Scenarios support design decisions body">
            <a:extLst>
              <a:ext uri="{FF2B5EF4-FFF2-40B4-BE49-F238E27FC236}">
                <a16:creationId xmlns:a16="http://schemas.microsoft.com/office/drawing/2014/main" id="{22789C6B-BDBD-DCF1-C36B-7BE45DFF258D}"/>
              </a:ext>
            </a:extLst>
          </p:cNvPr>
          <p:cNvSpPr>
            <a:spLocks noGrp="1"/>
          </p:cNvSpPr>
          <p:nvPr/>
        </p:nvSpPr>
        <p:spPr>
          <a:xfrm>
            <a:off x="897472" y="5089524"/>
            <a:ext cx="10572750" cy="590550"/>
          </a:xfrm>
          <a:prstGeom prst="rect">
            <a:avLst/>
          </a:prstGeom>
          <a:noFill/>
          <a:ln w="0">
            <a:noFill/>
          </a:ln>
        </p:spPr>
        <p:txBody>
          <a:bodyPr lIns="0" tIns="0" rIns="0" bIns="0" anchor="ctr">
            <a:noAutofit/>
          </a:bodyPr>
          <a:lstStyle/>
          <a:p>
            <a:pPr algn="l">
              <a:defRPr sz="2100" b="0">
                <a:solidFill>
                  <a:srgbClr val="14354E"/>
                </a:solidFill>
                <a:latin typeface="Bitstream Charter"/>
                <a:ea typeface="Bitstream Charter"/>
                <a:cs typeface="Bitstream Charter"/>
              </a:defRPr>
            </a:pPr>
            <a:r>
              <a:rPr sz="2100" b="0">
                <a:solidFill>
                  <a:srgbClr val="14354E"/>
                </a:solidFill>
                <a:latin typeface="Arial" panose="020B0604020202020204" pitchFamily="34" charset="0"/>
                <a:ea typeface="Bitstream Charter"/>
                <a:cs typeface="Arial" panose="020B0604020202020204" pitchFamily="34" charset="0"/>
              </a:rPr>
              <a:t>Compare temperature and storage trajectories, then question the assumptions.</a:t>
            </a:r>
          </a:p>
        </p:txBody>
      </p:sp>
      <p:sp>
        <p:nvSpPr>
          <p:cNvPr id="20" name="Final takeaway">
            <a:extLst>
              <a:ext uri="{FF2B5EF4-FFF2-40B4-BE49-F238E27FC236}">
                <a16:creationId xmlns:a16="http://schemas.microsoft.com/office/drawing/2014/main" id="{2AED601F-F8AF-DA5F-9239-C2ECFDE77F55}"/>
              </a:ext>
            </a:extLst>
          </p:cNvPr>
          <p:cNvSpPr>
            <a:spLocks noGrp="1"/>
          </p:cNvSpPr>
          <p:nvPr/>
        </p:nvSpPr>
        <p:spPr>
          <a:xfrm>
            <a:off x="829739" y="5953131"/>
            <a:ext cx="10972800" cy="323850"/>
          </a:xfrm>
          <a:prstGeom prst="rect">
            <a:avLst/>
          </a:prstGeom>
          <a:noFill/>
          <a:ln w="0">
            <a:noFill/>
          </a:ln>
        </p:spPr>
        <p:txBody>
          <a:bodyPr lIns="0" tIns="0" rIns="0" bIns="0" anchor="ctr">
            <a:noAutofit/>
          </a:bodyPr>
          <a:lstStyle/>
          <a:p>
            <a:pPr algn="l">
              <a:defRPr sz="2025" b="1">
                <a:solidFill>
                  <a:srgbClr val="168A85"/>
                </a:solidFill>
                <a:latin typeface="Bitstream Charter"/>
                <a:ea typeface="Bitstream Charter"/>
                <a:cs typeface="Bitstream Charter"/>
              </a:defRPr>
            </a:pPr>
            <a:r>
              <a:rPr sz="2025" b="1" dirty="0">
                <a:solidFill>
                  <a:srgbClr val="168A85"/>
                </a:solidFill>
                <a:latin typeface="Arial" panose="020B0604020202020204" pitchFamily="34" charset="0"/>
                <a:ea typeface="Bitstream Charter"/>
                <a:cs typeface="Arial" panose="020B0604020202020204" pitchFamily="34" charset="0"/>
              </a:rPr>
              <a:t>A simulation result is useful when we can explain its behaviors and its limits.</a:t>
            </a:r>
          </a:p>
        </p:txBody>
      </p:sp>
    </p:spTree>
    <p:extLst>
      <p:ext uri="{BB962C8B-B14F-4D97-AF65-F5344CB8AC3E}">
        <p14:creationId xmlns:p14="http://schemas.microsoft.com/office/powerpoint/2010/main" val="2069242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P spid="13" grpId="0"/>
      <p:bldP spid="15" grpId="0"/>
      <p:bldP spid="18" grpId="0"/>
      <p:bldP spid="2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94">
          <a:extLst>
            <a:ext uri="{FF2B5EF4-FFF2-40B4-BE49-F238E27FC236}">
              <a16:creationId xmlns:a16="http://schemas.microsoft.com/office/drawing/2014/main" id="{785F6149-2BAB-47DB-6F38-D4C4DA2CD636}"/>
            </a:ext>
          </a:extLst>
        </p:cNvPr>
        <p:cNvGrpSpPr/>
        <p:nvPr/>
      </p:nvGrpSpPr>
      <p:grpSpPr>
        <a:xfrm>
          <a:off x="0" y="0"/>
          <a:ext cx="0" cy="0"/>
          <a:chOff x="0" y="0"/>
          <a:chExt cx="0" cy="0"/>
        </a:xfrm>
      </p:grpSpPr>
      <p:pic>
        <p:nvPicPr>
          <p:cNvPr id="495" name="Google Shape;495;p45" descr="Une image contenant ciel, plein air, nuage, agriculture&#10;&#10;Description générée automatiquement">
            <a:extLst>
              <a:ext uri="{FF2B5EF4-FFF2-40B4-BE49-F238E27FC236}">
                <a16:creationId xmlns:a16="http://schemas.microsoft.com/office/drawing/2014/main" id="{CE472993-33EC-39D2-EDF7-41CCC5FF85A3}"/>
              </a:ext>
            </a:extLst>
          </p:cNvPr>
          <p:cNvPicPr preferRelativeResize="0"/>
          <p:nvPr/>
        </p:nvPicPr>
        <p:blipFill rotWithShape="1">
          <a:blip r:embed="rId3">
            <a:alphaModFix/>
          </a:blip>
          <a:srcRect l="5973" t="9105" b="15903"/>
          <a:stretch/>
        </p:blipFill>
        <p:spPr>
          <a:xfrm>
            <a:off x="719138" y="0"/>
            <a:ext cx="11472863" cy="6858000"/>
          </a:xfrm>
          <a:prstGeom prst="rect">
            <a:avLst/>
          </a:prstGeom>
          <a:noFill/>
          <a:ln>
            <a:noFill/>
          </a:ln>
        </p:spPr>
      </p:pic>
      <p:sp>
        <p:nvSpPr>
          <p:cNvPr id="496" name="Google Shape;496;p45">
            <a:extLst>
              <a:ext uri="{FF2B5EF4-FFF2-40B4-BE49-F238E27FC236}">
                <a16:creationId xmlns:a16="http://schemas.microsoft.com/office/drawing/2014/main" id="{034B348B-E5F2-5D20-5971-39A161478597}"/>
              </a:ext>
            </a:extLst>
          </p:cNvPr>
          <p:cNvSpPr/>
          <p:nvPr/>
        </p:nvSpPr>
        <p:spPr>
          <a:xfrm>
            <a:off x="664273" y="0"/>
            <a:ext cx="11527727" cy="6858000"/>
          </a:xfrm>
          <a:prstGeom prst="rect">
            <a:avLst/>
          </a:prstGeom>
          <a:solidFill>
            <a:schemeClr val="lt1">
              <a:alpha val="93725"/>
            </a:schemeClr>
          </a:solidFill>
          <a:ln>
            <a:noFill/>
          </a:ln>
          <a:effectLst>
            <a:outerShdw blurRad="876300" dist="393700" dir="5400000" algn="t" rotWithShape="0">
              <a:srgbClr val="000000">
                <a:alpha val="784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dirty="0">
              <a:solidFill>
                <a:srgbClr val="FF0000"/>
              </a:solidFill>
              <a:latin typeface="Calibri"/>
              <a:ea typeface="Calibri"/>
              <a:cs typeface="Calibri"/>
              <a:sym typeface="Calibri"/>
            </a:endParaRPr>
          </a:p>
        </p:txBody>
      </p:sp>
      <p:sp>
        <p:nvSpPr>
          <p:cNvPr id="497" name="Google Shape;497;p45">
            <a:extLst>
              <a:ext uri="{FF2B5EF4-FFF2-40B4-BE49-F238E27FC236}">
                <a16:creationId xmlns:a16="http://schemas.microsoft.com/office/drawing/2014/main" id="{3F4D043C-3E12-4B29-45F2-7F945921E16A}"/>
              </a:ext>
            </a:extLst>
          </p:cNvPr>
          <p:cNvSpPr txBox="1"/>
          <p:nvPr/>
        </p:nvSpPr>
        <p:spPr>
          <a:xfrm rot="-5400000">
            <a:off x="-797364" y="5204656"/>
            <a:ext cx="2251455" cy="38856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lt1"/>
                </a:solidFill>
                <a:latin typeface="Nunito Sans SemiBold"/>
                <a:ea typeface="Nunito Sans SemiBold"/>
                <a:cs typeface="Nunito Sans SemiBold"/>
                <a:sym typeface="Nunito Sans SemiBold"/>
              </a:rPr>
              <a:t>AGRICOOL</a:t>
            </a:r>
            <a:endParaRPr sz="1400" b="0" i="0" u="none" strike="noStrike" cap="none">
              <a:solidFill>
                <a:srgbClr val="000000"/>
              </a:solidFill>
              <a:latin typeface="Arial"/>
              <a:ea typeface="Arial"/>
              <a:cs typeface="Arial"/>
              <a:sym typeface="Arial"/>
            </a:endParaRPr>
          </a:p>
        </p:txBody>
      </p:sp>
      <p:pic>
        <p:nvPicPr>
          <p:cNvPr id="503" name="Google Shape;503;p45" descr="Une image contenant capture d’écran, Bleu électrique, Police, Bleu Majorelle&#10;&#10;Description générée automatiquement">
            <a:extLst>
              <a:ext uri="{FF2B5EF4-FFF2-40B4-BE49-F238E27FC236}">
                <a16:creationId xmlns:a16="http://schemas.microsoft.com/office/drawing/2014/main" id="{CD49EFB6-9FC5-0CD2-ECCA-36843B9FB032}"/>
              </a:ext>
            </a:extLst>
          </p:cNvPr>
          <p:cNvPicPr preferRelativeResize="0"/>
          <p:nvPr/>
        </p:nvPicPr>
        <p:blipFill rotWithShape="1">
          <a:blip r:embed="rId4">
            <a:alphaModFix/>
          </a:blip>
          <a:srcRect/>
          <a:stretch/>
        </p:blipFill>
        <p:spPr>
          <a:xfrm>
            <a:off x="659183" y="6441981"/>
            <a:ext cx="1729633" cy="384363"/>
          </a:xfrm>
          <a:prstGeom prst="rect">
            <a:avLst/>
          </a:prstGeom>
          <a:noFill/>
          <a:ln>
            <a:noFill/>
          </a:ln>
        </p:spPr>
      </p:pic>
      <p:sp>
        <p:nvSpPr>
          <p:cNvPr id="504" name="Google Shape;504;p45">
            <a:extLst>
              <a:ext uri="{FF2B5EF4-FFF2-40B4-BE49-F238E27FC236}">
                <a16:creationId xmlns:a16="http://schemas.microsoft.com/office/drawing/2014/main" id="{21A012C0-2516-D55D-CFE5-216E6B40AB01}"/>
              </a:ext>
            </a:extLst>
          </p:cNvPr>
          <p:cNvSpPr txBox="1">
            <a:spLocks noGrp="1"/>
          </p:cNvSpPr>
          <p:nvPr>
            <p:ph type="dt" idx="10"/>
          </p:nvPr>
        </p:nvSpPr>
        <p:spPr>
          <a:xfrm>
            <a:off x="9332517" y="64262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en-GB" dirty="0"/>
              <a:t>13 September 2026</a:t>
            </a:r>
            <a:endParaRPr dirty="0"/>
          </a:p>
        </p:txBody>
      </p:sp>
      <p:sp>
        <p:nvSpPr>
          <p:cNvPr id="505" name="Google Shape;505;p45">
            <a:extLst>
              <a:ext uri="{FF2B5EF4-FFF2-40B4-BE49-F238E27FC236}">
                <a16:creationId xmlns:a16="http://schemas.microsoft.com/office/drawing/2014/main" id="{367D0AB6-FCA4-B3BA-EE97-41F1D8658928}"/>
              </a:ext>
            </a:extLst>
          </p:cNvPr>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200"/>
              <a:buNone/>
            </a:pPr>
            <a:fld id="{00000000-1234-1234-1234-123412341234}" type="slidenum">
              <a:rPr lang="en-GB"/>
              <a:t>32</a:t>
            </a:fld>
            <a:endParaRPr/>
          </a:p>
        </p:txBody>
      </p:sp>
      <p:sp>
        <p:nvSpPr>
          <p:cNvPr id="3" name="Title">
            <a:extLst>
              <a:ext uri="{FF2B5EF4-FFF2-40B4-BE49-F238E27FC236}">
                <a16:creationId xmlns:a16="http://schemas.microsoft.com/office/drawing/2014/main" id="{3C2380AF-EDAD-04C0-E47A-7F7A538B25E9}"/>
              </a:ext>
            </a:extLst>
          </p:cNvPr>
          <p:cNvSpPr>
            <a:spLocks noGrp="1"/>
          </p:cNvSpPr>
          <p:nvPr/>
        </p:nvSpPr>
        <p:spPr>
          <a:xfrm>
            <a:off x="948269" y="164044"/>
            <a:ext cx="10972800" cy="638175"/>
          </a:xfrm>
          <a:prstGeom prst="rect">
            <a:avLst/>
          </a:prstGeom>
          <a:noFill/>
          <a:ln w="0">
            <a:noFill/>
          </a:ln>
        </p:spPr>
        <p:txBody>
          <a:bodyPr lIns="0" tIns="0" rIns="0" bIns="0" anchor="ctr">
            <a:noAutofit/>
          </a:bodyPr>
          <a:lstStyle/>
          <a:p>
            <a:pPr algn="l">
              <a:defRPr sz="3300" b="1">
                <a:solidFill>
                  <a:srgbClr val="14354E"/>
                </a:solidFill>
                <a:latin typeface="Bitstream Charter"/>
                <a:ea typeface="Bitstream Charter"/>
                <a:cs typeface="Bitstream Charter"/>
              </a:defRPr>
            </a:pPr>
            <a:r>
              <a:rPr sz="4400" b="1" dirty="0">
                <a:solidFill>
                  <a:srgbClr val="30A4CF"/>
                </a:solidFill>
                <a:latin typeface="Nunito"/>
              </a:rPr>
              <a:t>Modelica learning resources</a:t>
            </a:r>
          </a:p>
        </p:txBody>
      </p:sp>
      <p:sp>
        <p:nvSpPr>
          <p:cNvPr id="6" name="Subtitle">
            <a:extLst>
              <a:ext uri="{FF2B5EF4-FFF2-40B4-BE49-F238E27FC236}">
                <a16:creationId xmlns:a16="http://schemas.microsoft.com/office/drawing/2014/main" id="{260AAB0E-4FCF-AE6A-EB14-0749E43B1AB7}"/>
              </a:ext>
            </a:extLst>
          </p:cNvPr>
          <p:cNvSpPr>
            <a:spLocks noGrp="1"/>
          </p:cNvSpPr>
          <p:nvPr/>
        </p:nvSpPr>
        <p:spPr>
          <a:xfrm>
            <a:off x="948269" y="897469"/>
            <a:ext cx="10972800" cy="533400"/>
          </a:xfrm>
          <a:prstGeom prst="rect">
            <a:avLst/>
          </a:prstGeom>
          <a:noFill/>
          <a:ln w="0">
            <a:noFill/>
          </a:ln>
        </p:spPr>
        <p:txBody>
          <a:bodyPr lIns="0" tIns="0" rIns="0" bIns="0" anchor="ctr">
            <a:noAutofit/>
          </a:bodyPr>
          <a:lstStyle/>
          <a:p>
            <a:pPr algn="l">
              <a:defRPr sz="2025" b="0">
                <a:solidFill>
                  <a:srgbClr val="456174"/>
                </a:solidFill>
                <a:latin typeface="Bitstream Charter"/>
                <a:ea typeface="Bitstream Charter"/>
                <a:cs typeface="Bitstream Charter"/>
              </a:defRPr>
            </a:pPr>
            <a:r>
              <a:rPr sz="2025" b="0">
                <a:solidFill>
                  <a:srgbClr val="456174"/>
                </a:solidFill>
                <a:latin typeface="Arial" panose="020B0604020202020204" pitchFamily="34" charset="0"/>
                <a:ea typeface="Bitstream Charter"/>
                <a:cs typeface="Arial" panose="020B0604020202020204" pitchFamily="34" charset="0"/>
              </a:rPr>
              <a:t>Clickable links for continuing after the session</a:t>
            </a:r>
          </a:p>
        </p:txBody>
      </p:sp>
      <p:sp>
        <p:nvSpPr>
          <p:cNvPr id="9" name="Modelica by Example">
            <a:extLst>
              <a:ext uri="{FF2B5EF4-FFF2-40B4-BE49-F238E27FC236}">
                <a16:creationId xmlns:a16="http://schemas.microsoft.com/office/drawing/2014/main" id="{7F9E318E-5E2B-6EA3-5ED0-2429B33A8862}"/>
              </a:ext>
            </a:extLst>
          </p:cNvPr>
          <p:cNvSpPr>
            <a:spLocks noGrp="1"/>
          </p:cNvSpPr>
          <p:nvPr/>
        </p:nvSpPr>
        <p:spPr>
          <a:xfrm>
            <a:off x="948269" y="1688044"/>
            <a:ext cx="10972800" cy="409575"/>
          </a:xfrm>
          <a:prstGeom prst="rect">
            <a:avLst/>
          </a:prstGeom>
          <a:noFill/>
          <a:ln w="0">
            <a:noFill/>
          </a:ln>
        </p:spPr>
        <p:txBody>
          <a:bodyPr lIns="0" tIns="0" rIns="0" bIns="0" anchor="ctr">
            <a:noAutofit/>
          </a:bodyPr>
          <a:lstStyle/>
          <a:p>
            <a:pPr algn="l">
              <a:defRPr sz="2250" b="1">
                <a:solidFill>
                  <a:srgbClr val="096AA8"/>
                </a:solidFill>
                <a:latin typeface="Bitstream Charter"/>
                <a:ea typeface="Bitstream Charter"/>
                <a:cs typeface="Bitstream Charter"/>
              </a:defRPr>
            </a:pPr>
            <a:r>
              <a:rPr b="1" u="sng">
                <a:solidFill>
                  <a:srgbClr val="096AA8"/>
                </a:solidFill>
                <a:latin typeface="Arial" panose="020B0604020202020204" pitchFamily="34" charset="0"/>
                <a:cs typeface="Arial" panose="020B0604020202020204" pitchFamily="34" charset="0"/>
                <a:hlinkClick r:id="rId5"/>
              </a:rPr>
              <a:t>Modelica by Example</a:t>
            </a:r>
          </a:p>
        </p:txBody>
      </p:sp>
      <p:sp>
        <p:nvSpPr>
          <p:cNvPr id="11" name="Modelica by Example description">
            <a:extLst>
              <a:ext uri="{FF2B5EF4-FFF2-40B4-BE49-F238E27FC236}">
                <a16:creationId xmlns:a16="http://schemas.microsoft.com/office/drawing/2014/main" id="{09264DF5-8E1D-BA0B-0BC2-8961A5EB368A}"/>
              </a:ext>
            </a:extLst>
          </p:cNvPr>
          <p:cNvSpPr>
            <a:spLocks noGrp="1"/>
          </p:cNvSpPr>
          <p:nvPr/>
        </p:nvSpPr>
        <p:spPr>
          <a:xfrm>
            <a:off x="948269" y="2126194"/>
            <a:ext cx="10972800" cy="457200"/>
          </a:xfrm>
          <a:prstGeom prst="rect">
            <a:avLst/>
          </a:prstGeom>
          <a:noFill/>
          <a:ln w="0">
            <a:noFill/>
          </a:ln>
        </p:spPr>
        <p:txBody>
          <a:bodyPr lIns="0" tIns="0" rIns="0" bIns="0" anchor="ctr">
            <a:noAutofit/>
          </a:bodyPr>
          <a:lstStyle/>
          <a:p>
            <a:pPr algn="l">
              <a:defRPr sz="1950" b="0">
                <a:solidFill>
                  <a:srgbClr val="456174"/>
                </a:solidFill>
                <a:latin typeface="Bitstream Charter"/>
                <a:ea typeface="Bitstream Charter"/>
                <a:cs typeface="Bitstream Charter"/>
              </a:defRPr>
            </a:pPr>
            <a:r>
              <a:rPr sz="1950" b="0">
                <a:solidFill>
                  <a:srgbClr val="456174"/>
                </a:solidFill>
                <a:latin typeface="Arial" panose="020B0604020202020204" pitchFamily="34" charset="0"/>
                <a:ea typeface="Bitstream Charter"/>
                <a:cs typeface="Arial" panose="020B0604020202020204" pitchFamily="34" charset="0"/>
              </a:rPr>
              <a:t>Free online book by Michael Tiller, with equations, connectors and reusable models.</a:t>
            </a:r>
          </a:p>
        </p:txBody>
      </p:sp>
      <p:sp>
        <p:nvSpPr>
          <p:cNvPr id="14" name="Buildings library tutorial: SimpleHouse">
            <a:extLst>
              <a:ext uri="{FF2B5EF4-FFF2-40B4-BE49-F238E27FC236}">
                <a16:creationId xmlns:a16="http://schemas.microsoft.com/office/drawing/2014/main" id="{8ECDD570-0A77-1AC3-7802-8C79E20FF34F}"/>
              </a:ext>
            </a:extLst>
          </p:cNvPr>
          <p:cNvSpPr>
            <a:spLocks noGrp="1"/>
          </p:cNvSpPr>
          <p:nvPr/>
        </p:nvSpPr>
        <p:spPr>
          <a:xfrm>
            <a:off x="948269" y="2783419"/>
            <a:ext cx="10972800" cy="409575"/>
          </a:xfrm>
          <a:prstGeom prst="rect">
            <a:avLst/>
          </a:prstGeom>
          <a:noFill/>
          <a:ln w="0">
            <a:noFill/>
          </a:ln>
        </p:spPr>
        <p:txBody>
          <a:bodyPr lIns="0" tIns="0" rIns="0" bIns="0" anchor="ctr">
            <a:noAutofit/>
          </a:bodyPr>
          <a:lstStyle/>
          <a:p>
            <a:pPr algn="l">
              <a:defRPr sz="2250" b="1">
                <a:solidFill>
                  <a:srgbClr val="096AA8"/>
                </a:solidFill>
                <a:latin typeface="Bitstream Charter"/>
                <a:ea typeface="Bitstream Charter"/>
                <a:cs typeface="Bitstream Charter"/>
              </a:defRPr>
            </a:pPr>
            <a:r>
              <a:rPr b="1" u="sng">
                <a:solidFill>
                  <a:srgbClr val="096AA8"/>
                </a:solidFill>
                <a:latin typeface="Arial" panose="020B0604020202020204" pitchFamily="34" charset="0"/>
                <a:cs typeface="Arial" panose="020B0604020202020204" pitchFamily="34" charset="0"/>
                <a:hlinkClick r:id="rId6"/>
              </a:rPr>
              <a:t>Buildings library tutorial: SimpleHouse</a:t>
            </a:r>
          </a:p>
        </p:txBody>
      </p:sp>
      <p:sp>
        <p:nvSpPr>
          <p:cNvPr id="17" name="Buildings library tutorial: SimpleHouse description">
            <a:extLst>
              <a:ext uri="{FF2B5EF4-FFF2-40B4-BE49-F238E27FC236}">
                <a16:creationId xmlns:a16="http://schemas.microsoft.com/office/drawing/2014/main" id="{9258BBC3-2DD9-9233-B809-FB7AA32B158A}"/>
              </a:ext>
            </a:extLst>
          </p:cNvPr>
          <p:cNvSpPr>
            <a:spLocks noGrp="1"/>
          </p:cNvSpPr>
          <p:nvPr/>
        </p:nvSpPr>
        <p:spPr>
          <a:xfrm>
            <a:off x="948269" y="3221569"/>
            <a:ext cx="10972800" cy="457200"/>
          </a:xfrm>
          <a:prstGeom prst="rect">
            <a:avLst/>
          </a:prstGeom>
          <a:noFill/>
          <a:ln w="0">
            <a:noFill/>
          </a:ln>
        </p:spPr>
        <p:txBody>
          <a:bodyPr lIns="0" tIns="0" rIns="0" bIns="0" anchor="ctr">
            <a:noAutofit/>
          </a:bodyPr>
          <a:lstStyle/>
          <a:p>
            <a:pPr algn="l">
              <a:defRPr sz="1950" b="0">
                <a:solidFill>
                  <a:srgbClr val="456174"/>
                </a:solidFill>
                <a:latin typeface="Bitstream Charter"/>
                <a:ea typeface="Bitstream Charter"/>
                <a:cs typeface="Bitstream Charter"/>
              </a:defRPr>
            </a:pPr>
            <a:r>
              <a:rPr sz="1950" b="0">
                <a:solidFill>
                  <a:srgbClr val="456174"/>
                </a:solidFill>
                <a:latin typeface="Arial" panose="020B0604020202020204" pitchFamily="34" charset="0"/>
                <a:ea typeface="Bitstream Charter"/>
                <a:cs typeface="Arial" panose="020B0604020202020204" pitchFamily="34" charset="0"/>
              </a:rPr>
              <a:t>Step-by-step construction of a thermal system using Buildings components.</a:t>
            </a:r>
          </a:p>
        </p:txBody>
      </p:sp>
      <p:sp>
        <p:nvSpPr>
          <p:cNvPr id="20" name="Buildings library training materials">
            <a:extLst>
              <a:ext uri="{FF2B5EF4-FFF2-40B4-BE49-F238E27FC236}">
                <a16:creationId xmlns:a16="http://schemas.microsoft.com/office/drawing/2014/main" id="{2B6EA457-6439-82C1-E05E-176A425D64CA}"/>
              </a:ext>
            </a:extLst>
          </p:cNvPr>
          <p:cNvSpPr>
            <a:spLocks noGrp="1"/>
          </p:cNvSpPr>
          <p:nvPr/>
        </p:nvSpPr>
        <p:spPr>
          <a:xfrm>
            <a:off x="948269" y="3878794"/>
            <a:ext cx="10972800" cy="409575"/>
          </a:xfrm>
          <a:prstGeom prst="rect">
            <a:avLst/>
          </a:prstGeom>
          <a:noFill/>
          <a:ln w="0">
            <a:noFill/>
          </a:ln>
        </p:spPr>
        <p:txBody>
          <a:bodyPr lIns="0" tIns="0" rIns="0" bIns="0" anchor="ctr">
            <a:noAutofit/>
          </a:bodyPr>
          <a:lstStyle/>
          <a:p>
            <a:pPr algn="l">
              <a:defRPr sz="2250" b="1">
                <a:solidFill>
                  <a:srgbClr val="096AA8"/>
                </a:solidFill>
                <a:latin typeface="Bitstream Charter"/>
                <a:ea typeface="Bitstream Charter"/>
                <a:cs typeface="Bitstream Charter"/>
              </a:defRPr>
            </a:pPr>
            <a:r>
              <a:rPr b="1" u="sng">
                <a:solidFill>
                  <a:srgbClr val="096AA8"/>
                </a:solidFill>
                <a:latin typeface="Arial" panose="020B0604020202020204" pitchFamily="34" charset="0"/>
                <a:cs typeface="Arial" panose="020B0604020202020204" pitchFamily="34" charset="0"/>
                <a:hlinkClick r:id="rId7"/>
              </a:rPr>
              <a:t>Buildings library training materials</a:t>
            </a:r>
          </a:p>
        </p:txBody>
      </p:sp>
      <p:sp>
        <p:nvSpPr>
          <p:cNvPr id="23" name="Buildings library training materials description">
            <a:extLst>
              <a:ext uri="{FF2B5EF4-FFF2-40B4-BE49-F238E27FC236}">
                <a16:creationId xmlns:a16="http://schemas.microsoft.com/office/drawing/2014/main" id="{62C880D5-57B8-7C13-ACC5-4920D05F4327}"/>
              </a:ext>
            </a:extLst>
          </p:cNvPr>
          <p:cNvSpPr>
            <a:spLocks noGrp="1"/>
          </p:cNvSpPr>
          <p:nvPr/>
        </p:nvSpPr>
        <p:spPr>
          <a:xfrm>
            <a:off x="948269" y="4316944"/>
            <a:ext cx="10972800" cy="457200"/>
          </a:xfrm>
          <a:prstGeom prst="rect">
            <a:avLst/>
          </a:prstGeom>
          <a:noFill/>
          <a:ln w="0">
            <a:noFill/>
          </a:ln>
        </p:spPr>
        <p:txBody>
          <a:bodyPr lIns="0" tIns="0" rIns="0" bIns="0" anchor="ctr">
            <a:noAutofit/>
          </a:bodyPr>
          <a:lstStyle/>
          <a:p>
            <a:pPr algn="l">
              <a:defRPr sz="1950" b="0">
                <a:solidFill>
                  <a:srgbClr val="456174"/>
                </a:solidFill>
                <a:latin typeface="Bitstream Charter"/>
                <a:ea typeface="Bitstream Charter"/>
                <a:cs typeface="Bitstream Charter"/>
              </a:defRPr>
            </a:pPr>
            <a:r>
              <a:rPr sz="1950" b="0">
                <a:solidFill>
                  <a:srgbClr val="456174"/>
                </a:solidFill>
                <a:latin typeface="Arial" panose="020B0604020202020204" pitchFamily="34" charset="0"/>
                <a:ea typeface="Bitstream Charter"/>
                <a:cs typeface="Arial" panose="020B0604020202020204" pitchFamily="34" charset="0"/>
              </a:rPr>
              <a:t>Workshop exercises and recordings for further practice.</a:t>
            </a:r>
          </a:p>
        </p:txBody>
      </p:sp>
      <p:sp>
        <p:nvSpPr>
          <p:cNvPr id="26" name="OpenModelica User’s Guide: OMEdit">
            <a:extLst>
              <a:ext uri="{FF2B5EF4-FFF2-40B4-BE49-F238E27FC236}">
                <a16:creationId xmlns:a16="http://schemas.microsoft.com/office/drawing/2014/main" id="{5332FA42-ACBB-000F-F1D2-9D9F18740EFE}"/>
              </a:ext>
            </a:extLst>
          </p:cNvPr>
          <p:cNvSpPr>
            <a:spLocks noGrp="1"/>
          </p:cNvSpPr>
          <p:nvPr/>
        </p:nvSpPr>
        <p:spPr>
          <a:xfrm>
            <a:off x="948269" y="4974169"/>
            <a:ext cx="10972800" cy="409575"/>
          </a:xfrm>
          <a:prstGeom prst="rect">
            <a:avLst/>
          </a:prstGeom>
          <a:noFill/>
          <a:ln w="0">
            <a:noFill/>
          </a:ln>
        </p:spPr>
        <p:txBody>
          <a:bodyPr lIns="0" tIns="0" rIns="0" bIns="0" anchor="ctr">
            <a:noAutofit/>
          </a:bodyPr>
          <a:lstStyle/>
          <a:p>
            <a:pPr algn="l">
              <a:defRPr sz="2250" b="1">
                <a:solidFill>
                  <a:srgbClr val="096AA8"/>
                </a:solidFill>
                <a:latin typeface="Bitstream Charter"/>
                <a:ea typeface="Bitstream Charter"/>
                <a:cs typeface="Bitstream Charter"/>
              </a:defRPr>
            </a:pPr>
            <a:r>
              <a:rPr b="1" u="sng">
                <a:solidFill>
                  <a:srgbClr val="096AA8"/>
                </a:solidFill>
                <a:latin typeface="Arial" panose="020B0604020202020204" pitchFamily="34" charset="0"/>
                <a:cs typeface="Arial" panose="020B0604020202020204" pitchFamily="34" charset="0"/>
                <a:hlinkClick r:id="rId8"/>
              </a:rPr>
              <a:t>OpenModelica User’s Guide: OMEdit</a:t>
            </a:r>
          </a:p>
        </p:txBody>
      </p:sp>
      <p:sp>
        <p:nvSpPr>
          <p:cNvPr id="28" name="OpenModelica User’s Guide: OMEdit description">
            <a:extLst>
              <a:ext uri="{FF2B5EF4-FFF2-40B4-BE49-F238E27FC236}">
                <a16:creationId xmlns:a16="http://schemas.microsoft.com/office/drawing/2014/main" id="{0EA77342-D7AF-B58C-6BDA-FA2345AE475D}"/>
              </a:ext>
            </a:extLst>
          </p:cNvPr>
          <p:cNvSpPr>
            <a:spLocks noGrp="1"/>
          </p:cNvSpPr>
          <p:nvPr/>
        </p:nvSpPr>
        <p:spPr>
          <a:xfrm>
            <a:off x="948269" y="5412319"/>
            <a:ext cx="10972800" cy="457200"/>
          </a:xfrm>
          <a:prstGeom prst="rect">
            <a:avLst/>
          </a:prstGeom>
          <a:noFill/>
          <a:ln w="0">
            <a:noFill/>
          </a:ln>
        </p:spPr>
        <p:txBody>
          <a:bodyPr lIns="0" tIns="0" rIns="0" bIns="0" anchor="ctr">
            <a:noAutofit/>
          </a:bodyPr>
          <a:lstStyle/>
          <a:p>
            <a:pPr algn="l">
              <a:defRPr sz="1950" b="0">
                <a:solidFill>
                  <a:srgbClr val="456174"/>
                </a:solidFill>
                <a:latin typeface="Bitstream Charter"/>
                <a:ea typeface="Bitstream Charter"/>
                <a:cs typeface="Bitstream Charter"/>
              </a:defRPr>
            </a:pPr>
            <a:r>
              <a:rPr sz="1950" b="0">
                <a:solidFill>
                  <a:srgbClr val="456174"/>
                </a:solidFill>
                <a:latin typeface="Arial" panose="020B0604020202020204" pitchFamily="34" charset="0"/>
                <a:ea typeface="Bitstream Charter"/>
                <a:cs typeface="Arial" panose="020B0604020202020204" pitchFamily="34" charset="0"/>
              </a:rPr>
              <a:t>Guidance on editing models, running simulations and plotting results.</a:t>
            </a:r>
          </a:p>
        </p:txBody>
      </p:sp>
      <p:sp>
        <p:nvSpPr>
          <p:cNvPr id="30" name="Practice suggestion">
            <a:extLst>
              <a:ext uri="{FF2B5EF4-FFF2-40B4-BE49-F238E27FC236}">
                <a16:creationId xmlns:a16="http://schemas.microsoft.com/office/drawing/2014/main" id="{3F887913-6760-9B8C-D8D7-A87F047CDA57}"/>
              </a:ext>
            </a:extLst>
          </p:cNvPr>
          <p:cNvSpPr>
            <a:spLocks noGrp="1"/>
          </p:cNvSpPr>
          <p:nvPr/>
        </p:nvSpPr>
        <p:spPr>
          <a:xfrm>
            <a:off x="941736" y="6105525"/>
            <a:ext cx="10972800" cy="304800"/>
          </a:xfrm>
          <a:prstGeom prst="rect">
            <a:avLst/>
          </a:prstGeom>
          <a:noFill/>
          <a:ln w="0">
            <a:noFill/>
          </a:ln>
        </p:spPr>
        <p:txBody>
          <a:bodyPr lIns="0" tIns="0" rIns="0" bIns="0" anchor="ctr">
            <a:noAutofit/>
          </a:bodyPr>
          <a:lstStyle/>
          <a:p>
            <a:pPr algn="l">
              <a:defRPr sz="1875" b="1">
                <a:solidFill>
                  <a:srgbClr val="168A85"/>
                </a:solidFill>
                <a:latin typeface="Bitstream Charter"/>
                <a:ea typeface="Bitstream Charter"/>
                <a:cs typeface="Bitstream Charter"/>
              </a:defRPr>
            </a:pPr>
            <a:r>
              <a:rPr sz="1875" b="1" dirty="0">
                <a:solidFill>
                  <a:srgbClr val="168A85"/>
                </a:solidFill>
                <a:latin typeface="Arial" panose="020B0604020202020204" pitchFamily="34" charset="0"/>
                <a:ea typeface="Bitstream Charter"/>
                <a:cs typeface="Arial" panose="020B0604020202020204" pitchFamily="34" charset="0"/>
              </a:rPr>
              <a:t>Suggested first exercise: run an example, change one parameter, explain the result.</a:t>
            </a:r>
          </a:p>
        </p:txBody>
      </p:sp>
    </p:spTree>
    <p:extLst>
      <p:ext uri="{BB962C8B-B14F-4D97-AF65-F5344CB8AC3E}">
        <p14:creationId xmlns:p14="http://schemas.microsoft.com/office/powerpoint/2010/main" val="25367649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pic>
        <p:nvPicPr>
          <p:cNvPr id="541" name="Google Shape;541;p48" descr="Une image contenant ciel, plein air, nuage, agriculture&#10;&#10;Description générée automatiquement"/>
          <p:cNvPicPr preferRelativeResize="0">
            <a:picLocks noGrp="1"/>
          </p:cNvPicPr>
          <p:nvPr>
            <p:ph type="pic" idx="2"/>
          </p:nvPr>
        </p:nvPicPr>
        <p:blipFill rotWithShape="1">
          <a:blip r:embed="rId3">
            <a:alphaModFix/>
          </a:blip>
          <a:srcRect t="37326" b="31425"/>
          <a:stretch/>
        </p:blipFill>
        <p:spPr>
          <a:xfrm>
            <a:off x="568598" y="2379025"/>
            <a:ext cx="11054807" cy="2588688"/>
          </a:xfrm>
          <a:prstGeom prst="rect">
            <a:avLst/>
          </a:prstGeom>
          <a:solidFill>
            <a:schemeClr val="lt1"/>
          </a:solidFill>
          <a:ln>
            <a:noFill/>
          </a:ln>
        </p:spPr>
      </p:pic>
      <p:sp>
        <p:nvSpPr>
          <p:cNvPr id="542" name="Google Shape;542;p48"/>
          <p:cNvSpPr/>
          <p:nvPr/>
        </p:nvSpPr>
        <p:spPr>
          <a:xfrm>
            <a:off x="568598" y="2379027"/>
            <a:ext cx="11054807" cy="2588687"/>
          </a:xfrm>
          <a:prstGeom prst="rect">
            <a:avLst/>
          </a:prstGeom>
          <a:solidFill>
            <a:srgbClr val="30A4CF">
              <a:alpha val="56863"/>
            </a:srgbClr>
          </a:solidFill>
          <a:ln>
            <a:noFill/>
          </a:ln>
          <a:effectLst>
            <a:outerShdw blurRad="876300" dist="393700" dir="5400000" algn="t" rotWithShape="0">
              <a:srgbClr val="000000">
                <a:alpha val="784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Calibri"/>
              <a:ea typeface="Calibri"/>
              <a:cs typeface="Calibri"/>
              <a:sym typeface="Calibri"/>
            </a:endParaRPr>
          </a:p>
        </p:txBody>
      </p:sp>
      <p:sp>
        <p:nvSpPr>
          <p:cNvPr id="543" name="Google Shape;543;p48"/>
          <p:cNvSpPr txBox="1"/>
          <p:nvPr/>
        </p:nvSpPr>
        <p:spPr>
          <a:xfrm>
            <a:off x="3508595" y="2379025"/>
            <a:ext cx="5174811" cy="118494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7100"/>
              <a:buFont typeface="Arial"/>
              <a:buNone/>
            </a:pPr>
            <a:r>
              <a:rPr lang="en-GB" sz="7100" b="1" i="0" u="none" strike="noStrike" cap="none">
                <a:solidFill>
                  <a:schemeClr val="lt1"/>
                </a:solidFill>
                <a:latin typeface="Nunito"/>
                <a:ea typeface="Nunito"/>
                <a:cs typeface="Nunito"/>
                <a:sym typeface="Nunito"/>
              </a:rPr>
              <a:t>Thank you!</a:t>
            </a:r>
            <a:endParaRPr sz="1400" b="0" i="0" u="none" strike="noStrike" cap="none">
              <a:solidFill>
                <a:srgbClr val="000000"/>
              </a:solidFill>
              <a:latin typeface="Arial"/>
              <a:ea typeface="Arial"/>
              <a:cs typeface="Arial"/>
              <a:sym typeface="Arial"/>
            </a:endParaRPr>
          </a:p>
        </p:txBody>
      </p:sp>
      <p:sp>
        <p:nvSpPr>
          <p:cNvPr id="544" name="Google Shape;544;p48"/>
          <p:cNvSpPr/>
          <p:nvPr/>
        </p:nvSpPr>
        <p:spPr>
          <a:xfrm rot="-5400000">
            <a:off x="5947984" y="3898387"/>
            <a:ext cx="363771" cy="1473196"/>
          </a:xfrm>
          <a:prstGeom prst="roundRect">
            <a:avLst>
              <a:gd name="adj" fmla="val 50000"/>
            </a:avLst>
          </a:prstGeom>
          <a:solidFill>
            <a:srgbClr val="30A4CF"/>
          </a:solidFill>
          <a:ln>
            <a:noFill/>
          </a:ln>
          <a:effectLst>
            <a:outerShdw blurRad="139700" dist="25400" dir="5400000" algn="t" rotWithShape="0">
              <a:srgbClr val="000000">
                <a:alpha val="1294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545" name="Google Shape;545;p48" descr="Une image contenant texte, Police, Graphique, capture d’écran&#10;&#10;Description générée automatiquement"/>
          <p:cNvPicPr preferRelativeResize="0"/>
          <p:nvPr/>
        </p:nvPicPr>
        <p:blipFill rotWithShape="1">
          <a:blip r:embed="rId4">
            <a:alphaModFix/>
          </a:blip>
          <a:srcRect/>
          <a:stretch/>
        </p:blipFill>
        <p:spPr>
          <a:xfrm>
            <a:off x="568597" y="469182"/>
            <a:ext cx="4824675" cy="1254415"/>
          </a:xfrm>
          <a:prstGeom prst="rect">
            <a:avLst/>
          </a:prstGeom>
          <a:noFill/>
          <a:ln>
            <a:noFill/>
          </a:ln>
        </p:spPr>
      </p:pic>
      <p:pic>
        <p:nvPicPr>
          <p:cNvPr id="546" name="Google Shape;546;p48" descr="Une image contenant capture d’écran, Bleu électrique, Police, Bleu Majorelle&#10;&#10;Description générée automatiquement"/>
          <p:cNvPicPr preferRelativeResize="0"/>
          <p:nvPr/>
        </p:nvPicPr>
        <p:blipFill rotWithShape="1">
          <a:blip r:embed="rId5">
            <a:alphaModFix/>
          </a:blip>
          <a:srcRect/>
          <a:stretch/>
        </p:blipFill>
        <p:spPr>
          <a:xfrm>
            <a:off x="6357729" y="527448"/>
            <a:ext cx="2361783" cy="524841"/>
          </a:xfrm>
          <a:prstGeom prst="rect">
            <a:avLst/>
          </a:prstGeom>
          <a:noFill/>
          <a:ln>
            <a:noFill/>
          </a:ln>
        </p:spPr>
      </p:pic>
      <p:sp>
        <p:nvSpPr>
          <p:cNvPr id="547" name="Google Shape;547;p48"/>
          <p:cNvSpPr txBox="1"/>
          <p:nvPr/>
        </p:nvSpPr>
        <p:spPr>
          <a:xfrm>
            <a:off x="6289523" y="994265"/>
            <a:ext cx="3635527" cy="892552"/>
          </a:xfrm>
          <a:prstGeom prst="rect">
            <a:avLst/>
          </a:prstGeom>
          <a:noFill/>
          <a:ln>
            <a:noFill/>
          </a:ln>
        </p:spPr>
        <p:txBody>
          <a:bodyPr spcFirstLastPara="1" wrap="square" lIns="91425" tIns="45700" rIns="91425" bIns="45700" anchor="t" anchorCtr="0">
            <a:spAutoFit/>
          </a:bodyPr>
          <a:lstStyle/>
          <a:p>
            <a:pPr marL="0" marR="0" lvl="0" indent="0" algn="just" rtl="0">
              <a:lnSpc>
                <a:spcPct val="200000"/>
              </a:lnSpc>
              <a:spcBef>
                <a:spcPts val="0"/>
              </a:spcBef>
              <a:spcAft>
                <a:spcPts val="0"/>
              </a:spcAft>
              <a:buClr>
                <a:srgbClr val="000000"/>
              </a:buClr>
              <a:buSzPts val="800"/>
              <a:buFont typeface="Arial"/>
              <a:buNone/>
            </a:pPr>
            <a:r>
              <a:rPr lang="en-GB" sz="800" b="0" i="0" u="none" strike="noStrike" cap="none">
                <a:solidFill>
                  <a:srgbClr val="30A4CF"/>
                </a:solidFill>
                <a:latin typeface="Nunito"/>
                <a:ea typeface="Nunito"/>
                <a:cs typeface="Nunito"/>
                <a:sym typeface="Nunito"/>
              </a:rPr>
              <a:t>Funded by the European Union. Views and opinions expressed are however those of the author(s) only and do not necessarily reflect those of the European Union or CINEA. Neither the European Union nor the granting authority can be held responsible for them.</a:t>
            </a:r>
            <a:endParaRPr sz="800" b="0" i="0" u="none" strike="noStrike" cap="none">
              <a:solidFill>
                <a:srgbClr val="30A4CF"/>
              </a:solidFill>
              <a:latin typeface="Nunito"/>
              <a:ea typeface="Nunito"/>
              <a:cs typeface="Nunito"/>
              <a:sym typeface="Nunito"/>
            </a:endParaRPr>
          </a:p>
        </p:txBody>
      </p:sp>
      <p:sp>
        <p:nvSpPr>
          <p:cNvPr id="548" name="Google Shape;548;p48"/>
          <p:cNvSpPr/>
          <p:nvPr/>
        </p:nvSpPr>
        <p:spPr>
          <a:xfrm>
            <a:off x="3899371" y="3946648"/>
            <a:ext cx="4393260" cy="319190"/>
          </a:xfrm>
          <a:prstGeom prst="rect">
            <a:avLst/>
          </a:prstGeom>
          <a:noFill/>
          <a:ln>
            <a:noFill/>
          </a:ln>
        </p:spPr>
        <p:txBody>
          <a:bodyPr spcFirstLastPara="1" wrap="square" lIns="91425" tIns="45700" rIns="91425" bIns="45700" anchor="t" anchorCtr="0">
            <a:noAutofit/>
          </a:bodyPr>
          <a:lstStyle/>
          <a:p>
            <a:pPr marL="0" marR="0" lvl="0" indent="0" algn="ctr" rtl="0">
              <a:lnSpc>
                <a:spcPct val="150000"/>
              </a:lnSpc>
              <a:spcBef>
                <a:spcPts val="0"/>
              </a:spcBef>
              <a:spcAft>
                <a:spcPts val="0"/>
              </a:spcAft>
              <a:buClr>
                <a:srgbClr val="000000"/>
              </a:buClr>
              <a:buSzPts val="1100"/>
              <a:buFont typeface="Arial"/>
              <a:buNone/>
            </a:pPr>
            <a:r>
              <a:rPr lang="en-GB" sz="1100" b="0" i="0" u="sng" strike="noStrike" cap="none">
                <a:solidFill>
                  <a:schemeClr val="lt1"/>
                </a:solidFill>
                <a:latin typeface="Open Sans"/>
                <a:ea typeface="Open Sans"/>
                <a:cs typeface="Open Sans"/>
                <a:sym typeface="Open Sans"/>
              </a:rPr>
              <a:t>www.agricool.eu</a:t>
            </a:r>
            <a:endParaRPr sz="1100" b="0" i="0" u="sng" strike="noStrike" cap="none">
              <a:solidFill>
                <a:schemeClr val="lt1"/>
              </a:solidFill>
              <a:latin typeface="Open Sans"/>
              <a:ea typeface="Open Sans"/>
              <a:cs typeface="Open Sans"/>
              <a:sym typeface="Open Sans"/>
            </a:endParaRPr>
          </a:p>
        </p:txBody>
      </p:sp>
      <p:pic>
        <p:nvPicPr>
          <p:cNvPr id="549" name="Google Shape;549;p48" descr="Une image contenant symbole, Graphique, cercle, Police&#10;&#10;Description générée automatiquement"/>
          <p:cNvPicPr preferRelativeResize="0"/>
          <p:nvPr/>
        </p:nvPicPr>
        <p:blipFill rotWithShape="1">
          <a:blip r:embed="rId6">
            <a:alphaModFix/>
          </a:blip>
          <a:srcRect/>
          <a:stretch/>
        </p:blipFill>
        <p:spPr>
          <a:xfrm>
            <a:off x="5933088" y="4509524"/>
            <a:ext cx="319075" cy="239307"/>
          </a:xfrm>
          <a:prstGeom prst="rect">
            <a:avLst/>
          </a:prstGeom>
          <a:noFill/>
          <a:ln>
            <a:noFill/>
          </a:ln>
        </p:spPr>
      </p:pic>
      <p:pic>
        <p:nvPicPr>
          <p:cNvPr id="550" name="Google Shape;550;p48" descr="Une image contenant logo, Graphique, symbole, rouge&#10;&#10;Description générée automatiquement"/>
          <p:cNvPicPr preferRelativeResize="0"/>
          <p:nvPr/>
        </p:nvPicPr>
        <p:blipFill rotWithShape="1">
          <a:blip r:embed="rId7">
            <a:alphaModFix/>
          </a:blip>
          <a:srcRect/>
          <a:stretch/>
        </p:blipFill>
        <p:spPr>
          <a:xfrm>
            <a:off x="6292368" y="4465372"/>
            <a:ext cx="319190" cy="319190"/>
          </a:xfrm>
          <a:prstGeom prst="rect">
            <a:avLst/>
          </a:prstGeom>
          <a:noFill/>
          <a:ln>
            <a:noFill/>
          </a:ln>
        </p:spPr>
      </p:pic>
      <p:pic>
        <p:nvPicPr>
          <p:cNvPr id="551" name="Google Shape;551;p48" descr="Une image contenant Graphique, cercle, logo, Police&#10;&#10;Description générée automatiquement"/>
          <p:cNvPicPr preferRelativeResize="0"/>
          <p:nvPr/>
        </p:nvPicPr>
        <p:blipFill rotWithShape="1">
          <a:blip r:embed="rId8">
            <a:alphaModFix/>
          </a:blip>
          <a:srcRect/>
          <a:stretch/>
        </p:blipFill>
        <p:spPr>
          <a:xfrm>
            <a:off x="5610508" y="4485459"/>
            <a:ext cx="274612" cy="274612"/>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94">
          <a:extLst>
            <a:ext uri="{FF2B5EF4-FFF2-40B4-BE49-F238E27FC236}">
              <a16:creationId xmlns:a16="http://schemas.microsoft.com/office/drawing/2014/main" id="{19E8B59D-E621-D281-2FB5-816C6CD4FA7D}"/>
            </a:ext>
          </a:extLst>
        </p:cNvPr>
        <p:cNvGrpSpPr/>
        <p:nvPr/>
      </p:nvGrpSpPr>
      <p:grpSpPr>
        <a:xfrm>
          <a:off x="0" y="0"/>
          <a:ext cx="0" cy="0"/>
          <a:chOff x="0" y="0"/>
          <a:chExt cx="0" cy="0"/>
        </a:xfrm>
      </p:grpSpPr>
      <p:pic>
        <p:nvPicPr>
          <p:cNvPr id="495" name="Google Shape;495;p45" descr="Une image contenant ciel, plein air, nuage, agriculture&#10;&#10;Description générée automatiquement">
            <a:extLst>
              <a:ext uri="{FF2B5EF4-FFF2-40B4-BE49-F238E27FC236}">
                <a16:creationId xmlns:a16="http://schemas.microsoft.com/office/drawing/2014/main" id="{DAB1F55A-2B97-BBA3-D871-A17D86F86DD4}"/>
              </a:ext>
            </a:extLst>
          </p:cNvPr>
          <p:cNvPicPr preferRelativeResize="0"/>
          <p:nvPr/>
        </p:nvPicPr>
        <p:blipFill rotWithShape="1">
          <a:blip r:embed="rId3">
            <a:alphaModFix/>
          </a:blip>
          <a:srcRect l="5973" t="9105" b="15903"/>
          <a:stretch/>
        </p:blipFill>
        <p:spPr>
          <a:xfrm>
            <a:off x="719138" y="0"/>
            <a:ext cx="11472863" cy="6858000"/>
          </a:xfrm>
          <a:prstGeom prst="rect">
            <a:avLst/>
          </a:prstGeom>
          <a:noFill/>
          <a:ln>
            <a:noFill/>
          </a:ln>
        </p:spPr>
      </p:pic>
      <p:sp>
        <p:nvSpPr>
          <p:cNvPr id="496" name="Google Shape;496;p45">
            <a:extLst>
              <a:ext uri="{FF2B5EF4-FFF2-40B4-BE49-F238E27FC236}">
                <a16:creationId xmlns:a16="http://schemas.microsoft.com/office/drawing/2014/main" id="{A84C5D07-D0CE-9758-ED42-07388634DAE2}"/>
              </a:ext>
            </a:extLst>
          </p:cNvPr>
          <p:cNvSpPr/>
          <p:nvPr/>
        </p:nvSpPr>
        <p:spPr>
          <a:xfrm>
            <a:off x="664273" y="0"/>
            <a:ext cx="11527727" cy="6858000"/>
          </a:xfrm>
          <a:prstGeom prst="rect">
            <a:avLst/>
          </a:prstGeom>
          <a:solidFill>
            <a:schemeClr val="lt1">
              <a:alpha val="93725"/>
            </a:schemeClr>
          </a:solidFill>
          <a:ln>
            <a:noFill/>
          </a:ln>
          <a:effectLst>
            <a:outerShdw blurRad="876300" dist="393700" dir="5400000" algn="t" rotWithShape="0">
              <a:srgbClr val="000000">
                <a:alpha val="784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dirty="0">
              <a:solidFill>
                <a:srgbClr val="FF0000"/>
              </a:solidFill>
              <a:latin typeface="Calibri"/>
              <a:ea typeface="Calibri"/>
              <a:cs typeface="Calibri"/>
              <a:sym typeface="Calibri"/>
            </a:endParaRPr>
          </a:p>
        </p:txBody>
      </p:sp>
      <p:sp>
        <p:nvSpPr>
          <p:cNvPr id="497" name="Google Shape;497;p45">
            <a:extLst>
              <a:ext uri="{FF2B5EF4-FFF2-40B4-BE49-F238E27FC236}">
                <a16:creationId xmlns:a16="http://schemas.microsoft.com/office/drawing/2014/main" id="{78339D51-BDC8-F15E-2B1F-52E4863BEF26}"/>
              </a:ext>
            </a:extLst>
          </p:cNvPr>
          <p:cNvSpPr txBox="1"/>
          <p:nvPr/>
        </p:nvSpPr>
        <p:spPr>
          <a:xfrm rot="-5400000">
            <a:off x="-797364" y="5204656"/>
            <a:ext cx="2251455" cy="38856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lt1"/>
                </a:solidFill>
                <a:latin typeface="Nunito Sans SemiBold"/>
                <a:ea typeface="Nunito Sans SemiBold"/>
                <a:cs typeface="Nunito Sans SemiBold"/>
                <a:sym typeface="Nunito Sans SemiBold"/>
              </a:rPr>
              <a:t>AGRICOOL</a:t>
            </a:r>
            <a:endParaRPr sz="1400" b="0" i="0" u="none" strike="noStrike" cap="none">
              <a:solidFill>
                <a:srgbClr val="000000"/>
              </a:solidFill>
              <a:latin typeface="Arial"/>
              <a:ea typeface="Arial"/>
              <a:cs typeface="Arial"/>
              <a:sym typeface="Arial"/>
            </a:endParaRPr>
          </a:p>
        </p:txBody>
      </p:sp>
      <p:pic>
        <p:nvPicPr>
          <p:cNvPr id="503" name="Google Shape;503;p45" descr="Une image contenant capture d’écran, Bleu électrique, Police, Bleu Majorelle&#10;&#10;Description générée automatiquement">
            <a:extLst>
              <a:ext uri="{FF2B5EF4-FFF2-40B4-BE49-F238E27FC236}">
                <a16:creationId xmlns:a16="http://schemas.microsoft.com/office/drawing/2014/main" id="{196EB40E-71A0-8F33-F1E4-40BCDCEB4E97}"/>
              </a:ext>
            </a:extLst>
          </p:cNvPr>
          <p:cNvPicPr preferRelativeResize="0"/>
          <p:nvPr/>
        </p:nvPicPr>
        <p:blipFill rotWithShape="1">
          <a:blip r:embed="rId4">
            <a:alphaModFix/>
          </a:blip>
          <a:srcRect/>
          <a:stretch/>
        </p:blipFill>
        <p:spPr>
          <a:xfrm>
            <a:off x="659183" y="6441981"/>
            <a:ext cx="1729633" cy="384363"/>
          </a:xfrm>
          <a:prstGeom prst="rect">
            <a:avLst/>
          </a:prstGeom>
          <a:noFill/>
          <a:ln>
            <a:noFill/>
          </a:ln>
        </p:spPr>
      </p:pic>
      <p:sp>
        <p:nvSpPr>
          <p:cNvPr id="504" name="Google Shape;504;p45">
            <a:extLst>
              <a:ext uri="{FF2B5EF4-FFF2-40B4-BE49-F238E27FC236}">
                <a16:creationId xmlns:a16="http://schemas.microsoft.com/office/drawing/2014/main" id="{46F418E1-AA6C-3365-3A77-040BFA249C46}"/>
              </a:ext>
            </a:extLst>
          </p:cNvPr>
          <p:cNvSpPr txBox="1">
            <a:spLocks noGrp="1"/>
          </p:cNvSpPr>
          <p:nvPr>
            <p:ph type="dt" idx="10"/>
          </p:nvPr>
        </p:nvSpPr>
        <p:spPr>
          <a:xfrm>
            <a:off x="9332517" y="64262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en-GB" dirty="0"/>
              <a:t>13 September 2026</a:t>
            </a:r>
            <a:endParaRPr dirty="0"/>
          </a:p>
        </p:txBody>
      </p:sp>
      <p:sp>
        <p:nvSpPr>
          <p:cNvPr id="505" name="Google Shape;505;p45">
            <a:extLst>
              <a:ext uri="{FF2B5EF4-FFF2-40B4-BE49-F238E27FC236}">
                <a16:creationId xmlns:a16="http://schemas.microsoft.com/office/drawing/2014/main" id="{A0121A79-3BF7-F8D0-9137-FC9685F98980}"/>
              </a:ext>
            </a:extLst>
          </p:cNvPr>
          <p:cNvSpPr txBox="1">
            <a:spLocks noGrp="1"/>
          </p:cNvSpPr>
          <p:nvPr>
            <p:ph type="sldNum" idx="12"/>
          </p:nvPr>
        </p:nvSpPr>
        <p:spPr>
          <a:xfrm>
            <a:off x="152400" y="635635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200"/>
              <a:buNone/>
            </a:pPr>
            <a:fld id="{00000000-1234-1234-1234-123412341234}" type="slidenum">
              <a:rPr lang="en-GB"/>
              <a:t>34</a:t>
            </a:fld>
            <a:endParaRPr/>
          </a:p>
        </p:txBody>
      </p:sp>
      <p:sp>
        <p:nvSpPr>
          <p:cNvPr id="4" name="Title">
            <a:extLst>
              <a:ext uri="{FF2B5EF4-FFF2-40B4-BE49-F238E27FC236}">
                <a16:creationId xmlns:a16="http://schemas.microsoft.com/office/drawing/2014/main" id="{F9C61C6F-B7FE-43FC-76C3-8D0B254FE79D}"/>
              </a:ext>
            </a:extLst>
          </p:cNvPr>
          <p:cNvSpPr>
            <a:spLocks noGrp="1"/>
          </p:cNvSpPr>
          <p:nvPr/>
        </p:nvSpPr>
        <p:spPr>
          <a:xfrm>
            <a:off x="855135" y="214840"/>
            <a:ext cx="10972800" cy="638175"/>
          </a:xfrm>
          <a:prstGeom prst="rect">
            <a:avLst/>
          </a:prstGeom>
          <a:noFill/>
          <a:ln w="0">
            <a:noFill/>
          </a:ln>
        </p:spPr>
        <p:txBody>
          <a:bodyPr lIns="0" tIns="0" rIns="0" bIns="0" anchor="ctr">
            <a:noAutofit/>
          </a:bodyPr>
          <a:lstStyle/>
          <a:p>
            <a:pPr algn="l">
              <a:defRPr sz="3300" b="1">
                <a:solidFill>
                  <a:srgbClr val="14354E"/>
                </a:solidFill>
                <a:latin typeface="Bitstream Charter"/>
                <a:ea typeface="Bitstream Charter"/>
                <a:cs typeface="Bitstream Charter"/>
              </a:defRPr>
            </a:pPr>
            <a:r>
              <a:rPr lang="en-US" sz="4400" b="1" dirty="0">
                <a:solidFill>
                  <a:srgbClr val="30A4CF"/>
                </a:solidFill>
                <a:latin typeface="Nunito"/>
              </a:rPr>
              <a:t>A quick review exercise</a:t>
            </a:r>
            <a:endParaRPr sz="4400" b="1" dirty="0">
              <a:solidFill>
                <a:srgbClr val="30A4CF"/>
              </a:solidFill>
              <a:latin typeface="Nunito"/>
            </a:endParaRPr>
          </a:p>
        </p:txBody>
      </p:sp>
      <p:sp>
        <p:nvSpPr>
          <p:cNvPr id="8" name="Subtitle">
            <a:extLst>
              <a:ext uri="{FF2B5EF4-FFF2-40B4-BE49-F238E27FC236}">
                <a16:creationId xmlns:a16="http://schemas.microsoft.com/office/drawing/2014/main" id="{8968CB4D-5504-DB57-B31E-878BCDB6F5B4}"/>
              </a:ext>
            </a:extLst>
          </p:cNvPr>
          <p:cNvSpPr>
            <a:spLocks noGrp="1"/>
          </p:cNvSpPr>
          <p:nvPr/>
        </p:nvSpPr>
        <p:spPr>
          <a:xfrm>
            <a:off x="855135" y="948265"/>
            <a:ext cx="10972800" cy="533400"/>
          </a:xfrm>
          <a:prstGeom prst="rect">
            <a:avLst/>
          </a:prstGeom>
          <a:noFill/>
          <a:ln w="0">
            <a:noFill/>
          </a:ln>
        </p:spPr>
        <p:txBody>
          <a:bodyPr lIns="0" tIns="0" rIns="0" bIns="0" anchor="ctr">
            <a:noAutofit/>
          </a:bodyPr>
          <a:lstStyle/>
          <a:p>
            <a:pPr algn="l">
              <a:defRPr sz="2025" b="0">
                <a:solidFill>
                  <a:srgbClr val="456174"/>
                </a:solidFill>
                <a:latin typeface="Bitstream Charter"/>
                <a:ea typeface="Bitstream Charter"/>
                <a:cs typeface="Bitstream Charter"/>
              </a:defRPr>
            </a:pPr>
            <a:r>
              <a:rPr sz="2025" b="0">
                <a:solidFill>
                  <a:srgbClr val="456174"/>
                </a:solidFill>
                <a:latin typeface="Arial" panose="020B0604020202020204" pitchFamily="34" charset="0"/>
                <a:ea typeface="Bitstream Charter"/>
                <a:cs typeface="Arial" panose="020B0604020202020204" pitchFamily="34" charset="0"/>
              </a:rPr>
              <a:t>One minute to think, then share your reasoning.</a:t>
            </a:r>
          </a:p>
        </p:txBody>
      </p:sp>
      <p:sp>
        <p:nvSpPr>
          <p:cNvPr id="12" name="Task one">
            <a:extLst>
              <a:ext uri="{FF2B5EF4-FFF2-40B4-BE49-F238E27FC236}">
                <a16:creationId xmlns:a16="http://schemas.microsoft.com/office/drawing/2014/main" id="{294D18EE-3D13-3A57-FA1C-0FF0B5137AFF}"/>
              </a:ext>
            </a:extLst>
          </p:cNvPr>
          <p:cNvSpPr>
            <a:spLocks noGrp="1"/>
          </p:cNvSpPr>
          <p:nvPr/>
        </p:nvSpPr>
        <p:spPr>
          <a:xfrm>
            <a:off x="855135" y="1824565"/>
            <a:ext cx="10972800" cy="438150"/>
          </a:xfrm>
          <a:prstGeom prst="rect">
            <a:avLst/>
          </a:prstGeom>
          <a:noFill/>
          <a:ln w="0">
            <a:noFill/>
          </a:ln>
        </p:spPr>
        <p:txBody>
          <a:bodyPr lIns="0" tIns="0" rIns="0" bIns="0" anchor="ctr">
            <a:noAutofit/>
          </a:bodyPr>
          <a:lstStyle/>
          <a:p>
            <a:pPr algn="l">
              <a:defRPr sz="2400" b="1">
                <a:solidFill>
                  <a:srgbClr val="096AA8"/>
                </a:solidFill>
                <a:latin typeface="Bitstream Charter"/>
                <a:ea typeface="Bitstream Charter"/>
                <a:cs typeface="Bitstream Charter"/>
              </a:defRPr>
            </a:pPr>
            <a:r>
              <a:rPr sz="2400" b="1">
                <a:solidFill>
                  <a:srgbClr val="096AA8"/>
                </a:solidFill>
                <a:latin typeface="Arial" panose="020B0604020202020204" pitchFamily="34" charset="0"/>
                <a:ea typeface="Bitstream Charter"/>
                <a:cs typeface="Arial" panose="020B0604020202020204" pitchFamily="34" charset="0"/>
              </a:rPr>
              <a:t>1. Propose another operating scenario</a:t>
            </a:r>
          </a:p>
        </p:txBody>
      </p:sp>
      <p:sp>
        <p:nvSpPr>
          <p:cNvPr id="16" name="Task one detail">
            <a:extLst>
              <a:ext uri="{FF2B5EF4-FFF2-40B4-BE49-F238E27FC236}">
                <a16:creationId xmlns:a16="http://schemas.microsoft.com/office/drawing/2014/main" id="{3AAF6075-F404-B7F2-BC8D-E87616945486}"/>
              </a:ext>
            </a:extLst>
          </p:cNvPr>
          <p:cNvSpPr>
            <a:spLocks noGrp="1"/>
          </p:cNvSpPr>
          <p:nvPr/>
        </p:nvSpPr>
        <p:spPr>
          <a:xfrm>
            <a:off x="855135" y="2348440"/>
            <a:ext cx="10972800" cy="895350"/>
          </a:xfrm>
          <a:prstGeom prst="rect">
            <a:avLst/>
          </a:prstGeom>
          <a:noFill/>
          <a:ln w="0">
            <a:noFill/>
          </a:ln>
        </p:spPr>
        <p:txBody>
          <a:bodyPr lIns="0" tIns="0" rIns="0" bIns="0" anchor="ctr">
            <a:noAutofit/>
          </a:bodyPr>
          <a:lstStyle/>
          <a:p>
            <a:pPr algn="l">
              <a:defRPr sz="2100" b="0">
                <a:solidFill>
                  <a:srgbClr val="14354E"/>
                </a:solidFill>
                <a:latin typeface="Bitstream Charter"/>
                <a:ea typeface="Bitstream Charter"/>
                <a:cs typeface="Bitstream Charter"/>
              </a:defRPr>
            </a:pPr>
            <a:r>
              <a:rPr sz="2100" b="0">
                <a:solidFill>
                  <a:srgbClr val="14354E"/>
                </a:solidFill>
                <a:latin typeface="Arial" panose="020B0604020202020204" pitchFamily="34" charset="0"/>
                <a:ea typeface="Bitstream Charter"/>
                <a:cs typeface="Arial" panose="020B0604020202020204" pitchFamily="34" charset="0"/>
              </a:rPr>
              <a:t>Which input would you change, while keeping equipment sizing fixed?</a:t>
            </a:r>
          </a:p>
          <a:p>
            <a:pPr algn="l">
              <a:defRPr sz="2100" b="0">
                <a:solidFill>
                  <a:srgbClr val="14354E"/>
                </a:solidFill>
                <a:latin typeface="Bitstream Charter"/>
                <a:ea typeface="Bitstream Charter"/>
                <a:cs typeface="Bitstream Charter"/>
              </a:defRPr>
            </a:pPr>
            <a:r>
              <a:rPr sz="2100" b="0">
                <a:solidFill>
                  <a:srgbClr val="14354E"/>
                </a:solidFill>
                <a:latin typeface="Arial" panose="020B0604020202020204" pitchFamily="34" charset="0"/>
                <a:ea typeface="Bitstream Charter"/>
                <a:cs typeface="Arial" panose="020B0604020202020204" pitchFamily="34" charset="0"/>
              </a:rPr>
              <a:t>What response do you expect, and which plot would you check?</a:t>
            </a:r>
          </a:p>
        </p:txBody>
      </p:sp>
      <p:sp>
        <p:nvSpPr>
          <p:cNvPr id="19" name="Task two">
            <a:extLst>
              <a:ext uri="{FF2B5EF4-FFF2-40B4-BE49-F238E27FC236}">
                <a16:creationId xmlns:a16="http://schemas.microsoft.com/office/drawing/2014/main" id="{0DA172CD-33BD-2362-F5C5-BDBBA5634798}"/>
              </a:ext>
            </a:extLst>
          </p:cNvPr>
          <p:cNvSpPr>
            <a:spLocks noGrp="1"/>
          </p:cNvSpPr>
          <p:nvPr/>
        </p:nvSpPr>
        <p:spPr>
          <a:xfrm>
            <a:off x="855135" y="3786715"/>
            <a:ext cx="10972800" cy="438150"/>
          </a:xfrm>
          <a:prstGeom prst="rect">
            <a:avLst/>
          </a:prstGeom>
          <a:noFill/>
          <a:ln w="0">
            <a:noFill/>
          </a:ln>
        </p:spPr>
        <p:txBody>
          <a:bodyPr lIns="0" tIns="0" rIns="0" bIns="0" anchor="ctr">
            <a:noAutofit/>
          </a:bodyPr>
          <a:lstStyle/>
          <a:p>
            <a:pPr algn="l">
              <a:defRPr sz="2400" b="1">
                <a:solidFill>
                  <a:srgbClr val="096AA8"/>
                </a:solidFill>
                <a:latin typeface="Bitstream Charter"/>
                <a:ea typeface="Bitstream Charter"/>
                <a:cs typeface="Bitstream Charter"/>
              </a:defRPr>
            </a:pPr>
            <a:r>
              <a:rPr sz="2400" b="1">
                <a:solidFill>
                  <a:srgbClr val="096AA8"/>
                </a:solidFill>
                <a:latin typeface="Arial" panose="020B0604020202020204" pitchFamily="34" charset="0"/>
                <a:ea typeface="Bitstream Charter"/>
                <a:cs typeface="Arial" panose="020B0604020202020204" pitchFamily="34" charset="0"/>
              </a:rPr>
              <a:t>2. Identify a limitation of the model</a:t>
            </a:r>
          </a:p>
        </p:txBody>
      </p:sp>
      <p:sp>
        <p:nvSpPr>
          <p:cNvPr id="22" name="Task two detail">
            <a:extLst>
              <a:ext uri="{FF2B5EF4-FFF2-40B4-BE49-F238E27FC236}">
                <a16:creationId xmlns:a16="http://schemas.microsoft.com/office/drawing/2014/main" id="{E25BF7DF-C88D-6ECE-CD1C-A1A9B6C08744}"/>
              </a:ext>
            </a:extLst>
          </p:cNvPr>
          <p:cNvSpPr>
            <a:spLocks noGrp="1"/>
          </p:cNvSpPr>
          <p:nvPr/>
        </p:nvSpPr>
        <p:spPr>
          <a:xfrm>
            <a:off x="855135" y="4310590"/>
            <a:ext cx="10972800" cy="895350"/>
          </a:xfrm>
          <a:prstGeom prst="rect">
            <a:avLst/>
          </a:prstGeom>
          <a:noFill/>
          <a:ln w="0">
            <a:noFill/>
          </a:ln>
        </p:spPr>
        <p:txBody>
          <a:bodyPr lIns="0" tIns="0" rIns="0" bIns="0" anchor="ctr">
            <a:noAutofit/>
          </a:bodyPr>
          <a:lstStyle/>
          <a:p>
            <a:pPr algn="l">
              <a:defRPr sz="2100" b="0">
                <a:solidFill>
                  <a:srgbClr val="14354E"/>
                </a:solidFill>
                <a:latin typeface="Bitstream Charter"/>
                <a:ea typeface="Bitstream Charter"/>
                <a:cs typeface="Bitstream Charter"/>
              </a:defRPr>
            </a:pPr>
            <a:r>
              <a:rPr sz="2100" b="0">
                <a:solidFill>
                  <a:srgbClr val="14354E"/>
                </a:solidFill>
                <a:latin typeface="Arial" panose="020B0604020202020204" pitchFamily="34" charset="0"/>
                <a:ea typeface="Bitstream Charter"/>
                <a:cs typeface="Arial" panose="020B0604020202020204" pitchFamily="34" charset="0"/>
              </a:rPr>
              <a:t>Which effect or assumption deserves closer attention?</a:t>
            </a:r>
          </a:p>
          <a:p>
            <a:pPr algn="l">
              <a:defRPr sz="2100" b="0">
                <a:solidFill>
                  <a:srgbClr val="14354E"/>
                </a:solidFill>
                <a:latin typeface="Bitstream Charter"/>
                <a:ea typeface="Bitstream Charter"/>
                <a:cs typeface="Bitstream Charter"/>
              </a:defRPr>
            </a:pPr>
            <a:r>
              <a:rPr sz="2100" b="0">
                <a:solidFill>
                  <a:srgbClr val="14354E"/>
                </a:solidFill>
                <a:latin typeface="Arial" panose="020B0604020202020204" pitchFamily="34" charset="0"/>
                <a:ea typeface="Bitstream Charter"/>
                <a:cs typeface="Arial" panose="020B0604020202020204" pitchFamily="34" charset="0"/>
              </a:rPr>
              <a:t>How could it affect the result or a design decision?</a:t>
            </a:r>
          </a:p>
        </p:txBody>
      </p:sp>
      <p:sp>
        <p:nvSpPr>
          <p:cNvPr id="24" name="Closing question">
            <a:extLst>
              <a:ext uri="{FF2B5EF4-FFF2-40B4-BE49-F238E27FC236}">
                <a16:creationId xmlns:a16="http://schemas.microsoft.com/office/drawing/2014/main" id="{E02A7381-E45E-6CDE-6A88-58852AF2998D}"/>
              </a:ext>
            </a:extLst>
          </p:cNvPr>
          <p:cNvSpPr>
            <a:spLocks noGrp="1"/>
          </p:cNvSpPr>
          <p:nvPr/>
        </p:nvSpPr>
        <p:spPr>
          <a:xfrm>
            <a:off x="855135" y="5797550"/>
            <a:ext cx="10972800" cy="457200"/>
          </a:xfrm>
          <a:prstGeom prst="rect">
            <a:avLst/>
          </a:prstGeom>
          <a:noFill/>
          <a:ln w="0">
            <a:noFill/>
          </a:ln>
        </p:spPr>
        <p:txBody>
          <a:bodyPr lIns="0" tIns="0" rIns="0" bIns="0" anchor="ctr">
            <a:noAutofit/>
          </a:bodyPr>
          <a:lstStyle/>
          <a:p>
            <a:pPr algn="l">
              <a:defRPr sz="2175" b="1">
                <a:solidFill>
                  <a:srgbClr val="168A85"/>
                </a:solidFill>
                <a:latin typeface="Bitstream Charter"/>
                <a:ea typeface="Bitstream Charter"/>
                <a:cs typeface="Bitstream Charter"/>
              </a:defRPr>
            </a:pPr>
            <a:r>
              <a:rPr sz="2175" b="1" dirty="0">
                <a:solidFill>
                  <a:srgbClr val="168A85"/>
                </a:solidFill>
                <a:latin typeface="Arial" panose="020B0604020202020204" pitchFamily="34" charset="0"/>
                <a:ea typeface="Bitstream Charter"/>
                <a:cs typeface="Arial" panose="020B0604020202020204" pitchFamily="34" charset="0"/>
              </a:rPr>
              <a:t>What would you check before using these results for a real cold room?</a:t>
            </a:r>
          </a:p>
        </p:txBody>
      </p:sp>
    </p:spTree>
    <p:extLst>
      <p:ext uri="{BB962C8B-B14F-4D97-AF65-F5344CB8AC3E}">
        <p14:creationId xmlns:p14="http://schemas.microsoft.com/office/powerpoint/2010/main" val="4015510620"/>
      </p:ext>
    </p:extLst>
  </p:cSld>
  <p:clrMapOvr>
    <a:masterClrMapping/>
  </p:clrMapOvr>
</p:sld>
</file>

<file path=ppt/theme/theme1.xml><?xml version="1.0" encoding="utf-8"?>
<a:theme xmlns:a="http://schemas.openxmlformats.org/drawingml/2006/main" name="Office Theme">
  <a:themeElements>
    <a:clrScheme name="Custom 161">
      <a:dk1>
        <a:srgbClr val="000000"/>
      </a:dk1>
      <a:lt1>
        <a:srgbClr val="FFFFFF"/>
      </a:lt1>
      <a:dk2>
        <a:srgbClr val="44546A"/>
      </a:dk2>
      <a:lt2>
        <a:srgbClr val="E7E6E6"/>
      </a:lt2>
      <a:accent1>
        <a:srgbClr val="FFC000"/>
      </a:accent1>
      <a:accent2>
        <a:srgbClr val="A51B3C"/>
      </a:accent2>
      <a:accent3>
        <a:srgbClr val="0D0D0D"/>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fb6ad6f-5b8d-4258-8d21-2a4ca321e1de">
      <Terms xmlns="http://schemas.microsoft.com/office/infopath/2007/PartnerControls"/>
    </lcf76f155ced4ddcb4097134ff3c332f>
    <TaxCatchAll xmlns="0c428ece-9ccf-4db0-a2e8-8e5dbc46f1b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3BF1307A27FE74C86776F10D097D8C4" ma:contentTypeVersion="13" ma:contentTypeDescription="Create a new document." ma:contentTypeScope="" ma:versionID="f16e63833bb747b0a31d1e10503eb652">
  <xsd:schema xmlns:xsd="http://www.w3.org/2001/XMLSchema" xmlns:xs="http://www.w3.org/2001/XMLSchema" xmlns:p="http://schemas.microsoft.com/office/2006/metadata/properties" xmlns:ns2="6fb6ad6f-5b8d-4258-8d21-2a4ca321e1de" xmlns:ns3="0c428ece-9ccf-4db0-a2e8-8e5dbc46f1b0" targetNamespace="http://schemas.microsoft.com/office/2006/metadata/properties" ma:root="true" ma:fieldsID="2f88fc6c4f8896702a7740dbe834f16d" ns2:_="" ns3:_="">
    <xsd:import namespace="6fb6ad6f-5b8d-4258-8d21-2a4ca321e1de"/>
    <xsd:import namespace="0c428ece-9ccf-4db0-a2e8-8e5dbc46f1b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fb6ad6f-5b8d-4258-8d21-2a4ca321e1d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af58ba8-1e8d-4aec-a6f5-993f6032dc74"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c428ece-9ccf-4db0-a2e8-8e5dbc46f1b0"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6678d16-3c56-4a98-8c97-65f21abbc753}" ma:internalName="TaxCatchAll" ma:showField="CatchAllData" ma:web="0c428ece-9ccf-4db0-a2e8-8e5dbc46f1b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051E653-17CF-46F2-A2FE-EBF2CCAB7995}">
  <ds:schemaRefs>
    <ds:schemaRef ds:uri="http://schemas.microsoft.com/office/2006/metadata/properties"/>
    <ds:schemaRef ds:uri="http://schemas.microsoft.com/office/infopath/2007/PartnerControls"/>
    <ds:schemaRef ds:uri="6fb6ad6f-5b8d-4258-8d21-2a4ca321e1de"/>
    <ds:schemaRef ds:uri="0c428ece-9ccf-4db0-a2e8-8e5dbc46f1b0"/>
  </ds:schemaRefs>
</ds:datastoreItem>
</file>

<file path=customXml/itemProps2.xml><?xml version="1.0" encoding="utf-8"?>
<ds:datastoreItem xmlns:ds="http://schemas.openxmlformats.org/officeDocument/2006/customXml" ds:itemID="{A0C30F78-3234-46B2-AE44-0FC6D82EE4B0}">
  <ds:schemaRefs>
    <ds:schemaRef ds:uri="http://schemas.microsoft.com/sharepoint/v3/contenttype/forms"/>
  </ds:schemaRefs>
</ds:datastoreItem>
</file>

<file path=customXml/itemProps3.xml><?xml version="1.0" encoding="utf-8"?>
<ds:datastoreItem xmlns:ds="http://schemas.openxmlformats.org/officeDocument/2006/customXml" ds:itemID="{F910827F-20B6-47A6-9EF2-45D9E66E45B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fb6ad6f-5b8d-4258-8d21-2a4ca321e1de"/>
    <ds:schemaRef ds:uri="0c428ece-9ccf-4db0-a2e8-8e5dbc46f1b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17151</TotalTime>
  <Words>1869</Words>
  <Application>Microsoft Office PowerPoint</Application>
  <PresentationFormat>Widescreen</PresentationFormat>
  <Paragraphs>374</Paragraphs>
  <Slides>34</Slides>
  <Notes>34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Nunito</vt:lpstr>
      <vt:lpstr>Arial</vt:lpstr>
      <vt:lpstr>Cambria Math</vt:lpstr>
      <vt:lpstr>Calibri</vt:lpstr>
      <vt:lpstr>Open Sans</vt:lpstr>
      <vt:lpstr>Nunito Sans SemiBold</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Bakhsh Zahmatkesh, Bahareh (UT-ET)</cp:lastModifiedBy>
  <cp:revision>42</cp:revision>
  <dcterms:modified xsi:type="dcterms:W3CDTF">2026-10-13T08:44:12Z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0x010100B3BF1307A27FE74C86776F10D097D8C4</vt:lpwstr>
  </property>
</Properties>
</file>